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94" r:id="rId17"/>
    <p:sldId id="295" r:id="rId18"/>
    <p:sldId id="271" r:id="rId19"/>
    <p:sldId id="272" r:id="rId20"/>
    <p:sldId id="273" r:id="rId21"/>
    <p:sldId id="274" r:id="rId22"/>
    <p:sldId id="275" r:id="rId23"/>
    <p:sldId id="276" r:id="rId24"/>
    <p:sldId id="297" r:id="rId25"/>
    <p:sldId id="296" r:id="rId26"/>
    <p:sldId id="277" r:id="rId27"/>
    <p:sldId id="278" r:id="rId28"/>
    <p:sldId id="293" r:id="rId29"/>
    <p:sldId id="292" r:id="rId30"/>
    <p:sldId id="280" r:id="rId31"/>
    <p:sldId id="281" r:id="rId32"/>
    <p:sldId id="282" r:id="rId33"/>
    <p:sldId id="298" r:id="rId34"/>
    <p:sldId id="299" r:id="rId35"/>
    <p:sldId id="283" r:id="rId36"/>
    <p:sldId id="284" r:id="rId37"/>
    <p:sldId id="300" r:id="rId38"/>
    <p:sldId id="285" r:id="rId39"/>
    <p:sldId id="286" r:id="rId40"/>
    <p:sldId id="287" r:id="rId41"/>
    <p:sldId id="288" r:id="rId42"/>
    <p:sldId id="289" r:id="rId43"/>
    <p:sldId id="290" r:id="rId44"/>
    <p:sldId id="291"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34"/>
    <p:restoredTop sz="94610"/>
  </p:normalViewPr>
  <p:slideViewPr>
    <p:cSldViewPr snapToGrid="0" snapToObjects="1">
      <p:cViewPr>
        <p:scale>
          <a:sx n="80" d="100"/>
          <a:sy n="80" d="100"/>
        </p:scale>
        <p:origin x="1896" y="11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66583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Idea central: varios agentes se justifican cuando la tarea se divide en especialidades con contextos, herramientas o permisos distintos. Verifica que Docker Desktop corre y que los puertos 8000 y 8080 están libres.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falló en la tabla manual es justo lo que las pruebas automáticas de hoy deben atrapar.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0:10 topologías en código; 0:35 qué arquitectura elijo, con ejercicio de clasificación; 0:50 roles, permisos y contratos; 1:00 descanso; 1:10 Lab 3A; 1:20 Lab 3B con HU-02; 1:50 Lab 3C inspeccionar; 2:15 cierre. Objetivo 4 del módulo; los agentes 4 y 5 en paralelo son donde se aplica. Verifiquen antes que Docker Desktop corre en las máquinas y que los puertos 8000 y 8080 están libres.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topologías usan la misma pieza de LangGraph, Command; la diferencia está en qué nodos la usan.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Empezar con un agente y buenas herramientas; dividir solo cuando los datos lo pidan. Cada agente relee contexto, así que el costo en tokens se multiplica. En la fábrica, el argumento principal es de permisos: quien escribe las pruebas no debe poder cambiar el código para que pasen, y quien despliega no debe tocar la aplicación.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Dibujar cada topología en el pizarrón. La fábrica usa la más controlable: un orquestador cuyo orden fija el código. Eso facilita depurar y auditar. En la sesión 4 aparece un supervisor, el triage, que sí decide con un modelo a quién delegar. Jerárquica y traspasos se mencionan como alternativas: un traspaso tendría sentido, por ejemplo, si el desarrollador pudiera pasarle el control directamente al automatizador. La carpeta salida/ funciona como una pizarra de solo lectura: cada agente deja ahí su artefacto y los siguientes lo leen.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Pasamos de flujos a sistemas con varios agentes. Primero, por qué varios: un solo agente con muchas herramientas e instrucciones elige peor y llena su contexto. La topología más común es el supervisor: un agente central que recibe la tarea, delega en especialistas y decide el siguiente paso con cada resultado. Los especialistas no se hablan entre sí. Ventaja: control y trazabilidad en un solo lugar. Riesgo: el supervisor es cuello de botella y punto único de falla, y su contexto crece con cada resultado. Pregunta: el grafo de LangGraph de la fábrica, ¿es un supervisor? Sí, uno determinista, escrito en código en lugar de un modelo que decide.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Supervisor: la topología más común y la que recomendamos para empezar. Un agente central recibe la tarea, decide a quién delegar, recibe el resultado y decide el siguiente paso. Los agentes especialistas no se hablan entre sí. Ventaja: es fácil saber quién hizo qué y poner límites en un solo lugar. Riesgo: todo pasa por el supervisor, así que su contexto crece y es un punto único de falla. Matiz importante: el grafo de LangGraph de las sesiones 2 a 4 también es un supervisor, solo que determinista, escrito en código. En el ejercicio con el Agent SDK, el supervisor es un modelo que razona y delega en subagentes.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Command: un nodo puede actualizar el estado y decidir el siguiente nodo en el mismo return, sin arista condicional. Señalar la asimetría: el supervisor tiene Command; los especialistas, un add_edge fijo. Esa asimetría es la topología. Preguntar: ¿en qué se parece al flujo_s4.py? En que hay un centro que decide; la diferencia es que allí decide código determinista y aquí un modelo.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Cuando un supervisor tiene demasiados agentes a su cargo, se agrega un nivel: un director que habla con líderes, y cada líder con un equipo pequeño. Funciona como una organización: el director no necesita ver cada archivo, solo el resumen del líder. Eso mantiene los contextos pequeños. El precio es el teléfono descompuesto: cada nivel resume y puede perder un detalle importante, además de sumar latencia y costo. En la fábrica aparece sin diseñarla: nuestro flujo delega en Claude Code, que a su vez puede lanzar subagentes. Pregunta: ¿qué detalle podría perderse si el líder resume «la app está lista»?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Jerárquica: cuando un supervisor tiene demasiados agentes a su cargo, se agrega un nivel intermedio. El director habla con líderes, y cada líder con su equipo. Funciona como una organización: cada nivel solo ve lo que necesita, lo que mantiene los contextos pequeños. El precio es latencia, costo y teléfono descompuesto: cada nivel resume y puede perder detalle. En la fábrica aparece sin que la diseñemos: nuestro flujo delega en Claude Code, y Claude Code a su vez puede lanzar sus propios subagentes. Recomendación: no empiecen con una jerarquía; llegan a ella cuando un supervisor ya no alcanza.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salida, la sangría muestra los niveles: director, líder, miembros. Señalar que el líder borra el detalle y sube solo un resumen: así cada nivel mantiene su contexto pequeño, pero también es donde se pierde información. Dibujar el grafo con draw_mermaid(xray=True) para ver los subgrafos por dentro.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supervisor.py con red.py: misma pieza, distinta distribución del poder de decisión.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En los traspasos, o handoffs, no hay un centro. Hay un agente activo que conversa; cuando decide que otro debe seguir, llama a una herramienta de traspaso, como transferir_a_altas con un motivo, y el control pasa con toda la conversación. Es la topología típica de atención a clientes: recepción, ventas, soporte. Ventaja: cada agente tiene un prompt corto y no hay vueltas innecesarias al centro. Riesgo: el orden lo deciden los modelos, así que el control puede rebotar entre dos agentes. Pregunta: ¿cómo evitarían un rebote infinito entre altas y directorio? Con un límite de traspasos.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Traspasos, o handoffs: no hay supervisor. Hay un agente activo que atiende, y cuando decide que otro debe seguir, llama a una herramienta de traspaso, por ejemplo transferir_a con el agente y el motivo. El historial completo viaja con el control. Es la topología típica de atención a clientes: recepción, ventas, soporte. Ventaja: cada agente tiene un prompt corto. Riesgo: el orden lo deciden los modelos, así que puede haber rebotes, por ejemplo el diseñador regresa al analista y el analista al diseñador. En la fábrica las etapas son las mismas, pero preferimos que el grafo fije el orden para que sea predecible.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Preámbulo antes del código de traspasos.py. Imaginen la recepción de Recursos Humanos de una oficina real. Al recepcionista le damos un formulario impreso con dos casillas: pasar a ALTAS o pasar a DIRECTORIO, y una línea para el motivo. La regla: si puedes resolverlo, contesta tú; si no, llena el formulario. Llega alguien que quiere dar de alta a una analista. El recepcionista marca ALTAS, escribe el motivo y regresa el formulario. Nosotros leemos qué casilla marcó y llevamos a la persona con altas, que sí sabe contestar. En el código: @tool imprime el formulario (nombre, descripción y el campo motivo); bind_tools se lo entrega al modelo; resp.tool_calls es el formulario lleno; y el nodo lee la casilla con removeprefix y salta con Command(goto='altas'). La idea clave: el formulario no hace nada por sí solo, solo se lee. Por eso la función decorada con @tool nunca se ejecuta: si le ponen un print, no aparece. Pregunta para el grupo antes de correr el ejemplo: si agrego un print dentro de transferir_a_altas, ¿se va a imprimir?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En los ejemplos anteriores el estado era un texto, la historia, o un diccionario de entregas, y cada nodo llamaba al modelo con un string. En traspasos el estado es una conversación que viaja de un agente a otro, y cada agente necesita saber quién dijo qué. Por eso se usan los mensajes de LangChain. A la izquierda, la conversación tal como la lee el agente de altas: su instrucción como SystemMessage, la pregunta del usuario como HumanMessage, la nota que dejó recepción también como HumanMessage, y su propia respuesta como AIMessage. Cuatro razones: uno, cada clase marca quién habla, igual que los diccionarios con role del Lab 1; dos, LangChain los traduce al formato de cada proveedor, por ejemplo Anthropic pide el system en un campo aparte; tres, un AIMessage trae más que texto, trae tool_calls, que es el formulario lleno; cuatro, el reductor add_messages los agrega al final y, como cada mensaje tiene id, no los duplica. Detalle: la nota del traspaso va como HumanMessage porque Claude exige que el último turno sea del usuario antes de contestar.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es una recepción de RR. HH.: una pregunta de alta termina con el agente de altas y una de consulta con el de directorio. La herramienta de traspaso no hace nada por sí misma; su valor es que el modelo la elige, y el nodo la traduce en Command. Comparar con el supervisor: aquí no hay centro, el control salta de agente en agente. Por eso el límite MAX_TRASPASOS evita que dos agentes se pasen la conversación sin fin.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La red, también llamada enjambre o swarm, quita toda estructura: cualquier agente puede pasarle el trabajo a cualquier otro. Es la más flexible porque el flujo surge de las decisiones de los agentes. También es la más difícil de predecir, depurar y detener: dos agentes pueden pasarse el trabajo sin fin. Los canales crecen rápido: con 4 agentes hay 6, con 10 hay 45. Sirve para exploración abierta o simulaciones; para la fábrica, con pasos conocidos, no la usamos. Pregunta: en la traza, ¿cuándo habría terminado sin el límite de turnos?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también llamada enjambre o swarm: todos los agentes pueden hablar con todos. Es la más flexible, porque el flujo emerge de las decisiones de los agentes. También es la más difícil de depurar, de predecir en costo y de detener: pueden aparecer ciclos donde dos agentes se pasan el trabajo sin fin. Los canales crecen rápido: con n agentes hay n por n menos uno entre dos; con 4 son 6, con 10 son 45. Para la fábrica no la usamos, porque conocemos los pasos. Es útil en exploración abierta o simulaciones. Si la usan, límite de turnos y de presupuesto obligatorios.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dos o tres veces: el recorrido cambia en cada ejecución. Eso es lo flexible y también lo difícil de depurar. Mostrar el contador de turnos al final. Ejercicio: subir MAX_TURNOS a 30 y ver cuánto cuesta; muchas veces los agentes no deciden terminar solos. Conclusión: misma pieza de código que el supervisor, distinta distribución del poder de decisión.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La pizarra, o blackboard, es una idea de los años ochenta, del sistema Hearsay-II de reconocimiento de voz. Los agentes no se mandan mensajes: leen y escriben en un espacio común. Un controlador mira qué hay en la pizarra y activa al agente cuya entrada ya está lista; por ejemplo, el diseñador cuando aparecen los criterios. Ventaja: los agentes están desacoplados; para agregar uno nuevo solo se dice qué lee y qué escribe. Riesgo: dos agentes pueden escribir el mismo campo; hay que definir dueños. En la fábrica ya existe: el estado de LangGraph y la carpeta salida/HU-xx son pizarras. Pregunta: ¿qué agente escribe cada archivo de salida/HU-xx?</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Pizarra, o blackboard: los agentes no se mandan mensajes; leen y escriben en un espacio compartido. Cada uno actúa cuando aparece algo que le toca, por ejemplo el diseñador cuando ya hay criterios. Ventaja: los agentes están desacoplados; puedes agregar uno nuevo sin cambiar a los demás. Riesgo: dos agentes pueden escribir lo mismo y pisarse, así que hay que definir quién escribe cada campo. En la fábrica la usamos sin nombrarla: el estado de LangGraph es la pizarra, con reductores para los campos que escriben varios nodos, y la carpeta salida/HU-xx es una pizarra en disco. Esto también es seguridad: el hook confinar_escritura decide quién escribe dónde.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Antes de ver la regla exacta, la idea. En la pizarra los agentes no se hablan entre ellos y nadie les dice el orden. Quien mueve todo es el controlador, y su trabajo es un ciclo de cuatro pasos. Uno: mira la pizarra, qué casillas ya están llenas. Dos: decide quién puede trabajar, alguien que ya tenga en la pizarra lo que necesita leer y que todavía no haya escrito su casilla. Si no hay nadie, termina. Tres: activa a ese agente. Cuatro: el agente escribe su casilla, solo la suya, y regresa al controlador. Y se repite. Ojo con lo que el controlador no hace: no hace el trabajo, no escribe en la pizarra y, en este ejemplo, no le pregunta a un modelo; decide con una regla en código. Analogía: el tablero de una oficina donde cada quien pega su entrega; el controlador es quien revisa el tablero y le avisa a la siguiente persona que ya tiene lo que necesita. En el código: controlador() imprime el estado, listo_para() es la regla, elegir() toma la decisión, y add_edge(agente, 'controlador') hace que todos regresen.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Esta lámina desarma la línea más importante de pizarra.py. La foto es la vuelta 2: en la pizarra ya están la historia y los criterios. listo_para recorre la tabla AGENTES fila por fila y le aplica a cada agente dos filtros. Filtro 1, en azul: ¿ya está en la pizarra todo lo que necesita leer? Es all(p.get(c) for c in lee). Filtro 2, en naranja: ¿su casilla sigue vacía?, es decir, ¿todavía no ha trabajado? Es not p.get(escribe). Pantalla no pasa el filtro 1 porque le falta el endpoint. El analista no pasa el filtro 2 porque ya escribió los criterios. Diseñador y backend pasan los dos, así que la lista es [disenador, backend]. elegir toma el primero de la lista: el diseñador. Pregunta para el grupo: ¿qué agente aparecerá en la lista en la siguiente vuelta?</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archivo, la tabla está desordenada a propósito: el orden de ejecución sale de las dependencias, no del orden en el código. La salida muestra en cada vuelta qué hay en la pizarra y quién puede trabajar. Ejercicio: agregar un agente «revisor» que lee casos y endpoint y escribe «revision»; basta una línea en la tabla. Enlace con seguridad: que cada agente escriba solo su campo es lo mismo que confinar_escritura hace con carpetas.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4 del módulo. Se califica la justificación, no la etiqueta.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4 del módulo. Después de ver cada topología por separado, esta diapositiva las junta en una decisión de tres preguntas, en orden. Primera: si los pasos se conocen de antemano, basta un workflow con los patrones de flujo de la sesión 2, donde decide el código. Segunda: casi siempre un solo agente con buenas herramientas alcanza; varios agentes se justifican cuando las partes necesitan contextos, herramientas o permisos que no deben mezclarse, o cuando hay trabajo en paralelo. Tercera: quién debe decidir el siguiente paso, y esa respuesta elige la topología. Ejercicio de clase, en parejas: clasificar cuatro casos. Dudas de empleados sobre políticas: un agente con una herramienta de búsqueda. Procesar facturas: un workflow encadenado con compuertas. Mesa de ayuda de Recursos Humanos con altas, vacaciones y nómina: traspasos o supervisor, según quién deba controlar el orden. La fábrica: un workflow orquestado por código, que es un supervisor determinista, con agentes dentro de algunos nodos. Se califica la justificación, no la etiqueta. La última columna da un caso cotidiano por arquitectura: pedir a la clase que propongan otro ejemplo para cada fila y que digan quién decide el siguiente paso en él.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3D6F7-4D45-3958-CB38-1BA4CBFB1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EB5EB-3D1A-A937-1DCA-423EE6F4E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74D479-E781-DCF5-6735-532BA48A0530}"/>
              </a:ext>
            </a:extLst>
          </p:cNvPr>
          <p:cNvSpPr>
            <a:spLocks noGrp="1"/>
          </p:cNvSpPr>
          <p:nvPr>
            <p:ph type="body" idx="1"/>
          </p:nvPr>
        </p:nvSpPr>
        <p:spPr/>
        <p:txBody>
          <a:bodyPr/>
          <a:lstStyle/>
          <a:p>
            <a:r>
              <a:rPr lang="en-US" dirty="0"/>
              <a:t>Quédate en la sala los primeros 2 minutos: ahí llegan las dudas 1:1.</a:t>
            </a:r>
          </a:p>
        </p:txBody>
      </p:sp>
      <p:sp>
        <p:nvSpPr>
          <p:cNvPr id="4" name="Slide Number Placeholder 3">
            <a:extLst>
              <a:ext uri="{FF2B5EF4-FFF2-40B4-BE49-F238E27FC236}">
                <a16:creationId xmlns:a16="http://schemas.microsoft.com/office/drawing/2014/main" id="{3869C997-AB3B-B96A-D805-53BE5FC1DCD9}"/>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9564493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razón principal para tener varios agentes en la fábrica es separar permisos.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La razón principal para tener varios agentes en la fábrica es separar permisos: el automatizador escribe solo en tests/, así que no puede hacer pasar una prueba cambiando la aplicación; el agente de despliegue solo toca archivos de Docker. Esos límites se aplican con hooks PreToolUse en seguridad/hooks.py, que niegan la escritura antes de que ocurra. El contrato entre agentes son los artefactos: el automatizador recibe casos_prueba.json y debe dejar un test por cada id de caso; la verificación lo comprueba. Si los agentes no compartieran disco, los estándares serían MCP para herramientas y A2A para comunicar agentes de distintos sistemas.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con mcp_cliente.py y con Claude Code (claude mcp add). Al terminar, claude mcp remove directorio.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Un agente sirve de poco si no puede llegar a los datos: bases de datos, APIs, archivos, bases de conocimiento. Sin un estándar, cada agente necesita un conector escrito a la medida para cada recurso. Con 3 agentes y 4 recursos son 12 conectores en código, cada uno con su forma de autenticarse, de describir sus funciones y de devolver errores. Si cambia la API, hay que corregir el conector en cada agente. No escala. MCP, Model Context Protocol, es un protocolo abierto: un idioma común entre agentes y recursos. Cada recurso se publica una sola vez como servidor MCP, y cualquier agente que hable MCP lo puede usar: 3 más 4, siete piezas en lugar de doce. Cómo funciona: el agente se conecta, pregunta qué herramientas hay con list_tools, recibe la ficha de cada una, y las usa con call_tool. No importa el código del servidor ni sabe cómo está hecho. Analogía: USB-C. El fabricante del teclado y el de la computadora no se conocen; basta con que los dos usen el mismo puerto. En el repo: ejemplos/s3_topologias/mcp_directorio.py publica el directorio de empleados y lo puede usar Claude Code o nuestro propio cliente.</a:t>
            </a:r>
          </a:p>
        </p:txBody>
      </p:sp>
    </p:spTree>
    <p:extLst>
      <p:ext uri="{BB962C8B-B14F-4D97-AF65-F5344CB8AC3E}">
        <p14:creationId xmlns:p14="http://schemas.microsoft.com/office/powerpoint/2010/main" val="4998950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0492-1BA1-8754-F811-25C42ABF3B4B}"/>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48B938F-8130-C074-BC1C-9B2CE1FAC602}"/>
              </a:ext>
            </a:extLst>
          </p:cNvPr>
          <p:cNvSpPr>
            <a:spLocks noGrp="1"/>
          </p:cNvSpPr>
          <p:nvPr>
            <p:ph type="body" idx="1"/>
          </p:nvPr>
        </p:nvSpPr>
        <p:spPr/>
        <p:txBody>
          <a:bodyPr/>
          <a:lstStyle/>
          <a:p>
            <a:r>
              <a:t>Un agente sirve de poco si no puede llegar a los datos: bases de datos, APIs, archivos, bases de conocimiento. Sin un estándar, cada agente necesita un conector escrito a la medida para cada recurso. Con 3 agentes y 4 recursos son 12 conectores en código, cada uno con su forma de autenticarse, de describir sus funciones y de devolver errores. Si cambia la API, hay que corregir el conector en cada agente. No escala. MCP, Model Context Protocol, es un protocolo abierto: un idioma común entre agentes y recursos. Cada recurso se publica una sola vez como servidor MCP, y cualquier agente que hable MCP lo puede usar: 3 más 4, siete piezas en lugar de doce. Cómo funciona: el agente se conecta, pregunta qué herramientas hay con list_tools, recibe la ficha de cada una, y las usa con call_tool. No importa el código del servidor ni sabe cómo está hecho. Analogía: USB-C. El fabricante del teclado y el de la computadora no se conocen; basta con que los dos usen el mismo puerto. En el repo: ejemplos/s3_topologias/mcp_directorio.py publica el directorio de empleados y lo puede usar Claude Code o nuestro propio cliente.</a:t>
            </a:r>
          </a:p>
        </p:txBody>
      </p:sp>
    </p:spTree>
    <p:extLst>
      <p:ext uri="{BB962C8B-B14F-4D97-AF65-F5344CB8AC3E}">
        <p14:creationId xmlns:p14="http://schemas.microsoft.com/office/powerpoint/2010/main" val="1055641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Model Context Protocol, es un estándar abierto para conectar agentes con herramientas y datos. Sin él, cada agente escribe sus propios esquemas y conectores: con M agentes y N sistemas son M por N integraciones. Con MCP, cada sistema publica un servidor una vez y cualquier cliente lo usa. El servidor publica herramientas, recursos y prompts; en clase usamos solo herramientas. El cliente hace dos cosas: list_tools para descubrir qué hay, con su descripción y esquema, y call_tool para ejecutarla. Lo importante para el curso: MCP no cambia el bucle del agente, cambia de dónde salen las herramientas. A2A, Agent2Agent, es el estándar hermano para que un agente le delegue una tarea a otro agente de otro sistema; aquí solo lo mencionamos. Puente a la sesión 4: la descripción de la herramienta entra al contexto del modelo, así que un servidor MCP de terceros es código y texto que no escribimos. Es la cadena de suministro de ASI04: revisar, fijar versiones y publicar lo mínimo, de solo lectura.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Primero ejecutar mcp_cliente.py: la primera línea dice qué herramientas descubrió, y en la pregunta sobre EMP-0099 el servidor responde con un error que regresa al modelo con is_error, igual que en react.py. Después, con el .venv activado, registrar el mismo servidor en Claude Code con claude mcp add, revisar claude mcp list, que debe decir Connected, abrir claude y preguntar quién es el empleado activo más antiguo de Tecnología: Claude Code pide permiso para usar la herramienta del servidor directorio. Señalar que el servidor no cambió: dos clientes distintos, cero líneas de integración. Al terminar, claude mcp remove directorio. El registro es local, no se guarda en el repo, para que los agentes de la fábrica no lo carguen.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Es el mismo diagrama de la sesión 1, el ciclo ReAct en Claude, con lo que agrega MCP en naranja. Primero, antes de la primera vuelta: el agente se conecta al servidor MCP y le pregunta qué herramientas tiene con list_tools. Recibe las fichas, nombre, descripción y esquema, y las pasa al modelo en tools. En la sesión 1 esas fichas se escribían a mano; aquí llegan del servidor. Después, el ciclo es idéntico: el modelo responde con bloques, thinking, text o tool_use, y el stop_reason decide qué sigue. Lo segundo que cambia está en la rama tool_use: tu código ya no ejecuta la función; le pasa el pedido al servidor con call_tool, y el servidor la ejecuta y devuelve el resultado. Ese resultado vuelve como tool_result, con rol user y con is_error si falló, y empieza la siguiente vuelta. La idea para llevarse: MCP no cambia cómo razona el agente; cambia de dónde salen las herramientas y quién las ejecuta. Claude Code hace todo esto por ti cuando registras un servidor con claude mcp add.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¿por qué el automatizador puede trabajar al mismo tiempo que el despliegue?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flujo de la sesión 2 se le agregan dos agentes que trabajan al mismo tiempo. Cuando la verificación aprueba la app, la función de ruta devuelve una lista con dos nodos, y LangGraph los ejecuta en paralelo. El automatizador puede trabajar sin la app corriendo porque solo necesita los casos de prueba y los data-testid de las convenciones. Cada rama termina en una verificación sin LLM: el despliegue comprueba que responden la API, el front-end y el proxy; las pruebas, que se recolectan y que cada caso tiene su test. El nodo listo espera a ambas ramas antes de seguir.</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Aprobar el plan solo si extiende el código de HU-01 sin romperlo.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 leer agentes/despliegue.py y agentes/automatizador.py, sus listas ESCRITURA y PROGRAMAS, y la función despues_de_verificar de flujo_s3. Pregunta: ¿por qué el automatizador puede trabajar al mismo tiempo que el despliegue? Porque solo necesita los casos y los data-testid. 3B: aprobar el plan solo si dice que extiende el código de HU-01 sin romperlo. 3C: comprobar contenedores, correr las pruebas de API y las E2E viendo el navegador, y comparar con la tabla manual. Errores frecuentes: Docker cerrado, puerto ocupado, 502 por nginx mal configurado (el agente 4 lo corrige), falta el navegador de Playwright.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Comparar las pruebas con la tabla manual de la sesión 2 y buscar en auditoria.jsonl un intento fuera de rol.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¿qué topología es tu fábrica? ¿Qué denegación encontraste en la auditoría?</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Sistemas multi-agente</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3 · 3 h 00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Dividir el trabajo solo cuando las especialidades lo justifican.</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2926878"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36</a:t>
            </a:r>
            <a:endParaRPr lang="en-US" sz="745" dirty="0"/>
          </a:p>
        </p:txBody>
      </p:sp>
      <p:sp>
        <p:nvSpPr>
          <p:cNvPr id="17" name="s1-forma-16"/>
          <p:cNvSpPr/>
          <p:nvPr/>
        </p:nvSpPr>
        <p:spPr>
          <a:xfrm>
            <a:off x="0" y="0"/>
            <a:ext cx="338589"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txBody>
          <a:bodyPr/>
          <a:lstStyle/>
          <a:p>
            <a:endParaRPr lang="es-MX"/>
          </a:p>
        </p:txBody>
      </p:sp>
      <p:sp>
        <p:nvSpPr>
          <p:cNvPr id="3" name="s2-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Revisión del entregable 2</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La tabla de criterios cumplidos: ¿qué falló y por qué?</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2926878"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36</a:t>
            </a:r>
            <a:endParaRPr lang="en-US" sz="745" dirty="0"/>
          </a:p>
        </p:txBody>
      </p:sp>
      <p:sp>
        <p:nvSpPr>
          <p:cNvPr id="14" name="s2-forma-13"/>
          <p:cNvSpPr/>
          <p:nvPr/>
        </p:nvSpPr>
        <p:spPr>
          <a:xfrm>
            <a:off x="0" y="0"/>
            <a:ext cx="677267"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7C560C"/>
          </a:solidFill>
          <a:ln/>
        </p:spPr>
        <p:txBody>
          <a:bodyPr/>
          <a:lstStyle/>
          <a:p>
            <a:endParaRPr lang="es-MX"/>
          </a:p>
        </p:txBody>
      </p:sp>
      <p:sp>
        <p:nvSpPr>
          <p:cNvPr id="4" name="s3-texto-3"/>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3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las arquitecturas multi-agente y cuándo conviene cada una</a:t>
            </a:r>
            <a:endParaRPr lang="en-US" sz="1889" dirty="0"/>
          </a:p>
        </p:txBody>
      </p:sp>
      <p:sp>
        <p:nvSpPr>
          <p:cNvPr id="8" name="s3-forma-7"/>
          <p:cNvSpPr/>
          <p:nvPr/>
        </p:nvSpPr>
        <p:spPr>
          <a:xfrm>
            <a:off x="1342572" y="2018410"/>
            <a:ext cx="3035516" cy="2217386"/>
          </a:xfrm>
          <a:prstGeom prst="rect">
            <a:avLst/>
          </a:prstGeom>
          <a:solidFill>
            <a:srgbClr val="E2D3C2"/>
          </a:solidFill>
          <a:ln/>
        </p:spPr>
        <p:txBody>
          <a:bodyPr/>
          <a:lstStyle/>
          <a:p>
            <a:endParaRPr lang="es-MX"/>
          </a:p>
        </p:txBody>
      </p:sp>
      <p:sp>
        <p:nvSpPr>
          <p:cNvPr id="9" name="s3-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Cinco topologías en código</a:t>
            </a:r>
            <a:endParaRPr lang="en-US" sz="1260" dirty="0"/>
          </a:p>
        </p:txBody>
      </p:sp>
      <p:sp>
        <p:nvSpPr>
          <p:cNvPr id="11" name="s3-texto-10"/>
          <p:cNvSpPr txBox="1"/>
          <p:nvPr/>
        </p:nvSpPr>
        <p:spPr>
          <a:xfrm>
            <a:off x="1571095" y="2807886"/>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Cuándo conviene un agente, varios o ninguno</a:t>
            </a:r>
            <a:endParaRPr lang="en-US" sz="1260" dirty="0"/>
          </a:p>
        </p:txBody>
      </p:sp>
      <p:sp>
        <p:nvSpPr>
          <p:cNvPr id="12" name="s3-texto-11"/>
          <p:cNvSpPr txBox="1"/>
          <p:nvPr/>
        </p:nvSpPr>
        <p:spPr>
          <a:xfrm>
            <a:off x="1571095" y="334705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Roles, permisos y contratos entre agentes</a:t>
            </a:r>
            <a:endParaRPr lang="en-US" sz="1260" dirty="0"/>
          </a:p>
        </p:txBody>
      </p:sp>
      <p:sp>
        <p:nvSpPr>
          <p:cNvPr id="13" name="s3-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4 · Despliegue</a:t>
            </a:r>
            <a:r>
              <a:rPr lang="en-US" sz="1260" dirty="0">
                <a:solidFill>
                  <a:srgbClr val="16181D"/>
                </a:solidFill>
                <a:latin typeface="Arial" pitchFamily="34" charset="0"/>
                <a:ea typeface="Arial" pitchFamily="34" charset="-122"/>
                <a:cs typeface="Arial" pitchFamily="34" charset="-120"/>
              </a:rPr>
              <a:t> con Docker Compose</a:t>
            </a:r>
            <a:endParaRPr lang="en-US" sz="1260" dirty="0"/>
          </a:p>
        </p:txBody>
      </p:sp>
      <p:sp>
        <p:nvSpPr>
          <p:cNvPr id="16" name="s3-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5 · Automatizador</a:t>
            </a:r>
            <a:r>
              <a:rPr lang="en-US" sz="1260" dirty="0">
                <a:solidFill>
                  <a:srgbClr val="16181D"/>
                </a:solidFill>
                <a:latin typeface="Arial" pitchFamily="34" charset="0"/>
                <a:ea typeface="Arial" pitchFamily="34" charset="-122"/>
                <a:cs typeface="Arial" pitchFamily="34" charset="-120"/>
              </a:rPr>
              <a:t> con pytest y Playwright</a:t>
            </a:r>
            <a:endParaRPr lang="en-US" sz="1260" dirty="0"/>
          </a:p>
        </p:txBody>
      </p:sp>
      <p:sp>
        <p:nvSpPr>
          <p:cNvPr id="17" name="s3-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flujo </a:t>
            </a:r>
            <a:r>
              <a:rPr lang="en-US" sz="1260" b="1" dirty="0">
                <a:solidFill>
                  <a:srgbClr val="0033A0"/>
                </a:solidFill>
                <a:latin typeface="Arial" pitchFamily="34" charset="0"/>
                <a:ea typeface="Arial" pitchFamily="34" charset="-122"/>
                <a:cs typeface="Arial" pitchFamily="34" charset="-120"/>
              </a:rPr>
              <a:t>flujo_s3</a:t>
            </a:r>
            <a:r>
              <a:rPr lang="en-US" sz="1260" dirty="0">
                <a:solidFill>
                  <a:srgbClr val="16181D"/>
                </a:solidFill>
                <a:latin typeface="Arial" pitchFamily="34" charset="0"/>
                <a:ea typeface="Arial" pitchFamily="34" charset="-122"/>
                <a:cs typeface="Arial" pitchFamily="34" charset="-120"/>
              </a:rPr>
              <a:t> con dos ramas en paralelo</a:t>
            </a:r>
            <a:endParaRPr lang="en-US" sz="1260" dirty="0"/>
          </a:p>
        </p:txBody>
      </p:sp>
      <p:sp>
        <p:nvSpPr>
          <p:cNvPr id="18" name="s3-forma-17"/>
          <p:cNvSpPr/>
          <p:nvPr/>
        </p:nvSpPr>
        <p:spPr>
          <a:xfrm>
            <a:off x="7790666" y="2018410"/>
            <a:ext cx="3058368" cy="2217386"/>
          </a:xfrm>
          <a:prstGeom prst="rect">
            <a:avLst/>
          </a:prstGeom>
          <a:solidFill>
            <a:srgbClr val="E8E2D5"/>
          </a:solidFill>
          <a:ln/>
        </p:spPr>
        <p:txBody>
          <a:bodyPr/>
          <a:lstStyle/>
          <a:p>
            <a:endParaRPr lang="es-MX"/>
          </a:p>
        </p:txBody>
      </p:sp>
      <p:sp>
        <p:nvSpPr>
          <p:cNvPr id="19" name="s3-forma-18"/>
          <p:cNvSpPr/>
          <p:nvPr/>
        </p:nvSpPr>
        <p:spPr>
          <a:xfrm>
            <a:off x="7790666" y="2018410"/>
            <a:ext cx="3058368" cy="5713"/>
          </a:xfrm>
          <a:prstGeom prst="rect">
            <a:avLst/>
          </a:prstGeom>
          <a:solidFill>
            <a:srgbClr val="DBD4C4"/>
          </a:solidFill>
          <a:ln/>
        </p:spPr>
        <p:txBody>
          <a:bodyPr/>
          <a:lstStyle/>
          <a:p>
            <a:endParaRPr lang="es-MX"/>
          </a:p>
        </p:txBody>
      </p:sp>
      <p:sp>
        <p:nvSpPr>
          <p:cNvPr id="20" name="s3-forma-19"/>
          <p:cNvSpPr/>
          <p:nvPr/>
        </p:nvSpPr>
        <p:spPr>
          <a:xfrm>
            <a:off x="7790666" y="4230083"/>
            <a:ext cx="3058368" cy="5713"/>
          </a:xfrm>
          <a:prstGeom prst="rect">
            <a:avLst/>
          </a:prstGeom>
          <a:solidFill>
            <a:srgbClr val="DBD4C4"/>
          </a:solidFill>
          <a:ln/>
        </p:spPr>
        <p:txBody>
          <a:bodyPr/>
          <a:lstStyle/>
          <a:p>
            <a:endParaRPr lang="es-MX"/>
          </a:p>
        </p:txBody>
      </p:sp>
      <p:sp>
        <p:nvSpPr>
          <p:cNvPr id="21" name="s3-forma-20"/>
          <p:cNvSpPr/>
          <p:nvPr/>
        </p:nvSpPr>
        <p:spPr>
          <a:xfrm>
            <a:off x="7790666" y="2018410"/>
            <a:ext cx="17139" cy="2217386"/>
          </a:xfrm>
          <a:prstGeom prst="rect">
            <a:avLst/>
          </a:prstGeom>
          <a:solidFill>
            <a:srgbClr val="C6BFAE"/>
          </a:solidFill>
          <a:ln/>
        </p:spPr>
        <p:txBody>
          <a:bodyPr/>
          <a:lstStyle/>
          <a:p>
            <a:endParaRPr lang="es-MX"/>
          </a:p>
        </p:txBody>
      </p:sp>
      <p:sp>
        <p:nvSpPr>
          <p:cNvPr id="22" name="s3-forma-21"/>
          <p:cNvSpPr/>
          <p:nvPr/>
        </p:nvSpPr>
        <p:spPr>
          <a:xfrm>
            <a:off x="10843321" y="2018410"/>
            <a:ext cx="5713" cy="2217386"/>
          </a:xfrm>
          <a:prstGeom prst="rect">
            <a:avLst/>
          </a:prstGeom>
          <a:solidFill>
            <a:srgbClr val="DBD4C4"/>
          </a:solidFill>
          <a:ln/>
        </p:spPr>
        <p:txBody>
          <a:bodyPr/>
          <a:lstStyle/>
          <a:p>
            <a:endParaRPr lang="es-MX"/>
          </a:p>
        </p:txBody>
      </p:sp>
      <p:sp>
        <p:nvSpPr>
          <p:cNvPr id="23" name="s3-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app/docker-compose.yml</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app/tests/api/ app/tests/e2e/</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salida/HU-02/notas_s3.md</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txBody>
          <a:bodyPr/>
          <a:lstStyle/>
          <a:p>
            <a:endParaRPr lang="es-MX"/>
          </a:p>
        </p:txBody>
      </p:sp>
      <p:pic>
        <p:nvPicPr>
          <p:cNvPr id="27" name="s3-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3-forma-27"/>
          <p:cNvSpPr/>
          <p:nvPr/>
        </p:nvSpPr>
        <p:spPr>
          <a:xfrm>
            <a:off x="1659380" y="6519865"/>
            <a:ext cx="2926878" cy="102835"/>
          </a:xfrm>
          <a:prstGeom prst="rect">
            <a:avLst/>
          </a:prstGeom>
          <a:ln/>
        </p:spPr>
        <p:txBody>
          <a:bodyPr/>
          <a:lstStyle/>
          <a:p>
            <a:endParaRPr lang="es-MX"/>
          </a:p>
        </p:txBody>
      </p:sp>
      <p:sp>
        <p:nvSpPr>
          <p:cNvPr id="29" name="s3-forma-28"/>
          <p:cNvSpPr/>
          <p:nvPr/>
        </p:nvSpPr>
        <p:spPr>
          <a:xfrm>
            <a:off x="1659380" y="6519865"/>
            <a:ext cx="5713" cy="102835"/>
          </a:xfrm>
          <a:prstGeom prst="rect">
            <a:avLst/>
          </a:prstGeom>
          <a:solidFill>
            <a:srgbClr val="C6BFAE"/>
          </a:solidFill>
          <a:ln/>
        </p:spPr>
        <p:txBody>
          <a:bodyPr/>
          <a:lstStyle/>
          <a:p>
            <a:endParaRPr lang="es-MX"/>
          </a:p>
        </p:txBody>
      </p:sp>
      <p:sp>
        <p:nvSpPr>
          <p:cNvPr id="30" name="s3-texto-2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36</a:t>
            </a:r>
            <a:endParaRPr lang="en-US" sz="745" dirty="0"/>
          </a:p>
        </p:txBody>
      </p:sp>
      <p:sp>
        <p:nvSpPr>
          <p:cNvPr id="32" name="s3-forma-31"/>
          <p:cNvSpPr/>
          <p:nvPr/>
        </p:nvSpPr>
        <p:spPr>
          <a:xfrm>
            <a:off x="0" y="0"/>
            <a:ext cx="1015945" cy="17139"/>
          </a:xfrm>
          <a:prstGeom prst="rect">
            <a:avLst/>
          </a:prstGeom>
          <a:solidFill>
            <a:srgbClr val="0033A0"/>
          </a:solidFill>
          <a:ln/>
        </p:spPr>
        <p:txBody>
          <a:bodyPr/>
          <a:lstStyle/>
          <a:p>
            <a:endParaRPr lang="es-MX"/>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txBody>
          <a:bodyPr/>
          <a:lstStyle/>
          <a:p>
            <a:endParaRPr lang="es-MX"/>
          </a:p>
        </p:txBody>
      </p:sp>
      <p:sp>
        <p:nvSpPr>
          <p:cNvPr id="3" name="s4-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3.1</a:t>
            </a:r>
            <a:endParaRPr lang="en-US" sz="869" dirty="0"/>
          </a:p>
        </p:txBody>
      </p:sp>
      <p:sp>
        <p:nvSpPr>
          <p:cNvPr id="6" name="s4-forma-5"/>
          <p:cNvSpPr/>
          <p:nvPr/>
        </p:nvSpPr>
        <p:spPr>
          <a:xfrm>
            <a:off x="853390" y="3768306"/>
            <a:ext cx="722704" cy="22852"/>
          </a:xfrm>
          <a:prstGeom prst="rect">
            <a:avLst/>
          </a:prstGeom>
          <a:solidFill>
            <a:srgbClr val="0033A0"/>
          </a:solidFill>
          <a:ln/>
        </p:spPr>
        <p:txBody>
          <a:bodyPr/>
          <a:lstStyle/>
          <a:p>
            <a:endParaRPr lang="es-MX"/>
          </a:p>
        </p:txBody>
      </p:sp>
      <p:sp>
        <p:nvSpPr>
          <p:cNvPr id="7" name="s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Topologías · 1</a:t>
            </a:r>
            <a:endParaRPr lang="en-US" sz="4242" dirty="0"/>
          </a:p>
        </p:txBody>
      </p:sp>
      <p:sp>
        <p:nvSpPr>
          <p:cNvPr id="8" name="s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Cuándo usar varios agentes, supervisor y jerárquica.</a:t>
            </a:r>
            <a:endParaRPr lang="en-US" sz="1676" dirty="0"/>
          </a:p>
        </p:txBody>
      </p:sp>
      <p:pic>
        <p:nvPicPr>
          <p:cNvPr id="9" name="s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4-forma-9"/>
          <p:cNvSpPr/>
          <p:nvPr/>
        </p:nvSpPr>
        <p:spPr>
          <a:xfrm>
            <a:off x="1659380" y="6519865"/>
            <a:ext cx="2926878" cy="102835"/>
          </a:xfrm>
          <a:prstGeom prst="rect">
            <a:avLst/>
          </a:prstGeom>
          <a:ln/>
        </p:spPr>
        <p:txBody>
          <a:bodyPr/>
          <a:lstStyle/>
          <a:p>
            <a:endParaRPr lang="es-MX"/>
          </a:p>
        </p:txBody>
      </p:sp>
      <p:sp>
        <p:nvSpPr>
          <p:cNvPr id="11" name="s4-forma-10"/>
          <p:cNvSpPr/>
          <p:nvPr/>
        </p:nvSpPr>
        <p:spPr>
          <a:xfrm>
            <a:off x="1659380" y="6519865"/>
            <a:ext cx="5713" cy="102835"/>
          </a:xfrm>
          <a:prstGeom prst="rect">
            <a:avLst/>
          </a:prstGeom>
          <a:solidFill>
            <a:srgbClr val="C6BFAE"/>
          </a:solidFill>
          <a:ln/>
        </p:spPr>
        <p:txBody>
          <a:bodyPr/>
          <a:lstStyle/>
          <a:p>
            <a:endParaRPr lang="es-MX"/>
          </a:p>
        </p:txBody>
      </p:sp>
      <p:sp>
        <p:nvSpPr>
          <p:cNvPr id="12" name="s4-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36</a:t>
            </a:r>
            <a:endParaRPr lang="en-US" sz="745" dirty="0"/>
          </a:p>
        </p:txBody>
      </p:sp>
      <p:sp>
        <p:nvSpPr>
          <p:cNvPr id="14" name="s4-forma-13"/>
          <p:cNvSpPr/>
          <p:nvPr/>
        </p:nvSpPr>
        <p:spPr>
          <a:xfrm>
            <a:off x="0" y="0"/>
            <a:ext cx="1354623"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0033A0"/>
          </a:solidFill>
          <a:ln/>
        </p:spPr>
        <p:txBody>
          <a:bodyPr/>
          <a:lstStyle/>
          <a:p>
            <a:endParaRPr lang="es-MX"/>
          </a:p>
        </p:txBody>
      </p:sp>
      <p:sp>
        <p:nvSpPr>
          <p:cNvPr id="4" name="s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3.1 · CUÁNDO SÍ Y CUÁNDO NO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Más agentes no es mejor por defecto</a:t>
            </a:r>
            <a:endParaRPr lang="en-US" sz="2879" dirty="0"/>
          </a:p>
        </p:txBody>
      </p:sp>
      <p:sp>
        <p:nvSpPr>
          <p:cNvPr id="8" name="s5-forma-7"/>
          <p:cNvSpPr/>
          <p:nvPr/>
        </p:nvSpPr>
        <p:spPr>
          <a:xfrm>
            <a:off x="1342572" y="2144634"/>
            <a:ext cx="4661867" cy="2096608"/>
          </a:xfrm>
          <a:prstGeom prst="rect">
            <a:avLst/>
          </a:prstGeom>
          <a:solidFill>
            <a:srgbClr val="E3DCCB"/>
          </a:solidFill>
          <a:ln w="5713">
            <a:solidFill>
              <a:srgbClr val="C6BFAE"/>
            </a:solidFill>
            <a:prstDash val="solid"/>
          </a:ln>
        </p:spPr>
        <p:txBody>
          <a:bodyPr/>
          <a:lstStyle/>
          <a:p>
            <a:endParaRPr lang="es-MX"/>
          </a:p>
        </p:txBody>
      </p:sp>
      <p:pic>
        <p:nvPicPr>
          <p:cNvPr id="9" name="s5-icono-8" descr="preencoded.png"/>
          <p:cNvPicPr>
            <a:picLocks noChangeAspect="1"/>
          </p:cNvPicPr>
          <p:nvPr/>
        </p:nvPicPr>
        <p:blipFill>
          <a:blip r:embed="rId3"/>
          <a:stretch>
            <a:fillRect/>
          </a:stretch>
        </p:blipFill>
        <p:spPr>
          <a:xfrm>
            <a:off x="1576808" y="2378870"/>
            <a:ext cx="274227" cy="274227"/>
          </a:xfrm>
          <a:prstGeom prst="rect">
            <a:avLst/>
          </a:prstGeom>
        </p:spPr>
      </p:pic>
      <p:sp>
        <p:nvSpPr>
          <p:cNvPr id="10" name="s5-texto-9"/>
          <p:cNvSpPr txBox="1"/>
          <p:nvPr/>
        </p:nvSpPr>
        <p:spPr>
          <a:xfrm>
            <a:off x="1942444" y="2378870"/>
            <a:ext cx="167349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SÍ CONVIENE</a:t>
            </a:r>
            <a:endParaRPr lang="en-US" sz="1799" dirty="0"/>
          </a:p>
        </p:txBody>
      </p:sp>
      <p:sp>
        <p:nvSpPr>
          <p:cNvPr id="11" name="s5-forma-10"/>
          <p:cNvSpPr/>
          <p:nvPr/>
        </p:nvSpPr>
        <p:spPr>
          <a:xfrm>
            <a:off x="1576808" y="2922504"/>
            <a:ext cx="95962" cy="5713"/>
          </a:xfrm>
          <a:prstGeom prst="rect">
            <a:avLst/>
          </a:prstGeom>
          <a:solidFill>
            <a:srgbClr val="0033A0"/>
          </a:solidFill>
          <a:ln/>
        </p:spPr>
        <p:txBody>
          <a:bodyPr/>
          <a:lstStyle/>
          <a:p>
            <a:endParaRPr lang="es-MX"/>
          </a:p>
        </p:txBody>
      </p:sp>
      <p:sp>
        <p:nvSpPr>
          <p:cNvPr id="12" name="s5-texto-11"/>
          <p:cNvSpPr txBox="1"/>
          <p:nvPr/>
        </p:nvSpPr>
        <p:spPr>
          <a:xfrm>
            <a:off x="1800689" y="2851894"/>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Subtareas paralelizables</a:t>
            </a:r>
            <a:endParaRPr lang="en-US" sz="1260" dirty="0"/>
          </a:p>
        </p:txBody>
      </p:sp>
      <p:sp>
        <p:nvSpPr>
          <p:cNvPr id="13" name="s5-forma-12"/>
          <p:cNvSpPr/>
          <p:nvPr/>
        </p:nvSpPr>
        <p:spPr>
          <a:xfrm>
            <a:off x="1576808" y="3218423"/>
            <a:ext cx="95962" cy="5713"/>
          </a:xfrm>
          <a:prstGeom prst="rect">
            <a:avLst/>
          </a:prstGeom>
          <a:solidFill>
            <a:srgbClr val="0033A0"/>
          </a:solidFill>
          <a:ln/>
        </p:spPr>
        <p:txBody>
          <a:bodyPr/>
          <a:lstStyle/>
          <a:p>
            <a:endParaRPr lang="es-MX"/>
          </a:p>
        </p:txBody>
      </p:sp>
      <p:sp>
        <p:nvSpPr>
          <p:cNvPr id="14" name="s5-texto-13"/>
          <p:cNvSpPr txBox="1"/>
          <p:nvPr/>
        </p:nvSpPr>
        <p:spPr>
          <a:xfrm>
            <a:off x="1800689" y="314781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Contextos que no caben juntos</a:t>
            </a:r>
            <a:endParaRPr lang="en-US" sz="1260" dirty="0"/>
          </a:p>
        </p:txBody>
      </p:sp>
      <p:sp>
        <p:nvSpPr>
          <p:cNvPr id="15" name="s5-forma-14"/>
          <p:cNvSpPr/>
          <p:nvPr/>
        </p:nvSpPr>
        <p:spPr>
          <a:xfrm>
            <a:off x="1576808" y="3514343"/>
            <a:ext cx="95962" cy="5713"/>
          </a:xfrm>
          <a:prstGeom prst="rect">
            <a:avLst/>
          </a:prstGeom>
          <a:solidFill>
            <a:srgbClr val="0033A0"/>
          </a:solidFill>
          <a:ln/>
        </p:spPr>
        <p:txBody>
          <a:bodyPr/>
          <a:lstStyle/>
          <a:p>
            <a:endParaRPr lang="es-MX"/>
          </a:p>
        </p:txBody>
      </p:sp>
      <p:sp>
        <p:nvSpPr>
          <p:cNvPr id="16" name="s5-texto-15"/>
          <p:cNvSpPr txBox="1"/>
          <p:nvPr/>
        </p:nvSpPr>
        <p:spPr>
          <a:xfrm>
            <a:off x="1800689" y="344373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Herramientas o permisos que conviene aislar</a:t>
            </a:r>
            <a:endParaRPr lang="en-US" sz="1260" dirty="0"/>
          </a:p>
        </p:txBody>
      </p:sp>
      <p:sp>
        <p:nvSpPr>
          <p:cNvPr id="17" name="s5-forma-16"/>
          <p:cNvSpPr/>
          <p:nvPr/>
        </p:nvSpPr>
        <p:spPr>
          <a:xfrm>
            <a:off x="1576808" y="3810262"/>
            <a:ext cx="95962" cy="5713"/>
          </a:xfrm>
          <a:prstGeom prst="rect">
            <a:avLst/>
          </a:prstGeom>
          <a:solidFill>
            <a:srgbClr val="0033A0"/>
          </a:solidFill>
          <a:ln/>
        </p:spPr>
        <p:txBody>
          <a:bodyPr/>
          <a:lstStyle/>
          <a:p>
            <a:endParaRPr lang="es-MX"/>
          </a:p>
        </p:txBody>
      </p:sp>
      <p:sp>
        <p:nvSpPr>
          <p:cNvPr id="18" name="s5-texto-17"/>
          <p:cNvSpPr txBox="1"/>
          <p:nvPr/>
        </p:nvSpPr>
        <p:spPr>
          <a:xfrm>
            <a:off x="1800689" y="3739652"/>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Equipos distintos mantienen cada agente</a:t>
            </a:r>
            <a:endParaRPr lang="en-US" sz="1260" dirty="0"/>
          </a:p>
        </p:txBody>
      </p:sp>
      <p:sp>
        <p:nvSpPr>
          <p:cNvPr id="19" name="s5-forma-18"/>
          <p:cNvSpPr/>
          <p:nvPr/>
        </p:nvSpPr>
        <p:spPr>
          <a:xfrm>
            <a:off x="6187257" y="2144634"/>
            <a:ext cx="4661867" cy="2096608"/>
          </a:xfrm>
          <a:prstGeom prst="rect">
            <a:avLst/>
          </a:prstGeom>
          <a:solidFill>
            <a:srgbClr val="E3DCCB"/>
          </a:solidFill>
          <a:ln w="5713">
            <a:solidFill>
              <a:srgbClr val="C6BFAE"/>
            </a:solidFill>
            <a:prstDash val="solid"/>
          </a:ln>
        </p:spPr>
        <p:txBody>
          <a:bodyPr/>
          <a:lstStyle/>
          <a:p>
            <a:endParaRPr lang="es-MX"/>
          </a:p>
        </p:txBody>
      </p:sp>
      <p:pic>
        <p:nvPicPr>
          <p:cNvPr id="20" name="s5-icono-19" descr="preencoded.png"/>
          <p:cNvPicPr>
            <a:picLocks noChangeAspect="1"/>
          </p:cNvPicPr>
          <p:nvPr/>
        </p:nvPicPr>
        <p:blipFill>
          <a:blip r:embed="rId4"/>
          <a:stretch>
            <a:fillRect/>
          </a:stretch>
        </p:blipFill>
        <p:spPr>
          <a:xfrm>
            <a:off x="6421493" y="2378870"/>
            <a:ext cx="274227" cy="274227"/>
          </a:xfrm>
          <a:prstGeom prst="rect">
            <a:avLst/>
          </a:prstGeom>
        </p:spPr>
      </p:pic>
      <p:sp>
        <p:nvSpPr>
          <p:cNvPr id="21" name="s5-texto-20"/>
          <p:cNvSpPr txBox="1"/>
          <p:nvPr/>
        </p:nvSpPr>
        <p:spPr>
          <a:xfrm>
            <a:off x="6787129" y="2378870"/>
            <a:ext cx="1803131"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NO CONVIENE</a:t>
            </a:r>
            <a:endParaRPr lang="en-US" sz="1799" dirty="0"/>
          </a:p>
        </p:txBody>
      </p:sp>
      <p:sp>
        <p:nvSpPr>
          <p:cNvPr id="22" name="s5-forma-21"/>
          <p:cNvSpPr/>
          <p:nvPr/>
        </p:nvSpPr>
        <p:spPr>
          <a:xfrm>
            <a:off x="6421493" y="2922504"/>
            <a:ext cx="95962" cy="5713"/>
          </a:xfrm>
          <a:prstGeom prst="rect">
            <a:avLst/>
          </a:prstGeom>
          <a:solidFill>
            <a:srgbClr val="0033A0"/>
          </a:solidFill>
          <a:ln/>
        </p:spPr>
        <p:txBody>
          <a:bodyPr/>
          <a:lstStyle/>
          <a:p>
            <a:endParaRPr lang="es-MX"/>
          </a:p>
        </p:txBody>
      </p:sp>
      <p:sp>
        <p:nvSpPr>
          <p:cNvPr id="23" name="s5-texto-22"/>
          <p:cNvSpPr txBox="1"/>
          <p:nvPr/>
        </p:nvSpPr>
        <p:spPr>
          <a:xfrm>
            <a:off x="6645374" y="2851894"/>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Tareas secuenciales y cortas</a:t>
            </a:r>
            <a:endParaRPr lang="en-US" sz="1260" dirty="0"/>
          </a:p>
        </p:txBody>
      </p:sp>
      <p:sp>
        <p:nvSpPr>
          <p:cNvPr id="24" name="s5-forma-23"/>
          <p:cNvSpPr/>
          <p:nvPr/>
        </p:nvSpPr>
        <p:spPr>
          <a:xfrm>
            <a:off x="6421493" y="3218423"/>
            <a:ext cx="95962" cy="5713"/>
          </a:xfrm>
          <a:prstGeom prst="rect">
            <a:avLst/>
          </a:prstGeom>
          <a:solidFill>
            <a:srgbClr val="0033A0"/>
          </a:solidFill>
          <a:ln/>
        </p:spPr>
        <p:txBody>
          <a:bodyPr/>
          <a:lstStyle/>
          <a:p>
            <a:endParaRPr lang="es-MX"/>
          </a:p>
        </p:txBody>
      </p:sp>
      <p:sp>
        <p:nvSpPr>
          <p:cNvPr id="25" name="s5-texto-24"/>
          <p:cNvSpPr txBox="1"/>
          <p:nvPr/>
        </p:nvSpPr>
        <p:spPr>
          <a:xfrm>
            <a:off x="6645374" y="314781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La coordinación cuesta más que el trabajo</a:t>
            </a:r>
            <a:endParaRPr lang="en-US" sz="1260" dirty="0"/>
          </a:p>
        </p:txBody>
      </p:sp>
      <p:sp>
        <p:nvSpPr>
          <p:cNvPr id="26" name="s5-forma-25"/>
          <p:cNvSpPr/>
          <p:nvPr/>
        </p:nvSpPr>
        <p:spPr>
          <a:xfrm>
            <a:off x="6421493" y="3514343"/>
            <a:ext cx="95962" cy="5713"/>
          </a:xfrm>
          <a:prstGeom prst="rect">
            <a:avLst/>
          </a:prstGeom>
          <a:solidFill>
            <a:srgbClr val="0033A0"/>
          </a:solidFill>
          <a:ln/>
        </p:spPr>
        <p:txBody>
          <a:bodyPr/>
          <a:lstStyle/>
          <a:p>
            <a:endParaRPr lang="es-MX"/>
          </a:p>
        </p:txBody>
      </p:sp>
      <p:sp>
        <p:nvSpPr>
          <p:cNvPr id="27" name="s5-texto-26"/>
          <p:cNvSpPr txBox="1"/>
          <p:nvPr/>
        </p:nvSpPr>
        <p:spPr>
          <a:xfrm>
            <a:off x="6645374" y="344373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No hay forma de evaluar el resultado</a:t>
            </a:r>
            <a:endParaRPr lang="en-US" sz="1260" dirty="0"/>
          </a:p>
        </p:txBody>
      </p:sp>
      <p:sp>
        <p:nvSpPr>
          <p:cNvPr id="28" name="s5-forma-27"/>
          <p:cNvSpPr/>
          <p:nvPr/>
        </p:nvSpPr>
        <p:spPr>
          <a:xfrm>
            <a:off x="1342572" y="4515469"/>
            <a:ext cx="9506551" cy="331358"/>
          </a:xfrm>
          <a:prstGeom prst="rect">
            <a:avLst/>
          </a:prstGeom>
          <a:ln/>
        </p:spPr>
        <p:txBody>
          <a:bodyPr/>
          <a:lstStyle/>
          <a:p>
            <a:endParaRPr lang="es-MX"/>
          </a:p>
        </p:txBody>
      </p:sp>
      <p:sp>
        <p:nvSpPr>
          <p:cNvPr id="29" name="s5-forma-28"/>
          <p:cNvSpPr/>
          <p:nvPr/>
        </p:nvSpPr>
        <p:spPr>
          <a:xfrm>
            <a:off x="1342572" y="4515469"/>
            <a:ext cx="34278" cy="331358"/>
          </a:xfrm>
          <a:prstGeom prst="rect">
            <a:avLst/>
          </a:prstGeom>
          <a:solidFill>
            <a:srgbClr val="984514"/>
          </a:solidFill>
          <a:ln/>
        </p:spPr>
        <p:txBody>
          <a:bodyPr/>
          <a:lstStyle/>
          <a:p>
            <a:endParaRPr lang="es-MX"/>
          </a:p>
        </p:txBody>
      </p:sp>
      <p:sp>
        <p:nvSpPr>
          <p:cNvPr id="30" name="s5-texto-29"/>
          <p:cNvSpPr txBox="1"/>
          <p:nvPr/>
        </p:nvSpPr>
        <p:spPr>
          <a:xfrm>
            <a:off x="1559669" y="4584026"/>
            <a:ext cx="9653035" cy="188531"/>
          </a:xfrm>
          <a:prstGeom prst="rect">
            <a:avLst/>
          </a:prstGeom>
          <a:noFill/>
          <a:ln/>
        </p:spPr>
        <p:txBody>
          <a:bodyPr wrap="none" lIns="0" tIns="0" rIns="0" bIns="0" rtlCol="0" anchor="t"/>
          <a:lstStyle/>
          <a:p>
            <a:pPr marL="0" indent="0" algn="l">
              <a:lnSpc>
                <a:spcPts val="1889"/>
              </a:lnSpc>
              <a:buNone/>
            </a:pPr>
            <a:r>
              <a:rPr lang="en-US" sz="1350" b="1" dirty="0">
                <a:solidFill>
                  <a:srgbClr val="0033A0"/>
                </a:solidFill>
                <a:latin typeface="Arial" pitchFamily="34" charset="0"/>
                <a:ea typeface="Arial" pitchFamily="34" charset="-122"/>
                <a:cs typeface="Arial" pitchFamily="34" charset="-120"/>
              </a:rPr>
              <a:t>Costos:</a:t>
            </a:r>
            <a:r>
              <a:rPr lang="en-US" sz="1350" dirty="0">
                <a:solidFill>
                  <a:srgbClr val="16181D"/>
                </a:solidFill>
                <a:latin typeface="Arial" pitchFamily="34" charset="0"/>
                <a:ea typeface="Arial" pitchFamily="34" charset="-122"/>
                <a:cs typeface="Arial" pitchFamily="34" charset="-120"/>
              </a:rPr>
              <a:t> más tokens, más latencia y errores que se propagan entre agentes.</a:t>
            </a:r>
            <a:endParaRPr lang="en-US" sz="1350" dirty="0"/>
          </a:p>
        </p:txBody>
      </p:sp>
      <p:sp>
        <p:nvSpPr>
          <p:cNvPr id="31" name="s5-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2" name="s5-forma-31"/>
          <p:cNvSpPr/>
          <p:nvPr/>
        </p:nvSpPr>
        <p:spPr>
          <a:xfrm>
            <a:off x="853390" y="6411138"/>
            <a:ext cx="10484915" cy="5713"/>
          </a:xfrm>
          <a:prstGeom prst="rect">
            <a:avLst/>
          </a:prstGeom>
          <a:solidFill>
            <a:srgbClr val="DBD4C4"/>
          </a:solidFill>
          <a:ln/>
        </p:spPr>
        <p:txBody>
          <a:bodyPr/>
          <a:lstStyle/>
          <a:p>
            <a:endParaRPr lang="es-MX"/>
          </a:p>
        </p:txBody>
      </p:sp>
      <p:pic>
        <p:nvPicPr>
          <p:cNvPr id="33" name="s5-logo-32" descr="preencoded.png"/>
          <p:cNvPicPr>
            <a:picLocks noChangeAspect="1"/>
          </p:cNvPicPr>
          <p:nvPr/>
        </p:nvPicPr>
        <p:blipFill>
          <a:blip r:embed="rId5"/>
          <a:stretch>
            <a:fillRect/>
          </a:stretch>
        </p:blipFill>
        <p:spPr>
          <a:xfrm>
            <a:off x="853390" y="6465055"/>
            <a:ext cx="687800" cy="212455"/>
          </a:xfrm>
          <a:prstGeom prst="rect">
            <a:avLst/>
          </a:prstGeom>
        </p:spPr>
      </p:pic>
      <p:sp>
        <p:nvSpPr>
          <p:cNvPr id="34" name="s5-forma-33"/>
          <p:cNvSpPr/>
          <p:nvPr/>
        </p:nvSpPr>
        <p:spPr>
          <a:xfrm>
            <a:off x="1659380" y="6519865"/>
            <a:ext cx="2926878" cy="102835"/>
          </a:xfrm>
          <a:prstGeom prst="rect">
            <a:avLst/>
          </a:prstGeom>
          <a:ln/>
        </p:spPr>
        <p:txBody>
          <a:bodyPr/>
          <a:lstStyle/>
          <a:p>
            <a:endParaRPr lang="es-MX"/>
          </a:p>
        </p:txBody>
      </p:sp>
      <p:sp>
        <p:nvSpPr>
          <p:cNvPr id="35" name="s5-forma-34"/>
          <p:cNvSpPr/>
          <p:nvPr/>
        </p:nvSpPr>
        <p:spPr>
          <a:xfrm>
            <a:off x="1659380" y="6519865"/>
            <a:ext cx="5713" cy="102835"/>
          </a:xfrm>
          <a:prstGeom prst="rect">
            <a:avLst/>
          </a:prstGeom>
          <a:solidFill>
            <a:srgbClr val="C6BFAE"/>
          </a:solidFill>
          <a:ln/>
        </p:spPr>
        <p:txBody>
          <a:bodyPr/>
          <a:lstStyle/>
          <a:p>
            <a:endParaRPr lang="es-MX"/>
          </a:p>
        </p:txBody>
      </p:sp>
      <p:sp>
        <p:nvSpPr>
          <p:cNvPr id="36" name="s5-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5-texto-36"/>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36</a:t>
            </a:r>
            <a:endParaRPr lang="en-US" sz="745" dirty="0"/>
          </a:p>
        </p:txBody>
      </p:sp>
      <p:sp>
        <p:nvSpPr>
          <p:cNvPr id="38" name="s5-forma-37"/>
          <p:cNvSpPr/>
          <p:nvPr/>
        </p:nvSpPr>
        <p:spPr>
          <a:xfrm>
            <a:off x="0" y="0"/>
            <a:ext cx="1693212"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0033A0"/>
          </a:solidFill>
          <a:ln/>
        </p:spPr>
        <p:txBody>
          <a:bodyPr/>
          <a:lstStyle/>
          <a:p>
            <a:endParaRPr lang="es-MX"/>
          </a:p>
        </p:txBody>
      </p:sp>
      <p:sp>
        <p:nvSpPr>
          <p:cNvPr id="4" name="s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3.2 · TOPOLOGÍAS</a:t>
            </a:r>
            <a:endParaRPr lang="en-US" sz="900" dirty="0"/>
          </a:p>
        </p:txBody>
      </p:sp>
      <p:sp>
        <p:nvSpPr>
          <p:cNvPr id="7" name="s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Quién decide define la topología</a:t>
            </a:r>
            <a:endParaRPr lang="en-US" sz="2879" dirty="0"/>
          </a:p>
        </p:txBody>
      </p:sp>
      <p:sp>
        <p:nvSpPr>
          <p:cNvPr id="8" name="s6-forma-7"/>
          <p:cNvSpPr/>
          <p:nvPr/>
        </p:nvSpPr>
        <p:spPr>
          <a:xfrm>
            <a:off x="1342572" y="2144634"/>
            <a:ext cx="2471618" cy="226202"/>
          </a:xfrm>
          <a:prstGeom prst="rect">
            <a:avLst/>
          </a:prstGeom>
          <a:ln/>
        </p:spPr>
        <p:txBody>
          <a:bodyPr/>
          <a:lstStyle/>
          <a:p>
            <a:endParaRPr lang="es-MX"/>
          </a:p>
        </p:txBody>
      </p:sp>
      <p:sp>
        <p:nvSpPr>
          <p:cNvPr id="9" name="s6-forma-8"/>
          <p:cNvSpPr/>
          <p:nvPr/>
        </p:nvSpPr>
        <p:spPr>
          <a:xfrm>
            <a:off x="1342572" y="2365122"/>
            <a:ext cx="2471618" cy="5713"/>
          </a:xfrm>
          <a:prstGeom prst="rect">
            <a:avLst/>
          </a:prstGeom>
          <a:solidFill>
            <a:srgbClr val="0033A0"/>
          </a:solidFill>
          <a:ln/>
        </p:spPr>
        <p:txBody>
          <a:bodyPr/>
          <a:lstStyle/>
          <a:p>
            <a:endParaRPr lang="es-MX"/>
          </a:p>
        </p:txBody>
      </p:sp>
      <p:sp>
        <p:nvSpPr>
          <p:cNvPr id="10" name="s6-texto-9"/>
          <p:cNvSpPr txBox="1"/>
          <p:nvPr/>
        </p:nvSpPr>
        <p:spPr>
          <a:xfrm>
            <a:off x="1418538" y="2193463"/>
            <a:ext cx="2458848"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TOPOLOGÍA</a:t>
            </a:r>
            <a:endParaRPr lang="en-US" sz="855" dirty="0"/>
          </a:p>
        </p:txBody>
      </p:sp>
      <p:sp>
        <p:nvSpPr>
          <p:cNvPr id="11" name="s6-forma-10"/>
          <p:cNvSpPr/>
          <p:nvPr/>
        </p:nvSpPr>
        <p:spPr>
          <a:xfrm>
            <a:off x="3814190" y="2144634"/>
            <a:ext cx="3042032" cy="226202"/>
          </a:xfrm>
          <a:prstGeom prst="rect">
            <a:avLst/>
          </a:prstGeom>
          <a:ln/>
        </p:spPr>
        <p:txBody>
          <a:bodyPr/>
          <a:lstStyle/>
          <a:p>
            <a:endParaRPr lang="es-MX"/>
          </a:p>
        </p:txBody>
      </p:sp>
      <p:sp>
        <p:nvSpPr>
          <p:cNvPr id="12" name="s6-forma-11"/>
          <p:cNvSpPr/>
          <p:nvPr/>
        </p:nvSpPr>
        <p:spPr>
          <a:xfrm>
            <a:off x="3814190" y="2365122"/>
            <a:ext cx="3042032" cy="5713"/>
          </a:xfrm>
          <a:prstGeom prst="rect">
            <a:avLst/>
          </a:prstGeom>
          <a:solidFill>
            <a:srgbClr val="0033A0"/>
          </a:solidFill>
          <a:ln/>
        </p:spPr>
        <p:txBody>
          <a:bodyPr/>
          <a:lstStyle/>
          <a:p>
            <a:endParaRPr lang="es-MX"/>
          </a:p>
        </p:txBody>
      </p:sp>
      <p:sp>
        <p:nvSpPr>
          <p:cNvPr id="13" name="s6-texto-12"/>
          <p:cNvSpPr txBox="1"/>
          <p:nvPr/>
        </p:nvSpPr>
        <p:spPr>
          <a:xfrm>
            <a:off x="3890156" y="2193463"/>
            <a:ext cx="306348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QUIÉN DECIDE</a:t>
            </a:r>
            <a:endParaRPr lang="en-US" sz="855" dirty="0"/>
          </a:p>
        </p:txBody>
      </p:sp>
      <p:sp>
        <p:nvSpPr>
          <p:cNvPr id="14" name="s6-forma-13"/>
          <p:cNvSpPr/>
          <p:nvPr/>
        </p:nvSpPr>
        <p:spPr>
          <a:xfrm>
            <a:off x="6856222" y="2144634"/>
            <a:ext cx="3992902" cy="226202"/>
          </a:xfrm>
          <a:prstGeom prst="rect">
            <a:avLst/>
          </a:prstGeom>
          <a:ln/>
        </p:spPr>
        <p:txBody>
          <a:bodyPr/>
          <a:lstStyle/>
          <a:p>
            <a:endParaRPr lang="es-MX"/>
          </a:p>
        </p:txBody>
      </p:sp>
      <p:sp>
        <p:nvSpPr>
          <p:cNvPr id="15" name="s6-forma-14"/>
          <p:cNvSpPr/>
          <p:nvPr/>
        </p:nvSpPr>
        <p:spPr>
          <a:xfrm>
            <a:off x="6856222" y="2365122"/>
            <a:ext cx="3992902" cy="5713"/>
          </a:xfrm>
          <a:prstGeom prst="rect">
            <a:avLst/>
          </a:prstGeom>
          <a:solidFill>
            <a:srgbClr val="0033A0"/>
          </a:solidFill>
          <a:ln/>
        </p:spPr>
        <p:txBody>
          <a:bodyPr/>
          <a:lstStyle/>
          <a:p>
            <a:endParaRPr lang="es-MX"/>
          </a:p>
        </p:txBody>
      </p:sp>
      <p:sp>
        <p:nvSpPr>
          <p:cNvPr id="16" name="s6-texto-15"/>
          <p:cNvSpPr txBox="1"/>
          <p:nvPr/>
        </p:nvSpPr>
        <p:spPr>
          <a:xfrm>
            <a:off x="6932188" y="2193463"/>
            <a:ext cx="4071409"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EN TU FÁBRICA</a:t>
            </a:r>
            <a:endParaRPr lang="en-US" sz="855" dirty="0"/>
          </a:p>
        </p:txBody>
      </p:sp>
      <p:sp>
        <p:nvSpPr>
          <p:cNvPr id="17" name="s6-forma-16"/>
          <p:cNvSpPr/>
          <p:nvPr/>
        </p:nvSpPr>
        <p:spPr>
          <a:xfrm>
            <a:off x="1342572" y="2370836"/>
            <a:ext cx="9506551" cy="316361"/>
          </a:xfrm>
          <a:prstGeom prst="rect">
            <a:avLst/>
          </a:prstGeom>
          <a:solidFill>
            <a:srgbClr val="E2D3C2"/>
          </a:solidFill>
          <a:ln/>
        </p:spPr>
        <p:txBody>
          <a:bodyPr/>
          <a:lstStyle/>
          <a:p>
            <a:endParaRPr lang="es-MX"/>
          </a:p>
        </p:txBody>
      </p:sp>
      <p:sp>
        <p:nvSpPr>
          <p:cNvPr id="18" name="s6-forma-17"/>
          <p:cNvSpPr/>
          <p:nvPr/>
        </p:nvSpPr>
        <p:spPr>
          <a:xfrm>
            <a:off x="1342572" y="2370836"/>
            <a:ext cx="2471618" cy="316361"/>
          </a:xfrm>
          <a:prstGeom prst="rect">
            <a:avLst/>
          </a:prstGeom>
          <a:ln/>
        </p:spPr>
        <p:txBody>
          <a:bodyPr/>
          <a:lstStyle/>
          <a:p>
            <a:endParaRPr lang="es-MX"/>
          </a:p>
        </p:txBody>
      </p:sp>
      <p:sp>
        <p:nvSpPr>
          <p:cNvPr id="19" name="s6-forma-18"/>
          <p:cNvSpPr/>
          <p:nvPr/>
        </p:nvSpPr>
        <p:spPr>
          <a:xfrm>
            <a:off x="1342572" y="2681484"/>
            <a:ext cx="2471618" cy="5713"/>
          </a:xfrm>
          <a:prstGeom prst="rect">
            <a:avLst/>
          </a:prstGeom>
          <a:solidFill>
            <a:srgbClr val="DBD4C4"/>
          </a:solidFill>
          <a:ln/>
        </p:spPr>
        <p:txBody>
          <a:bodyPr/>
          <a:lstStyle/>
          <a:p>
            <a:endParaRPr lang="es-MX"/>
          </a:p>
        </p:txBody>
      </p:sp>
      <p:sp>
        <p:nvSpPr>
          <p:cNvPr id="20" name="s6-texto-19"/>
          <p:cNvSpPr txBox="1"/>
          <p:nvPr/>
        </p:nvSpPr>
        <p:spPr>
          <a:xfrm>
            <a:off x="1446478" y="2440464"/>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Orquestador con flujo fijo</a:t>
            </a:r>
            <a:endParaRPr lang="en-US" sz="1170" dirty="0"/>
          </a:p>
        </p:txBody>
      </p:sp>
      <p:sp>
        <p:nvSpPr>
          <p:cNvPr id="21" name="s6-forma-20"/>
          <p:cNvSpPr/>
          <p:nvPr/>
        </p:nvSpPr>
        <p:spPr>
          <a:xfrm>
            <a:off x="3814190" y="2370836"/>
            <a:ext cx="3042032" cy="316361"/>
          </a:xfrm>
          <a:prstGeom prst="rect">
            <a:avLst/>
          </a:prstGeom>
          <a:ln/>
        </p:spPr>
        <p:txBody>
          <a:bodyPr/>
          <a:lstStyle/>
          <a:p>
            <a:endParaRPr lang="es-MX"/>
          </a:p>
        </p:txBody>
      </p:sp>
      <p:sp>
        <p:nvSpPr>
          <p:cNvPr id="22" name="s6-forma-21"/>
          <p:cNvSpPr/>
          <p:nvPr/>
        </p:nvSpPr>
        <p:spPr>
          <a:xfrm>
            <a:off x="3814190" y="2681484"/>
            <a:ext cx="3042032" cy="5713"/>
          </a:xfrm>
          <a:prstGeom prst="rect">
            <a:avLst/>
          </a:prstGeom>
          <a:solidFill>
            <a:srgbClr val="DBD4C4"/>
          </a:solidFill>
          <a:ln/>
        </p:spPr>
        <p:txBody>
          <a:bodyPr/>
          <a:lstStyle/>
          <a:p>
            <a:endParaRPr lang="es-MX"/>
          </a:p>
        </p:txBody>
      </p:sp>
      <p:sp>
        <p:nvSpPr>
          <p:cNvPr id="23" name="s6-texto-22"/>
          <p:cNvSpPr txBox="1"/>
          <p:nvPr/>
        </p:nvSpPr>
        <p:spPr>
          <a:xfrm>
            <a:off x="3918096" y="2440464"/>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grafo decide el orden</a:t>
            </a:r>
            <a:endParaRPr lang="en-US" sz="1170" dirty="0"/>
          </a:p>
        </p:txBody>
      </p:sp>
      <p:sp>
        <p:nvSpPr>
          <p:cNvPr id="24" name="s6-forma-23"/>
          <p:cNvSpPr/>
          <p:nvPr/>
        </p:nvSpPr>
        <p:spPr>
          <a:xfrm>
            <a:off x="6856222" y="2370836"/>
            <a:ext cx="3992902" cy="316361"/>
          </a:xfrm>
          <a:prstGeom prst="rect">
            <a:avLst/>
          </a:prstGeom>
          <a:ln/>
        </p:spPr>
        <p:txBody>
          <a:bodyPr/>
          <a:lstStyle/>
          <a:p>
            <a:endParaRPr lang="es-MX"/>
          </a:p>
        </p:txBody>
      </p:sp>
      <p:sp>
        <p:nvSpPr>
          <p:cNvPr id="25" name="s6-forma-24"/>
          <p:cNvSpPr/>
          <p:nvPr/>
        </p:nvSpPr>
        <p:spPr>
          <a:xfrm>
            <a:off x="6856222" y="2681484"/>
            <a:ext cx="3992902" cy="5713"/>
          </a:xfrm>
          <a:prstGeom prst="rect">
            <a:avLst/>
          </a:prstGeom>
          <a:solidFill>
            <a:srgbClr val="DBD4C4"/>
          </a:solidFill>
          <a:ln/>
        </p:spPr>
        <p:txBody>
          <a:bodyPr/>
          <a:lstStyle/>
          <a:p>
            <a:endParaRPr lang="es-MX"/>
          </a:p>
        </p:txBody>
      </p:sp>
      <p:sp>
        <p:nvSpPr>
          <p:cNvPr id="26" name="s6-texto-25"/>
          <p:cNvSpPr txBox="1"/>
          <p:nvPr/>
        </p:nvSpPr>
        <p:spPr>
          <a:xfrm>
            <a:off x="6960128" y="2440464"/>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Sesiones 2 y 3: LangGraph</a:t>
            </a:r>
            <a:endParaRPr lang="en-US" sz="1170" dirty="0"/>
          </a:p>
        </p:txBody>
      </p:sp>
      <p:sp>
        <p:nvSpPr>
          <p:cNvPr id="27" name="s6-forma-26"/>
          <p:cNvSpPr/>
          <p:nvPr/>
        </p:nvSpPr>
        <p:spPr>
          <a:xfrm>
            <a:off x="1342572" y="2687197"/>
            <a:ext cx="2471618" cy="316361"/>
          </a:xfrm>
          <a:prstGeom prst="rect">
            <a:avLst/>
          </a:prstGeom>
          <a:ln/>
        </p:spPr>
        <p:txBody>
          <a:bodyPr/>
          <a:lstStyle/>
          <a:p>
            <a:endParaRPr lang="es-MX"/>
          </a:p>
        </p:txBody>
      </p:sp>
      <p:sp>
        <p:nvSpPr>
          <p:cNvPr id="28" name="s6-forma-27"/>
          <p:cNvSpPr/>
          <p:nvPr/>
        </p:nvSpPr>
        <p:spPr>
          <a:xfrm>
            <a:off x="1342572" y="2997845"/>
            <a:ext cx="2471618" cy="5713"/>
          </a:xfrm>
          <a:prstGeom prst="rect">
            <a:avLst/>
          </a:prstGeom>
          <a:solidFill>
            <a:srgbClr val="DBD4C4"/>
          </a:solidFill>
          <a:ln/>
        </p:spPr>
        <p:txBody>
          <a:bodyPr/>
          <a:lstStyle/>
          <a:p>
            <a:endParaRPr lang="es-MX"/>
          </a:p>
        </p:txBody>
      </p:sp>
      <p:sp>
        <p:nvSpPr>
          <p:cNvPr id="29" name="s6-texto-28"/>
          <p:cNvSpPr txBox="1"/>
          <p:nvPr/>
        </p:nvSpPr>
        <p:spPr>
          <a:xfrm>
            <a:off x="1446478" y="2756825"/>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Supervisor</a:t>
            </a:r>
            <a:endParaRPr lang="en-US" sz="1170" dirty="0"/>
          </a:p>
        </p:txBody>
      </p:sp>
      <p:sp>
        <p:nvSpPr>
          <p:cNvPr id="30" name="s6-forma-29"/>
          <p:cNvSpPr/>
          <p:nvPr/>
        </p:nvSpPr>
        <p:spPr>
          <a:xfrm>
            <a:off x="3814190" y="2687197"/>
            <a:ext cx="3042032" cy="316361"/>
          </a:xfrm>
          <a:prstGeom prst="rect">
            <a:avLst/>
          </a:prstGeom>
          <a:ln/>
        </p:spPr>
        <p:txBody>
          <a:bodyPr/>
          <a:lstStyle/>
          <a:p>
            <a:endParaRPr lang="es-MX"/>
          </a:p>
        </p:txBody>
      </p:sp>
      <p:sp>
        <p:nvSpPr>
          <p:cNvPr id="31" name="s6-forma-30"/>
          <p:cNvSpPr/>
          <p:nvPr/>
        </p:nvSpPr>
        <p:spPr>
          <a:xfrm>
            <a:off x="3814190" y="2997845"/>
            <a:ext cx="3042032" cy="5713"/>
          </a:xfrm>
          <a:prstGeom prst="rect">
            <a:avLst/>
          </a:prstGeom>
          <a:solidFill>
            <a:srgbClr val="DBD4C4"/>
          </a:solidFill>
          <a:ln/>
        </p:spPr>
        <p:txBody>
          <a:bodyPr/>
          <a:lstStyle/>
          <a:p>
            <a:endParaRPr lang="es-MX"/>
          </a:p>
        </p:txBody>
      </p:sp>
      <p:sp>
        <p:nvSpPr>
          <p:cNvPr id="32" name="s6-texto-31"/>
          <p:cNvSpPr txBox="1"/>
          <p:nvPr/>
        </p:nvSpPr>
        <p:spPr>
          <a:xfrm>
            <a:off x="3918096" y="2756825"/>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 agente elige a quién delegar</a:t>
            </a:r>
            <a:endParaRPr lang="en-US" sz="1170" dirty="0"/>
          </a:p>
        </p:txBody>
      </p:sp>
      <p:sp>
        <p:nvSpPr>
          <p:cNvPr id="33" name="s6-forma-32"/>
          <p:cNvSpPr/>
          <p:nvPr/>
        </p:nvSpPr>
        <p:spPr>
          <a:xfrm>
            <a:off x="6856222" y="2687197"/>
            <a:ext cx="3992902" cy="316361"/>
          </a:xfrm>
          <a:prstGeom prst="rect">
            <a:avLst/>
          </a:prstGeom>
          <a:ln/>
        </p:spPr>
        <p:txBody>
          <a:bodyPr/>
          <a:lstStyle/>
          <a:p>
            <a:endParaRPr lang="es-MX"/>
          </a:p>
        </p:txBody>
      </p:sp>
      <p:sp>
        <p:nvSpPr>
          <p:cNvPr id="34" name="s6-forma-33"/>
          <p:cNvSpPr/>
          <p:nvPr/>
        </p:nvSpPr>
        <p:spPr>
          <a:xfrm>
            <a:off x="6856222" y="2997845"/>
            <a:ext cx="3992902" cy="5713"/>
          </a:xfrm>
          <a:prstGeom prst="rect">
            <a:avLst/>
          </a:prstGeom>
          <a:solidFill>
            <a:srgbClr val="DBD4C4"/>
          </a:solidFill>
          <a:ln/>
        </p:spPr>
        <p:txBody>
          <a:bodyPr/>
          <a:lstStyle/>
          <a:p>
            <a:endParaRPr lang="es-MX"/>
          </a:p>
        </p:txBody>
      </p:sp>
      <p:sp>
        <p:nvSpPr>
          <p:cNvPr id="35" name="s6-texto-34"/>
          <p:cNvSpPr txBox="1"/>
          <p:nvPr/>
        </p:nvSpPr>
        <p:spPr>
          <a:xfrm>
            <a:off x="6960128" y="2756825"/>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Sesión 4: el triage</a:t>
            </a:r>
            <a:endParaRPr lang="en-US" sz="1170" dirty="0"/>
          </a:p>
        </p:txBody>
      </p:sp>
      <p:sp>
        <p:nvSpPr>
          <p:cNvPr id="36" name="s6-forma-35"/>
          <p:cNvSpPr/>
          <p:nvPr/>
        </p:nvSpPr>
        <p:spPr>
          <a:xfrm>
            <a:off x="1342572" y="3003558"/>
            <a:ext cx="2471618" cy="316361"/>
          </a:xfrm>
          <a:prstGeom prst="rect">
            <a:avLst/>
          </a:prstGeom>
          <a:ln/>
        </p:spPr>
        <p:txBody>
          <a:bodyPr/>
          <a:lstStyle/>
          <a:p>
            <a:endParaRPr lang="es-MX"/>
          </a:p>
        </p:txBody>
      </p:sp>
      <p:sp>
        <p:nvSpPr>
          <p:cNvPr id="37" name="s6-forma-36"/>
          <p:cNvSpPr/>
          <p:nvPr/>
        </p:nvSpPr>
        <p:spPr>
          <a:xfrm>
            <a:off x="1342572" y="3314207"/>
            <a:ext cx="2471618" cy="5713"/>
          </a:xfrm>
          <a:prstGeom prst="rect">
            <a:avLst/>
          </a:prstGeom>
          <a:solidFill>
            <a:srgbClr val="DBD4C4"/>
          </a:solidFill>
          <a:ln/>
        </p:spPr>
        <p:txBody>
          <a:bodyPr/>
          <a:lstStyle/>
          <a:p>
            <a:endParaRPr lang="es-MX"/>
          </a:p>
        </p:txBody>
      </p:sp>
      <p:sp>
        <p:nvSpPr>
          <p:cNvPr id="38" name="s6-texto-37"/>
          <p:cNvSpPr txBox="1"/>
          <p:nvPr/>
        </p:nvSpPr>
        <p:spPr>
          <a:xfrm>
            <a:off x="1446478" y="3073186"/>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Jerárquica</a:t>
            </a:r>
            <a:endParaRPr lang="en-US" sz="1170" dirty="0"/>
          </a:p>
        </p:txBody>
      </p:sp>
      <p:sp>
        <p:nvSpPr>
          <p:cNvPr id="39" name="s6-forma-38"/>
          <p:cNvSpPr/>
          <p:nvPr/>
        </p:nvSpPr>
        <p:spPr>
          <a:xfrm>
            <a:off x="3814190" y="3003558"/>
            <a:ext cx="3042032" cy="316361"/>
          </a:xfrm>
          <a:prstGeom prst="rect">
            <a:avLst/>
          </a:prstGeom>
          <a:ln/>
        </p:spPr>
        <p:txBody>
          <a:bodyPr/>
          <a:lstStyle/>
          <a:p>
            <a:endParaRPr lang="es-MX"/>
          </a:p>
        </p:txBody>
      </p:sp>
      <p:sp>
        <p:nvSpPr>
          <p:cNvPr id="40" name="s6-forma-39"/>
          <p:cNvSpPr/>
          <p:nvPr/>
        </p:nvSpPr>
        <p:spPr>
          <a:xfrm>
            <a:off x="3814190" y="3314207"/>
            <a:ext cx="3042032" cy="5713"/>
          </a:xfrm>
          <a:prstGeom prst="rect">
            <a:avLst/>
          </a:prstGeom>
          <a:solidFill>
            <a:srgbClr val="DBD4C4"/>
          </a:solidFill>
          <a:ln/>
        </p:spPr>
        <p:txBody>
          <a:bodyPr/>
          <a:lstStyle/>
          <a:p>
            <a:endParaRPr lang="es-MX"/>
          </a:p>
        </p:txBody>
      </p:sp>
      <p:sp>
        <p:nvSpPr>
          <p:cNvPr id="41" name="s6-texto-40"/>
          <p:cNvSpPr txBox="1"/>
          <p:nvPr/>
        </p:nvSpPr>
        <p:spPr>
          <a:xfrm>
            <a:off x="3918096" y="3073186"/>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Supervisores de supervisores</a:t>
            </a:r>
            <a:endParaRPr lang="en-US" sz="1170" dirty="0"/>
          </a:p>
        </p:txBody>
      </p:sp>
      <p:sp>
        <p:nvSpPr>
          <p:cNvPr id="42" name="s6-forma-41"/>
          <p:cNvSpPr/>
          <p:nvPr/>
        </p:nvSpPr>
        <p:spPr>
          <a:xfrm>
            <a:off x="6856222" y="3003558"/>
            <a:ext cx="3992902" cy="316361"/>
          </a:xfrm>
          <a:prstGeom prst="rect">
            <a:avLst/>
          </a:prstGeom>
          <a:ln/>
        </p:spPr>
        <p:txBody>
          <a:bodyPr/>
          <a:lstStyle/>
          <a:p>
            <a:endParaRPr lang="es-MX"/>
          </a:p>
        </p:txBody>
      </p:sp>
      <p:sp>
        <p:nvSpPr>
          <p:cNvPr id="43" name="s6-forma-42"/>
          <p:cNvSpPr/>
          <p:nvPr/>
        </p:nvSpPr>
        <p:spPr>
          <a:xfrm>
            <a:off x="6856222" y="3314207"/>
            <a:ext cx="3992902" cy="5713"/>
          </a:xfrm>
          <a:prstGeom prst="rect">
            <a:avLst/>
          </a:prstGeom>
          <a:solidFill>
            <a:srgbClr val="DBD4C4"/>
          </a:solidFill>
          <a:ln/>
        </p:spPr>
        <p:txBody>
          <a:bodyPr/>
          <a:lstStyle/>
          <a:p>
            <a:endParaRPr lang="es-MX"/>
          </a:p>
        </p:txBody>
      </p:sp>
      <p:sp>
        <p:nvSpPr>
          <p:cNvPr id="44" name="s6-texto-43"/>
          <p:cNvSpPr txBox="1"/>
          <p:nvPr/>
        </p:nvSpPr>
        <p:spPr>
          <a:xfrm>
            <a:off x="6960128" y="3073186"/>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No se usa; posible extensión</a:t>
            </a:r>
            <a:endParaRPr lang="en-US" sz="1170" dirty="0"/>
          </a:p>
        </p:txBody>
      </p:sp>
      <p:sp>
        <p:nvSpPr>
          <p:cNvPr id="45" name="s6-forma-44"/>
          <p:cNvSpPr/>
          <p:nvPr/>
        </p:nvSpPr>
        <p:spPr>
          <a:xfrm>
            <a:off x="1342572" y="3319920"/>
            <a:ext cx="2471618" cy="316361"/>
          </a:xfrm>
          <a:prstGeom prst="rect">
            <a:avLst/>
          </a:prstGeom>
          <a:ln/>
        </p:spPr>
        <p:txBody>
          <a:bodyPr/>
          <a:lstStyle/>
          <a:p>
            <a:endParaRPr lang="es-MX"/>
          </a:p>
        </p:txBody>
      </p:sp>
      <p:sp>
        <p:nvSpPr>
          <p:cNvPr id="46" name="s6-forma-45"/>
          <p:cNvSpPr/>
          <p:nvPr/>
        </p:nvSpPr>
        <p:spPr>
          <a:xfrm>
            <a:off x="1342572" y="3630568"/>
            <a:ext cx="2471618" cy="5713"/>
          </a:xfrm>
          <a:prstGeom prst="rect">
            <a:avLst/>
          </a:prstGeom>
          <a:solidFill>
            <a:srgbClr val="DBD4C4"/>
          </a:solidFill>
          <a:ln/>
        </p:spPr>
        <p:txBody>
          <a:bodyPr/>
          <a:lstStyle/>
          <a:p>
            <a:endParaRPr lang="es-MX"/>
          </a:p>
        </p:txBody>
      </p:sp>
      <p:sp>
        <p:nvSpPr>
          <p:cNvPr id="47" name="s6-texto-46"/>
          <p:cNvSpPr txBox="1"/>
          <p:nvPr/>
        </p:nvSpPr>
        <p:spPr>
          <a:xfrm>
            <a:off x="1446478" y="3389548"/>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Traspasos</a:t>
            </a:r>
            <a:endParaRPr lang="en-US" sz="1170" dirty="0"/>
          </a:p>
        </p:txBody>
      </p:sp>
      <p:sp>
        <p:nvSpPr>
          <p:cNvPr id="48" name="s6-forma-47"/>
          <p:cNvSpPr/>
          <p:nvPr/>
        </p:nvSpPr>
        <p:spPr>
          <a:xfrm>
            <a:off x="3814190" y="3319920"/>
            <a:ext cx="3042032" cy="316361"/>
          </a:xfrm>
          <a:prstGeom prst="rect">
            <a:avLst/>
          </a:prstGeom>
          <a:ln/>
        </p:spPr>
        <p:txBody>
          <a:bodyPr/>
          <a:lstStyle/>
          <a:p>
            <a:endParaRPr lang="es-MX"/>
          </a:p>
        </p:txBody>
      </p:sp>
      <p:sp>
        <p:nvSpPr>
          <p:cNvPr id="49" name="s6-forma-48"/>
          <p:cNvSpPr/>
          <p:nvPr/>
        </p:nvSpPr>
        <p:spPr>
          <a:xfrm>
            <a:off x="3814190" y="3630568"/>
            <a:ext cx="3042032" cy="5713"/>
          </a:xfrm>
          <a:prstGeom prst="rect">
            <a:avLst/>
          </a:prstGeom>
          <a:solidFill>
            <a:srgbClr val="DBD4C4"/>
          </a:solidFill>
          <a:ln/>
        </p:spPr>
        <p:txBody>
          <a:bodyPr/>
          <a:lstStyle/>
          <a:p>
            <a:endParaRPr lang="es-MX"/>
          </a:p>
        </p:txBody>
      </p:sp>
      <p:sp>
        <p:nvSpPr>
          <p:cNvPr id="50" name="s6-texto-49"/>
          <p:cNvSpPr txBox="1"/>
          <p:nvPr/>
        </p:nvSpPr>
        <p:spPr>
          <a:xfrm>
            <a:off x="3918096" y="3389548"/>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agente activo pasa el control</a:t>
            </a:r>
            <a:endParaRPr lang="en-US" sz="1170" dirty="0"/>
          </a:p>
        </p:txBody>
      </p:sp>
      <p:sp>
        <p:nvSpPr>
          <p:cNvPr id="51" name="s6-forma-50"/>
          <p:cNvSpPr/>
          <p:nvPr/>
        </p:nvSpPr>
        <p:spPr>
          <a:xfrm>
            <a:off x="6856222" y="3319920"/>
            <a:ext cx="3992902" cy="316361"/>
          </a:xfrm>
          <a:prstGeom prst="rect">
            <a:avLst/>
          </a:prstGeom>
          <a:ln/>
        </p:spPr>
        <p:txBody>
          <a:bodyPr/>
          <a:lstStyle/>
          <a:p>
            <a:endParaRPr lang="es-MX"/>
          </a:p>
        </p:txBody>
      </p:sp>
      <p:sp>
        <p:nvSpPr>
          <p:cNvPr id="52" name="s6-forma-51"/>
          <p:cNvSpPr/>
          <p:nvPr/>
        </p:nvSpPr>
        <p:spPr>
          <a:xfrm>
            <a:off x="6856222" y="3630568"/>
            <a:ext cx="3992902" cy="5713"/>
          </a:xfrm>
          <a:prstGeom prst="rect">
            <a:avLst/>
          </a:prstGeom>
          <a:solidFill>
            <a:srgbClr val="DBD4C4"/>
          </a:solidFill>
          <a:ln/>
        </p:spPr>
        <p:txBody>
          <a:bodyPr/>
          <a:lstStyle/>
          <a:p>
            <a:endParaRPr lang="es-MX"/>
          </a:p>
        </p:txBody>
      </p:sp>
      <p:sp>
        <p:nvSpPr>
          <p:cNvPr id="53" name="s6-texto-52"/>
          <p:cNvSpPr txBox="1"/>
          <p:nvPr/>
        </p:nvSpPr>
        <p:spPr>
          <a:xfrm>
            <a:off x="6960128" y="3389548"/>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No se usa</a:t>
            </a:r>
            <a:endParaRPr lang="en-US" sz="1170" dirty="0"/>
          </a:p>
        </p:txBody>
      </p:sp>
      <p:sp>
        <p:nvSpPr>
          <p:cNvPr id="54" name="s6-texto-53"/>
          <p:cNvSpPr txBox="1"/>
          <p:nvPr/>
        </p:nvSpPr>
        <p:spPr>
          <a:xfrm>
            <a:off x="1446478" y="3705909"/>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Pizarra</a:t>
            </a:r>
            <a:endParaRPr lang="en-US" sz="1170" dirty="0"/>
          </a:p>
        </p:txBody>
      </p:sp>
      <p:sp>
        <p:nvSpPr>
          <p:cNvPr id="55" name="s6-texto-54"/>
          <p:cNvSpPr txBox="1"/>
          <p:nvPr/>
        </p:nvSpPr>
        <p:spPr>
          <a:xfrm>
            <a:off x="3918096" y="3705909"/>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Todos leen un estado común</a:t>
            </a:r>
            <a:endParaRPr lang="en-US" sz="1170" dirty="0"/>
          </a:p>
        </p:txBody>
      </p:sp>
      <p:sp>
        <p:nvSpPr>
          <p:cNvPr id="56" name="s6-texto-55"/>
          <p:cNvSpPr txBox="1"/>
          <p:nvPr/>
        </p:nvSpPr>
        <p:spPr>
          <a:xfrm>
            <a:off x="6960128" y="3705909"/>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La carpeta salida/ y el estado del grafo</a:t>
            </a:r>
            <a:endParaRPr lang="en-US" sz="1170" dirty="0"/>
          </a:p>
        </p:txBody>
      </p:sp>
      <p:sp>
        <p:nvSpPr>
          <p:cNvPr id="57" name="s6-texto-56"/>
          <p:cNvSpPr txBox="1"/>
          <p:nvPr/>
        </p:nvSpPr>
        <p:spPr>
          <a:xfrm>
            <a:off x="1342572" y="4246865"/>
            <a:ext cx="1007694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Hoy: un orquestador con flujo fijo y </a:t>
            </a:r>
            <a:r>
              <a:rPr lang="en-US" sz="1350" b="1" dirty="0">
                <a:solidFill>
                  <a:srgbClr val="0033A0"/>
                </a:solidFill>
                <a:latin typeface="Arial" pitchFamily="34" charset="0"/>
                <a:ea typeface="Arial" pitchFamily="34" charset="-122"/>
                <a:cs typeface="Arial" pitchFamily="34" charset="-120"/>
              </a:rPr>
              <a:t>una rama en paralelo</a:t>
            </a:r>
            <a:r>
              <a:rPr lang="en-US" sz="1350" dirty="0">
                <a:solidFill>
                  <a:srgbClr val="16181D"/>
                </a:solidFill>
                <a:latin typeface="Arial" pitchFamily="34" charset="0"/>
                <a:ea typeface="Arial" pitchFamily="34" charset="-122"/>
                <a:cs typeface="Arial" pitchFamily="34" charset="-120"/>
              </a:rPr>
              <a:t>.</a:t>
            </a:r>
            <a:endParaRPr lang="en-US" sz="1350" dirty="0"/>
          </a:p>
        </p:txBody>
      </p:sp>
      <p:sp>
        <p:nvSpPr>
          <p:cNvPr id="58" name="s6-texto-5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59" name="s6-forma-58"/>
          <p:cNvSpPr/>
          <p:nvPr/>
        </p:nvSpPr>
        <p:spPr>
          <a:xfrm>
            <a:off x="853390" y="6411138"/>
            <a:ext cx="10484915" cy="5713"/>
          </a:xfrm>
          <a:prstGeom prst="rect">
            <a:avLst/>
          </a:prstGeom>
          <a:solidFill>
            <a:srgbClr val="DBD4C4"/>
          </a:solidFill>
          <a:ln/>
        </p:spPr>
        <p:txBody>
          <a:bodyPr/>
          <a:lstStyle/>
          <a:p>
            <a:endParaRPr lang="es-MX"/>
          </a:p>
        </p:txBody>
      </p:sp>
      <p:pic>
        <p:nvPicPr>
          <p:cNvPr id="60" name="s6-logo-59" descr="preencoded.png"/>
          <p:cNvPicPr>
            <a:picLocks noChangeAspect="1"/>
          </p:cNvPicPr>
          <p:nvPr/>
        </p:nvPicPr>
        <p:blipFill>
          <a:blip r:embed="rId3"/>
          <a:stretch>
            <a:fillRect/>
          </a:stretch>
        </p:blipFill>
        <p:spPr>
          <a:xfrm>
            <a:off x="853390" y="6465055"/>
            <a:ext cx="687800" cy="212455"/>
          </a:xfrm>
          <a:prstGeom prst="rect">
            <a:avLst/>
          </a:prstGeom>
        </p:spPr>
      </p:pic>
      <p:sp>
        <p:nvSpPr>
          <p:cNvPr id="61" name="s6-forma-60"/>
          <p:cNvSpPr/>
          <p:nvPr/>
        </p:nvSpPr>
        <p:spPr>
          <a:xfrm>
            <a:off x="1659380" y="6519865"/>
            <a:ext cx="2926878" cy="102835"/>
          </a:xfrm>
          <a:prstGeom prst="rect">
            <a:avLst/>
          </a:prstGeom>
          <a:ln/>
        </p:spPr>
        <p:txBody>
          <a:bodyPr/>
          <a:lstStyle/>
          <a:p>
            <a:endParaRPr lang="es-MX"/>
          </a:p>
        </p:txBody>
      </p:sp>
      <p:sp>
        <p:nvSpPr>
          <p:cNvPr id="62" name="s6-forma-61"/>
          <p:cNvSpPr/>
          <p:nvPr/>
        </p:nvSpPr>
        <p:spPr>
          <a:xfrm>
            <a:off x="1659380" y="6519865"/>
            <a:ext cx="5713" cy="102835"/>
          </a:xfrm>
          <a:prstGeom prst="rect">
            <a:avLst/>
          </a:prstGeom>
          <a:solidFill>
            <a:srgbClr val="C6BFAE"/>
          </a:solidFill>
          <a:ln/>
        </p:spPr>
        <p:txBody>
          <a:bodyPr/>
          <a:lstStyle/>
          <a:p>
            <a:endParaRPr lang="es-MX"/>
          </a:p>
        </p:txBody>
      </p:sp>
      <p:sp>
        <p:nvSpPr>
          <p:cNvPr id="63" name="s6-texto-6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64" name="s6-texto-63"/>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36</a:t>
            </a:r>
            <a:endParaRPr lang="en-US" sz="745" dirty="0"/>
          </a:p>
        </p:txBody>
      </p:sp>
      <p:sp>
        <p:nvSpPr>
          <p:cNvPr id="65" name="s6-forma-64"/>
          <p:cNvSpPr/>
          <p:nvPr/>
        </p:nvSpPr>
        <p:spPr>
          <a:xfrm>
            <a:off x="0" y="0"/>
            <a:ext cx="2031890" cy="17139"/>
          </a:xfrm>
          <a:prstGeom prst="rect">
            <a:avLst/>
          </a:prstGeom>
          <a:solidFill>
            <a:srgbClr val="0033A0"/>
          </a:solidFill>
          <a:ln/>
        </p:spPr>
        <p:txBody>
          <a:bodyPr/>
          <a:lstStyle/>
          <a:p>
            <a:endParaRPr lang="es-MX"/>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0033A0"/>
          </a:solidFill>
          <a:ln/>
        </p:spPr>
        <p:txBody>
          <a:bodyPr/>
          <a:lstStyle/>
          <a:p>
            <a:endParaRPr lang="es-MX"/>
          </a:p>
        </p:txBody>
      </p:sp>
      <p:sp>
        <p:nvSpPr>
          <p:cNvPr id="4" name="s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Supervisor: un coordinador central</a:t>
            </a:r>
            <a:endParaRPr lang="en-US" sz="2879" dirty="0"/>
          </a:p>
        </p:txBody>
      </p:sp>
      <p:sp>
        <p:nvSpPr>
          <p:cNvPr id="8" name="s7-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7-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agente con todo</a:t>
            </a:r>
            <a:endParaRPr lang="en-US" sz="1260" dirty="0"/>
          </a:p>
        </p:txBody>
      </p:sp>
      <p:sp>
        <p:nvSpPr>
          <p:cNvPr id="10" name="s7-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Demasiadas herramientas e instrucciones en un solo agente: elige mal y su contexto se llena.</a:t>
            </a:r>
            <a:endParaRPr lang="en-US" sz="1170" dirty="0"/>
          </a:p>
        </p:txBody>
      </p:sp>
      <p:sp>
        <p:nvSpPr>
          <p:cNvPr id="11" name="s7-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7-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Agentes sin coordinación</a:t>
            </a:r>
            <a:endParaRPr lang="en-US" sz="1260" dirty="0"/>
          </a:p>
        </p:txBody>
      </p:sp>
      <p:sp>
        <p:nvSpPr>
          <p:cNvPr id="13" name="s7-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uno hace lo suyo, pero nadie decide el orden ni sabe cuándo terminó el trabajo.</a:t>
            </a:r>
            <a:endParaRPr lang="en-US" sz="1170" dirty="0"/>
          </a:p>
        </p:txBody>
      </p:sp>
      <p:sp>
        <p:nvSpPr>
          <p:cNvPr id="14" name="s7-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7-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6" name="s7-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agente central recibe la tarea, decide a qué especialista delegar, recibe cada resultado y decide el siguiente paso.</a:t>
            </a:r>
            <a:endParaRPr lang="en-US" sz="1170" dirty="0"/>
          </a:p>
        </p:txBody>
      </p:sp>
      <p:sp>
        <p:nvSpPr>
          <p:cNvPr id="17" name="s7-forma-16"/>
          <p:cNvSpPr/>
          <p:nvPr/>
        </p:nvSpPr>
        <p:spPr>
          <a:xfrm>
            <a:off x="6095848" y="2228098"/>
            <a:ext cx="4753276" cy="1882814"/>
          </a:xfrm>
          <a:prstGeom prst="rect">
            <a:avLst/>
          </a:prstGeom>
          <a:solidFill>
            <a:srgbClr val="E8E2D5"/>
          </a:solidFill>
          <a:ln/>
        </p:spPr>
        <p:txBody>
          <a:bodyPr/>
          <a:lstStyle/>
          <a:p>
            <a:endParaRPr lang="es-MX"/>
          </a:p>
        </p:txBody>
      </p:sp>
      <p:sp>
        <p:nvSpPr>
          <p:cNvPr id="18" name="s7-forma-17"/>
          <p:cNvSpPr/>
          <p:nvPr/>
        </p:nvSpPr>
        <p:spPr>
          <a:xfrm>
            <a:off x="6095848" y="2228098"/>
            <a:ext cx="4753276" cy="5713"/>
          </a:xfrm>
          <a:prstGeom prst="rect">
            <a:avLst/>
          </a:prstGeom>
          <a:solidFill>
            <a:srgbClr val="DBD4C4"/>
          </a:solidFill>
          <a:ln/>
        </p:spPr>
        <p:txBody>
          <a:bodyPr/>
          <a:lstStyle/>
          <a:p>
            <a:endParaRPr lang="es-MX"/>
          </a:p>
        </p:txBody>
      </p:sp>
      <p:sp>
        <p:nvSpPr>
          <p:cNvPr id="19" name="s7-forma-18"/>
          <p:cNvSpPr/>
          <p:nvPr/>
        </p:nvSpPr>
        <p:spPr>
          <a:xfrm>
            <a:off x="6095848" y="4105199"/>
            <a:ext cx="4753276" cy="5713"/>
          </a:xfrm>
          <a:prstGeom prst="rect">
            <a:avLst/>
          </a:prstGeom>
          <a:solidFill>
            <a:srgbClr val="DBD4C4"/>
          </a:solidFill>
          <a:ln/>
        </p:spPr>
        <p:txBody>
          <a:bodyPr/>
          <a:lstStyle/>
          <a:p>
            <a:endParaRPr lang="es-MX"/>
          </a:p>
        </p:txBody>
      </p:sp>
      <p:sp>
        <p:nvSpPr>
          <p:cNvPr id="20" name="s7-forma-19"/>
          <p:cNvSpPr/>
          <p:nvPr/>
        </p:nvSpPr>
        <p:spPr>
          <a:xfrm>
            <a:off x="6095848" y="2228098"/>
            <a:ext cx="17139" cy="1882814"/>
          </a:xfrm>
          <a:prstGeom prst="rect">
            <a:avLst/>
          </a:prstGeom>
          <a:solidFill>
            <a:srgbClr val="C6BFAE"/>
          </a:solidFill>
          <a:ln/>
        </p:spPr>
        <p:txBody>
          <a:bodyPr/>
          <a:lstStyle/>
          <a:p>
            <a:endParaRPr lang="es-MX"/>
          </a:p>
        </p:txBody>
      </p:sp>
      <p:sp>
        <p:nvSpPr>
          <p:cNvPr id="21" name="s7-forma-20"/>
          <p:cNvSpPr/>
          <p:nvPr/>
        </p:nvSpPr>
        <p:spPr>
          <a:xfrm>
            <a:off x="10843410" y="2228098"/>
            <a:ext cx="5713" cy="1882814"/>
          </a:xfrm>
          <a:prstGeom prst="rect">
            <a:avLst/>
          </a:prstGeom>
          <a:solidFill>
            <a:srgbClr val="DBD4C4"/>
          </a:solidFill>
          <a:ln/>
        </p:spPr>
        <p:txBody>
          <a:bodyPr/>
          <a:lstStyle/>
          <a:p>
            <a:endParaRPr lang="es-MX"/>
          </a:p>
        </p:txBody>
      </p:sp>
      <p:sp>
        <p:nvSpPr>
          <p:cNvPr id="22" name="s7-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 ·</a:t>
            </a:r>
            <a:r>
              <a:rPr lang="en-US" sz="1080" dirty="0">
                <a:solidFill>
                  <a:srgbClr val="16181D"/>
                </a:solidFill>
                <a:latin typeface="Arial" pitchFamily="34" charset="0"/>
                <a:ea typeface="Arial" pitchFamily="34" charset="-122"/>
                <a:cs typeface="Arial" pitchFamily="34" charset="-120"/>
              </a:rPr>
              <a:t> hay una historia nueva → delega al analista</a:t>
            </a:r>
            <a:endParaRPr lang="en-US" sz="1080" dirty="0"/>
          </a:p>
        </p:txBody>
      </p:sp>
      <p:sp>
        <p:nvSpPr>
          <p:cNvPr id="23" name="s7-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 ·</a:t>
            </a:r>
            <a:r>
              <a:rPr lang="en-US" sz="1080" dirty="0">
                <a:solidFill>
                  <a:srgbClr val="16181D"/>
                </a:solidFill>
                <a:latin typeface="Arial" pitchFamily="34" charset="0"/>
                <a:ea typeface="Arial" pitchFamily="34" charset="-122"/>
                <a:cs typeface="Arial" pitchFamily="34" charset="-120"/>
              </a:rPr>
              <a:t> entrega criterios.feature → regresa al supervisor</a:t>
            </a:r>
            <a:endParaRPr lang="en-US" sz="1080" dirty="0"/>
          </a:p>
        </p:txBody>
      </p:sp>
      <p:sp>
        <p:nvSpPr>
          <p:cNvPr id="24" name="s7-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a:t>
            </a:r>
            <a:r>
              <a:rPr lang="en-US" sz="1080" dirty="0">
                <a:solidFill>
                  <a:srgbClr val="16181D"/>
                </a:solidFill>
                <a:latin typeface="Arial" pitchFamily="34" charset="0"/>
                <a:ea typeface="Arial" pitchFamily="34" charset="-122"/>
                <a:cs typeface="Arial" pitchFamily="34" charset="-120"/>
              </a:rPr>
              <a:t> → delega al tester</a:t>
            </a:r>
            <a:endParaRPr lang="en-US" sz="1080" dirty="0"/>
          </a:p>
        </p:txBody>
      </p:sp>
      <p:sp>
        <p:nvSpPr>
          <p:cNvPr id="25" name="s7-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Tester ·</a:t>
            </a:r>
            <a:r>
              <a:rPr lang="en-US" sz="1080" dirty="0">
                <a:solidFill>
                  <a:srgbClr val="16181D"/>
                </a:solidFill>
                <a:latin typeface="Arial" pitchFamily="34" charset="0"/>
                <a:ea typeface="Arial" pitchFamily="34" charset="-122"/>
                <a:cs typeface="Arial" pitchFamily="34" charset="-120"/>
              </a:rPr>
              <a:t> entrega casos_prueba.json → regresa al supervisor</a:t>
            </a:r>
            <a:endParaRPr lang="en-US" sz="1080" dirty="0"/>
          </a:p>
        </p:txBody>
      </p:sp>
      <p:sp>
        <p:nvSpPr>
          <p:cNvPr id="26" name="s7-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a:t>
            </a:r>
            <a:r>
              <a:rPr lang="en-US" sz="1080" dirty="0">
                <a:solidFill>
                  <a:srgbClr val="16181D"/>
                </a:solidFill>
                <a:latin typeface="Arial" pitchFamily="34" charset="0"/>
                <a:ea typeface="Arial" pitchFamily="34" charset="-122"/>
                <a:cs typeface="Arial" pitchFamily="34" charset="-120"/>
              </a:rPr>
              <a:t> → delega al desarrollador</a:t>
            </a:r>
            <a:endParaRPr lang="en-US" sz="1080" dirty="0"/>
          </a:p>
        </p:txBody>
      </p:sp>
      <p:sp>
        <p:nvSpPr>
          <p:cNvPr id="27" name="s7-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Supervisor ·</a:t>
            </a:r>
            <a:r>
              <a:rPr lang="en-US" sz="1080" dirty="0">
                <a:solidFill>
                  <a:srgbClr val="16181D"/>
                </a:solidFill>
                <a:latin typeface="Arial" pitchFamily="34" charset="0"/>
                <a:ea typeface="Arial" pitchFamily="34" charset="-122"/>
                <a:cs typeface="Arial" pitchFamily="34" charset="-120"/>
              </a:rPr>
              <a:t> todo está entregado: «terminado»</a:t>
            </a:r>
            <a:endParaRPr lang="en-US" sz="1080" dirty="0"/>
          </a:p>
        </p:txBody>
      </p:sp>
      <p:sp>
        <p:nvSpPr>
          <p:cNvPr id="28" name="s7-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Los especialistas nunca hablan entre sí: todo pasa por el supervisor. Es fácil de seguir, pero es un cuello de botella.</a:t>
            </a:r>
            <a:endParaRPr lang="en-US" sz="1080" dirty="0"/>
          </a:p>
        </p:txBody>
      </p:sp>
      <p:sp>
        <p:nvSpPr>
          <p:cNvPr id="29" name="s7-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30" name="s7-forma-29"/>
          <p:cNvSpPr/>
          <p:nvPr/>
        </p:nvSpPr>
        <p:spPr>
          <a:xfrm>
            <a:off x="853390" y="6411138"/>
            <a:ext cx="10484915" cy="5713"/>
          </a:xfrm>
          <a:prstGeom prst="rect">
            <a:avLst/>
          </a:prstGeom>
          <a:solidFill>
            <a:srgbClr val="DBD4C4"/>
          </a:solidFill>
          <a:ln/>
        </p:spPr>
        <p:txBody>
          <a:bodyPr/>
          <a:lstStyle/>
          <a:p>
            <a:endParaRPr lang="es-MX"/>
          </a:p>
        </p:txBody>
      </p:sp>
      <p:pic>
        <p:nvPicPr>
          <p:cNvPr id="31" name="s7-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7-forma-31"/>
          <p:cNvSpPr/>
          <p:nvPr/>
        </p:nvSpPr>
        <p:spPr>
          <a:xfrm>
            <a:off x="1659380" y="6519865"/>
            <a:ext cx="2926878" cy="102835"/>
          </a:xfrm>
          <a:prstGeom prst="rect">
            <a:avLst/>
          </a:prstGeom>
          <a:ln/>
        </p:spPr>
        <p:txBody>
          <a:bodyPr/>
          <a:lstStyle/>
          <a:p>
            <a:endParaRPr lang="es-MX"/>
          </a:p>
        </p:txBody>
      </p:sp>
      <p:sp>
        <p:nvSpPr>
          <p:cNvPr id="33" name="s7-forma-32"/>
          <p:cNvSpPr/>
          <p:nvPr/>
        </p:nvSpPr>
        <p:spPr>
          <a:xfrm>
            <a:off x="1659380" y="6519865"/>
            <a:ext cx="5713" cy="102835"/>
          </a:xfrm>
          <a:prstGeom prst="rect">
            <a:avLst/>
          </a:prstGeom>
          <a:solidFill>
            <a:srgbClr val="C6BFAE"/>
          </a:solidFill>
          <a:ln/>
        </p:spPr>
        <p:txBody>
          <a:bodyPr/>
          <a:lstStyle/>
          <a:p>
            <a:endParaRPr lang="es-MX"/>
          </a:p>
        </p:txBody>
      </p:sp>
      <p:sp>
        <p:nvSpPr>
          <p:cNvPr id="34" name="s7-texto-3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5" name="s7-texto-3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36</a:t>
            </a:r>
            <a:endParaRPr lang="en-US" sz="745" dirty="0"/>
          </a:p>
        </p:txBody>
      </p:sp>
      <p:sp>
        <p:nvSpPr>
          <p:cNvPr id="36" name="s7-forma-35"/>
          <p:cNvSpPr/>
          <p:nvPr/>
        </p:nvSpPr>
        <p:spPr>
          <a:xfrm>
            <a:off x="0" y="0"/>
            <a:ext cx="2370568" cy="17139"/>
          </a:xfrm>
          <a:prstGeom prst="rect">
            <a:avLst/>
          </a:prstGeom>
          <a:solidFill>
            <a:srgbClr val="0033A0"/>
          </a:solidFill>
          <a:ln/>
        </p:spPr>
        <p:txBody>
          <a:bodyPr/>
          <a:lstStyle/>
          <a:p>
            <a:endParaRPr lang="es-MX"/>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0033A0"/>
          </a:solidFill>
          <a:ln/>
        </p:spPr>
        <p:txBody>
          <a:bodyPr/>
          <a:lstStyle/>
          <a:p>
            <a:endParaRPr lang="es-MX"/>
          </a:p>
        </p:txBody>
      </p:sp>
      <p:sp>
        <p:nvSpPr>
          <p:cNvPr id="4" name="s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1 DE 5</a:t>
            </a:r>
            <a:endParaRPr lang="en-US" sz="900" dirty="0"/>
          </a:p>
        </p:txBody>
      </p:sp>
      <p:sp>
        <p:nvSpPr>
          <p:cNvPr id="7" name="s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Supervisor: uno coordina a todos</a:t>
            </a:r>
            <a:endParaRPr lang="en-US" sz="2879" dirty="0"/>
          </a:p>
        </p:txBody>
      </p:sp>
      <p:sp>
        <p:nvSpPr>
          <p:cNvPr id="8" name="s8-forma-7"/>
          <p:cNvSpPr/>
          <p:nvPr/>
        </p:nvSpPr>
        <p:spPr>
          <a:xfrm>
            <a:off x="3170755" y="2228098"/>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8-texto-8"/>
          <p:cNvSpPr txBox="1"/>
          <p:nvPr/>
        </p:nvSpPr>
        <p:spPr>
          <a:xfrm>
            <a:off x="3413394" y="2359499"/>
            <a:ext cx="88585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0" name="s8-texto-9"/>
          <p:cNvSpPr txBox="1"/>
          <p:nvPr/>
        </p:nvSpPr>
        <p:spPr>
          <a:xfrm>
            <a:off x="3250265" y="2565169"/>
            <a:ext cx="121211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decide quién sigue</a:t>
            </a:r>
            <a:endParaRPr lang="en-US" sz="1080" dirty="0"/>
          </a:p>
        </p:txBody>
      </p:sp>
      <p:sp>
        <p:nvSpPr>
          <p:cNvPr id="11" name="s8-forma-10"/>
          <p:cNvSpPr/>
          <p:nvPr/>
        </p:nvSpPr>
        <p:spPr>
          <a:xfrm>
            <a:off x="1342572"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2" name="s8-texto-11"/>
          <p:cNvSpPr txBox="1"/>
          <p:nvPr/>
        </p:nvSpPr>
        <p:spPr>
          <a:xfrm>
            <a:off x="1694104" y="4164829"/>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3" name="s8-forma-12"/>
          <p:cNvSpPr/>
          <p:nvPr/>
        </p:nvSpPr>
        <p:spPr>
          <a:xfrm>
            <a:off x="3170755"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4" name="s8-texto-13"/>
          <p:cNvSpPr txBox="1"/>
          <p:nvPr/>
        </p:nvSpPr>
        <p:spPr>
          <a:xfrm>
            <a:off x="3599324" y="4164829"/>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15" name="s8-forma-14"/>
          <p:cNvSpPr/>
          <p:nvPr/>
        </p:nvSpPr>
        <p:spPr>
          <a:xfrm>
            <a:off x="4998938"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6" name="s8-texto-15"/>
          <p:cNvSpPr txBox="1"/>
          <p:nvPr/>
        </p:nvSpPr>
        <p:spPr>
          <a:xfrm>
            <a:off x="5133142" y="4164829"/>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8-forma-16"/>
          <p:cNvSpPr/>
          <p:nvPr/>
        </p:nvSpPr>
        <p:spPr>
          <a:xfrm>
            <a:off x="1342572" y="4913242"/>
            <a:ext cx="5027503" cy="374742"/>
          </a:xfrm>
          <a:prstGeom prst="rect">
            <a:avLst/>
          </a:prstGeom>
          <a:solidFill>
            <a:srgbClr val="E3DCCB"/>
          </a:solidFill>
          <a:ln/>
        </p:spPr>
        <p:txBody>
          <a:bodyPr/>
          <a:lstStyle/>
          <a:p>
            <a:endParaRPr lang="es-MX"/>
          </a:p>
        </p:txBody>
      </p:sp>
      <p:sp>
        <p:nvSpPr>
          <p:cNvPr id="18" name="s8-texto-17"/>
          <p:cNvSpPr txBox="1"/>
          <p:nvPr/>
        </p:nvSpPr>
        <p:spPr>
          <a:xfrm>
            <a:off x="1479686" y="5021790"/>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Los agentes no hablan entre sí: todo pasa por el supervisor</a:t>
            </a:r>
            <a:endParaRPr lang="en-US" sz="1080" dirty="0"/>
          </a:p>
        </p:txBody>
      </p:sp>
      <p:sp>
        <p:nvSpPr>
          <p:cNvPr id="19" name="s8-texto-18"/>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0" name="s8-texto-19"/>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supervisor recibe la tarea, decide a qué agente delegar y recibe cada resultado.</a:t>
            </a:r>
            <a:endParaRPr lang="en-US" sz="1260" dirty="0"/>
          </a:p>
        </p:txBody>
      </p:sp>
      <p:sp>
        <p:nvSpPr>
          <p:cNvPr id="21" name="s8-texto-20"/>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2" name="s8-texto-21"/>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Control y trazabilidad claros; el supervisor es cuello de botella y punto único de falla.</a:t>
            </a:r>
            <a:endParaRPr lang="en-US" sz="1260" dirty="0"/>
          </a:p>
        </p:txBody>
      </p:sp>
      <p:sp>
        <p:nvSpPr>
          <p:cNvPr id="23" name="s8-forma-22"/>
          <p:cNvSpPr/>
          <p:nvPr/>
        </p:nvSpPr>
        <p:spPr>
          <a:xfrm>
            <a:off x="7284167" y="3797764"/>
            <a:ext cx="3564957" cy="1122976"/>
          </a:xfrm>
          <a:prstGeom prst="rect">
            <a:avLst/>
          </a:prstGeom>
          <a:solidFill>
            <a:srgbClr val="E2D3C2"/>
          </a:solidFill>
          <a:ln/>
        </p:spPr>
        <p:txBody>
          <a:bodyPr/>
          <a:lstStyle/>
          <a:p>
            <a:endParaRPr lang="es-MX"/>
          </a:p>
        </p:txBody>
      </p:sp>
      <p:sp>
        <p:nvSpPr>
          <p:cNvPr id="24" name="s8-texto-23"/>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5" name="s8-texto-24"/>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Tu grafo de LangGraph es un supervisor determinista; con el Agent SDK, uno que razona.</a:t>
            </a:r>
            <a:endParaRPr lang="en-US" sz="1260" dirty="0"/>
          </a:p>
        </p:txBody>
      </p:sp>
      <p:sp>
        <p:nvSpPr>
          <p:cNvPr id="26" name="s8-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7" name="s8-linea-26-0"/>
          <p:cNvSpPr/>
          <p:nvPr/>
        </p:nvSpPr>
        <p:spPr>
          <a:xfrm>
            <a:off x="3856323" y="2856536"/>
            <a:ext cx="0" cy="514176"/>
          </a:xfrm>
          <a:prstGeom prst="line">
            <a:avLst/>
          </a:prstGeom>
          <a:noFill/>
          <a:ln w="17140">
            <a:solidFill>
              <a:srgbClr val="585E6F"/>
            </a:solidFill>
            <a:prstDash val="solid"/>
          </a:ln>
        </p:spPr>
        <p:txBody>
          <a:bodyPr/>
          <a:lstStyle/>
          <a:p>
            <a:endParaRPr lang="es-MX"/>
          </a:p>
        </p:txBody>
      </p:sp>
      <p:sp>
        <p:nvSpPr>
          <p:cNvPr id="28" name="s8-linea-27-0"/>
          <p:cNvSpPr/>
          <p:nvPr/>
        </p:nvSpPr>
        <p:spPr>
          <a:xfrm>
            <a:off x="2028140" y="3370712"/>
            <a:ext cx="3656366" cy="0"/>
          </a:xfrm>
          <a:prstGeom prst="line">
            <a:avLst/>
          </a:prstGeom>
          <a:noFill/>
          <a:ln w="17140">
            <a:solidFill>
              <a:srgbClr val="585E6F"/>
            </a:solidFill>
            <a:prstDash val="solid"/>
          </a:ln>
        </p:spPr>
        <p:txBody>
          <a:bodyPr/>
          <a:lstStyle/>
          <a:p>
            <a:endParaRPr lang="es-MX"/>
          </a:p>
        </p:txBody>
      </p:sp>
      <p:sp>
        <p:nvSpPr>
          <p:cNvPr id="29" name="s8-linea-28-0"/>
          <p:cNvSpPr/>
          <p:nvPr/>
        </p:nvSpPr>
        <p:spPr>
          <a:xfrm>
            <a:off x="2028140"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0" name="s8-linea-29-0"/>
          <p:cNvSpPr/>
          <p:nvPr/>
        </p:nvSpPr>
        <p:spPr>
          <a:xfrm>
            <a:off x="3856323"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1" name="s8-linea-30-0"/>
          <p:cNvSpPr/>
          <p:nvPr/>
        </p:nvSpPr>
        <p:spPr>
          <a:xfrm>
            <a:off x="5684506"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2" name="s8-forma-31"/>
          <p:cNvSpPr/>
          <p:nvPr/>
        </p:nvSpPr>
        <p:spPr>
          <a:xfrm>
            <a:off x="853390" y="6411138"/>
            <a:ext cx="10484915" cy="5713"/>
          </a:xfrm>
          <a:prstGeom prst="rect">
            <a:avLst/>
          </a:prstGeom>
          <a:solidFill>
            <a:srgbClr val="DBD4C4"/>
          </a:solidFill>
          <a:ln/>
        </p:spPr>
        <p:txBody>
          <a:bodyPr/>
          <a:lstStyle/>
          <a:p>
            <a:endParaRPr lang="es-MX"/>
          </a:p>
        </p:txBody>
      </p:sp>
      <p:pic>
        <p:nvPicPr>
          <p:cNvPr id="33" name="s8-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8-forma-33"/>
          <p:cNvSpPr/>
          <p:nvPr/>
        </p:nvSpPr>
        <p:spPr>
          <a:xfrm>
            <a:off x="1659380" y="6519865"/>
            <a:ext cx="2926878" cy="102835"/>
          </a:xfrm>
          <a:prstGeom prst="rect">
            <a:avLst/>
          </a:prstGeom>
          <a:ln/>
        </p:spPr>
        <p:txBody>
          <a:bodyPr/>
          <a:lstStyle/>
          <a:p>
            <a:endParaRPr lang="es-MX"/>
          </a:p>
        </p:txBody>
      </p:sp>
      <p:sp>
        <p:nvSpPr>
          <p:cNvPr id="35" name="s8-forma-34"/>
          <p:cNvSpPr/>
          <p:nvPr/>
        </p:nvSpPr>
        <p:spPr>
          <a:xfrm>
            <a:off x="1659380" y="6519865"/>
            <a:ext cx="5713" cy="102835"/>
          </a:xfrm>
          <a:prstGeom prst="rect">
            <a:avLst/>
          </a:prstGeom>
          <a:solidFill>
            <a:srgbClr val="C6BFAE"/>
          </a:solidFill>
          <a:ln/>
        </p:spPr>
        <p:txBody>
          <a:bodyPr/>
          <a:lstStyle/>
          <a:p>
            <a:endParaRPr lang="es-MX"/>
          </a:p>
        </p:txBody>
      </p:sp>
      <p:sp>
        <p:nvSpPr>
          <p:cNvPr id="36" name="s8-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8-texto-36"/>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36</a:t>
            </a:r>
            <a:endParaRPr lang="en-US" sz="745" dirty="0"/>
          </a:p>
        </p:txBody>
      </p:sp>
      <p:sp>
        <p:nvSpPr>
          <p:cNvPr id="38" name="s8-forma-37"/>
          <p:cNvSpPr/>
          <p:nvPr/>
        </p:nvSpPr>
        <p:spPr>
          <a:xfrm>
            <a:off x="0" y="0"/>
            <a:ext cx="2709246" cy="17139"/>
          </a:xfrm>
          <a:prstGeom prst="rect">
            <a:avLst/>
          </a:prstGeom>
          <a:solidFill>
            <a:srgbClr val="0033A0"/>
          </a:solidFill>
          <a:ln/>
        </p:spPr>
        <p:txBody>
          <a:bodyPr/>
          <a:lstStyle/>
          <a:p>
            <a:endParaRPr lang="es-MX"/>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0033A0"/>
          </a:solidFill>
          <a:ln/>
        </p:spPr>
        <p:txBody>
          <a:bodyPr/>
          <a:lstStyle/>
          <a:p>
            <a:endParaRPr lang="es-MX"/>
          </a:p>
        </p:txBody>
      </p:sp>
      <p:sp>
        <p:nvSpPr>
          <p:cNvPr id="4" name="s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Supervisor en código: él decide con Command</a:t>
            </a:r>
            <a:endParaRPr lang="en-US" sz="2519" dirty="0"/>
          </a:p>
        </p:txBody>
      </p:sp>
      <p:sp>
        <p:nvSpPr>
          <p:cNvPr id="8" name="s9-forma-7"/>
          <p:cNvSpPr/>
          <p:nvPr/>
        </p:nvSpPr>
        <p:spPr>
          <a:xfrm>
            <a:off x="1342572" y="2205246"/>
            <a:ext cx="5941595" cy="2970797"/>
          </a:xfrm>
          <a:prstGeom prst="rect">
            <a:avLst/>
          </a:prstGeom>
          <a:solidFill>
            <a:srgbClr val="E8E2D5"/>
          </a:solidFill>
          <a:ln/>
        </p:spPr>
        <p:txBody>
          <a:bodyPr/>
          <a:lstStyle/>
          <a:p>
            <a:endParaRPr lang="es-MX"/>
          </a:p>
        </p:txBody>
      </p:sp>
      <p:sp>
        <p:nvSpPr>
          <p:cNvPr id="9" name="s9-forma-8"/>
          <p:cNvSpPr/>
          <p:nvPr/>
        </p:nvSpPr>
        <p:spPr>
          <a:xfrm>
            <a:off x="1342572" y="2205246"/>
            <a:ext cx="5941595" cy="5713"/>
          </a:xfrm>
          <a:prstGeom prst="rect">
            <a:avLst/>
          </a:prstGeom>
          <a:solidFill>
            <a:srgbClr val="DBD4C4"/>
          </a:solidFill>
          <a:ln/>
        </p:spPr>
        <p:txBody>
          <a:bodyPr/>
          <a:lstStyle/>
          <a:p>
            <a:endParaRPr lang="es-MX"/>
          </a:p>
        </p:txBody>
      </p:sp>
      <p:sp>
        <p:nvSpPr>
          <p:cNvPr id="10" name="s9-forma-9"/>
          <p:cNvSpPr/>
          <p:nvPr/>
        </p:nvSpPr>
        <p:spPr>
          <a:xfrm>
            <a:off x="1342572" y="5170330"/>
            <a:ext cx="5941595" cy="5713"/>
          </a:xfrm>
          <a:prstGeom prst="rect">
            <a:avLst/>
          </a:prstGeom>
          <a:solidFill>
            <a:srgbClr val="DBD4C4"/>
          </a:solidFill>
          <a:ln/>
        </p:spPr>
        <p:txBody>
          <a:bodyPr/>
          <a:lstStyle/>
          <a:p>
            <a:endParaRPr lang="es-MX"/>
          </a:p>
        </p:txBody>
      </p:sp>
      <p:sp>
        <p:nvSpPr>
          <p:cNvPr id="11" name="s9-forma-10"/>
          <p:cNvSpPr/>
          <p:nvPr/>
        </p:nvSpPr>
        <p:spPr>
          <a:xfrm>
            <a:off x="1342572" y="2205246"/>
            <a:ext cx="17139" cy="2970797"/>
          </a:xfrm>
          <a:prstGeom prst="rect">
            <a:avLst/>
          </a:prstGeom>
          <a:solidFill>
            <a:srgbClr val="C6BFAE"/>
          </a:solidFill>
          <a:ln/>
        </p:spPr>
        <p:txBody>
          <a:bodyPr/>
          <a:lstStyle/>
          <a:p>
            <a:endParaRPr lang="es-MX"/>
          </a:p>
        </p:txBody>
      </p:sp>
      <p:sp>
        <p:nvSpPr>
          <p:cNvPr id="12" name="s9-forma-11"/>
          <p:cNvSpPr/>
          <p:nvPr/>
        </p:nvSpPr>
        <p:spPr>
          <a:xfrm>
            <a:off x="7278453" y="2205246"/>
            <a:ext cx="5713" cy="2970797"/>
          </a:xfrm>
          <a:prstGeom prst="rect">
            <a:avLst/>
          </a:prstGeom>
          <a:solidFill>
            <a:srgbClr val="DBD4C4"/>
          </a:solidFill>
          <a:ln/>
        </p:spPr>
        <p:txBody>
          <a:bodyPr/>
          <a:lstStyle/>
          <a:p>
            <a:endParaRPr lang="es-MX"/>
          </a:p>
        </p:txBody>
      </p:sp>
      <p:sp>
        <p:nvSpPr>
          <p:cNvPr id="13" name="s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Decision(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siguiente: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"tester"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"desarrollador"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9-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supervisor(s: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6" name="s9-texto-15"/>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&gt;= MAX_VUELTAS:</a:t>
            </a:r>
            <a:endParaRPr lang="en-US" sz="990" dirty="0"/>
          </a:p>
        </p:txBody>
      </p:sp>
      <p:sp>
        <p:nvSpPr>
          <p:cNvPr id="17" name="s9-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8" name="s9-texto-17"/>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 = modelo().with_structured_output(Decision).invoke(...)</a:t>
            </a:r>
            <a:endParaRPr lang="en-US" sz="990" dirty="0"/>
          </a:p>
        </p:txBody>
      </p:sp>
      <p:sp>
        <p:nvSpPr>
          <p:cNvPr id="19" name="s9-forma-18"/>
          <p:cNvSpPr/>
          <p:nvPr/>
        </p:nvSpPr>
        <p:spPr>
          <a:xfrm>
            <a:off x="1451120" y="3690644"/>
            <a:ext cx="5735924" cy="188531"/>
          </a:xfrm>
          <a:prstGeom prst="rect">
            <a:avLst/>
          </a:prstGeom>
          <a:solidFill>
            <a:srgbClr val="DCE3F2"/>
          </a:solidFill>
          <a:ln/>
        </p:spPr>
        <p:txBody>
          <a:bodyPr/>
          <a:lstStyle/>
          <a:p>
            <a:endParaRPr lang="es-MX"/>
          </a:p>
        </p:txBody>
      </p:sp>
      <p:sp>
        <p:nvSpPr>
          <p:cNvPr id="20" name="s9-forma-19"/>
          <p:cNvSpPr/>
          <p:nvPr/>
        </p:nvSpPr>
        <p:spPr>
          <a:xfrm>
            <a:off x="1451120" y="3690644"/>
            <a:ext cx="22852" cy="188531"/>
          </a:xfrm>
          <a:prstGeom prst="rect">
            <a:avLst/>
          </a:prstGeom>
          <a:solidFill>
            <a:srgbClr val="AC321E"/>
          </a:solidFill>
          <a:ln/>
        </p:spPr>
        <p:txBody>
          <a:bodyPr/>
          <a:lstStyle/>
          <a:p>
            <a:endParaRPr lang="es-MX"/>
          </a:p>
        </p:txBody>
      </p:sp>
      <p:sp>
        <p:nvSpPr>
          <p:cNvPr id="21" name="s9-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d.siguiente ==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d.siguiente,</a:t>
            </a:r>
            <a:endParaRPr lang="en-US" sz="990" dirty="0"/>
          </a:p>
        </p:txBody>
      </p:sp>
      <p:sp>
        <p:nvSpPr>
          <p:cNvPr id="22" name="s9-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update={</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+ 1})</a:t>
            </a:r>
            <a:endParaRPr lang="en-US" sz="990" dirty="0"/>
          </a:p>
        </p:txBody>
      </p:sp>
      <p:sp>
        <p:nvSpPr>
          <p:cNvPr id="23" name="s9-texto-22"/>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a:t>
            </a:r>
            <a:endParaRPr lang="en-US" sz="990" dirty="0"/>
          </a:p>
        </p:txBody>
      </p:sp>
      <p:sp>
        <p:nvSpPr>
          <p:cNvPr id="24" name="s9-texto-23"/>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grafo.add_node(nombre, especialista(nombre))</a:t>
            </a:r>
            <a:endParaRPr lang="en-US" sz="990" dirty="0"/>
          </a:p>
        </p:txBody>
      </p:sp>
      <p:sp>
        <p:nvSpPr>
          <p:cNvPr id="25" name="s9-forma-24"/>
          <p:cNvSpPr/>
          <p:nvPr/>
        </p:nvSpPr>
        <p:spPr>
          <a:xfrm>
            <a:off x="1451120" y="4633301"/>
            <a:ext cx="5735924" cy="188531"/>
          </a:xfrm>
          <a:prstGeom prst="rect">
            <a:avLst/>
          </a:prstGeom>
          <a:solidFill>
            <a:srgbClr val="DCE3F2"/>
          </a:solidFill>
          <a:ln/>
        </p:spPr>
        <p:txBody>
          <a:bodyPr/>
          <a:lstStyle/>
          <a:p>
            <a:endParaRPr lang="es-MX"/>
          </a:p>
        </p:txBody>
      </p:sp>
      <p:sp>
        <p:nvSpPr>
          <p:cNvPr id="26" name="s9-forma-25"/>
          <p:cNvSpPr/>
          <p:nvPr/>
        </p:nvSpPr>
        <p:spPr>
          <a:xfrm>
            <a:off x="1451120" y="4633301"/>
            <a:ext cx="22852" cy="188531"/>
          </a:xfrm>
          <a:prstGeom prst="rect">
            <a:avLst/>
          </a:prstGeom>
          <a:solidFill>
            <a:srgbClr val="AC321E"/>
          </a:solidFill>
          <a:ln/>
        </p:spPr>
        <p:txBody>
          <a:bodyPr/>
          <a:lstStyle/>
          <a:p>
            <a:endParaRPr lang="es-MX"/>
          </a:p>
        </p:txBody>
      </p:sp>
      <p:sp>
        <p:nvSpPr>
          <p:cNvPr id="27" name="s9-texto-26"/>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grafo.add_edge(nombre, </a:t>
            </a:r>
            <a:r>
              <a:rPr lang="en-US" sz="990" dirty="0">
                <a:solidFill>
                  <a:srgbClr val="1B6A43"/>
                </a:solidFill>
                <a:latin typeface="Courier New" pitchFamily="34" charset="0"/>
                <a:ea typeface="Courier New" pitchFamily="34" charset="-122"/>
                <a:cs typeface="Courier New" pitchFamily="34" charset="-120"/>
              </a:rPr>
              <a:t>"supervisor"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su única salida</a:t>
            </a:r>
            <a:endParaRPr lang="en-US" sz="990" dirty="0"/>
          </a:p>
        </p:txBody>
      </p:sp>
      <p:sp>
        <p:nvSpPr>
          <p:cNvPr id="28" name="s9-texto-27"/>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"supervisor"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9-texto-2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0" name="s9-texto-29"/>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Command(goto=…)</a:t>
            </a:r>
            <a:r>
              <a:rPr lang="en-US" sz="1170" dirty="0">
                <a:solidFill>
                  <a:srgbClr val="16181D"/>
                </a:solidFill>
                <a:latin typeface="Arial" pitchFamily="34" charset="0"/>
                <a:ea typeface="Arial" pitchFamily="34" charset="-122"/>
                <a:cs typeface="Arial" pitchFamily="34" charset="-120"/>
              </a:rPr>
              <a:t> solo en el supervisor; cada especialista tiene una sola arista: de regreso a él.</a:t>
            </a:r>
            <a:endParaRPr lang="en-US" sz="1170" dirty="0"/>
          </a:p>
        </p:txBody>
      </p:sp>
      <p:sp>
        <p:nvSpPr>
          <p:cNvPr id="31" name="s9-texto-30"/>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2" name="s9-texto-31"/>
          <p:cNvSpPr txBox="1"/>
          <p:nvPr/>
        </p:nvSpPr>
        <p:spPr>
          <a:xfrm>
            <a:off x="7558394" y="3152366"/>
            <a:ext cx="3488173"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Red: allí todos los nodos devuelven Command.</a:t>
            </a:r>
            <a:endParaRPr lang="en-US" sz="1170" dirty="0"/>
          </a:p>
        </p:txBody>
      </p:sp>
      <p:sp>
        <p:nvSpPr>
          <p:cNvPr id="33" name="s9-texto-32"/>
          <p:cNvSpPr txBox="1"/>
          <p:nvPr/>
        </p:nvSpPr>
        <p:spPr>
          <a:xfrm>
            <a:off x="7558394" y="3480243"/>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4" name="s9-forma-33"/>
          <p:cNvSpPr/>
          <p:nvPr/>
        </p:nvSpPr>
        <p:spPr>
          <a:xfrm>
            <a:off x="7558394" y="3668774"/>
            <a:ext cx="3290729" cy="289046"/>
          </a:xfrm>
          <a:prstGeom prst="rect">
            <a:avLst/>
          </a:prstGeom>
          <a:solidFill>
            <a:srgbClr val="E3DCCB"/>
          </a:solidFill>
          <a:ln/>
        </p:spPr>
        <p:txBody>
          <a:bodyPr/>
          <a:lstStyle/>
          <a:p>
            <a:endParaRPr lang="es-MX"/>
          </a:p>
        </p:txBody>
      </p:sp>
      <p:sp>
        <p:nvSpPr>
          <p:cNvPr id="35" name="s9-texto-34"/>
          <p:cNvSpPr txBox="1"/>
          <p:nvPr/>
        </p:nvSpPr>
        <p:spPr>
          <a:xfrm>
            <a:off x="7649803" y="3748757"/>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ejemplos.s3_topologias.supervisor</a:t>
            </a:r>
            <a:endParaRPr lang="en-US" sz="855" dirty="0"/>
          </a:p>
        </p:txBody>
      </p:sp>
      <p:sp>
        <p:nvSpPr>
          <p:cNvPr id="36" name="s9-forma-35"/>
          <p:cNvSpPr/>
          <p:nvPr/>
        </p:nvSpPr>
        <p:spPr>
          <a:xfrm>
            <a:off x="7558394" y="4094933"/>
            <a:ext cx="3290729" cy="832859"/>
          </a:xfrm>
          <a:prstGeom prst="rect">
            <a:avLst/>
          </a:prstGeom>
          <a:solidFill>
            <a:srgbClr val="E2D3C2"/>
          </a:solidFill>
          <a:ln/>
        </p:spPr>
        <p:txBody>
          <a:bodyPr/>
          <a:lstStyle/>
          <a:p>
            <a:endParaRPr lang="es-MX"/>
          </a:p>
        </p:txBody>
      </p:sp>
      <p:sp>
        <p:nvSpPr>
          <p:cNvPr id="37" name="s9-texto-36"/>
          <p:cNvSpPr txBox="1"/>
          <p:nvPr/>
        </p:nvSpPr>
        <p:spPr>
          <a:xfrm>
            <a:off x="7695508" y="4209195"/>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8" name="s9-texto-37"/>
          <p:cNvSpPr txBox="1"/>
          <p:nvPr/>
        </p:nvSpPr>
        <p:spPr>
          <a:xfrm>
            <a:off x="7695508" y="4414865"/>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flujo_s4.py es un supervisor escrito en código; con el Agent SDK, uno que razona.</a:t>
            </a:r>
            <a:endParaRPr lang="en-US" sz="1170" dirty="0"/>
          </a:p>
        </p:txBody>
      </p:sp>
      <p:sp>
        <p:nvSpPr>
          <p:cNvPr id="39" name="s9-texto-3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ejemplos/s3_topologias/supervisor.py · las líneas resaltadas son el patrón</a:t>
            </a:r>
            <a:endParaRPr lang="en-US" sz="1080" dirty="0"/>
          </a:p>
        </p:txBody>
      </p:sp>
      <p:sp>
        <p:nvSpPr>
          <p:cNvPr id="40" name="s9-forma-39"/>
          <p:cNvSpPr/>
          <p:nvPr/>
        </p:nvSpPr>
        <p:spPr>
          <a:xfrm>
            <a:off x="853390" y="6411138"/>
            <a:ext cx="10484915" cy="5713"/>
          </a:xfrm>
          <a:prstGeom prst="rect">
            <a:avLst/>
          </a:prstGeom>
          <a:solidFill>
            <a:srgbClr val="DBD4C4"/>
          </a:solidFill>
          <a:ln/>
        </p:spPr>
        <p:txBody>
          <a:bodyPr/>
          <a:lstStyle/>
          <a:p>
            <a:endParaRPr lang="es-MX"/>
          </a:p>
        </p:txBody>
      </p:sp>
      <p:pic>
        <p:nvPicPr>
          <p:cNvPr id="41" name="s9-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9-forma-41"/>
          <p:cNvSpPr/>
          <p:nvPr/>
        </p:nvSpPr>
        <p:spPr>
          <a:xfrm>
            <a:off x="1659380" y="6519865"/>
            <a:ext cx="2926878" cy="102835"/>
          </a:xfrm>
          <a:prstGeom prst="rect">
            <a:avLst/>
          </a:prstGeom>
          <a:ln/>
        </p:spPr>
        <p:txBody>
          <a:bodyPr/>
          <a:lstStyle/>
          <a:p>
            <a:endParaRPr lang="es-MX"/>
          </a:p>
        </p:txBody>
      </p:sp>
      <p:sp>
        <p:nvSpPr>
          <p:cNvPr id="43" name="s9-forma-42"/>
          <p:cNvSpPr/>
          <p:nvPr/>
        </p:nvSpPr>
        <p:spPr>
          <a:xfrm>
            <a:off x="1659380" y="6519865"/>
            <a:ext cx="5713" cy="102835"/>
          </a:xfrm>
          <a:prstGeom prst="rect">
            <a:avLst/>
          </a:prstGeom>
          <a:solidFill>
            <a:srgbClr val="C6BFAE"/>
          </a:solidFill>
          <a:ln/>
        </p:spPr>
        <p:txBody>
          <a:bodyPr/>
          <a:lstStyle/>
          <a:p>
            <a:endParaRPr lang="es-MX"/>
          </a:p>
        </p:txBody>
      </p:sp>
      <p:sp>
        <p:nvSpPr>
          <p:cNvPr id="44" name="s9-texto-4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5" name="s9-texto-4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36</a:t>
            </a:r>
            <a:endParaRPr lang="en-US" sz="745" dirty="0"/>
          </a:p>
        </p:txBody>
      </p:sp>
      <p:sp>
        <p:nvSpPr>
          <p:cNvPr id="46" name="s9-forma-45"/>
          <p:cNvSpPr/>
          <p:nvPr/>
        </p:nvSpPr>
        <p:spPr>
          <a:xfrm>
            <a:off x="0" y="0"/>
            <a:ext cx="3047924"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txBody>
          <a:bodyPr/>
          <a:lstStyle/>
          <a:p>
            <a:endParaRPr lang="es-MX"/>
          </a:p>
        </p:txBody>
      </p:sp>
      <p:sp>
        <p:nvSpPr>
          <p:cNvPr id="3" name="s10-forma-2"/>
          <p:cNvSpPr/>
          <p:nvPr/>
        </p:nvSpPr>
        <p:spPr>
          <a:xfrm>
            <a:off x="853390" y="331715"/>
            <a:ext cx="81411" cy="81411"/>
          </a:xfrm>
          <a:prstGeom prst="ellipse">
            <a:avLst/>
          </a:prstGeom>
          <a:solidFill>
            <a:srgbClr val="0033A0"/>
          </a:solidFill>
          <a:ln/>
        </p:spPr>
        <p:txBody>
          <a:bodyPr/>
          <a:lstStyle/>
          <a:p>
            <a:endParaRPr lang="es-MX"/>
          </a:p>
        </p:txBody>
      </p:sp>
      <p:sp>
        <p:nvSpPr>
          <p:cNvPr id="4" name="s1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Jerárquica: supervisores de supervisores</a:t>
            </a:r>
            <a:endParaRPr lang="en-US" sz="2879" dirty="0"/>
          </a:p>
        </p:txBody>
      </p:sp>
      <p:sp>
        <p:nvSpPr>
          <p:cNvPr id="8" name="s10-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0-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supervisor con diez agentes</a:t>
            </a:r>
            <a:endParaRPr lang="en-US" sz="1260" dirty="0"/>
          </a:p>
        </p:txBody>
      </p:sp>
      <p:sp>
        <p:nvSpPr>
          <p:cNvPr id="10" name="s10-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Su contexto crece con cada resultado y le cuesta elegir entre tantos especialistas.</a:t>
            </a:r>
            <a:endParaRPr lang="en-US" sz="1170" dirty="0"/>
          </a:p>
        </p:txBody>
      </p:sp>
      <p:sp>
        <p:nvSpPr>
          <p:cNvPr id="11" name="s10-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0-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Equipos sin director</a:t>
            </a:r>
            <a:endParaRPr lang="en-US" sz="1260" dirty="0"/>
          </a:p>
        </p:txBody>
      </p:sp>
      <p:sp>
        <p:nvSpPr>
          <p:cNvPr id="13" name="s10-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equipo funciona por su cuenta, pero nadie integra su trabajo.</a:t>
            </a:r>
            <a:endParaRPr lang="en-US" sz="1170" dirty="0"/>
          </a:p>
        </p:txBody>
      </p:sp>
      <p:sp>
        <p:nvSpPr>
          <p:cNvPr id="14" name="s10-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0-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Jerárquica</a:t>
            </a:r>
            <a:endParaRPr lang="en-US" sz="1260" dirty="0"/>
          </a:p>
        </p:txBody>
      </p:sp>
      <p:sp>
        <p:nvSpPr>
          <p:cNvPr id="16" name="s10-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director delega en líderes de equipo, y cada líder coordina a pocos especialistas. Cada nivel ve solo lo suyo.</a:t>
            </a:r>
            <a:endParaRPr lang="en-US" sz="1170" dirty="0"/>
          </a:p>
        </p:txBody>
      </p:sp>
      <p:sp>
        <p:nvSpPr>
          <p:cNvPr id="17" name="s10-forma-16"/>
          <p:cNvSpPr/>
          <p:nvPr/>
        </p:nvSpPr>
        <p:spPr>
          <a:xfrm>
            <a:off x="6095848" y="2228098"/>
            <a:ext cx="4753276" cy="1882814"/>
          </a:xfrm>
          <a:prstGeom prst="rect">
            <a:avLst/>
          </a:prstGeom>
          <a:solidFill>
            <a:srgbClr val="E8E2D5"/>
          </a:solidFill>
          <a:ln/>
        </p:spPr>
        <p:txBody>
          <a:bodyPr/>
          <a:lstStyle/>
          <a:p>
            <a:endParaRPr lang="es-MX"/>
          </a:p>
        </p:txBody>
      </p:sp>
      <p:sp>
        <p:nvSpPr>
          <p:cNvPr id="18" name="s10-forma-17"/>
          <p:cNvSpPr/>
          <p:nvPr/>
        </p:nvSpPr>
        <p:spPr>
          <a:xfrm>
            <a:off x="6095848" y="2228098"/>
            <a:ext cx="4753276" cy="5713"/>
          </a:xfrm>
          <a:prstGeom prst="rect">
            <a:avLst/>
          </a:prstGeom>
          <a:solidFill>
            <a:srgbClr val="DBD4C4"/>
          </a:solidFill>
          <a:ln/>
        </p:spPr>
        <p:txBody>
          <a:bodyPr/>
          <a:lstStyle/>
          <a:p>
            <a:endParaRPr lang="es-MX"/>
          </a:p>
        </p:txBody>
      </p:sp>
      <p:sp>
        <p:nvSpPr>
          <p:cNvPr id="19" name="s10-forma-18"/>
          <p:cNvSpPr/>
          <p:nvPr/>
        </p:nvSpPr>
        <p:spPr>
          <a:xfrm>
            <a:off x="6095848" y="4105199"/>
            <a:ext cx="4753276" cy="5713"/>
          </a:xfrm>
          <a:prstGeom prst="rect">
            <a:avLst/>
          </a:prstGeom>
          <a:solidFill>
            <a:srgbClr val="DBD4C4"/>
          </a:solidFill>
          <a:ln/>
        </p:spPr>
        <p:txBody>
          <a:bodyPr/>
          <a:lstStyle/>
          <a:p>
            <a:endParaRPr lang="es-MX"/>
          </a:p>
        </p:txBody>
      </p:sp>
      <p:sp>
        <p:nvSpPr>
          <p:cNvPr id="20" name="s10-forma-19"/>
          <p:cNvSpPr/>
          <p:nvPr/>
        </p:nvSpPr>
        <p:spPr>
          <a:xfrm>
            <a:off x="6095848" y="2228098"/>
            <a:ext cx="17139" cy="1882814"/>
          </a:xfrm>
          <a:prstGeom prst="rect">
            <a:avLst/>
          </a:prstGeom>
          <a:solidFill>
            <a:srgbClr val="C6BFAE"/>
          </a:solidFill>
          <a:ln/>
        </p:spPr>
        <p:txBody>
          <a:bodyPr/>
          <a:lstStyle/>
          <a:p>
            <a:endParaRPr lang="es-MX"/>
          </a:p>
        </p:txBody>
      </p:sp>
      <p:sp>
        <p:nvSpPr>
          <p:cNvPr id="21" name="s10-forma-20"/>
          <p:cNvSpPr/>
          <p:nvPr/>
        </p:nvSpPr>
        <p:spPr>
          <a:xfrm>
            <a:off x="10843410" y="2228098"/>
            <a:ext cx="5713" cy="1882814"/>
          </a:xfrm>
          <a:prstGeom prst="rect">
            <a:avLst/>
          </a:prstGeom>
          <a:solidFill>
            <a:srgbClr val="DBD4C4"/>
          </a:solidFill>
          <a:ln/>
        </p:spPr>
        <p:txBody>
          <a:bodyPr/>
          <a:lstStyle/>
          <a:p>
            <a:endParaRPr lang="es-MX"/>
          </a:p>
        </p:txBody>
      </p:sp>
      <p:sp>
        <p:nvSpPr>
          <p:cNvPr id="22" name="s10-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Director ·</a:t>
            </a:r>
            <a:r>
              <a:rPr lang="en-US" sz="1080" dirty="0">
                <a:solidFill>
                  <a:srgbClr val="16181D"/>
                </a:solidFill>
                <a:latin typeface="Arial" pitchFamily="34" charset="0"/>
                <a:ea typeface="Arial" pitchFamily="34" charset="-122"/>
                <a:cs typeface="Arial" pitchFamily="34" charset="-120"/>
              </a:rPr>
              <a:t> implementar HU-02 → delega al líder de Desarrollo</a:t>
            </a:r>
            <a:endParaRPr lang="en-US" sz="1080" dirty="0"/>
          </a:p>
        </p:txBody>
      </p:sp>
      <p:sp>
        <p:nvSpPr>
          <p:cNvPr id="23" name="s10-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Líder de Desarrollo</a:t>
            </a:r>
            <a:r>
              <a:rPr lang="en-US" sz="1080" dirty="0">
                <a:solidFill>
                  <a:srgbClr val="16181D"/>
                </a:solidFill>
                <a:latin typeface="Arial" pitchFamily="34" charset="0"/>
                <a:ea typeface="Arial" pitchFamily="34" charset="-122"/>
                <a:cs typeface="Arial" pitchFamily="34" charset="-120"/>
              </a:rPr>
              <a:t> → delega a Backend y a Frontend</a:t>
            </a:r>
            <a:endParaRPr lang="en-US" sz="1080" dirty="0"/>
          </a:p>
        </p:txBody>
      </p:sp>
      <p:sp>
        <p:nvSpPr>
          <p:cNvPr id="24" name="s10-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Backend y Frontend ·</a:t>
            </a:r>
            <a:r>
              <a:rPr lang="en-US" sz="1080" dirty="0">
                <a:solidFill>
                  <a:srgbClr val="16181D"/>
                </a:solidFill>
                <a:latin typeface="Arial" pitchFamily="34" charset="0"/>
                <a:ea typeface="Arial" pitchFamily="34" charset="-122"/>
                <a:cs typeface="Arial" pitchFamily="34" charset="-120"/>
              </a:rPr>
              <a:t> entregan su código al líder</a:t>
            </a:r>
            <a:endParaRPr lang="en-US" sz="1080" dirty="0"/>
          </a:p>
        </p:txBody>
      </p:sp>
      <p:sp>
        <p:nvSpPr>
          <p:cNvPr id="25" name="s10-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Líder de Desarrollo ·</a:t>
            </a:r>
            <a:r>
              <a:rPr lang="en-US" sz="1080" dirty="0">
                <a:solidFill>
                  <a:srgbClr val="16181D"/>
                </a:solidFill>
                <a:latin typeface="Arial" pitchFamily="34" charset="0"/>
                <a:ea typeface="Arial" pitchFamily="34" charset="-122"/>
                <a:cs typeface="Arial" pitchFamily="34" charset="-120"/>
              </a:rPr>
              <a:t> resume «la app está lista» para el director</a:t>
            </a:r>
            <a:endParaRPr lang="en-US" sz="1080" dirty="0"/>
          </a:p>
        </p:txBody>
      </p:sp>
      <p:sp>
        <p:nvSpPr>
          <p:cNvPr id="26" name="s10-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Director</a:t>
            </a:r>
            <a:r>
              <a:rPr lang="en-US" sz="1080" dirty="0">
                <a:solidFill>
                  <a:srgbClr val="16181D"/>
                </a:solidFill>
                <a:latin typeface="Arial" pitchFamily="34" charset="0"/>
                <a:ea typeface="Arial" pitchFamily="34" charset="-122"/>
                <a:cs typeface="Arial" pitchFamily="34" charset="-120"/>
              </a:rPr>
              <a:t> → delega al líder de Calidad</a:t>
            </a:r>
            <a:endParaRPr lang="en-US" sz="1080" dirty="0"/>
          </a:p>
        </p:txBody>
      </p:sp>
      <p:sp>
        <p:nvSpPr>
          <p:cNvPr id="27" name="s10-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Líder de Calidad ·</a:t>
            </a:r>
            <a:r>
              <a:rPr lang="en-US" sz="1080" dirty="0">
                <a:solidFill>
                  <a:srgbClr val="16181D"/>
                </a:solidFill>
                <a:latin typeface="Arial" pitchFamily="34" charset="0"/>
                <a:ea typeface="Arial" pitchFamily="34" charset="-122"/>
                <a:cs typeface="Arial" pitchFamily="34" charset="-120"/>
              </a:rPr>
              <a:t> tester y automatizador → «todo pasa»</a:t>
            </a:r>
            <a:endParaRPr lang="en-US" sz="1080" dirty="0"/>
          </a:p>
        </p:txBody>
      </p:sp>
      <p:sp>
        <p:nvSpPr>
          <p:cNvPr id="28" name="s10-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Escala a muchos agentes, pero cada nivel agrega latencia, costo y pérdida de detalle al resumir.</a:t>
            </a:r>
            <a:endParaRPr lang="en-US" sz="1080" dirty="0"/>
          </a:p>
        </p:txBody>
      </p:sp>
      <p:sp>
        <p:nvSpPr>
          <p:cNvPr id="29" name="s10-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30" name="s10-forma-29"/>
          <p:cNvSpPr/>
          <p:nvPr/>
        </p:nvSpPr>
        <p:spPr>
          <a:xfrm>
            <a:off x="853390" y="6411138"/>
            <a:ext cx="10484915" cy="5713"/>
          </a:xfrm>
          <a:prstGeom prst="rect">
            <a:avLst/>
          </a:prstGeom>
          <a:solidFill>
            <a:srgbClr val="DBD4C4"/>
          </a:solidFill>
          <a:ln/>
        </p:spPr>
        <p:txBody>
          <a:bodyPr/>
          <a:lstStyle/>
          <a:p>
            <a:endParaRPr lang="es-MX"/>
          </a:p>
        </p:txBody>
      </p:sp>
      <p:pic>
        <p:nvPicPr>
          <p:cNvPr id="31" name="s10-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0-forma-31"/>
          <p:cNvSpPr/>
          <p:nvPr/>
        </p:nvSpPr>
        <p:spPr>
          <a:xfrm>
            <a:off x="1659380" y="6519865"/>
            <a:ext cx="2926878" cy="102835"/>
          </a:xfrm>
          <a:prstGeom prst="rect">
            <a:avLst/>
          </a:prstGeom>
          <a:ln/>
        </p:spPr>
        <p:txBody>
          <a:bodyPr/>
          <a:lstStyle/>
          <a:p>
            <a:endParaRPr lang="es-MX"/>
          </a:p>
        </p:txBody>
      </p:sp>
      <p:sp>
        <p:nvSpPr>
          <p:cNvPr id="33" name="s10-forma-32"/>
          <p:cNvSpPr/>
          <p:nvPr/>
        </p:nvSpPr>
        <p:spPr>
          <a:xfrm>
            <a:off x="1659380" y="6519865"/>
            <a:ext cx="5713" cy="102835"/>
          </a:xfrm>
          <a:prstGeom prst="rect">
            <a:avLst/>
          </a:prstGeom>
          <a:solidFill>
            <a:srgbClr val="C6BFAE"/>
          </a:solidFill>
          <a:ln/>
        </p:spPr>
        <p:txBody>
          <a:bodyPr/>
          <a:lstStyle/>
          <a:p>
            <a:endParaRPr lang="es-MX"/>
          </a:p>
        </p:txBody>
      </p:sp>
      <p:sp>
        <p:nvSpPr>
          <p:cNvPr id="34" name="s10-texto-3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5" name="s10-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36</a:t>
            </a:r>
            <a:endParaRPr lang="en-US" sz="745" dirty="0"/>
          </a:p>
        </p:txBody>
      </p:sp>
      <p:sp>
        <p:nvSpPr>
          <p:cNvPr id="36" name="s10-forma-35"/>
          <p:cNvSpPr/>
          <p:nvPr/>
        </p:nvSpPr>
        <p:spPr>
          <a:xfrm>
            <a:off x="0" y="0"/>
            <a:ext cx="3386513" cy="17139"/>
          </a:xfrm>
          <a:prstGeom prst="rect">
            <a:avLst/>
          </a:prstGeom>
          <a:solidFill>
            <a:srgbClr val="0033A0"/>
          </a:solidFill>
          <a:ln/>
        </p:spPr>
        <p:txBody>
          <a:bodyPr/>
          <a:lstStyle/>
          <a:p>
            <a:endParaRPr lang="es-MX"/>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a:effectLst/>
      </p:bgPr>
    </p:bg>
    <p:spTree>
      <p:nvGrpSpPr>
        <p:cNvPr id="1" name=""/>
        <p:cNvGrpSpPr/>
        <p:nvPr/>
      </p:nvGrpSpPr>
      <p:grpSpPr>
        <a:xfrm>
          <a:off x="0" y="0"/>
          <a:ext cx="0" cy="0"/>
          <a:chOff x="0" y="0"/>
          <a:chExt cx="0" cy="0"/>
        </a:xfrm>
      </p:grpSpPr>
      <p:sp>
        <p:nvSpPr>
          <p:cNvPr id="2" name="s11-forma-1"/>
          <p:cNvSpPr/>
          <p:nvPr/>
        </p:nvSpPr>
        <p:spPr>
          <a:xfrm>
            <a:off x="853390" y="520961"/>
            <a:ext cx="10484915" cy="5713"/>
          </a:xfrm>
          <a:prstGeom prst="rect">
            <a:avLst/>
          </a:prstGeom>
          <a:solidFill>
            <a:srgbClr val="C6BFAE"/>
          </a:solidFill>
          <a:ln/>
        </p:spPr>
        <p:txBody>
          <a:bodyPr/>
          <a:lstStyle/>
          <a:p>
            <a:endParaRPr lang="es-MX"/>
          </a:p>
        </p:txBody>
      </p:sp>
      <p:sp>
        <p:nvSpPr>
          <p:cNvPr id="3" name="s11-forma-2"/>
          <p:cNvSpPr/>
          <p:nvPr/>
        </p:nvSpPr>
        <p:spPr>
          <a:xfrm>
            <a:off x="853390" y="331715"/>
            <a:ext cx="81411" cy="81411"/>
          </a:xfrm>
          <a:prstGeom prst="ellipse">
            <a:avLst/>
          </a:prstGeom>
          <a:solidFill>
            <a:srgbClr val="0033A0"/>
          </a:solidFill>
          <a:ln/>
        </p:spPr>
        <p:txBody>
          <a:bodyPr/>
          <a:lstStyle/>
          <a:p>
            <a:endParaRPr lang="es-MX"/>
          </a:p>
        </p:txBody>
      </p:sp>
      <p:sp>
        <p:nvSpPr>
          <p:cNvPr id="4" name="s1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2 DE 5</a:t>
            </a:r>
            <a:endParaRPr lang="en-US" sz="900" dirty="0"/>
          </a:p>
        </p:txBody>
      </p:sp>
      <p:sp>
        <p:nvSpPr>
          <p:cNvPr id="7" name="s1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Jerárquica: supervisores de supervisores</a:t>
            </a:r>
            <a:endParaRPr lang="en-US" sz="2879" dirty="0"/>
          </a:p>
        </p:txBody>
      </p:sp>
      <p:sp>
        <p:nvSpPr>
          <p:cNvPr id="8" name="s11-forma-7"/>
          <p:cNvSpPr/>
          <p:nvPr/>
        </p:nvSpPr>
        <p:spPr>
          <a:xfrm>
            <a:off x="3170755" y="2170967"/>
            <a:ext cx="1371137" cy="571307"/>
          </a:xfrm>
          <a:prstGeom prst="rect">
            <a:avLst/>
          </a:prstGeom>
          <a:solidFill>
            <a:srgbClr val="E2D3C2"/>
          </a:solidFill>
          <a:ln w="5713">
            <a:solidFill>
              <a:srgbClr val="984514"/>
            </a:solidFill>
            <a:prstDash val="solid"/>
          </a:ln>
        </p:spPr>
        <p:txBody>
          <a:bodyPr/>
          <a:lstStyle/>
          <a:p>
            <a:endParaRPr lang="es-MX"/>
          </a:p>
        </p:txBody>
      </p:sp>
      <p:sp>
        <p:nvSpPr>
          <p:cNvPr id="9" name="s11-texto-8"/>
          <p:cNvSpPr txBox="1"/>
          <p:nvPr/>
        </p:nvSpPr>
        <p:spPr>
          <a:xfrm>
            <a:off x="3526751" y="2365212"/>
            <a:ext cx="65914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Director</a:t>
            </a:r>
            <a:endParaRPr lang="en-US" sz="1260" dirty="0"/>
          </a:p>
        </p:txBody>
      </p:sp>
      <p:sp>
        <p:nvSpPr>
          <p:cNvPr id="10" name="s11-forma-9"/>
          <p:cNvSpPr/>
          <p:nvPr/>
        </p:nvSpPr>
        <p:spPr>
          <a:xfrm>
            <a:off x="1799618" y="3199320"/>
            <a:ext cx="1371137" cy="571307"/>
          </a:xfrm>
          <a:prstGeom prst="rect">
            <a:avLst/>
          </a:prstGeom>
          <a:solidFill>
            <a:srgbClr val="DCE3F2"/>
          </a:solidFill>
          <a:ln w="5713">
            <a:solidFill>
              <a:srgbClr val="0033A0"/>
            </a:solidFill>
            <a:prstDash val="solid"/>
          </a:ln>
        </p:spPr>
        <p:txBody>
          <a:bodyPr/>
          <a:lstStyle/>
          <a:p>
            <a:endParaRPr lang="es-MX"/>
          </a:p>
        </p:txBody>
      </p:sp>
      <p:sp>
        <p:nvSpPr>
          <p:cNvPr id="11" name="s11-texto-10"/>
          <p:cNvSpPr txBox="1"/>
          <p:nvPr/>
        </p:nvSpPr>
        <p:spPr>
          <a:xfrm>
            <a:off x="2173377" y="3302155"/>
            <a:ext cx="6235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Calidad</a:t>
            </a:r>
            <a:endParaRPr lang="en-US" sz="1260" dirty="0"/>
          </a:p>
        </p:txBody>
      </p:sp>
      <p:sp>
        <p:nvSpPr>
          <p:cNvPr id="12" name="s11-texto-11"/>
          <p:cNvSpPr txBox="1"/>
          <p:nvPr/>
        </p:nvSpPr>
        <p:spPr>
          <a:xfrm>
            <a:off x="2328969" y="3507826"/>
            <a:ext cx="31243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líder</a:t>
            </a:r>
            <a:endParaRPr lang="en-US" sz="1080" dirty="0"/>
          </a:p>
        </p:txBody>
      </p:sp>
      <p:sp>
        <p:nvSpPr>
          <p:cNvPr id="13" name="s11-forma-12"/>
          <p:cNvSpPr/>
          <p:nvPr/>
        </p:nvSpPr>
        <p:spPr>
          <a:xfrm>
            <a:off x="4541892" y="3199320"/>
            <a:ext cx="1371137" cy="571307"/>
          </a:xfrm>
          <a:prstGeom prst="rect">
            <a:avLst/>
          </a:prstGeom>
          <a:solidFill>
            <a:srgbClr val="DCE3F2"/>
          </a:solidFill>
          <a:ln w="5713">
            <a:solidFill>
              <a:srgbClr val="0033A0"/>
            </a:solidFill>
            <a:prstDash val="solid"/>
          </a:ln>
        </p:spPr>
        <p:txBody>
          <a:bodyPr/>
          <a:lstStyle/>
          <a:p>
            <a:endParaRPr lang="es-MX"/>
          </a:p>
        </p:txBody>
      </p:sp>
      <p:sp>
        <p:nvSpPr>
          <p:cNvPr id="14" name="s11-texto-13"/>
          <p:cNvSpPr txBox="1"/>
          <p:nvPr/>
        </p:nvSpPr>
        <p:spPr>
          <a:xfrm>
            <a:off x="4808093" y="3302155"/>
            <a:ext cx="83873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Desarrollo</a:t>
            </a:r>
            <a:endParaRPr lang="en-US" sz="1260" dirty="0"/>
          </a:p>
        </p:txBody>
      </p:sp>
      <p:sp>
        <p:nvSpPr>
          <p:cNvPr id="15" name="s11-texto-14"/>
          <p:cNvSpPr txBox="1"/>
          <p:nvPr/>
        </p:nvSpPr>
        <p:spPr>
          <a:xfrm>
            <a:off x="5071244" y="3507826"/>
            <a:ext cx="31243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líder</a:t>
            </a:r>
            <a:endParaRPr lang="en-US" sz="1080" dirty="0"/>
          </a:p>
        </p:txBody>
      </p:sp>
      <p:sp>
        <p:nvSpPr>
          <p:cNvPr id="16" name="s11-forma-15"/>
          <p:cNvSpPr/>
          <p:nvPr/>
        </p:nvSpPr>
        <p:spPr>
          <a:xfrm>
            <a:off x="1342572"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17" name="s11-texto-16"/>
          <p:cNvSpPr txBox="1"/>
          <p:nvPr/>
        </p:nvSpPr>
        <p:spPr>
          <a:xfrm>
            <a:off x="1551278" y="4393352"/>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8" name="s11-forma-17"/>
          <p:cNvSpPr/>
          <p:nvPr/>
        </p:nvSpPr>
        <p:spPr>
          <a:xfrm>
            <a:off x="2542317"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19" name="s11-texto-18"/>
          <p:cNvSpPr txBox="1"/>
          <p:nvPr/>
        </p:nvSpPr>
        <p:spPr>
          <a:xfrm>
            <a:off x="2828060" y="4393352"/>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20" name="s11-forma-19"/>
          <p:cNvSpPr/>
          <p:nvPr/>
        </p:nvSpPr>
        <p:spPr>
          <a:xfrm>
            <a:off x="4056281"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21" name="s11-texto-20"/>
          <p:cNvSpPr txBox="1"/>
          <p:nvPr/>
        </p:nvSpPr>
        <p:spPr>
          <a:xfrm>
            <a:off x="4242759" y="4393352"/>
            <a:ext cx="71252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Backend</a:t>
            </a:r>
            <a:endParaRPr lang="en-US" sz="1260" dirty="0"/>
          </a:p>
        </p:txBody>
      </p:sp>
      <p:sp>
        <p:nvSpPr>
          <p:cNvPr id="22" name="s11-forma-21"/>
          <p:cNvSpPr/>
          <p:nvPr/>
        </p:nvSpPr>
        <p:spPr>
          <a:xfrm>
            <a:off x="5313157"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23" name="s11-texto-22"/>
          <p:cNvSpPr txBox="1"/>
          <p:nvPr/>
        </p:nvSpPr>
        <p:spPr>
          <a:xfrm>
            <a:off x="5486513" y="4393352"/>
            <a:ext cx="7387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Frontend</a:t>
            </a:r>
            <a:endParaRPr lang="en-US" sz="1260" dirty="0"/>
          </a:p>
        </p:txBody>
      </p:sp>
      <p:sp>
        <p:nvSpPr>
          <p:cNvPr id="24" name="s11-forma-23"/>
          <p:cNvSpPr/>
          <p:nvPr/>
        </p:nvSpPr>
        <p:spPr>
          <a:xfrm>
            <a:off x="1342572" y="5027503"/>
            <a:ext cx="5056069" cy="374742"/>
          </a:xfrm>
          <a:prstGeom prst="rect">
            <a:avLst/>
          </a:prstGeom>
          <a:solidFill>
            <a:srgbClr val="E3DCCB"/>
          </a:solidFill>
          <a:ln/>
        </p:spPr>
        <p:txBody>
          <a:bodyPr/>
          <a:lstStyle/>
          <a:p>
            <a:endParaRPr lang="es-MX"/>
          </a:p>
        </p:txBody>
      </p:sp>
      <p:sp>
        <p:nvSpPr>
          <p:cNvPr id="25" name="s11-texto-24"/>
          <p:cNvSpPr txBox="1"/>
          <p:nvPr/>
        </p:nvSpPr>
        <p:spPr>
          <a:xfrm>
            <a:off x="1479686" y="5136052"/>
            <a:ext cx="506875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nivel solo ve lo suyo</a:t>
            </a:r>
            <a:endParaRPr lang="en-US" sz="1080" dirty="0"/>
          </a:p>
        </p:txBody>
      </p:sp>
      <p:sp>
        <p:nvSpPr>
          <p:cNvPr id="26" name="s11-texto-25"/>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7" name="s11-texto-26"/>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Varios supervisores organizados en niveles; cada uno coordina a un equipo pequeño.</a:t>
            </a:r>
            <a:endParaRPr lang="en-US" sz="1260" dirty="0"/>
          </a:p>
        </p:txBody>
      </p:sp>
      <p:sp>
        <p:nvSpPr>
          <p:cNvPr id="28" name="s11-texto-27"/>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9" name="s11-texto-28"/>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Escala a muchos agentes; cada nivel agrega latencia, costo y pérdida de detalle.</a:t>
            </a:r>
            <a:endParaRPr lang="en-US" sz="1260" dirty="0"/>
          </a:p>
        </p:txBody>
      </p:sp>
      <p:sp>
        <p:nvSpPr>
          <p:cNvPr id="30" name="s11-forma-29"/>
          <p:cNvSpPr/>
          <p:nvPr/>
        </p:nvSpPr>
        <p:spPr>
          <a:xfrm>
            <a:off x="7284167" y="3797764"/>
            <a:ext cx="3564957" cy="1122976"/>
          </a:xfrm>
          <a:prstGeom prst="rect">
            <a:avLst/>
          </a:prstGeom>
          <a:solidFill>
            <a:srgbClr val="E2D3C2"/>
          </a:solidFill>
          <a:ln/>
        </p:spPr>
        <p:txBody>
          <a:bodyPr/>
          <a:lstStyle/>
          <a:p>
            <a:endParaRPr lang="es-MX"/>
          </a:p>
        </p:txBody>
      </p:sp>
      <p:sp>
        <p:nvSpPr>
          <p:cNvPr id="31" name="s11-texto-30"/>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2" name="s11-texto-31"/>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Claude Code como desarrollador, con sus propios subagentes: un equipo dentro de un agente.</a:t>
            </a:r>
            <a:endParaRPr lang="en-US" sz="1260" dirty="0"/>
          </a:p>
        </p:txBody>
      </p:sp>
      <p:sp>
        <p:nvSpPr>
          <p:cNvPr id="33" name="s11-texto-3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34" name="s11-linea-33-0"/>
          <p:cNvSpPr/>
          <p:nvPr/>
        </p:nvSpPr>
        <p:spPr>
          <a:xfrm>
            <a:off x="3856323" y="2742274"/>
            <a:ext cx="0" cy="228523"/>
          </a:xfrm>
          <a:prstGeom prst="line">
            <a:avLst/>
          </a:prstGeom>
          <a:noFill/>
          <a:ln w="17140">
            <a:solidFill>
              <a:srgbClr val="585E6F"/>
            </a:solidFill>
            <a:prstDash val="solid"/>
          </a:ln>
        </p:spPr>
        <p:txBody>
          <a:bodyPr/>
          <a:lstStyle/>
          <a:p>
            <a:endParaRPr lang="es-MX"/>
          </a:p>
        </p:txBody>
      </p:sp>
      <p:sp>
        <p:nvSpPr>
          <p:cNvPr id="35" name="s11-linea-34-0"/>
          <p:cNvSpPr/>
          <p:nvPr/>
        </p:nvSpPr>
        <p:spPr>
          <a:xfrm>
            <a:off x="2485186" y="2970797"/>
            <a:ext cx="2742274" cy="0"/>
          </a:xfrm>
          <a:prstGeom prst="line">
            <a:avLst/>
          </a:prstGeom>
          <a:noFill/>
          <a:ln w="17140">
            <a:solidFill>
              <a:srgbClr val="585E6F"/>
            </a:solidFill>
            <a:prstDash val="solid"/>
          </a:ln>
        </p:spPr>
        <p:txBody>
          <a:bodyPr/>
          <a:lstStyle/>
          <a:p>
            <a:endParaRPr lang="es-MX"/>
          </a:p>
        </p:txBody>
      </p:sp>
      <p:sp>
        <p:nvSpPr>
          <p:cNvPr id="36" name="s11-linea-35-0"/>
          <p:cNvSpPr/>
          <p:nvPr/>
        </p:nvSpPr>
        <p:spPr>
          <a:xfrm>
            <a:off x="2485186" y="2970797"/>
            <a:ext cx="0" cy="228523"/>
          </a:xfrm>
          <a:prstGeom prst="line">
            <a:avLst/>
          </a:prstGeom>
          <a:noFill/>
          <a:ln w="17140">
            <a:solidFill>
              <a:srgbClr val="585E6F"/>
            </a:solidFill>
            <a:prstDash val="solid"/>
            <a:tailEnd type="triangle"/>
          </a:ln>
        </p:spPr>
        <p:txBody>
          <a:bodyPr/>
          <a:lstStyle/>
          <a:p>
            <a:endParaRPr lang="es-MX"/>
          </a:p>
        </p:txBody>
      </p:sp>
      <p:sp>
        <p:nvSpPr>
          <p:cNvPr id="37" name="s11-linea-36-0"/>
          <p:cNvSpPr/>
          <p:nvPr/>
        </p:nvSpPr>
        <p:spPr>
          <a:xfrm>
            <a:off x="5227461" y="2970797"/>
            <a:ext cx="0" cy="228523"/>
          </a:xfrm>
          <a:prstGeom prst="line">
            <a:avLst/>
          </a:prstGeom>
          <a:noFill/>
          <a:ln w="17140">
            <a:solidFill>
              <a:srgbClr val="585E6F"/>
            </a:solidFill>
            <a:prstDash val="solid"/>
            <a:tailEnd type="triangle"/>
          </a:ln>
        </p:spPr>
        <p:txBody>
          <a:bodyPr/>
          <a:lstStyle/>
          <a:p>
            <a:endParaRPr lang="es-MX"/>
          </a:p>
        </p:txBody>
      </p:sp>
      <p:sp>
        <p:nvSpPr>
          <p:cNvPr id="38" name="s11-linea-37-0"/>
          <p:cNvSpPr/>
          <p:nvPr/>
        </p:nvSpPr>
        <p:spPr>
          <a:xfrm>
            <a:off x="2485186" y="3770627"/>
            <a:ext cx="0" cy="228523"/>
          </a:xfrm>
          <a:prstGeom prst="line">
            <a:avLst/>
          </a:prstGeom>
          <a:noFill/>
          <a:ln w="17140">
            <a:solidFill>
              <a:srgbClr val="585E6F"/>
            </a:solidFill>
            <a:prstDash val="solid"/>
          </a:ln>
        </p:spPr>
        <p:txBody>
          <a:bodyPr/>
          <a:lstStyle/>
          <a:p>
            <a:endParaRPr lang="es-MX"/>
          </a:p>
        </p:txBody>
      </p:sp>
      <p:sp>
        <p:nvSpPr>
          <p:cNvPr id="39" name="s11-linea-38-0"/>
          <p:cNvSpPr/>
          <p:nvPr/>
        </p:nvSpPr>
        <p:spPr>
          <a:xfrm>
            <a:off x="1885314" y="3999150"/>
            <a:ext cx="1199745" cy="0"/>
          </a:xfrm>
          <a:prstGeom prst="line">
            <a:avLst/>
          </a:prstGeom>
          <a:noFill/>
          <a:ln w="17140">
            <a:solidFill>
              <a:srgbClr val="585E6F"/>
            </a:solidFill>
            <a:prstDash val="solid"/>
          </a:ln>
        </p:spPr>
        <p:txBody>
          <a:bodyPr/>
          <a:lstStyle/>
          <a:p>
            <a:endParaRPr lang="es-MX"/>
          </a:p>
        </p:txBody>
      </p:sp>
      <p:sp>
        <p:nvSpPr>
          <p:cNvPr id="40" name="s11-linea-39-0"/>
          <p:cNvSpPr/>
          <p:nvPr/>
        </p:nvSpPr>
        <p:spPr>
          <a:xfrm>
            <a:off x="1885314" y="3999150"/>
            <a:ext cx="0" cy="228523"/>
          </a:xfrm>
          <a:prstGeom prst="line">
            <a:avLst/>
          </a:prstGeom>
          <a:noFill/>
          <a:ln w="17140">
            <a:solidFill>
              <a:srgbClr val="585E6F"/>
            </a:solidFill>
            <a:prstDash val="solid"/>
            <a:tailEnd type="triangle"/>
          </a:ln>
        </p:spPr>
        <p:txBody>
          <a:bodyPr/>
          <a:lstStyle/>
          <a:p>
            <a:endParaRPr lang="es-MX"/>
          </a:p>
        </p:txBody>
      </p:sp>
      <p:sp>
        <p:nvSpPr>
          <p:cNvPr id="41" name="s11-linea-40-0"/>
          <p:cNvSpPr/>
          <p:nvPr/>
        </p:nvSpPr>
        <p:spPr>
          <a:xfrm>
            <a:off x="3085059" y="3999150"/>
            <a:ext cx="0" cy="228523"/>
          </a:xfrm>
          <a:prstGeom prst="line">
            <a:avLst/>
          </a:prstGeom>
          <a:noFill/>
          <a:ln w="17140">
            <a:solidFill>
              <a:srgbClr val="585E6F"/>
            </a:solidFill>
            <a:prstDash val="solid"/>
            <a:tailEnd type="triangle"/>
          </a:ln>
        </p:spPr>
        <p:txBody>
          <a:bodyPr/>
          <a:lstStyle/>
          <a:p>
            <a:endParaRPr lang="es-MX"/>
          </a:p>
        </p:txBody>
      </p:sp>
      <p:sp>
        <p:nvSpPr>
          <p:cNvPr id="42" name="s11-linea-41-0"/>
          <p:cNvSpPr/>
          <p:nvPr/>
        </p:nvSpPr>
        <p:spPr>
          <a:xfrm>
            <a:off x="5227461" y="3770627"/>
            <a:ext cx="0" cy="228523"/>
          </a:xfrm>
          <a:prstGeom prst="line">
            <a:avLst/>
          </a:prstGeom>
          <a:noFill/>
          <a:ln w="17140">
            <a:solidFill>
              <a:srgbClr val="585E6F"/>
            </a:solidFill>
            <a:prstDash val="solid"/>
          </a:ln>
        </p:spPr>
        <p:txBody>
          <a:bodyPr/>
          <a:lstStyle/>
          <a:p>
            <a:endParaRPr lang="es-MX"/>
          </a:p>
        </p:txBody>
      </p:sp>
      <p:sp>
        <p:nvSpPr>
          <p:cNvPr id="43" name="s11-linea-42-0"/>
          <p:cNvSpPr/>
          <p:nvPr/>
        </p:nvSpPr>
        <p:spPr>
          <a:xfrm>
            <a:off x="4599023" y="3999150"/>
            <a:ext cx="1256876" cy="0"/>
          </a:xfrm>
          <a:prstGeom prst="line">
            <a:avLst/>
          </a:prstGeom>
          <a:noFill/>
          <a:ln w="17140">
            <a:solidFill>
              <a:srgbClr val="585E6F"/>
            </a:solidFill>
            <a:prstDash val="solid"/>
          </a:ln>
        </p:spPr>
        <p:txBody>
          <a:bodyPr/>
          <a:lstStyle/>
          <a:p>
            <a:endParaRPr lang="es-MX"/>
          </a:p>
        </p:txBody>
      </p:sp>
      <p:sp>
        <p:nvSpPr>
          <p:cNvPr id="44" name="s11-linea-43-0"/>
          <p:cNvSpPr/>
          <p:nvPr/>
        </p:nvSpPr>
        <p:spPr>
          <a:xfrm>
            <a:off x="4599023" y="3999150"/>
            <a:ext cx="0" cy="228523"/>
          </a:xfrm>
          <a:prstGeom prst="line">
            <a:avLst/>
          </a:prstGeom>
          <a:noFill/>
          <a:ln w="17140">
            <a:solidFill>
              <a:srgbClr val="585E6F"/>
            </a:solidFill>
            <a:prstDash val="solid"/>
            <a:tailEnd type="triangle"/>
          </a:ln>
        </p:spPr>
        <p:txBody>
          <a:bodyPr/>
          <a:lstStyle/>
          <a:p>
            <a:endParaRPr lang="es-MX"/>
          </a:p>
        </p:txBody>
      </p:sp>
      <p:sp>
        <p:nvSpPr>
          <p:cNvPr id="45" name="s11-linea-44-0"/>
          <p:cNvSpPr/>
          <p:nvPr/>
        </p:nvSpPr>
        <p:spPr>
          <a:xfrm>
            <a:off x="5855899" y="3999150"/>
            <a:ext cx="0" cy="228523"/>
          </a:xfrm>
          <a:prstGeom prst="line">
            <a:avLst/>
          </a:prstGeom>
          <a:noFill/>
          <a:ln w="17140">
            <a:solidFill>
              <a:srgbClr val="585E6F"/>
            </a:solidFill>
            <a:prstDash val="solid"/>
            <a:tailEnd type="triangle"/>
          </a:ln>
        </p:spPr>
        <p:txBody>
          <a:bodyPr/>
          <a:lstStyle/>
          <a:p>
            <a:endParaRPr lang="es-MX"/>
          </a:p>
        </p:txBody>
      </p:sp>
      <p:sp>
        <p:nvSpPr>
          <p:cNvPr id="46" name="s11-forma-45"/>
          <p:cNvSpPr/>
          <p:nvPr/>
        </p:nvSpPr>
        <p:spPr>
          <a:xfrm>
            <a:off x="853390" y="6411138"/>
            <a:ext cx="10484915" cy="5713"/>
          </a:xfrm>
          <a:prstGeom prst="rect">
            <a:avLst/>
          </a:prstGeom>
          <a:solidFill>
            <a:srgbClr val="DBD4C4"/>
          </a:solidFill>
          <a:ln/>
        </p:spPr>
        <p:txBody>
          <a:bodyPr/>
          <a:lstStyle/>
          <a:p>
            <a:endParaRPr lang="es-MX"/>
          </a:p>
        </p:txBody>
      </p:sp>
      <p:pic>
        <p:nvPicPr>
          <p:cNvPr id="47" name="s1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11-forma-47"/>
          <p:cNvSpPr/>
          <p:nvPr/>
        </p:nvSpPr>
        <p:spPr>
          <a:xfrm>
            <a:off x="1659380" y="6519865"/>
            <a:ext cx="2926878" cy="102835"/>
          </a:xfrm>
          <a:prstGeom prst="rect">
            <a:avLst/>
          </a:prstGeom>
          <a:ln/>
        </p:spPr>
        <p:txBody>
          <a:bodyPr/>
          <a:lstStyle/>
          <a:p>
            <a:endParaRPr lang="es-MX"/>
          </a:p>
        </p:txBody>
      </p:sp>
      <p:sp>
        <p:nvSpPr>
          <p:cNvPr id="49" name="s11-forma-48"/>
          <p:cNvSpPr/>
          <p:nvPr/>
        </p:nvSpPr>
        <p:spPr>
          <a:xfrm>
            <a:off x="1659380" y="6519865"/>
            <a:ext cx="5713" cy="102835"/>
          </a:xfrm>
          <a:prstGeom prst="rect">
            <a:avLst/>
          </a:prstGeom>
          <a:solidFill>
            <a:srgbClr val="C6BFAE"/>
          </a:solidFill>
          <a:ln/>
        </p:spPr>
        <p:txBody>
          <a:bodyPr/>
          <a:lstStyle/>
          <a:p>
            <a:endParaRPr lang="es-MX"/>
          </a:p>
        </p:txBody>
      </p:sp>
      <p:sp>
        <p:nvSpPr>
          <p:cNvPr id="50" name="s11-texto-4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1" name="s1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36</a:t>
            </a:r>
            <a:endParaRPr lang="en-US" sz="745" dirty="0"/>
          </a:p>
        </p:txBody>
      </p:sp>
      <p:sp>
        <p:nvSpPr>
          <p:cNvPr id="52" name="s11-forma-51"/>
          <p:cNvSpPr/>
          <p:nvPr/>
        </p:nvSpPr>
        <p:spPr>
          <a:xfrm>
            <a:off x="0" y="0"/>
            <a:ext cx="3725191"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520961"/>
            <a:ext cx="10484915" cy="5713"/>
          </a:xfrm>
          <a:prstGeom prst="rect">
            <a:avLst/>
          </a:prstGeom>
          <a:solidFill>
            <a:srgbClr val="C6BFAE"/>
          </a:solidFill>
          <a:ln/>
        </p:spPr>
        <p:txBody>
          <a:bodyPr/>
          <a:lstStyle/>
          <a:p>
            <a:endParaRPr lang="es-MX"/>
          </a:p>
        </p:txBody>
      </p:sp>
      <p:sp>
        <p:nvSpPr>
          <p:cNvPr id="3" name="s12-forma-2"/>
          <p:cNvSpPr/>
          <p:nvPr/>
        </p:nvSpPr>
        <p:spPr>
          <a:xfrm>
            <a:off x="853390" y="331715"/>
            <a:ext cx="81411" cy="81411"/>
          </a:xfrm>
          <a:prstGeom prst="ellipse">
            <a:avLst/>
          </a:prstGeom>
          <a:solidFill>
            <a:srgbClr val="0033A0"/>
          </a:solidFill>
          <a:ln/>
        </p:spPr>
        <p:txBody>
          <a:bodyPr/>
          <a:lstStyle/>
          <a:p>
            <a:endParaRPr lang="es-MX"/>
          </a:p>
        </p:txBody>
      </p:sp>
      <p:sp>
        <p:nvSpPr>
          <p:cNvPr id="4" name="s1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2-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Jerárquica en código: un grafo dentro de otro</a:t>
            </a:r>
            <a:endParaRPr lang="en-US" sz="2519" dirty="0"/>
          </a:p>
        </p:txBody>
      </p:sp>
      <p:sp>
        <p:nvSpPr>
          <p:cNvPr id="8" name="s12-forma-7"/>
          <p:cNvSpPr/>
          <p:nvPr/>
        </p:nvSpPr>
        <p:spPr>
          <a:xfrm>
            <a:off x="1342572" y="2205246"/>
            <a:ext cx="5941595" cy="2970797"/>
          </a:xfrm>
          <a:prstGeom prst="rect">
            <a:avLst/>
          </a:prstGeom>
          <a:solidFill>
            <a:srgbClr val="E8E2D5"/>
          </a:solidFill>
          <a:ln/>
        </p:spPr>
        <p:txBody>
          <a:bodyPr/>
          <a:lstStyle/>
          <a:p>
            <a:endParaRPr lang="es-MX"/>
          </a:p>
        </p:txBody>
      </p:sp>
      <p:sp>
        <p:nvSpPr>
          <p:cNvPr id="9" name="s12-forma-8"/>
          <p:cNvSpPr/>
          <p:nvPr/>
        </p:nvSpPr>
        <p:spPr>
          <a:xfrm>
            <a:off x="1342572" y="2205246"/>
            <a:ext cx="5941595" cy="5713"/>
          </a:xfrm>
          <a:prstGeom prst="rect">
            <a:avLst/>
          </a:prstGeom>
          <a:solidFill>
            <a:srgbClr val="DBD4C4"/>
          </a:solidFill>
          <a:ln/>
        </p:spPr>
        <p:txBody>
          <a:bodyPr/>
          <a:lstStyle/>
          <a:p>
            <a:endParaRPr lang="es-MX"/>
          </a:p>
        </p:txBody>
      </p:sp>
      <p:sp>
        <p:nvSpPr>
          <p:cNvPr id="10" name="s12-forma-9"/>
          <p:cNvSpPr/>
          <p:nvPr/>
        </p:nvSpPr>
        <p:spPr>
          <a:xfrm>
            <a:off x="1342572" y="5170330"/>
            <a:ext cx="5941595" cy="5713"/>
          </a:xfrm>
          <a:prstGeom prst="rect">
            <a:avLst/>
          </a:prstGeom>
          <a:solidFill>
            <a:srgbClr val="DBD4C4"/>
          </a:solidFill>
          <a:ln/>
        </p:spPr>
        <p:txBody>
          <a:bodyPr/>
          <a:lstStyle/>
          <a:p>
            <a:endParaRPr lang="es-MX"/>
          </a:p>
        </p:txBody>
      </p:sp>
      <p:sp>
        <p:nvSpPr>
          <p:cNvPr id="11" name="s12-forma-10"/>
          <p:cNvSpPr/>
          <p:nvPr/>
        </p:nvSpPr>
        <p:spPr>
          <a:xfrm>
            <a:off x="1342572" y="2205246"/>
            <a:ext cx="17139" cy="2970797"/>
          </a:xfrm>
          <a:prstGeom prst="rect">
            <a:avLst/>
          </a:prstGeom>
          <a:solidFill>
            <a:srgbClr val="C6BFAE"/>
          </a:solidFill>
          <a:ln/>
        </p:spPr>
        <p:txBody>
          <a:bodyPr/>
          <a:lstStyle/>
          <a:p>
            <a:endParaRPr lang="es-MX"/>
          </a:p>
        </p:txBody>
      </p:sp>
      <p:sp>
        <p:nvSpPr>
          <p:cNvPr id="12" name="s12-forma-11"/>
          <p:cNvSpPr/>
          <p:nvPr/>
        </p:nvSpPr>
        <p:spPr>
          <a:xfrm>
            <a:off x="7278453" y="2205246"/>
            <a:ext cx="5713" cy="2970797"/>
          </a:xfrm>
          <a:prstGeom prst="rect">
            <a:avLst/>
          </a:prstGeom>
          <a:solidFill>
            <a:srgbClr val="DBD4C4"/>
          </a:solidFill>
          <a:ln/>
        </p:spPr>
        <p:txBody>
          <a:bodyPr/>
          <a:lstStyle/>
          <a:p>
            <a:endParaRPr lang="es-MX"/>
          </a:p>
        </p:txBody>
      </p:sp>
      <p:sp>
        <p:nvSpPr>
          <p:cNvPr id="13" name="s12-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equipo(nombre: str, miembros: list) -&gt; CompiledStateGraph:</a:t>
            </a:r>
            <a:endParaRPr lang="en-US" sz="990" dirty="0"/>
          </a:p>
        </p:txBody>
      </p:sp>
      <p:sp>
        <p:nvSpPr>
          <p:cNvPr id="14" name="s12-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15" name="s12-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585E6F"/>
                </a:solidFill>
                <a:latin typeface="Courier New" pitchFamily="34" charset="0"/>
                <a:ea typeface="Courier New" pitchFamily="34" charset="-122"/>
                <a:cs typeface="Courier New" pitchFamily="34" charset="-120"/>
              </a:rPr>
              <a:t># miembros en cadena + líder</a:t>
            </a:r>
            <a:endParaRPr lang="en-US" sz="990" dirty="0"/>
          </a:p>
        </p:txBody>
      </p:sp>
      <p:sp>
        <p:nvSpPr>
          <p:cNvPr id="16" name="s12-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g.compile()</a:t>
            </a:r>
            <a:endParaRPr lang="en-US" sz="990" dirty="0"/>
          </a:p>
        </p:txBody>
      </p:sp>
      <p:sp>
        <p:nvSpPr>
          <p:cNvPr id="17" name="s12-forma-16"/>
          <p:cNvSpPr/>
          <p:nvPr/>
        </p:nvSpPr>
        <p:spPr>
          <a:xfrm>
            <a:off x="1451120" y="3313582"/>
            <a:ext cx="5735924" cy="188531"/>
          </a:xfrm>
          <a:prstGeom prst="rect">
            <a:avLst/>
          </a:prstGeom>
          <a:solidFill>
            <a:srgbClr val="DCE3F2"/>
          </a:solidFill>
          <a:ln/>
        </p:spPr>
        <p:txBody>
          <a:bodyPr/>
          <a:lstStyle/>
          <a:p>
            <a:endParaRPr lang="es-MX"/>
          </a:p>
        </p:txBody>
      </p:sp>
      <p:sp>
        <p:nvSpPr>
          <p:cNvPr id="18" name="s12-forma-17"/>
          <p:cNvSpPr/>
          <p:nvPr/>
        </p:nvSpPr>
        <p:spPr>
          <a:xfrm>
            <a:off x="1451120" y="3313582"/>
            <a:ext cx="22852" cy="188531"/>
          </a:xfrm>
          <a:prstGeom prst="rect">
            <a:avLst/>
          </a:prstGeom>
          <a:solidFill>
            <a:srgbClr val="AC321E"/>
          </a:solidFill>
          <a:ln/>
        </p:spPr>
        <p:txBody>
          <a:bodyPr/>
          <a:lstStyle/>
          <a:p>
            <a:endParaRPr lang="es-MX"/>
          </a:p>
        </p:txBody>
      </p:sp>
      <p:sp>
        <p:nvSpPr>
          <p:cNvPr id="19" name="s12-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equipo_calidad = equipo(</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[analista, tester])</a:t>
            </a:r>
            <a:endParaRPr lang="en-US" sz="990" dirty="0"/>
          </a:p>
        </p:txBody>
      </p:sp>
      <p:sp>
        <p:nvSpPr>
          <p:cNvPr id="20" name="s12-forma-19"/>
          <p:cNvSpPr/>
          <p:nvPr/>
        </p:nvSpPr>
        <p:spPr>
          <a:xfrm>
            <a:off x="1451120" y="3502113"/>
            <a:ext cx="5735924" cy="188531"/>
          </a:xfrm>
          <a:prstGeom prst="rect">
            <a:avLst/>
          </a:prstGeom>
          <a:solidFill>
            <a:srgbClr val="DCE3F2"/>
          </a:solidFill>
          <a:ln/>
        </p:spPr>
        <p:txBody>
          <a:bodyPr/>
          <a:lstStyle/>
          <a:p>
            <a:endParaRPr lang="es-MX"/>
          </a:p>
        </p:txBody>
      </p:sp>
      <p:sp>
        <p:nvSpPr>
          <p:cNvPr id="21" name="s12-forma-20"/>
          <p:cNvSpPr/>
          <p:nvPr/>
        </p:nvSpPr>
        <p:spPr>
          <a:xfrm>
            <a:off x="1451120" y="3502113"/>
            <a:ext cx="22852" cy="188531"/>
          </a:xfrm>
          <a:prstGeom prst="rect">
            <a:avLst/>
          </a:prstGeom>
          <a:solidFill>
            <a:srgbClr val="AC321E"/>
          </a:solidFill>
          <a:ln/>
        </p:spPr>
        <p:txBody>
          <a:bodyPr/>
          <a:lstStyle/>
          <a:p>
            <a:endParaRPr lang="es-MX"/>
          </a:p>
        </p:txBody>
      </p:sp>
      <p:sp>
        <p:nvSpPr>
          <p:cNvPr id="22" name="s12-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equipo_desarrollo = equipo(</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[backend, frontend])</a:t>
            </a:r>
            <a:endParaRPr lang="en-US" sz="990" dirty="0"/>
          </a:p>
        </p:txBody>
      </p:sp>
      <p:sp>
        <p:nvSpPr>
          <p:cNvPr id="23" name="s12-texto-22"/>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24" name="s12-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 director)        </a:t>
            </a:r>
            <a:r>
              <a:rPr lang="en-US" sz="990" dirty="0">
                <a:solidFill>
                  <a:srgbClr val="585E6F"/>
                </a:solidFill>
                <a:latin typeface="Courier New" pitchFamily="34" charset="0"/>
                <a:ea typeface="Courier New" pitchFamily="34" charset="-122"/>
                <a:cs typeface="Courier New" pitchFamily="34" charset="-120"/>
              </a:rPr>
              <a:t># decide qué equipo sigue</a:t>
            </a:r>
            <a:endParaRPr lang="en-US" sz="990" dirty="0"/>
          </a:p>
        </p:txBody>
      </p:sp>
      <p:sp>
        <p:nvSpPr>
          <p:cNvPr id="25" name="s12-forma-24"/>
          <p:cNvSpPr/>
          <p:nvPr/>
        </p:nvSpPr>
        <p:spPr>
          <a:xfrm>
            <a:off x="1451120" y="4256238"/>
            <a:ext cx="5735924" cy="188531"/>
          </a:xfrm>
          <a:prstGeom prst="rect">
            <a:avLst/>
          </a:prstGeom>
          <a:solidFill>
            <a:srgbClr val="DCE3F2"/>
          </a:solidFill>
          <a:ln/>
        </p:spPr>
        <p:txBody>
          <a:bodyPr/>
          <a:lstStyle/>
          <a:p>
            <a:endParaRPr lang="es-MX"/>
          </a:p>
        </p:txBody>
      </p:sp>
      <p:sp>
        <p:nvSpPr>
          <p:cNvPr id="26" name="s12-forma-25"/>
          <p:cNvSpPr/>
          <p:nvPr/>
        </p:nvSpPr>
        <p:spPr>
          <a:xfrm>
            <a:off x="1451120" y="4256238"/>
            <a:ext cx="22852" cy="188531"/>
          </a:xfrm>
          <a:prstGeom prst="rect">
            <a:avLst/>
          </a:prstGeom>
          <a:solidFill>
            <a:srgbClr val="AC321E"/>
          </a:solidFill>
          <a:ln/>
        </p:spPr>
        <p:txBody>
          <a:bodyPr/>
          <a:lstStyle/>
          <a:p>
            <a:endParaRPr lang="es-MX"/>
          </a:p>
        </p:txBody>
      </p:sp>
      <p:sp>
        <p:nvSpPr>
          <p:cNvPr id="27" name="s12-texto-26"/>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equipo_calidad)   </a:t>
            </a:r>
            <a:r>
              <a:rPr lang="en-US" sz="990" dirty="0">
                <a:solidFill>
                  <a:srgbClr val="585E6F"/>
                </a:solidFill>
                <a:latin typeface="Courier New" pitchFamily="34" charset="0"/>
                <a:ea typeface="Courier New" pitchFamily="34" charset="-122"/>
                <a:cs typeface="Courier New" pitchFamily="34" charset="-120"/>
              </a:rPr>
              <a:t># un grafo como nodo</a:t>
            </a:r>
            <a:endParaRPr lang="en-US" sz="990" dirty="0"/>
          </a:p>
        </p:txBody>
      </p:sp>
      <p:sp>
        <p:nvSpPr>
          <p:cNvPr id="28" name="s12-forma-27"/>
          <p:cNvSpPr/>
          <p:nvPr/>
        </p:nvSpPr>
        <p:spPr>
          <a:xfrm>
            <a:off x="1451120" y="4444770"/>
            <a:ext cx="5735924" cy="188531"/>
          </a:xfrm>
          <a:prstGeom prst="rect">
            <a:avLst/>
          </a:prstGeom>
          <a:solidFill>
            <a:srgbClr val="DCE3F2"/>
          </a:solidFill>
          <a:ln/>
        </p:spPr>
        <p:txBody>
          <a:bodyPr/>
          <a:lstStyle/>
          <a:p>
            <a:endParaRPr lang="es-MX"/>
          </a:p>
        </p:txBody>
      </p:sp>
      <p:sp>
        <p:nvSpPr>
          <p:cNvPr id="29" name="s12-forma-28"/>
          <p:cNvSpPr/>
          <p:nvPr/>
        </p:nvSpPr>
        <p:spPr>
          <a:xfrm>
            <a:off x="1451120" y="4444770"/>
            <a:ext cx="22852" cy="188531"/>
          </a:xfrm>
          <a:prstGeom prst="rect">
            <a:avLst/>
          </a:prstGeom>
          <a:solidFill>
            <a:srgbClr val="AC321E"/>
          </a:solidFill>
          <a:ln/>
        </p:spPr>
        <p:txBody>
          <a:bodyPr/>
          <a:lstStyle/>
          <a:p>
            <a:endParaRPr lang="es-MX"/>
          </a:p>
        </p:txBody>
      </p:sp>
      <p:sp>
        <p:nvSpPr>
          <p:cNvPr id="30" name="s12-texto-29"/>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equipo_desarrollo)</a:t>
            </a:r>
            <a:endParaRPr lang="en-US" sz="990" dirty="0"/>
          </a:p>
        </p:txBody>
      </p:sp>
      <p:sp>
        <p:nvSpPr>
          <p:cNvPr id="31" name="s12-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sube solo el resumen</a:t>
            </a:r>
            <a:endParaRPr lang="en-US" sz="990" dirty="0"/>
          </a:p>
        </p:txBody>
      </p:sp>
      <p:sp>
        <p:nvSpPr>
          <p:cNvPr id="32" name="s12-texto-31"/>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3" name="s12-texto-32"/>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4" name="s12-texto-33"/>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grafo </a:t>
            </a:r>
            <a:r>
              <a:rPr lang="en-US" sz="1170" b="1" dirty="0">
                <a:solidFill>
                  <a:srgbClr val="0033A0"/>
                </a:solidFill>
                <a:latin typeface="Arial" pitchFamily="34" charset="0"/>
                <a:ea typeface="Arial" pitchFamily="34" charset="-122"/>
                <a:cs typeface="Arial" pitchFamily="34" charset="-120"/>
              </a:rPr>
              <a:t>compilado</a:t>
            </a:r>
            <a:r>
              <a:rPr lang="en-US" sz="1170" dirty="0">
                <a:solidFill>
                  <a:srgbClr val="16181D"/>
                </a:solidFill>
                <a:latin typeface="Arial" pitchFamily="34" charset="0"/>
                <a:ea typeface="Arial" pitchFamily="34" charset="-122"/>
                <a:cs typeface="Arial" pitchFamily="34" charset="-120"/>
              </a:rPr>
              <a:t> se agrega como nodo de otro grafo. Al director solo le llega el resumen del líder.</a:t>
            </a:r>
            <a:endParaRPr lang="en-US" sz="1170" dirty="0"/>
          </a:p>
        </p:txBody>
      </p:sp>
      <p:sp>
        <p:nvSpPr>
          <p:cNvPr id="35" name="s12-texto-34"/>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6" name="s12-texto-35"/>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un solo nivel, todos los agentes en el mismo grafo.</a:t>
            </a:r>
            <a:endParaRPr lang="en-US" sz="1170" dirty="0"/>
          </a:p>
        </p:txBody>
      </p:sp>
      <p:sp>
        <p:nvSpPr>
          <p:cNvPr id="37" name="s12-texto-36"/>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8" name="s12-forma-37"/>
          <p:cNvSpPr/>
          <p:nvPr/>
        </p:nvSpPr>
        <p:spPr>
          <a:xfrm>
            <a:off x="7558394" y="4084579"/>
            <a:ext cx="3290729" cy="289046"/>
          </a:xfrm>
          <a:prstGeom prst="rect">
            <a:avLst/>
          </a:prstGeom>
          <a:solidFill>
            <a:srgbClr val="E3DCCB"/>
          </a:solidFill>
          <a:ln/>
        </p:spPr>
        <p:txBody>
          <a:bodyPr/>
          <a:lstStyle/>
          <a:p>
            <a:endParaRPr lang="es-MX"/>
          </a:p>
        </p:txBody>
      </p:sp>
      <p:sp>
        <p:nvSpPr>
          <p:cNvPr id="39" name="s12-texto-38"/>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ejemplos.s3_topologias.jerarquica</a:t>
            </a:r>
            <a:endParaRPr lang="en-US" sz="855" dirty="0"/>
          </a:p>
        </p:txBody>
      </p:sp>
      <p:sp>
        <p:nvSpPr>
          <p:cNvPr id="40" name="s12-forma-39"/>
          <p:cNvSpPr/>
          <p:nvPr/>
        </p:nvSpPr>
        <p:spPr>
          <a:xfrm>
            <a:off x="7558394" y="4510738"/>
            <a:ext cx="3290729" cy="832859"/>
          </a:xfrm>
          <a:prstGeom prst="rect">
            <a:avLst/>
          </a:prstGeom>
          <a:solidFill>
            <a:srgbClr val="E2D3C2"/>
          </a:solidFill>
          <a:ln/>
        </p:spPr>
        <p:txBody>
          <a:bodyPr/>
          <a:lstStyle/>
          <a:p>
            <a:endParaRPr lang="es-MX"/>
          </a:p>
        </p:txBody>
      </p:sp>
      <p:sp>
        <p:nvSpPr>
          <p:cNvPr id="41" name="s12-texto-40"/>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2" name="s12-texto-41"/>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Tu flujo delega en Claude Code, y Claude Code puede lanzar sus propios subagentes.</a:t>
            </a:r>
            <a:endParaRPr lang="en-US" sz="1170" dirty="0"/>
          </a:p>
        </p:txBody>
      </p:sp>
      <p:sp>
        <p:nvSpPr>
          <p:cNvPr id="43" name="s12-texto-4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ejemplos/s3_topologias/jerarquica.py · las líneas resaltadas son el patrón</a:t>
            </a:r>
            <a:endParaRPr lang="en-US" sz="1080" dirty="0"/>
          </a:p>
        </p:txBody>
      </p:sp>
      <p:sp>
        <p:nvSpPr>
          <p:cNvPr id="44" name="s12-forma-43"/>
          <p:cNvSpPr/>
          <p:nvPr/>
        </p:nvSpPr>
        <p:spPr>
          <a:xfrm>
            <a:off x="853390" y="6411138"/>
            <a:ext cx="10484915" cy="5713"/>
          </a:xfrm>
          <a:prstGeom prst="rect">
            <a:avLst/>
          </a:prstGeom>
          <a:solidFill>
            <a:srgbClr val="DBD4C4"/>
          </a:solidFill>
          <a:ln/>
        </p:spPr>
        <p:txBody>
          <a:bodyPr/>
          <a:lstStyle/>
          <a:p>
            <a:endParaRPr lang="es-MX"/>
          </a:p>
        </p:txBody>
      </p:sp>
      <p:pic>
        <p:nvPicPr>
          <p:cNvPr id="45" name="s12-logo-44" descr="preencoded.png"/>
          <p:cNvPicPr>
            <a:picLocks noChangeAspect="1"/>
          </p:cNvPicPr>
          <p:nvPr/>
        </p:nvPicPr>
        <p:blipFill>
          <a:blip r:embed="rId3"/>
          <a:stretch>
            <a:fillRect/>
          </a:stretch>
        </p:blipFill>
        <p:spPr>
          <a:xfrm>
            <a:off x="853390" y="6465055"/>
            <a:ext cx="687800" cy="212455"/>
          </a:xfrm>
          <a:prstGeom prst="rect">
            <a:avLst/>
          </a:prstGeom>
        </p:spPr>
      </p:pic>
      <p:sp>
        <p:nvSpPr>
          <p:cNvPr id="46" name="s12-forma-45"/>
          <p:cNvSpPr/>
          <p:nvPr/>
        </p:nvSpPr>
        <p:spPr>
          <a:xfrm>
            <a:off x="1659380" y="6519865"/>
            <a:ext cx="2926878" cy="102835"/>
          </a:xfrm>
          <a:prstGeom prst="rect">
            <a:avLst/>
          </a:prstGeom>
          <a:ln/>
        </p:spPr>
        <p:txBody>
          <a:bodyPr/>
          <a:lstStyle/>
          <a:p>
            <a:endParaRPr lang="es-MX"/>
          </a:p>
        </p:txBody>
      </p:sp>
      <p:sp>
        <p:nvSpPr>
          <p:cNvPr id="47" name="s12-forma-46"/>
          <p:cNvSpPr/>
          <p:nvPr/>
        </p:nvSpPr>
        <p:spPr>
          <a:xfrm>
            <a:off x="1659380" y="6519865"/>
            <a:ext cx="5713" cy="102835"/>
          </a:xfrm>
          <a:prstGeom prst="rect">
            <a:avLst/>
          </a:prstGeom>
          <a:solidFill>
            <a:srgbClr val="C6BFAE"/>
          </a:solidFill>
          <a:ln/>
        </p:spPr>
        <p:txBody>
          <a:bodyPr/>
          <a:lstStyle/>
          <a:p>
            <a:endParaRPr lang="es-MX"/>
          </a:p>
        </p:txBody>
      </p:sp>
      <p:sp>
        <p:nvSpPr>
          <p:cNvPr id="48" name="s12-texto-47"/>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9" name="s12-texto-4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36</a:t>
            </a:r>
            <a:endParaRPr lang="en-US" sz="745" dirty="0"/>
          </a:p>
        </p:txBody>
      </p:sp>
      <p:sp>
        <p:nvSpPr>
          <p:cNvPr id="50" name="s12-forma-49"/>
          <p:cNvSpPr/>
          <p:nvPr/>
        </p:nvSpPr>
        <p:spPr>
          <a:xfrm>
            <a:off x="0" y="0"/>
            <a:ext cx="4063869" cy="17139"/>
          </a:xfrm>
          <a:prstGeom prst="rect">
            <a:avLst/>
          </a:prstGeom>
          <a:solidFill>
            <a:srgbClr val="0033A0"/>
          </a:solidFill>
          <a:ln/>
        </p:spPr>
        <p:txBody>
          <a:bodyPr/>
          <a:lstStyle/>
          <a:p>
            <a:endParaRPr lang="es-MX"/>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331715"/>
            <a:ext cx="81411" cy="81411"/>
          </a:xfrm>
          <a:prstGeom prst="ellipse">
            <a:avLst/>
          </a:prstGeom>
          <a:solidFill>
            <a:srgbClr val="0033A0"/>
          </a:solidFill>
          <a:ln/>
        </p:spPr>
        <p:txBody>
          <a:bodyPr/>
          <a:lstStyle/>
          <a:p>
            <a:endParaRPr lang="es-MX"/>
          </a:p>
        </p:txBody>
      </p:sp>
      <p:sp>
        <p:nvSpPr>
          <p:cNvPr id="3" name="s1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3.2</a:t>
            </a:r>
            <a:endParaRPr lang="en-US" sz="869" dirty="0"/>
          </a:p>
        </p:txBody>
      </p:sp>
      <p:sp>
        <p:nvSpPr>
          <p:cNvPr id="6" name="s13-forma-5"/>
          <p:cNvSpPr/>
          <p:nvPr/>
        </p:nvSpPr>
        <p:spPr>
          <a:xfrm>
            <a:off x="853390" y="3768306"/>
            <a:ext cx="722704" cy="22852"/>
          </a:xfrm>
          <a:prstGeom prst="rect">
            <a:avLst/>
          </a:prstGeom>
          <a:solidFill>
            <a:srgbClr val="0033A0"/>
          </a:solidFill>
          <a:ln/>
        </p:spPr>
        <p:txBody>
          <a:bodyPr/>
          <a:lstStyle/>
          <a:p>
            <a:endParaRPr lang="es-MX"/>
          </a:p>
        </p:txBody>
      </p:sp>
      <p:sp>
        <p:nvSpPr>
          <p:cNvPr id="7" name="s1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Topologías · 2</a:t>
            </a:r>
            <a:endParaRPr lang="en-US" sz="4242" dirty="0"/>
          </a:p>
        </p:txBody>
      </p:sp>
      <p:sp>
        <p:nvSpPr>
          <p:cNvPr id="8" name="s1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Traspasos, red y pizarra.</a:t>
            </a:r>
            <a:endParaRPr lang="en-US" sz="1676" dirty="0"/>
          </a:p>
        </p:txBody>
      </p:sp>
      <p:pic>
        <p:nvPicPr>
          <p:cNvPr id="9" name="s1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3-forma-9"/>
          <p:cNvSpPr/>
          <p:nvPr/>
        </p:nvSpPr>
        <p:spPr>
          <a:xfrm>
            <a:off x="1659380" y="6519865"/>
            <a:ext cx="2926878" cy="102835"/>
          </a:xfrm>
          <a:prstGeom prst="rect">
            <a:avLst/>
          </a:prstGeom>
          <a:ln/>
        </p:spPr>
        <p:txBody>
          <a:bodyPr/>
          <a:lstStyle/>
          <a:p>
            <a:endParaRPr lang="es-MX"/>
          </a:p>
        </p:txBody>
      </p:sp>
      <p:sp>
        <p:nvSpPr>
          <p:cNvPr id="11" name="s13-forma-10"/>
          <p:cNvSpPr/>
          <p:nvPr/>
        </p:nvSpPr>
        <p:spPr>
          <a:xfrm>
            <a:off x="1659380" y="6519865"/>
            <a:ext cx="5713" cy="102835"/>
          </a:xfrm>
          <a:prstGeom prst="rect">
            <a:avLst/>
          </a:prstGeom>
          <a:solidFill>
            <a:srgbClr val="C6BFAE"/>
          </a:solidFill>
          <a:ln/>
        </p:spPr>
        <p:txBody>
          <a:bodyPr/>
          <a:lstStyle/>
          <a:p>
            <a:endParaRPr lang="es-MX"/>
          </a:p>
        </p:txBody>
      </p:sp>
      <p:sp>
        <p:nvSpPr>
          <p:cNvPr id="12" name="s1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1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36</a:t>
            </a:r>
            <a:endParaRPr lang="en-US" sz="745" dirty="0"/>
          </a:p>
        </p:txBody>
      </p:sp>
      <p:sp>
        <p:nvSpPr>
          <p:cNvPr id="14" name="s13-forma-13"/>
          <p:cNvSpPr/>
          <p:nvPr/>
        </p:nvSpPr>
        <p:spPr>
          <a:xfrm>
            <a:off x="0" y="0"/>
            <a:ext cx="4402547" cy="17139"/>
          </a:xfrm>
          <a:prstGeom prst="rect">
            <a:avLst/>
          </a:prstGeom>
          <a:solidFill>
            <a:srgbClr val="0033A0"/>
          </a:solidFill>
          <a:ln/>
        </p:spPr>
        <p:txBody>
          <a:bodyPr/>
          <a:lstStyle/>
          <a:p>
            <a:endParaRPr lang="es-MX"/>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a:effectLst/>
      </p:bgPr>
    </p:bg>
    <p:spTree>
      <p:nvGrpSpPr>
        <p:cNvPr id="1" name=""/>
        <p:cNvGrpSpPr/>
        <p:nvPr/>
      </p:nvGrpSpPr>
      <p:grpSpPr>
        <a:xfrm>
          <a:off x="0" y="0"/>
          <a:ext cx="0" cy="0"/>
          <a:chOff x="0" y="0"/>
          <a:chExt cx="0" cy="0"/>
        </a:xfrm>
      </p:grpSpPr>
      <p:sp>
        <p:nvSpPr>
          <p:cNvPr id="2" name="s14-forma-1"/>
          <p:cNvSpPr/>
          <p:nvPr/>
        </p:nvSpPr>
        <p:spPr>
          <a:xfrm>
            <a:off x="853390" y="520961"/>
            <a:ext cx="10484915" cy="5713"/>
          </a:xfrm>
          <a:prstGeom prst="rect">
            <a:avLst/>
          </a:prstGeom>
          <a:solidFill>
            <a:srgbClr val="C6BFAE"/>
          </a:solidFill>
          <a:ln/>
        </p:spPr>
        <p:txBody>
          <a:bodyPr/>
          <a:lstStyle/>
          <a:p>
            <a:endParaRPr lang="es-MX"/>
          </a:p>
        </p:txBody>
      </p:sp>
      <p:sp>
        <p:nvSpPr>
          <p:cNvPr id="3" name="s14-forma-2"/>
          <p:cNvSpPr/>
          <p:nvPr/>
        </p:nvSpPr>
        <p:spPr>
          <a:xfrm>
            <a:off x="853390" y="331715"/>
            <a:ext cx="81411" cy="81411"/>
          </a:xfrm>
          <a:prstGeom prst="ellipse">
            <a:avLst/>
          </a:prstGeom>
          <a:solidFill>
            <a:srgbClr val="0033A0"/>
          </a:solidFill>
          <a:ln/>
        </p:spPr>
        <p:txBody>
          <a:bodyPr/>
          <a:lstStyle/>
          <a:p>
            <a:endParaRPr lang="es-MX"/>
          </a:p>
        </p:txBody>
      </p:sp>
      <p:sp>
        <p:nvSpPr>
          <p:cNvPr id="4" name="s1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4-texto-6"/>
          <p:cNvSpPr txBox="1"/>
          <p:nvPr/>
        </p:nvSpPr>
        <p:spPr>
          <a:xfrm>
            <a:off x="1342572" y="1456833"/>
            <a:ext cx="10076945" cy="399915"/>
          </a:xfrm>
          <a:prstGeom prst="rect">
            <a:avLst/>
          </a:prstGeom>
          <a:noFill/>
          <a:ln/>
        </p:spPr>
        <p:txBody>
          <a:bodyPr wrap="none" lIns="0" tIns="0" rIns="0" bIns="0" rtlCol="0" anchor="t"/>
          <a:lstStyle/>
          <a:p>
            <a:pPr marL="0" indent="0" algn="l">
              <a:lnSpc>
                <a:spcPts val="2969"/>
              </a:lnSpc>
              <a:buNone/>
            </a:pPr>
            <a:r>
              <a:rPr lang="en-US" sz="2699" b="1" kern="0" spc="-27" dirty="0">
                <a:solidFill>
                  <a:srgbClr val="16181D"/>
                </a:solidFill>
                <a:latin typeface="Georgia" pitchFamily="34" charset="0"/>
                <a:ea typeface="Georgia" pitchFamily="34" charset="-122"/>
                <a:cs typeface="Georgia" pitchFamily="34" charset="-120"/>
              </a:rPr>
              <a:t>Traspasos: el control pasa de un agente a otro</a:t>
            </a:r>
            <a:endParaRPr lang="en-US" sz="2699" dirty="0"/>
          </a:p>
        </p:txBody>
      </p:sp>
      <p:sp>
        <p:nvSpPr>
          <p:cNvPr id="8" name="s14-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4-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Problea</a:t>
            </a:r>
            <a:r>
              <a:rPr lang="en-US" sz="1260" b="1" dirty="0">
                <a:solidFill>
                  <a:srgbClr val="16181D"/>
                </a:solidFill>
                <a:latin typeface="Arial" pitchFamily="34" charset="0"/>
                <a:ea typeface="Arial" pitchFamily="34" charset="-122"/>
                <a:cs typeface="Arial" pitchFamily="34" charset="-120"/>
              </a:rPr>
              <a:t> 1. Todo vuelve al centro</a:t>
            </a:r>
            <a:endParaRPr lang="en-US" sz="1260" dirty="0"/>
          </a:p>
        </p:txBody>
      </p:sp>
      <p:sp>
        <p:nvSpPr>
          <p:cNvPr id="10" name="s14-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Con un supervisor, cada paso regresa al centro aunque el siguiente sea obvio.</a:t>
            </a:r>
            <a:endParaRPr lang="en-US" sz="1170" dirty="0"/>
          </a:p>
        </p:txBody>
      </p:sp>
      <p:sp>
        <p:nvSpPr>
          <p:cNvPr id="11" name="s14-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4-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Un supervisor </a:t>
            </a:r>
            <a:r>
              <a:rPr lang="en-US" sz="1260" b="1" dirty="0" err="1">
                <a:solidFill>
                  <a:srgbClr val="16181D"/>
                </a:solidFill>
                <a:latin typeface="Arial" pitchFamily="34" charset="0"/>
                <a:ea typeface="Arial" pitchFamily="34" charset="-122"/>
                <a:cs typeface="Arial" pitchFamily="34" charset="-120"/>
              </a:rPr>
              <a:t>siempre</a:t>
            </a:r>
            <a:r>
              <a:rPr lang="en-US" sz="1260" b="1" dirty="0">
                <a:solidFill>
                  <a:srgbClr val="16181D"/>
                </a:solidFill>
                <a:latin typeface="Arial" pitchFamily="34" charset="0"/>
                <a:ea typeface="Arial" pitchFamily="34" charset="-122"/>
                <a:cs typeface="Arial" pitchFamily="34" charset="-120"/>
              </a:rPr>
              <a:t> decide</a:t>
            </a:r>
            <a:endParaRPr lang="en-US" sz="1260" dirty="0"/>
          </a:p>
        </p:txBody>
      </p:sp>
      <p:sp>
        <p:nvSpPr>
          <p:cNvPr id="13" name="s14-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No da a </a:t>
            </a:r>
            <a:r>
              <a:rPr lang="en-US" sz="1170" dirty="0" err="1">
                <a:solidFill>
                  <a:srgbClr val="585E6F"/>
                </a:solidFill>
                <a:latin typeface="Arial" pitchFamily="34" charset="0"/>
                <a:ea typeface="Arial" pitchFamily="34" charset="-122"/>
                <a:cs typeface="Arial" pitchFamily="34" charset="-120"/>
              </a:rPr>
              <a:t>los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agentes</a:t>
            </a:r>
            <a:r>
              <a:rPr lang="en-US" sz="1170" dirty="0">
                <a:solidFill>
                  <a:srgbClr val="585E6F"/>
                </a:solidFill>
                <a:latin typeface="Arial" pitchFamily="34" charset="0"/>
                <a:ea typeface="Arial" pitchFamily="34" charset="-122"/>
                <a:cs typeface="Arial" pitchFamily="34" charset="-120"/>
              </a:rPr>
              <a:t> la </a:t>
            </a:r>
            <a:r>
              <a:rPr lang="en-US" sz="1170" dirty="0" err="1">
                <a:solidFill>
                  <a:srgbClr val="585E6F"/>
                </a:solidFill>
                <a:latin typeface="Arial" pitchFamily="34" charset="0"/>
                <a:ea typeface="Arial" pitchFamily="34" charset="-122"/>
                <a:cs typeface="Arial" pitchFamily="34" charset="-120"/>
              </a:rPr>
              <a:t>oportunidad</a:t>
            </a:r>
            <a:r>
              <a:rPr lang="en-US" sz="1170" dirty="0">
                <a:solidFill>
                  <a:srgbClr val="585E6F"/>
                </a:solidFill>
                <a:latin typeface="Arial" pitchFamily="34" charset="0"/>
                <a:ea typeface="Arial" pitchFamily="34" charset="-122"/>
                <a:cs typeface="Arial" pitchFamily="34" charset="-120"/>
              </a:rPr>
              <a:t> de </a:t>
            </a:r>
            <a:r>
              <a:rPr lang="en-US" sz="1170" dirty="0" err="1">
                <a:solidFill>
                  <a:srgbClr val="585E6F"/>
                </a:solidFill>
                <a:latin typeface="Arial" pitchFamily="34" charset="0"/>
                <a:ea typeface="Arial" pitchFamily="34" charset="-122"/>
                <a:cs typeface="Arial" pitchFamily="34" charset="-120"/>
              </a:rPr>
              <a:t>decidir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cual</a:t>
            </a:r>
            <a:r>
              <a:rPr lang="en-US" sz="1170" dirty="0">
                <a:solidFill>
                  <a:srgbClr val="585E6F"/>
                </a:solidFill>
                <a:latin typeface="Arial" pitchFamily="34" charset="0"/>
                <a:ea typeface="Arial" pitchFamily="34" charset="-122"/>
                <a:cs typeface="Arial" pitchFamily="34" charset="-120"/>
              </a:rPr>
              <a:t> es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siguiente</a:t>
            </a:r>
            <a:r>
              <a:rPr lang="en-US" sz="1170" dirty="0">
                <a:solidFill>
                  <a:srgbClr val="585E6F"/>
                </a:solidFill>
                <a:latin typeface="Arial" pitchFamily="34" charset="0"/>
                <a:ea typeface="Arial" pitchFamily="34" charset="-122"/>
                <a:cs typeface="Arial" pitchFamily="34" charset="-120"/>
              </a:rPr>
              <a:t> paso. Se </a:t>
            </a:r>
            <a:r>
              <a:rPr lang="en-US" sz="1170" dirty="0" err="1">
                <a:solidFill>
                  <a:srgbClr val="585E6F"/>
                </a:solidFill>
                <a:latin typeface="Arial" pitchFamily="34" charset="0"/>
                <a:ea typeface="Arial" pitchFamily="34" charset="-122"/>
                <a:cs typeface="Arial" pitchFamily="34" charset="-120"/>
              </a:rPr>
              <a:t>gana</a:t>
            </a:r>
            <a:r>
              <a:rPr lang="en-US" sz="1170" dirty="0">
                <a:solidFill>
                  <a:srgbClr val="585E6F"/>
                </a:solidFill>
                <a:latin typeface="Arial" pitchFamily="34" charset="0"/>
                <a:ea typeface="Arial" pitchFamily="34" charset="-122"/>
                <a:cs typeface="Arial" pitchFamily="34" charset="-120"/>
              </a:rPr>
              <a:t> control, </a:t>
            </a:r>
            <a:r>
              <a:rPr lang="en-US" sz="1170" dirty="0" err="1">
                <a:solidFill>
                  <a:srgbClr val="585E6F"/>
                </a:solidFill>
                <a:latin typeface="Arial" pitchFamily="34" charset="0"/>
                <a:ea typeface="Arial" pitchFamily="34" charset="-122"/>
                <a:cs typeface="Arial" pitchFamily="34" charset="-120"/>
              </a:rPr>
              <a:t>pero</a:t>
            </a:r>
            <a:r>
              <a:rPr lang="en-US" sz="1170" dirty="0">
                <a:solidFill>
                  <a:srgbClr val="585E6F"/>
                </a:solidFill>
                <a:latin typeface="Arial" pitchFamily="34" charset="0"/>
                <a:ea typeface="Arial" pitchFamily="34" charset="-122"/>
                <a:cs typeface="Arial" pitchFamily="34" charset="-120"/>
              </a:rPr>
              <a:t> se </a:t>
            </a:r>
            <a:r>
              <a:rPr lang="en-US" sz="1170" dirty="0" err="1">
                <a:solidFill>
                  <a:srgbClr val="585E6F"/>
                </a:solidFill>
                <a:latin typeface="Arial" pitchFamily="34" charset="0"/>
                <a:ea typeface="Arial" pitchFamily="34" charset="-122"/>
                <a:cs typeface="Arial" pitchFamily="34" charset="-120"/>
              </a:rPr>
              <a:t>pierde</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autonomía</a:t>
            </a:r>
            <a:r>
              <a:rPr lang="en-US" sz="1170" dirty="0">
                <a:solidFill>
                  <a:srgbClr val="585E6F"/>
                </a:solidFill>
                <a:latin typeface="Arial" pitchFamily="34" charset="0"/>
                <a:ea typeface="Arial" pitchFamily="34" charset="-122"/>
                <a:cs typeface="Arial" pitchFamily="34" charset="-120"/>
              </a:rPr>
              <a:t>.</a:t>
            </a:r>
            <a:endParaRPr lang="en-US" sz="1170" dirty="0"/>
          </a:p>
        </p:txBody>
      </p:sp>
      <p:sp>
        <p:nvSpPr>
          <p:cNvPr id="14" name="s14-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4-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Traspasos</a:t>
            </a:r>
            <a:endParaRPr lang="en-US" sz="1260" dirty="0"/>
          </a:p>
        </p:txBody>
      </p:sp>
      <p:sp>
        <p:nvSpPr>
          <p:cNvPr id="16" name="s14-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agente activo atiende hasta que decide pasar el control a otro con una herramienta de traspaso; la conversación viaja con él.</a:t>
            </a:r>
            <a:endParaRPr lang="en-US" sz="1170" dirty="0"/>
          </a:p>
        </p:txBody>
      </p:sp>
      <p:sp>
        <p:nvSpPr>
          <p:cNvPr id="17" name="s14-forma-16"/>
          <p:cNvSpPr/>
          <p:nvPr/>
        </p:nvSpPr>
        <p:spPr>
          <a:xfrm>
            <a:off x="6095848" y="2228098"/>
            <a:ext cx="4753276" cy="1610908"/>
          </a:xfrm>
          <a:prstGeom prst="rect">
            <a:avLst/>
          </a:prstGeom>
          <a:solidFill>
            <a:srgbClr val="E8E2D5"/>
          </a:solidFill>
          <a:ln/>
        </p:spPr>
        <p:txBody>
          <a:bodyPr/>
          <a:lstStyle/>
          <a:p>
            <a:endParaRPr lang="es-MX"/>
          </a:p>
        </p:txBody>
      </p:sp>
      <p:sp>
        <p:nvSpPr>
          <p:cNvPr id="18" name="s14-forma-17"/>
          <p:cNvSpPr/>
          <p:nvPr/>
        </p:nvSpPr>
        <p:spPr>
          <a:xfrm>
            <a:off x="6095848" y="2228098"/>
            <a:ext cx="4753276" cy="5713"/>
          </a:xfrm>
          <a:prstGeom prst="rect">
            <a:avLst/>
          </a:prstGeom>
          <a:solidFill>
            <a:srgbClr val="DBD4C4"/>
          </a:solidFill>
          <a:ln/>
        </p:spPr>
        <p:txBody>
          <a:bodyPr/>
          <a:lstStyle/>
          <a:p>
            <a:endParaRPr lang="es-MX"/>
          </a:p>
        </p:txBody>
      </p:sp>
      <p:sp>
        <p:nvSpPr>
          <p:cNvPr id="19" name="s14-forma-18"/>
          <p:cNvSpPr/>
          <p:nvPr/>
        </p:nvSpPr>
        <p:spPr>
          <a:xfrm>
            <a:off x="6095848" y="3833293"/>
            <a:ext cx="4753276" cy="5713"/>
          </a:xfrm>
          <a:prstGeom prst="rect">
            <a:avLst/>
          </a:prstGeom>
          <a:solidFill>
            <a:srgbClr val="DBD4C4"/>
          </a:solidFill>
          <a:ln/>
        </p:spPr>
        <p:txBody>
          <a:bodyPr/>
          <a:lstStyle/>
          <a:p>
            <a:endParaRPr lang="es-MX"/>
          </a:p>
        </p:txBody>
      </p:sp>
      <p:sp>
        <p:nvSpPr>
          <p:cNvPr id="20" name="s14-forma-19"/>
          <p:cNvSpPr/>
          <p:nvPr/>
        </p:nvSpPr>
        <p:spPr>
          <a:xfrm>
            <a:off x="6095848" y="2228098"/>
            <a:ext cx="17139" cy="1610908"/>
          </a:xfrm>
          <a:prstGeom prst="rect">
            <a:avLst/>
          </a:prstGeom>
          <a:solidFill>
            <a:srgbClr val="C6BFAE"/>
          </a:solidFill>
          <a:ln/>
        </p:spPr>
        <p:txBody>
          <a:bodyPr/>
          <a:lstStyle/>
          <a:p>
            <a:endParaRPr lang="es-MX"/>
          </a:p>
        </p:txBody>
      </p:sp>
      <p:sp>
        <p:nvSpPr>
          <p:cNvPr id="21" name="s14-forma-20"/>
          <p:cNvSpPr/>
          <p:nvPr/>
        </p:nvSpPr>
        <p:spPr>
          <a:xfrm>
            <a:off x="10843410" y="2228098"/>
            <a:ext cx="5713" cy="1610908"/>
          </a:xfrm>
          <a:prstGeom prst="rect">
            <a:avLst/>
          </a:prstGeom>
          <a:solidFill>
            <a:srgbClr val="DBD4C4"/>
          </a:solidFill>
          <a:ln/>
        </p:spPr>
        <p:txBody>
          <a:bodyPr/>
          <a:lstStyle/>
          <a:p>
            <a:endParaRPr lang="es-MX"/>
          </a:p>
        </p:txBody>
      </p:sp>
      <p:sp>
        <p:nvSpPr>
          <p:cNvPr id="22" name="s14-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Usuario: «Quiero dar de alta a Paola y después ver el organigrama»</a:t>
            </a:r>
            <a:endParaRPr lang="en-US" sz="1080" dirty="0"/>
          </a:p>
        </p:txBody>
      </p:sp>
      <p:sp>
        <p:nvSpPr>
          <p:cNvPr id="23" name="s14-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Recepción ·</a:t>
            </a:r>
            <a:r>
              <a:rPr lang="en-US" sz="1080" dirty="0">
                <a:solidFill>
                  <a:srgbClr val="16181D"/>
                </a:solidFill>
                <a:latin typeface="Arial" pitchFamily="34" charset="0"/>
                <a:ea typeface="Arial" pitchFamily="34" charset="-122"/>
                <a:cs typeface="Arial" pitchFamily="34" charset="-120"/>
              </a:rPr>
              <a:t> transferir_a_altas(«es un alta»)</a:t>
            </a:r>
            <a:endParaRPr lang="en-US" sz="1080" dirty="0"/>
          </a:p>
        </p:txBody>
      </p:sp>
      <p:sp>
        <p:nvSpPr>
          <p:cNvPr id="24" name="s14-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Altas ·</a:t>
            </a:r>
            <a:r>
              <a:rPr lang="en-US" sz="1080" dirty="0">
                <a:solidFill>
                  <a:srgbClr val="16181D"/>
                </a:solidFill>
                <a:latin typeface="Arial" pitchFamily="34" charset="0"/>
                <a:ea typeface="Arial" pitchFamily="34" charset="-122"/>
                <a:cs typeface="Arial" pitchFamily="34" charset="-120"/>
              </a:rPr>
              <a:t> registra a Paola como EMP-0006</a:t>
            </a:r>
            <a:endParaRPr lang="en-US" sz="1080" dirty="0"/>
          </a:p>
        </p:txBody>
      </p:sp>
      <p:sp>
        <p:nvSpPr>
          <p:cNvPr id="25" name="s14-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Altas ·</a:t>
            </a:r>
            <a:r>
              <a:rPr lang="en-US" sz="1080" dirty="0">
                <a:solidFill>
                  <a:srgbClr val="16181D"/>
                </a:solidFill>
                <a:latin typeface="Arial" pitchFamily="34" charset="0"/>
                <a:ea typeface="Arial" pitchFamily="34" charset="-122"/>
                <a:cs typeface="Arial" pitchFamily="34" charset="-120"/>
              </a:rPr>
              <a:t> transferir_a_directorio(«pide el organigrama»)</a:t>
            </a:r>
            <a:endParaRPr lang="en-US" sz="1080" dirty="0"/>
          </a:p>
        </p:txBody>
      </p:sp>
      <p:sp>
        <p:nvSpPr>
          <p:cNvPr id="26" name="s14-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Directorio ·</a:t>
            </a:r>
            <a:r>
              <a:rPr lang="en-US" sz="1080" dirty="0">
                <a:solidFill>
                  <a:srgbClr val="16181D"/>
                </a:solidFill>
                <a:latin typeface="Arial" pitchFamily="34" charset="0"/>
                <a:ea typeface="Arial" pitchFamily="34" charset="-122"/>
                <a:cs typeface="Arial" pitchFamily="34" charset="-120"/>
              </a:rPr>
              <a:t> responde con el organigrama</a:t>
            </a:r>
            <a:endParaRPr lang="en-US" sz="1080" dirty="0"/>
          </a:p>
        </p:txBody>
      </p:sp>
      <p:sp>
        <p:nvSpPr>
          <p:cNvPr id="27" name="s14-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No hay supervisor: el orden lo deciden los agentes. Es natural para atender por etapas, pero el control puede rebotar.</a:t>
            </a:r>
            <a:endParaRPr lang="en-US" sz="1080" dirty="0"/>
          </a:p>
        </p:txBody>
      </p:sp>
      <p:sp>
        <p:nvSpPr>
          <p:cNvPr id="28" name="s14-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29" name="s14-forma-28"/>
          <p:cNvSpPr/>
          <p:nvPr/>
        </p:nvSpPr>
        <p:spPr>
          <a:xfrm>
            <a:off x="853390" y="6411138"/>
            <a:ext cx="10484915" cy="5713"/>
          </a:xfrm>
          <a:prstGeom prst="rect">
            <a:avLst/>
          </a:prstGeom>
          <a:solidFill>
            <a:srgbClr val="DBD4C4"/>
          </a:solidFill>
          <a:ln/>
        </p:spPr>
        <p:txBody>
          <a:bodyPr/>
          <a:lstStyle/>
          <a:p>
            <a:endParaRPr lang="es-MX"/>
          </a:p>
        </p:txBody>
      </p:sp>
      <p:pic>
        <p:nvPicPr>
          <p:cNvPr id="30" name="s14-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4-forma-30"/>
          <p:cNvSpPr/>
          <p:nvPr/>
        </p:nvSpPr>
        <p:spPr>
          <a:xfrm>
            <a:off x="1659380" y="6519865"/>
            <a:ext cx="2926878" cy="102835"/>
          </a:xfrm>
          <a:prstGeom prst="rect">
            <a:avLst/>
          </a:prstGeom>
          <a:ln/>
        </p:spPr>
        <p:txBody>
          <a:bodyPr/>
          <a:lstStyle/>
          <a:p>
            <a:endParaRPr lang="es-MX"/>
          </a:p>
        </p:txBody>
      </p:sp>
      <p:sp>
        <p:nvSpPr>
          <p:cNvPr id="32" name="s14-forma-31"/>
          <p:cNvSpPr/>
          <p:nvPr/>
        </p:nvSpPr>
        <p:spPr>
          <a:xfrm>
            <a:off x="1659380" y="6519865"/>
            <a:ext cx="5713" cy="102835"/>
          </a:xfrm>
          <a:prstGeom prst="rect">
            <a:avLst/>
          </a:prstGeom>
          <a:solidFill>
            <a:srgbClr val="C6BFAE"/>
          </a:solidFill>
          <a:ln/>
        </p:spPr>
        <p:txBody>
          <a:bodyPr/>
          <a:lstStyle/>
          <a:p>
            <a:endParaRPr lang="es-MX"/>
          </a:p>
        </p:txBody>
      </p:sp>
      <p:sp>
        <p:nvSpPr>
          <p:cNvPr id="33" name="s14-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14-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14 / 36</a:t>
            </a:r>
            <a:endParaRPr lang="en-US" sz="745" dirty="0"/>
          </a:p>
        </p:txBody>
      </p:sp>
      <p:sp>
        <p:nvSpPr>
          <p:cNvPr id="35" name="s14-forma-34"/>
          <p:cNvSpPr/>
          <p:nvPr/>
        </p:nvSpPr>
        <p:spPr>
          <a:xfrm>
            <a:off x="0" y="0"/>
            <a:ext cx="4741135"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3 DE 5</a:t>
            </a:r>
            <a:endParaRPr lang="en-US" sz="900" dirty="0"/>
          </a:p>
        </p:txBody>
      </p:sp>
      <p:sp>
        <p:nvSpPr>
          <p:cNvPr id="7" name="s1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Traspasos: el control pasa de mano</a:t>
            </a:r>
            <a:endParaRPr lang="en-US" sz="2879" dirty="0"/>
          </a:p>
        </p:txBody>
      </p:sp>
      <p:sp>
        <p:nvSpPr>
          <p:cNvPr id="8" name="s15-forma-7"/>
          <p:cNvSpPr/>
          <p:nvPr/>
        </p:nvSpPr>
        <p:spPr>
          <a:xfrm>
            <a:off x="1342572" y="2342359"/>
            <a:ext cx="5484549" cy="457046"/>
          </a:xfrm>
          <a:prstGeom prst="rect">
            <a:avLst/>
          </a:prstGeom>
          <a:solidFill>
            <a:srgbClr val="E3DCCB"/>
          </a:solidFill>
          <a:ln w="5713">
            <a:solidFill>
              <a:srgbClr val="585E6F"/>
            </a:solidFill>
            <a:prstDash val="dash"/>
          </a:ln>
        </p:spPr>
        <p:txBody>
          <a:bodyPr/>
          <a:lstStyle/>
          <a:p>
            <a:endParaRPr lang="es-MX"/>
          </a:p>
        </p:txBody>
      </p:sp>
      <p:sp>
        <p:nvSpPr>
          <p:cNvPr id="9" name="s15-texto-8"/>
          <p:cNvSpPr txBox="1"/>
          <p:nvPr/>
        </p:nvSpPr>
        <p:spPr>
          <a:xfrm>
            <a:off x="2139024" y="2479473"/>
            <a:ext cx="389164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Una sola conversación: quien la tiene, responde</a:t>
            </a:r>
            <a:endParaRPr lang="en-US" sz="1260" dirty="0"/>
          </a:p>
        </p:txBody>
      </p:sp>
      <p:sp>
        <p:nvSpPr>
          <p:cNvPr id="10" name="s15-forma-9"/>
          <p:cNvSpPr/>
          <p:nvPr/>
        </p:nvSpPr>
        <p:spPr>
          <a:xfrm>
            <a:off x="1342572" y="3256451"/>
            <a:ext cx="1371137" cy="628438"/>
          </a:xfrm>
          <a:prstGeom prst="rect">
            <a:avLst/>
          </a:prstGeom>
          <a:solidFill>
            <a:srgbClr val="E3DCCB"/>
          </a:solidFill>
          <a:ln w="5713">
            <a:solidFill>
              <a:srgbClr val="585E6F"/>
            </a:solidFill>
            <a:prstDash val="solid"/>
          </a:ln>
        </p:spPr>
        <p:txBody>
          <a:bodyPr/>
          <a:lstStyle/>
          <a:p>
            <a:endParaRPr lang="es-MX"/>
          </a:p>
        </p:txBody>
      </p:sp>
      <p:sp>
        <p:nvSpPr>
          <p:cNvPr id="11" name="s15-texto-10"/>
          <p:cNvSpPr txBox="1"/>
          <p:nvPr/>
        </p:nvSpPr>
        <p:spPr>
          <a:xfrm>
            <a:off x="1694104" y="3387852"/>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2" name="s15-texto-11"/>
          <p:cNvSpPr txBox="1"/>
          <p:nvPr/>
        </p:nvSpPr>
        <p:spPr>
          <a:xfrm>
            <a:off x="1776676" y="3593522"/>
            <a:ext cx="50292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terminó</a:t>
            </a:r>
            <a:endParaRPr lang="en-US" sz="1080" dirty="0"/>
          </a:p>
        </p:txBody>
      </p:sp>
      <p:sp>
        <p:nvSpPr>
          <p:cNvPr id="13" name="s15-forma-12"/>
          <p:cNvSpPr/>
          <p:nvPr/>
        </p:nvSpPr>
        <p:spPr>
          <a:xfrm>
            <a:off x="3399278" y="3256451"/>
            <a:ext cx="1371137" cy="628438"/>
          </a:xfrm>
          <a:prstGeom prst="rect">
            <a:avLst/>
          </a:prstGeom>
          <a:solidFill>
            <a:srgbClr val="E2D3C2"/>
          </a:solidFill>
          <a:ln w="5713">
            <a:solidFill>
              <a:srgbClr val="984514"/>
            </a:solidFill>
            <a:prstDash val="solid"/>
          </a:ln>
        </p:spPr>
        <p:txBody>
          <a:bodyPr/>
          <a:lstStyle/>
          <a:p>
            <a:endParaRPr lang="es-MX"/>
          </a:p>
        </p:txBody>
      </p:sp>
      <p:sp>
        <p:nvSpPr>
          <p:cNvPr id="14" name="s15-texto-13"/>
          <p:cNvSpPr txBox="1"/>
          <p:nvPr/>
        </p:nvSpPr>
        <p:spPr>
          <a:xfrm>
            <a:off x="3670209" y="3387852"/>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5" name="s15-texto-14"/>
          <p:cNvSpPr txBox="1"/>
          <p:nvPr/>
        </p:nvSpPr>
        <p:spPr>
          <a:xfrm>
            <a:off x="3612206" y="3593522"/>
            <a:ext cx="94528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tiene el control</a:t>
            </a:r>
            <a:endParaRPr lang="en-US" sz="1080" dirty="0"/>
          </a:p>
        </p:txBody>
      </p:sp>
      <p:sp>
        <p:nvSpPr>
          <p:cNvPr id="16" name="s15-forma-15"/>
          <p:cNvSpPr/>
          <p:nvPr/>
        </p:nvSpPr>
        <p:spPr>
          <a:xfrm>
            <a:off x="5455984" y="3256451"/>
            <a:ext cx="1371137" cy="628438"/>
          </a:xfrm>
          <a:prstGeom prst="rect">
            <a:avLst/>
          </a:prstGeom>
          <a:solidFill>
            <a:srgbClr val="E3DCCB"/>
          </a:solidFill>
          <a:ln w="5713">
            <a:solidFill>
              <a:srgbClr val="585E6F"/>
            </a:solidFill>
            <a:prstDash val="solid"/>
          </a:ln>
        </p:spPr>
        <p:txBody>
          <a:bodyPr/>
          <a:lstStyle/>
          <a:p>
            <a:endParaRPr lang="es-MX"/>
          </a:p>
        </p:txBody>
      </p:sp>
      <p:sp>
        <p:nvSpPr>
          <p:cNvPr id="17" name="s15-texto-16"/>
          <p:cNvSpPr txBox="1"/>
          <p:nvPr/>
        </p:nvSpPr>
        <p:spPr>
          <a:xfrm>
            <a:off x="5590188" y="3387852"/>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8" name="s15-texto-17"/>
          <p:cNvSpPr txBox="1"/>
          <p:nvPr/>
        </p:nvSpPr>
        <p:spPr>
          <a:xfrm>
            <a:off x="5813765" y="3593522"/>
            <a:ext cx="65557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en espera</a:t>
            </a:r>
            <a:endParaRPr lang="en-US" sz="1080" dirty="0"/>
          </a:p>
        </p:txBody>
      </p:sp>
      <p:sp>
        <p:nvSpPr>
          <p:cNvPr id="19" name="s15-texto-18"/>
          <p:cNvSpPr txBox="1"/>
          <p:nvPr/>
        </p:nvSpPr>
        <p:spPr>
          <a:xfrm>
            <a:off x="2690857" y="330215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pasa</a:t>
            </a:r>
            <a:endParaRPr lang="en-US" sz="1080" dirty="0"/>
          </a:p>
        </p:txBody>
      </p:sp>
      <p:sp>
        <p:nvSpPr>
          <p:cNvPr id="20" name="s15-texto-19"/>
          <p:cNvSpPr txBox="1"/>
          <p:nvPr/>
        </p:nvSpPr>
        <p:spPr>
          <a:xfrm>
            <a:off x="4747563" y="330215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pasará</a:t>
            </a:r>
            <a:endParaRPr lang="en-US" sz="1080" dirty="0"/>
          </a:p>
        </p:txBody>
      </p:sp>
      <p:sp>
        <p:nvSpPr>
          <p:cNvPr id="21" name="s15-forma-20"/>
          <p:cNvSpPr/>
          <p:nvPr/>
        </p:nvSpPr>
        <p:spPr>
          <a:xfrm>
            <a:off x="1342572" y="4341935"/>
            <a:ext cx="5484549" cy="374742"/>
          </a:xfrm>
          <a:prstGeom prst="rect">
            <a:avLst/>
          </a:prstGeom>
          <a:solidFill>
            <a:srgbClr val="E3DCCB"/>
          </a:solidFill>
          <a:ln/>
        </p:spPr>
        <p:txBody>
          <a:bodyPr/>
          <a:lstStyle/>
          <a:p>
            <a:endParaRPr lang="es-MX"/>
          </a:p>
        </p:txBody>
      </p:sp>
      <p:sp>
        <p:nvSpPr>
          <p:cNvPr id="22" name="s15-texto-21"/>
          <p:cNvSpPr txBox="1"/>
          <p:nvPr/>
        </p:nvSpPr>
        <p:spPr>
          <a:xfrm>
            <a:off x="1479686" y="4450483"/>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transferir_a(agente, motivo)</a:t>
            </a:r>
            <a:endParaRPr lang="en-US" sz="1080" dirty="0"/>
          </a:p>
        </p:txBody>
      </p:sp>
      <p:sp>
        <p:nvSpPr>
          <p:cNvPr id="23" name="s15-forma-22"/>
          <p:cNvSpPr/>
          <p:nvPr/>
        </p:nvSpPr>
        <p:spPr>
          <a:xfrm>
            <a:off x="1342572" y="4913242"/>
            <a:ext cx="5484549" cy="374742"/>
          </a:xfrm>
          <a:prstGeom prst="rect">
            <a:avLst/>
          </a:prstGeom>
          <a:solidFill>
            <a:srgbClr val="E3DCCB"/>
          </a:solidFill>
          <a:ln/>
        </p:spPr>
        <p:txBody>
          <a:bodyPr/>
          <a:lstStyle/>
          <a:p>
            <a:endParaRPr lang="es-MX"/>
          </a:p>
        </p:txBody>
      </p:sp>
      <p:sp>
        <p:nvSpPr>
          <p:cNvPr id="24" name="s15-texto-23"/>
          <p:cNvSpPr txBox="1"/>
          <p:nvPr/>
        </p:nvSpPr>
        <p:spPr>
          <a:xfrm>
            <a:off x="1479686" y="5021790"/>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Sin supervisor: el control viaja con la conversación</a:t>
            </a:r>
            <a:endParaRPr lang="en-US" sz="1080" dirty="0"/>
          </a:p>
        </p:txBody>
      </p:sp>
      <p:sp>
        <p:nvSpPr>
          <p:cNvPr id="25" name="s15-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15-texto-25"/>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agente activo atiende hasta que decide pasar el control a otro con una herramienta de traspaso.</a:t>
            </a:r>
            <a:endParaRPr lang="en-US" sz="1260" dirty="0"/>
          </a:p>
        </p:txBody>
      </p:sp>
      <p:sp>
        <p:nvSpPr>
          <p:cNvPr id="27" name="s15-texto-26"/>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15-texto-27"/>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Natural para trabajo por etapas; difícil de seguir y puede rebotar entre agentes.</a:t>
            </a:r>
            <a:endParaRPr lang="en-US" sz="1260" dirty="0"/>
          </a:p>
        </p:txBody>
      </p:sp>
      <p:sp>
        <p:nvSpPr>
          <p:cNvPr id="29" name="s15-forma-28"/>
          <p:cNvSpPr/>
          <p:nvPr/>
        </p:nvSpPr>
        <p:spPr>
          <a:xfrm>
            <a:off x="7284167" y="3797764"/>
            <a:ext cx="3564957" cy="1122976"/>
          </a:xfrm>
          <a:prstGeom prst="rect">
            <a:avLst/>
          </a:prstGeom>
          <a:solidFill>
            <a:srgbClr val="E2D3C2"/>
          </a:solidFill>
          <a:ln/>
        </p:spPr>
        <p:txBody>
          <a:bodyPr/>
          <a:lstStyle/>
          <a:p>
            <a:endParaRPr lang="es-MX"/>
          </a:p>
        </p:txBody>
      </p:sp>
      <p:sp>
        <p:nvSpPr>
          <p:cNvPr id="30" name="s15-texto-29"/>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15-texto-30"/>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Analista → diseñador → desarrollador podrían ser traspasos; usamos el grafo para fijar el orden.</a:t>
            </a:r>
            <a:endParaRPr lang="en-US" sz="1260" dirty="0"/>
          </a:p>
        </p:txBody>
      </p:sp>
      <p:sp>
        <p:nvSpPr>
          <p:cNvPr id="32" name="s15-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33" name="s15-linea-32-0"/>
          <p:cNvSpPr/>
          <p:nvPr/>
        </p:nvSpPr>
        <p:spPr>
          <a:xfrm>
            <a:off x="2028140" y="2799405"/>
            <a:ext cx="0" cy="457046"/>
          </a:xfrm>
          <a:prstGeom prst="line">
            <a:avLst/>
          </a:prstGeom>
          <a:noFill/>
          <a:ln w="17140">
            <a:solidFill>
              <a:srgbClr val="585E6F"/>
            </a:solidFill>
            <a:prstDash val="dash"/>
          </a:ln>
        </p:spPr>
        <p:txBody>
          <a:bodyPr/>
          <a:lstStyle/>
          <a:p>
            <a:endParaRPr lang="es-MX"/>
          </a:p>
        </p:txBody>
      </p:sp>
      <p:sp>
        <p:nvSpPr>
          <p:cNvPr id="34" name="s15-linea-33-0"/>
          <p:cNvSpPr/>
          <p:nvPr/>
        </p:nvSpPr>
        <p:spPr>
          <a:xfrm>
            <a:off x="4084846" y="2799405"/>
            <a:ext cx="0" cy="457046"/>
          </a:xfrm>
          <a:prstGeom prst="line">
            <a:avLst/>
          </a:prstGeom>
          <a:noFill/>
          <a:ln w="17140">
            <a:solidFill>
              <a:srgbClr val="984514"/>
            </a:solidFill>
            <a:prstDash val="dash"/>
          </a:ln>
        </p:spPr>
        <p:txBody>
          <a:bodyPr/>
          <a:lstStyle/>
          <a:p>
            <a:endParaRPr lang="es-MX"/>
          </a:p>
        </p:txBody>
      </p:sp>
      <p:sp>
        <p:nvSpPr>
          <p:cNvPr id="35" name="s15-linea-34-0"/>
          <p:cNvSpPr/>
          <p:nvPr/>
        </p:nvSpPr>
        <p:spPr>
          <a:xfrm>
            <a:off x="6141552" y="2799405"/>
            <a:ext cx="0" cy="457046"/>
          </a:xfrm>
          <a:prstGeom prst="line">
            <a:avLst/>
          </a:prstGeom>
          <a:noFill/>
          <a:ln w="17140">
            <a:solidFill>
              <a:srgbClr val="585E6F"/>
            </a:solidFill>
            <a:prstDash val="dash"/>
          </a:ln>
        </p:spPr>
        <p:txBody>
          <a:bodyPr/>
          <a:lstStyle/>
          <a:p>
            <a:endParaRPr lang="es-MX"/>
          </a:p>
        </p:txBody>
      </p:sp>
      <p:sp>
        <p:nvSpPr>
          <p:cNvPr id="36" name="s15-linea-35-0"/>
          <p:cNvSpPr/>
          <p:nvPr/>
        </p:nvSpPr>
        <p:spPr>
          <a:xfrm>
            <a:off x="2713709" y="3570670"/>
            <a:ext cx="685569" cy="0"/>
          </a:xfrm>
          <a:prstGeom prst="line">
            <a:avLst/>
          </a:prstGeom>
          <a:noFill/>
          <a:ln w="17140">
            <a:solidFill>
              <a:srgbClr val="984514"/>
            </a:solidFill>
            <a:prstDash val="solid"/>
            <a:tailEnd type="triangle"/>
          </a:ln>
        </p:spPr>
        <p:txBody>
          <a:bodyPr/>
          <a:lstStyle/>
          <a:p>
            <a:endParaRPr lang="es-MX"/>
          </a:p>
        </p:txBody>
      </p:sp>
      <p:sp>
        <p:nvSpPr>
          <p:cNvPr id="37" name="s15-linea-36-0"/>
          <p:cNvSpPr/>
          <p:nvPr/>
        </p:nvSpPr>
        <p:spPr>
          <a:xfrm>
            <a:off x="4770415" y="3570670"/>
            <a:ext cx="685569" cy="0"/>
          </a:xfrm>
          <a:prstGeom prst="line">
            <a:avLst/>
          </a:prstGeom>
          <a:noFill/>
          <a:ln w="17140">
            <a:solidFill>
              <a:srgbClr val="585E6F"/>
            </a:solidFill>
            <a:prstDash val="dash"/>
            <a:tailEnd type="triangle"/>
          </a:ln>
        </p:spPr>
        <p:txBody>
          <a:bodyPr/>
          <a:lstStyle/>
          <a:p>
            <a:endParaRPr lang="es-MX"/>
          </a:p>
        </p:txBody>
      </p:sp>
      <p:sp>
        <p:nvSpPr>
          <p:cNvPr id="38" name="s15-forma-37"/>
          <p:cNvSpPr/>
          <p:nvPr/>
        </p:nvSpPr>
        <p:spPr>
          <a:xfrm>
            <a:off x="853390" y="6411138"/>
            <a:ext cx="10484915" cy="5713"/>
          </a:xfrm>
          <a:prstGeom prst="rect">
            <a:avLst/>
          </a:prstGeom>
          <a:solidFill>
            <a:srgbClr val="DBD4C4"/>
          </a:solidFill>
          <a:ln/>
        </p:spPr>
        <p:txBody>
          <a:bodyPr/>
          <a:lstStyle/>
          <a:p>
            <a:endParaRPr lang="es-MX"/>
          </a:p>
        </p:txBody>
      </p:sp>
      <p:pic>
        <p:nvPicPr>
          <p:cNvPr id="39" name="s15-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15-forma-39"/>
          <p:cNvSpPr/>
          <p:nvPr/>
        </p:nvSpPr>
        <p:spPr>
          <a:xfrm>
            <a:off x="1659380" y="6519865"/>
            <a:ext cx="2926878" cy="102835"/>
          </a:xfrm>
          <a:prstGeom prst="rect">
            <a:avLst/>
          </a:prstGeom>
          <a:ln/>
        </p:spPr>
        <p:txBody>
          <a:bodyPr/>
          <a:lstStyle/>
          <a:p>
            <a:endParaRPr lang="es-MX"/>
          </a:p>
        </p:txBody>
      </p:sp>
      <p:sp>
        <p:nvSpPr>
          <p:cNvPr id="41" name="s15-forma-40"/>
          <p:cNvSpPr/>
          <p:nvPr/>
        </p:nvSpPr>
        <p:spPr>
          <a:xfrm>
            <a:off x="1659380" y="6519865"/>
            <a:ext cx="5713" cy="102835"/>
          </a:xfrm>
          <a:prstGeom prst="rect">
            <a:avLst/>
          </a:prstGeom>
          <a:solidFill>
            <a:srgbClr val="C6BFAE"/>
          </a:solidFill>
          <a:ln/>
        </p:spPr>
        <p:txBody>
          <a:bodyPr/>
          <a:lstStyle/>
          <a:p>
            <a:endParaRPr lang="es-MX"/>
          </a:p>
        </p:txBody>
      </p:sp>
      <p:sp>
        <p:nvSpPr>
          <p:cNvPr id="42" name="s15-texto-4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3" name="s15-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36</a:t>
            </a:r>
            <a:endParaRPr lang="en-US" sz="745" dirty="0"/>
          </a:p>
        </p:txBody>
      </p:sp>
      <p:sp>
        <p:nvSpPr>
          <p:cNvPr id="44" name="s15-forma-43"/>
          <p:cNvSpPr/>
          <p:nvPr/>
        </p:nvSpPr>
        <p:spPr>
          <a:xfrm>
            <a:off x="0" y="0"/>
            <a:ext cx="5079813" cy="17139"/>
          </a:xfrm>
          <a:prstGeom prst="rect">
            <a:avLst/>
          </a:prstGeom>
          <a:solidFill>
            <a:srgbClr val="0033A0"/>
          </a:solidFill>
          <a:ln/>
        </p:spPr>
        <p:txBody>
          <a:bodyPr/>
          <a:lstStyle/>
          <a:p>
            <a:endParaRPr lang="es-MX"/>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TRASPASOS · LA IDEA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Traspasos: el formulario de transferencia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029968"/>
            <a:ext cx="10058400" cy="50292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029968"/>
            <a:ext cx="54864" cy="50292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029968"/>
            <a:ext cx="9692640" cy="502920"/>
          </a:xfrm>
          <a:prstGeom prst="rect">
            <a:avLst/>
          </a:prstGeom>
          <a:noFill/>
        </p:spPr>
        <p:txBody>
          <a:bodyPr wrap="square" lIns="0" tIns="0" rIns="0" bIns="0" anchor="ctr">
            <a:spAutoFit/>
          </a:bodyPr>
          <a:lstStyle/>
          <a:p>
            <a:pPr algn="l"/>
            <a:r>
              <a:rPr sz="1300" b="0" i="0">
                <a:solidFill>
                  <a:srgbClr val="16181D"/>
                </a:solidFill>
                <a:latin typeface="Georgia"/>
              </a:rPr>
              <a:t>Cada agente recibe un </a:t>
            </a:r>
            <a:r>
              <a:rPr sz="1300" b="1" i="0">
                <a:solidFill>
                  <a:srgbClr val="0033A0"/>
                </a:solidFill>
                <a:latin typeface="Georgia"/>
              </a:rPr>
              <a:t>formulario de traspaso</a:t>
            </a:r>
            <a:r>
              <a:rPr sz="1300" b="0" i="0">
                <a:solidFill>
                  <a:srgbClr val="16181D"/>
                </a:solidFill>
                <a:latin typeface="Georgia"/>
              </a:rPr>
              <a:t>. Si el tema no es suyo, lo llena; el código lee la casilla marcada y le pasa la conversación a ese agente.</a:t>
            </a:r>
          </a:p>
        </p:txBody>
      </p:sp>
      <p:sp>
        <p:nvSpPr>
          <p:cNvPr id="47" name="Rectangle 46"/>
          <p:cNvSpPr/>
          <p:nvPr/>
        </p:nvSpPr>
        <p:spPr>
          <a:xfrm>
            <a:off x="1344168" y="2697480"/>
            <a:ext cx="2308860" cy="20116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453895" y="2807208"/>
            <a:ext cx="274320" cy="274320"/>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453895" y="2807208"/>
            <a:ext cx="274320" cy="274320"/>
          </a:xfrm>
          <a:prstGeom prst="rect">
            <a:avLst/>
          </a:prstGeom>
          <a:noFill/>
        </p:spPr>
        <p:txBody>
          <a:bodyPr wrap="square" lIns="0" tIns="0" rIns="0" bIns="0" anchor="ctr">
            <a:spAutoFit/>
          </a:bodyPr>
          <a:lstStyle/>
          <a:p>
            <a:pPr algn="ctr"/>
            <a:r>
              <a:rPr sz="1100" b="1" i="0">
                <a:solidFill>
                  <a:srgbClr val="FBF8F0"/>
                </a:solidFill>
                <a:latin typeface="Georgia"/>
              </a:rPr>
              <a:t>1</a:t>
            </a:r>
          </a:p>
        </p:txBody>
      </p:sp>
      <p:sp>
        <p:nvSpPr>
          <p:cNvPr id="50" name="TextBox 49"/>
          <p:cNvSpPr txBox="1"/>
          <p:nvPr/>
        </p:nvSpPr>
        <p:spPr>
          <a:xfrm>
            <a:off x="1801368" y="2788920"/>
            <a:ext cx="1760219" cy="329184"/>
          </a:xfrm>
          <a:prstGeom prst="rect">
            <a:avLst/>
          </a:prstGeom>
          <a:noFill/>
        </p:spPr>
        <p:txBody>
          <a:bodyPr wrap="square" lIns="0" tIns="0" rIns="0" bIns="0" anchor="ctr">
            <a:spAutoFit/>
          </a:bodyPr>
          <a:lstStyle/>
          <a:p>
            <a:pPr algn="l"/>
            <a:r>
              <a:rPr sz="1050" b="1" i="0">
                <a:solidFill>
                  <a:srgbClr val="16181D"/>
                </a:solidFill>
                <a:latin typeface="Arial"/>
              </a:rPr>
              <a:t>Llega una solicitud</a:t>
            </a:r>
          </a:p>
        </p:txBody>
      </p:sp>
      <p:cxnSp>
        <p:nvCxnSpPr>
          <p:cNvPr id="51" name="Connector 50"/>
          <p:cNvCxnSpPr/>
          <p:nvPr/>
        </p:nvCxnSpPr>
        <p:spPr>
          <a:xfrm>
            <a:off x="3680460" y="3703320"/>
            <a:ext cx="219455" cy="0"/>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1508760" y="3246120"/>
            <a:ext cx="1979676" cy="548640"/>
          </a:xfrm>
          <a:prstGeom prst="roundRect">
            <a:avLst>
              <a:gd name="adj" fmla="val 2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600200" y="3389635"/>
            <a:ext cx="1796795" cy="261610"/>
          </a:xfrm>
          <a:prstGeom prst="rect">
            <a:avLst/>
          </a:prstGeom>
          <a:noFill/>
        </p:spPr>
        <p:txBody>
          <a:bodyPr wrap="square" lIns="0" tIns="0" rIns="0" bIns="0" anchor="ctr">
            <a:spAutoFit/>
          </a:bodyPr>
          <a:lstStyle/>
          <a:p>
            <a:pPr algn="ctr"/>
            <a:r>
              <a:rPr sz="850" b="0" i="1" dirty="0">
                <a:solidFill>
                  <a:srgbClr val="0033A0"/>
                </a:solidFill>
                <a:latin typeface="Arial"/>
              </a:rPr>
              <a:t>«</a:t>
            </a:r>
            <a:r>
              <a:rPr sz="850" b="0" i="1" dirty="0" err="1">
                <a:solidFill>
                  <a:srgbClr val="0033A0"/>
                </a:solidFill>
                <a:latin typeface="Arial"/>
              </a:rPr>
              <a:t>Quiero</a:t>
            </a:r>
            <a:r>
              <a:rPr sz="850" b="0" i="1" dirty="0">
                <a:solidFill>
                  <a:srgbClr val="0033A0"/>
                </a:solidFill>
                <a:latin typeface="Arial"/>
              </a:rPr>
              <a:t> </a:t>
            </a:r>
            <a:r>
              <a:rPr sz="850" b="0" i="1" dirty="0" err="1">
                <a:solidFill>
                  <a:srgbClr val="0033A0"/>
                </a:solidFill>
                <a:latin typeface="Arial"/>
              </a:rPr>
              <a:t>dar</a:t>
            </a:r>
            <a:r>
              <a:rPr sz="850" b="0" i="1" dirty="0">
                <a:solidFill>
                  <a:srgbClr val="0033A0"/>
                </a:solidFill>
                <a:latin typeface="Arial"/>
              </a:rPr>
              <a:t> de </a:t>
            </a:r>
            <a:r>
              <a:rPr sz="850" b="0" i="1" dirty="0" err="1">
                <a:solidFill>
                  <a:srgbClr val="0033A0"/>
                </a:solidFill>
                <a:latin typeface="Arial"/>
              </a:rPr>
              <a:t>alta</a:t>
            </a:r>
            <a:r>
              <a:rPr sz="850" b="0" i="1" dirty="0">
                <a:solidFill>
                  <a:srgbClr val="0033A0"/>
                </a:solidFill>
                <a:latin typeface="Arial"/>
              </a:rPr>
              <a:t> a </a:t>
            </a:r>
            <a:r>
              <a:rPr lang="es-419" sz="850" b="0" i="1" dirty="0">
                <a:solidFill>
                  <a:srgbClr val="0033A0"/>
                </a:solidFill>
                <a:latin typeface="Arial"/>
              </a:rPr>
              <a:t>Ana Lopez como </a:t>
            </a:r>
            <a:r>
              <a:rPr sz="850" b="0" i="1" dirty="0">
                <a:solidFill>
                  <a:srgbClr val="0033A0"/>
                </a:solidFill>
                <a:latin typeface="Arial"/>
              </a:rPr>
              <a:t> </a:t>
            </a:r>
            <a:r>
              <a:rPr sz="850" b="0" i="1" dirty="0" err="1">
                <a:solidFill>
                  <a:srgbClr val="0033A0"/>
                </a:solidFill>
                <a:latin typeface="Arial"/>
              </a:rPr>
              <a:t>analista</a:t>
            </a:r>
            <a:r>
              <a:rPr sz="850" b="0" i="1" dirty="0">
                <a:solidFill>
                  <a:srgbClr val="0033A0"/>
                </a:solidFill>
                <a:latin typeface="Arial"/>
              </a:rPr>
              <a:t> </a:t>
            </a:r>
            <a:r>
              <a:rPr sz="850" b="0" i="1" dirty="0" err="1">
                <a:solidFill>
                  <a:srgbClr val="0033A0"/>
                </a:solidFill>
                <a:latin typeface="Arial"/>
              </a:rPr>
              <a:t>en</a:t>
            </a:r>
            <a:r>
              <a:rPr sz="850" b="0" i="1" dirty="0">
                <a:solidFill>
                  <a:srgbClr val="0033A0"/>
                </a:solidFill>
                <a:latin typeface="Arial"/>
              </a:rPr>
              <a:t> </a:t>
            </a:r>
            <a:r>
              <a:rPr sz="850" b="0" i="1" dirty="0" err="1">
                <a:solidFill>
                  <a:srgbClr val="0033A0"/>
                </a:solidFill>
                <a:latin typeface="Arial"/>
              </a:rPr>
              <a:t>Finanzas</a:t>
            </a:r>
            <a:r>
              <a:rPr sz="850" b="0" i="1" dirty="0">
                <a:solidFill>
                  <a:srgbClr val="0033A0"/>
                </a:solidFill>
                <a:latin typeface="Arial"/>
              </a:rPr>
              <a:t>»</a:t>
            </a:r>
          </a:p>
        </p:txBody>
      </p:sp>
      <p:cxnSp>
        <p:nvCxnSpPr>
          <p:cNvPr id="54" name="Connector 53"/>
          <p:cNvCxnSpPr/>
          <p:nvPr/>
        </p:nvCxnSpPr>
        <p:spPr>
          <a:xfrm>
            <a:off x="2498598" y="3813048"/>
            <a:ext cx="0" cy="128016"/>
          </a:xfrm>
          <a:prstGeom prst="line">
            <a:avLst/>
          </a:prstGeom>
          <a:ln w="1524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755648" y="3959352"/>
            <a:ext cx="148590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755648" y="3959352"/>
            <a:ext cx="1485900" cy="274320"/>
          </a:xfrm>
          <a:prstGeom prst="rect">
            <a:avLst/>
          </a:prstGeom>
          <a:noFill/>
        </p:spPr>
        <p:txBody>
          <a:bodyPr wrap="square" lIns="0" tIns="0" rIns="0" bIns="0" anchor="ctr">
            <a:spAutoFit/>
          </a:bodyPr>
          <a:lstStyle/>
          <a:p>
            <a:pPr algn="ctr"/>
            <a:r>
              <a:rPr sz="850" b="1" i="0">
                <a:solidFill>
                  <a:srgbClr val="16181D"/>
                </a:solidFill>
                <a:latin typeface="Arial"/>
              </a:rPr>
              <a:t>RECEPCIÓN</a:t>
            </a:r>
          </a:p>
        </p:txBody>
      </p:sp>
      <p:sp>
        <p:nvSpPr>
          <p:cNvPr id="57" name="Rectangle 56"/>
          <p:cNvSpPr/>
          <p:nvPr/>
        </p:nvSpPr>
        <p:spPr>
          <a:xfrm>
            <a:off x="1453895" y="4251960"/>
            <a:ext cx="2089404" cy="34747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527048" y="4251960"/>
            <a:ext cx="1943100" cy="347472"/>
          </a:xfrm>
          <a:prstGeom prst="rect">
            <a:avLst/>
          </a:prstGeom>
          <a:noFill/>
        </p:spPr>
        <p:txBody>
          <a:bodyPr wrap="square" lIns="0" tIns="0" rIns="0" bIns="0" anchor="ctr">
            <a:spAutoFit/>
          </a:bodyPr>
          <a:lstStyle/>
          <a:p>
            <a:pPr algn="l">
              <a:lnSpc>
                <a:spcPct val="100000"/>
              </a:lnSpc>
            </a:pPr>
            <a:r>
              <a:rPr sz="800" b="1" i="0">
                <a:solidFill>
                  <a:srgbClr val="0033A0"/>
                </a:solidFill>
                <a:latin typeface="Courier New"/>
              </a:rPr>
              <a:t>*s["mensajes"]</a:t>
            </a:r>
          </a:p>
          <a:p>
            <a:pPr algn="l">
              <a:lnSpc>
                <a:spcPct val="100000"/>
              </a:lnSpc>
            </a:pPr>
            <a:r>
              <a:rPr sz="720" b="0" i="0">
                <a:solidFill>
                  <a:srgbClr val="585E6F"/>
                </a:solidFill>
                <a:latin typeface="Arial"/>
              </a:rPr>
              <a:t>la conversación llega al agente</a:t>
            </a:r>
          </a:p>
        </p:txBody>
      </p:sp>
      <p:sp>
        <p:nvSpPr>
          <p:cNvPr id="59" name="Rectangle 58"/>
          <p:cNvSpPr/>
          <p:nvPr/>
        </p:nvSpPr>
        <p:spPr>
          <a:xfrm>
            <a:off x="3927348" y="2697480"/>
            <a:ext cx="2308860" cy="20116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4037076" y="2807208"/>
            <a:ext cx="274320" cy="274320"/>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037076" y="2807208"/>
            <a:ext cx="274320" cy="274320"/>
          </a:xfrm>
          <a:prstGeom prst="rect">
            <a:avLst/>
          </a:prstGeom>
          <a:noFill/>
        </p:spPr>
        <p:txBody>
          <a:bodyPr wrap="square" lIns="0" tIns="0" rIns="0" bIns="0" anchor="ctr">
            <a:spAutoFit/>
          </a:bodyPr>
          <a:lstStyle/>
          <a:p>
            <a:pPr algn="ctr"/>
            <a:r>
              <a:rPr sz="1100" b="1" i="0">
                <a:solidFill>
                  <a:srgbClr val="FBF8F0"/>
                </a:solidFill>
                <a:latin typeface="Georgia"/>
              </a:rPr>
              <a:t>2</a:t>
            </a:r>
          </a:p>
        </p:txBody>
      </p:sp>
      <p:sp>
        <p:nvSpPr>
          <p:cNvPr id="62" name="TextBox 61"/>
          <p:cNvSpPr txBox="1"/>
          <p:nvPr/>
        </p:nvSpPr>
        <p:spPr>
          <a:xfrm>
            <a:off x="4384548" y="2788920"/>
            <a:ext cx="1760219" cy="329184"/>
          </a:xfrm>
          <a:prstGeom prst="rect">
            <a:avLst/>
          </a:prstGeom>
          <a:noFill/>
        </p:spPr>
        <p:txBody>
          <a:bodyPr wrap="square" lIns="0" tIns="0" rIns="0" bIns="0" anchor="ctr">
            <a:spAutoFit/>
          </a:bodyPr>
          <a:lstStyle/>
          <a:p>
            <a:pPr algn="l"/>
            <a:r>
              <a:rPr sz="1050" b="1" i="0">
                <a:solidFill>
                  <a:srgbClr val="16181D"/>
                </a:solidFill>
                <a:latin typeface="Arial"/>
              </a:rPr>
              <a:t>Recibe el formulario</a:t>
            </a:r>
          </a:p>
        </p:txBody>
      </p:sp>
      <p:cxnSp>
        <p:nvCxnSpPr>
          <p:cNvPr id="63" name="Connector 62"/>
          <p:cNvCxnSpPr/>
          <p:nvPr/>
        </p:nvCxnSpPr>
        <p:spPr>
          <a:xfrm>
            <a:off x="6263640" y="3703320"/>
            <a:ext cx="219456" cy="0"/>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110228" y="3127248"/>
            <a:ext cx="1943100" cy="1051560"/>
          </a:xfrm>
          <a:prstGeom prst="rect">
            <a:avLst/>
          </a:prstGeom>
          <a:solidFill>
            <a:srgbClr val="FBF8F0"/>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4110228" y="3127248"/>
            <a:ext cx="1943100" cy="219456"/>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0228" y="3127248"/>
            <a:ext cx="1943100" cy="219456"/>
          </a:xfrm>
          <a:prstGeom prst="rect">
            <a:avLst/>
          </a:prstGeom>
          <a:noFill/>
        </p:spPr>
        <p:txBody>
          <a:bodyPr wrap="square" lIns="0" tIns="0" rIns="0" bIns="0" anchor="ctr">
            <a:spAutoFit/>
          </a:bodyPr>
          <a:lstStyle/>
          <a:p>
            <a:pPr algn="ctr"/>
            <a:r>
              <a:rPr sz="700" b="1" i="0">
                <a:solidFill>
                  <a:srgbClr val="FBF8F0"/>
                </a:solidFill>
                <a:latin typeface="Arial"/>
              </a:rPr>
              <a:t>FORMULARIO DE TRASPASO</a:t>
            </a:r>
          </a:p>
        </p:txBody>
      </p:sp>
      <p:sp>
        <p:nvSpPr>
          <p:cNvPr id="67" name="Rectangle 66"/>
          <p:cNvSpPr/>
          <p:nvPr/>
        </p:nvSpPr>
        <p:spPr>
          <a:xfrm>
            <a:off x="4238244" y="3438144"/>
            <a:ext cx="155448" cy="155448"/>
          </a:xfrm>
          <a:prstGeom prst="rect">
            <a:avLst/>
          </a:prstGeom>
          <a:solidFill>
            <a:srgbClr val="FBF8F0"/>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475988" y="3419856"/>
            <a:ext cx="1531620" cy="192024"/>
          </a:xfrm>
          <a:prstGeom prst="rect">
            <a:avLst/>
          </a:prstGeom>
          <a:noFill/>
        </p:spPr>
        <p:txBody>
          <a:bodyPr wrap="square" lIns="0" tIns="0" rIns="0" bIns="0" anchor="ctr">
            <a:spAutoFit/>
          </a:bodyPr>
          <a:lstStyle/>
          <a:p>
            <a:pPr algn="l"/>
            <a:r>
              <a:rPr sz="800" b="0" i="0">
                <a:solidFill>
                  <a:srgbClr val="16181D"/>
                </a:solidFill>
                <a:latin typeface="Arial"/>
              </a:rPr>
              <a:t>Pasar a ALTAS</a:t>
            </a:r>
          </a:p>
        </p:txBody>
      </p:sp>
      <p:sp>
        <p:nvSpPr>
          <p:cNvPr id="69" name="Rectangle 68"/>
          <p:cNvSpPr/>
          <p:nvPr/>
        </p:nvSpPr>
        <p:spPr>
          <a:xfrm>
            <a:off x="4238244" y="3685031"/>
            <a:ext cx="155448" cy="155448"/>
          </a:xfrm>
          <a:prstGeom prst="rect">
            <a:avLst/>
          </a:prstGeom>
          <a:solidFill>
            <a:srgbClr val="FBF8F0"/>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475988" y="3666744"/>
            <a:ext cx="1531620" cy="192024"/>
          </a:xfrm>
          <a:prstGeom prst="rect">
            <a:avLst/>
          </a:prstGeom>
          <a:noFill/>
        </p:spPr>
        <p:txBody>
          <a:bodyPr wrap="square" lIns="0" tIns="0" rIns="0" bIns="0" anchor="ctr">
            <a:spAutoFit/>
          </a:bodyPr>
          <a:lstStyle/>
          <a:p>
            <a:pPr algn="l"/>
            <a:r>
              <a:rPr sz="800" b="0" i="0">
                <a:solidFill>
                  <a:srgbClr val="16181D"/>
                </a:solidFill>
                <a:latin typeface="Arial"/>
              </a:rPr>
              <a:t>Pasar a DIRECTORIO</a:t>
            </a:r>
          </a:p>
        </p:txBody>
      </p:sp>
      <p:sp>
        <p:nvSpPr>
          <p:cNvPr id="71" name="TextBox 70"/>
          <p:cNvSpPr txBox="1"/>
          <p:nvPr/>
        </p:nvSpPr>
        <p:spPr>
          <a:xfrm>
            <a:off x="4238244" y="3950208"/>
            <a:ext cx="457200" cy="182880"/>
          </a:xfrm>
          <a:prstGeom prst="rect">
            <a:avLst/>
          </a:prstGeom>
          <a:noFill/>
        </p:spPr>
        <p:txBody>
          <a:bodyPr wrap="square" lIns="0" tIns="0" rIns="0" bIns="0" anchor="ctr">
            <a:spAutoFit/>
          </a:bodyPr>
          <a:lstStyle/>
          <a:p>
            <a:pPr algn="l"/>
            <a:r>
              <a:rPr sz="750" b="0" i="0">
                <a:solidFill>
                  <a:srgbClr val="585E6F"/>
                </a:solidFill>
                <a:latin typeface="Arial"/>
              </a:rPr>
              <a:t>Motivo:</a:t>
            </a:r>
          </a:p>
        </p:txBody>
      </p:sp>
      <p:cxnSp>
        <p:nvCxnSpPr>
          <p:cNvPr id="72" name="Connector 71"/>
          <p:cNvCxnSpPr/>
          <p:nvPr/>
        </p:nvCxnSpPr>
        <p:spPr>
          <a:xfrm>
            <a:off x="4677156" y="4114800"/>
            <a:ext cx="1266444" cy="0"/>
          </a:xfrm>
          <a:prstGeom prst="line">
            <a:avLst/>
          </a:prstGeom>
          <a:ln w="7620">
            <a:solidFill>
              <a:srgbClr val="585E6F"/>
            </a:solidFill>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4037076" y="4251960"/>
            <a:ext cx="2089404" cy="34747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110228" y="4251960"/>
            <a:ext cx="1943100" cy="347472"/>
          </a:xfrm>
          <a:prstGeom prst="rect">
            <a:avLst/>
          </a:prstGeom>
          <a:noFill/>
        </p:spPr>
        <p:txBody>
          <a:bodyPr wrap="square" lIns="0" tIns="0" rIns="0" bIns="0" anchor="ctr">
            <a:spAutoFit/>
          </a:bodyPr>
          <a:lstStyle/>
          <a:p>
            <a:pPr algn="l">
              <a:lnSpc>
                <a:spcPct val="100000"/>
              </a:lnSpc>
            </a:pPr>
            <a:r>
              <a:rPr sz="800" b="1" i="0">
                <a:solidFill>
                  <a:srgbClr val="0033A0"/>
                </a:solidFill>
                <a:latin typeface="Courier New"/>
              </a:rPr>
              <a:t>@tool  +  bind_tools</a:t>
            </a:r>
          </a:p>
          <a:p>
            <a:pPr algn="l">
              <a:lnSpc>
                <a:spcPct val="100000"/>
              </a:lnSpc>
            </a:pPr>
            <a:r>
              <a:rPr sz="720" b="0" i="0">
                <a:solidFill>
                  <a:srgbClr val="585E6F"/>
                </a:solidFill>
                <a:latin typeface="Arial"/>
              </a:rPr>
              <a:t>imprimir el formulario y entregarlo</a:t>
            </a:r>
          </a:p>
        </p:txBody>
      </p:sp>
      <p:sp>
        <p:nvSpPr>
          <p:cNvPr id="75" name="Rectangle 74"/>
          <p:cNvSpPr/>
          <p:nvPr/>
        </p:nvSpPr>
        <p:spPr>
          <a:xfrm>
            <a:off x="6510527" y="2697480"/>
            <a:ext cx="2308860" cy="20116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6620255" y="2807208"/>
            <a:ext cx="274320" cy="274320"/>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6620255" y="2807208"/>
            <a:ext cx="274320" cy="274320"/>
          </a:xfrm>
          <a:prstGeom prst="rect">
            <a:avLst/>
          </a:prstGeom>
          <a:noFill/>
        </p:spPr>
        <p:txBody>
          <a:bodyPr wrap="square" lIns="0" tIns="0" rIns="0" bIns="0" anchor="ctr">
            <a:spAutoFit/>
          </a:bodyPr>
          <a:lstStyle/>
          <a:p>
            <a:pPr algn="ctr"/>
            <a:r>
              <a:rPr sz="1100" b="1" i="0">
                <a:solidFill>
                  <a:srgbClr val="FBF8F0"/>
                </a:solidFill>
                <a:latin typeface="Georgia"/>
              </a:rPr>
              <a:t>3</a:t>
            </a:r>
          </a:p>
        </p:txBody>
      </p:sp>
      <p:sp>
        <p:nvSpPr>
          <p:cNvPr id="78" name="TextBox 77"/>
          <p:cNvSpPr txBox="1"/>
          <p:nvPr/>
        </p:nvSpPr>
        <p:spPr>
          <a:xfrm>
            <a:off x="6967727" y="2788920"/>
            <a:ext cx="1760219" cy="329184"/>
          </a:xfrm>
          <a:prstGeom prst="rect">
            <a:avLst/>
          </a:prstGeom>
          <a:noFill/>
        </p:spPr>
        <p:txBody>
          <a:bodyPr wrap="square" lIns="0" tIns="0" rIns="0" bIns="0" anchor="ctr">
            <a:spAutoFit/>
          </a:bodyPr>
          <a:lstStyle/>
          <a:p>
            <a:pPr algn="l"/>
            <a:r>
              <a:rPr sz="1050" b="1" i="0">
                <a:solidFill>
                  <a:srgbClr val="16181D"/>
                </a:solidFill>
                <a:latin typeface="Arial"/>
              </a:rPr>
              <a:t>Lo llena y lo regresa</a:t>
            </a:r>
          </a:p>
        </p:txBody>
      </p:sp>
      <p:cxnSp>
        <p:nvCxnSpPr>
          <p:cNvPr id="79" name="Connector 78"/>
          <p:cNvCxnSpPr/>
          <p:nvPr/>
        </p:nvCxnSpPr>
        <p:spPr>
          <a:xfrm>
            <a:off x="8846819" y="3703320"/>
            <a:ext cx="219457" cy="0"/>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80" name="Rectangle 79"/>
          <p:cNvSpPr/>
          <p:nvPr/>
        </p:nvSpPr>
        <p:spPr>
          <a:xfrm>
            <a:off x="6693407" y="3127248"/>
            <a:ext cx="1943100" cy="1051560"/>
          </a:xfrm>
          <a:prstGeom prst="rect">
            <a:avLst/>
          </a:prstGeom>
          <a:solidFill>
            <a:srgbClr val="FBF8F0"/>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6693407" y="3127248"/>
            <a:ext cx="1943100" cy="219456"/>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693407" y="3127248"/>
            <a:ext cx="1943100" cy="219456"/>
          </a:xfrm>
          <a:prstGeom prst="rect">
            <a:avLst/>
          </a:prstGeom>
          <a:noFill/>
        </p:spPr>
        <p:txBody>
          <a:bodyPr wrap="square" lIns="0" tIns="0" rIns="0" bIns="0" anchor="ctr">
            <a:spAutoFit/>
          </a:bodyPr>
          <a:lstStyle/>
          <a:p>
            <a:pPr algn="ctr"/>
            <a:r>
              <a:rPr sz="700" b="1" i="0">
                <a:solidFill>
                  <a:srgbClr val="FBF8F0"/>
                </a:solidFill>
                <a:latin typeface="Arial"/>
              </a:rPr>
              <a:t>FORMULARIO DE TRASPASO</a:t>
            </a:r>
          </a:p>
        </p:txBody>
      </p:sp>
      <p:sp>
        <p:nvSpPr>
          <p:cNvPr id="83" name="Rectangle 82"/>
          <p:cNvSpPr/>
          <p:nvPr/>
        </p:nvSpPr>
        <p:spPr>
          <a:xfrm>
            <a:off x="6821423" y="3438144"/>
            <a:ext cx="155448" cy="155448"/>
          </a:xfrm>
          <a:prstGeom prst="rect">
            <a:avLst/>
          </a:prstGeom>
          <a:solidFill>
            <a:srgbClr val="984514"/>
          </a:solidFill>
          <a:ln w="1270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821423" y="3438144"/>
            <a:ext cx="155448" cy="155448"/>
          </a:xfrm>
          <a:prstGeom prst="rect">
            <a:avLst/>
          </a:prstGeom>
          <a:noFill/>
        </p:spPr>
        <p:txBody>
          <a:bodyPr wrap="square" lIns="0" tIns="0" rIns="0" bIns="0" anchor="ctr">
            <a:spAutoFit/>
          </a:bodyPr>
          <a:lstStyle/>
          <a:p>
            <a:pPr algn="ctr"/>
            <a:r>
              <a:rPr sz="800" b="1" i="0">
                <a:solidFill>
                  <a:srgbClr val="FBF8F0"/>
                </a:solidFill>
                <a:latin typeface="Arial"/>
              </a:rPr>
              <a:t>X</a:t>
            </a:r>
          </a:p>
        </p:txBody>
      </p:sp>
      <p:sp>
        <p:nvSpPr>
          <p:cNvPr id="85" name="TextBox 84"/>
          <p:cNvSpPr txBox="1"/>
          <p:nvPr/>
        </p:nvSpPr>
        <p:spPr>
          <a:xfrm>
            <a:off x="7059168" y="3419856"/>
            <a:ext cx="1531620" cy="192024"/>
          </a:xfrm>
          <a:prstGeom prst="rect">
            <a:avLst/>
          </a:prstGeom>
          <a:noFill/>
        </p:spPr>
        <p:txBody>
          <a:bodyPr wrap="square" lIns="0" tIns="0" rIns="0" bIns="0" anchor="ctr">
            <a:spAutoFit/>
          </a:bodyPr>
          <a:lstStyle/>
          <a:p>
            <a:pPr algn="l"/>
            <a:r>
              <a:rPr sz="800" b="1" i="0">
                <a:solidFill>
                  <a:srgbClr val="984514"/>
                </a:solidFill>
                <a:latin typeface="Arial"/>
              </a:rPr>
              <a:t>Pasar a ALTAS</a:t>
            </a:r>
          </a:p>
        </p:txBody>
      </p:sp>
      <p:sp>
        <p:nvSpPr>
          <p:cNvPr id="86" name="Rectangle 85"/>
          <p:cNvSpPr/>
          <p:nvPr/>
        </p:nvSpPr>
        <p:spPr>
          <a:xfrm>
            <a:off x="6821423" y="3685031"/>
            <a:ext cx="155448" cy="155448"/>
          </a:xfrm>
          <a:prstGeom prst="rect">
            <a:avLst/>
          </a:prstGeom>
          <a:solidFill>
            <a:srgbClr val="FBF8F0"/>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7059168" y="3666744"/>
            <a:ext cx="1531620" cy="192024"/>
          </a:xfrm>
          <a:prstGeom prst="rect">
            <a:avLst/>
          </a:prstGeom>
          <a:noFill/>
        </p:spPr>
        <p:txBody>
          <a:bodyPr wrap="square" lIns="0" tIns="0" rIns="0" bIns="0" anchor="ctr">
            <a:spAutoFit/>
          </a:bodyPr>
          <a:lstStyle/>
          <a:p>
            <a:pPr algn="l"/>
            <a:r>
              <a:rPr sz="800" b="0" i="0">
                <a:solidFill>
                  <a:srgbClr val="16181D"/>
                </a:solidFill>
                <a:latin typeface="Arial"/>
              </a:rPr>
              <a:t>Pasar a DIRECTORIO</a:t>
            </a:r>
          </a:p>
        </p:txBody>
      </p:sp>
      <p:sp>
        <p:nvSpPr>
          <p:cNvPr id="88" name="TextBox 87"/>
          <p:cNvSpPr txBox="1"/>
          <p:nvPr/>
        </p:nvSpPr>
        <p:spPr>
          <a:xfrm>
            <a:off x="6821423" y="3950208"/>
            <a:ext cx="457200" cy="182880"/>
          </a:xfrm>
          <a:prstGeom prst="rect">
            <a:avLst/>
          </a:prstGeom>
          <a:noFill/>
        </p:spPr>
        <p:txBody>
          <a:bodyPr wrap="square" lIns="0" tIns="0" rIns="0" bIns="0" anchor="ctr">
            <a:spAutoFit/>
          </a:bodyPr>
          <a:lstStyle/>
          <a:p>
            <a:pPr algn="l"/>
            <a:r>
              <a:rPr sz="750" b="0" i="0">
                <a:solidFill>
                  <a:srgbClr val="585E6F"/>
                </a:solidFill>
                <a:latin typeface="Arial"/>
              </a:rPr>
              <a:t>Motivo:</a:t>
            </a:r>
          </a:p>
        </p:txBody>
      </p:sp>
      <p:cxnSp>
        <p:nvCxnSpPr>
          <p:cNvPr id="89" name="Connector 88"/>
          <p:cNvCxnSpPr/>
          <p:nvPr/>
        </p:nvCxnSpPr>
        <p:spPr>
          <a:xfrm>
            <a:off x="7260336" y="4114800"/>
            <a:ext cx="1266444" cy="0"/>
          </a:xfrm>
          <a:prstGeom prst="line">
            <a:avLst/>
          </a:prstGeom>
          <a:ln w="7620">
            <a:solidFill>
              <a:srgbClr val="585E6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260336" y="3931920"/>
            <a:ext cx="1303020" cy="182880"/>
          </a:xfrm>
          <a:prstGeom prst="rect">
            <a:avLst/>
          </a:prstGeom>
          <a:noFill/>
        </p:spPr>
        <p:txBody>
          <a:bodyPr wrap="square" lIns="0" tIns="0" rIns="0" bIns="0" anchor="ctr">
            <a:spAutoFit/>
          </a:bodyPr>
          <a:lstStyle/>
          <a:p>
            <a:pPr algn="l"/>
            <a:r>
              <a:rPr sz="720" b="0" i="1">
                <a:solidFill>
                  <a:srgbClr val="984514"/>
                </a:solidFill>
                <a:latin typeface="Arial"/>
              </a:rPr>
              <a:t>registrar a una empleada</a:t>
            </a:r>
          </a:p>
        </p:txBody>
      </p:sp>
      <p:sp>
        <p:nvSpPr>
          <p:cNvPr id="91" name="Rectangle 90"/>
          <p:cNvSpPr/>
          <p:nvPr/>
        </p:nvSpPr>
        <p:spPr>
          <a:xfrm>
            <a:off x="6620255" y="4251960"/>
            <a:ext cx="2089404" cy="34747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693407" y="4251960"/>
            <a:ext cx="1943100" cy="347472"/>
          </a:xfrm>
          <a:prstGeom prst="rect">
            <a:avLst/>
          </a:prstGeom>
          <a:noFill/>
        </p:spPr>
        <p:txBody>
          <a:bodyPr wrap="square" lIns="0" tIns="0" rIns="0" bIns="0" anchor="ctr">
            <a:spAutoFit/>
          </a:bodyPr>
          <a:lstStyle/>
          <a:p>
            <a:pPr algn="l">
              <a:lnSpc>
                <a:spcPct val="100000"/>
              </a:lnSpc>
            </a:pPr>
            <a:r>
              <a:rPr sz="800" b="1" i="0">
                <a:solidFill>
                  <a:srgbClr val="0033A0"/>
                </a:solidFill>
                <a:latin typeface="Courier New"/>
              </a:rPr>
              <a:t>resp.tool_calls</a:t>
            </a:r>
          </a:p>
          <a:p>
            <a:pPr algn="l">
              <a:lnSpc>
                <a:spcPct val="100000"/>
              </a:lnSpc>
            </a:pPr>
            <a:r>
              <a:rPr sz="720" b="0" i="0">
                <a:solidFill>
                  <a:srgbClr val="585E6F"/>
                </a:solidFill>
                <a:latin typeface="Arial"/>
              </a:rPr>
              <a:t>el formulario lleno: casilla y motivo</a:t>
            </a:r>
          </a:p>
        </p:txBody>
      </p:sp>
      <p:sp>
        <p:nvSpPr>
          <p:cNvPr id="93" name="Rectangle 92"/>
          <p:cNvSpPr/>
          <p:nvPr/>
        </p:nvSpPr>
        <p:spPr>
          <a:xfrm>
            <a:off x="9093708" y="2697480"/>
            <a:ext cx="2308860" cy="20116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9203436" y="2807208"/>
            <a:ext cx="274320" cy="274320"/>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9203436" y="2807208"/>
            <a:ext cx="274320" cy="274320"/>
          </a:xfrm>
          <a:prstGeom prst="rect">
            <a:avLst/>
          </a:prstGeom>
          <a:noFill/>
        </p:spPr>
        <p:txBody>
          <a:bodyPr wrap="square" lIns="0" tIns="0" rIns="0" bIns="0" anchor="ctr">
            <a:spAutoFit/>
          </a:bodyPr>
          <a:lstStyle/>
          <a:p>
            <a:pPr algn="ctr"/>
            <a:r>
              <a:rPr sz="1100" b="1" i="0">
                <a:solidFill>
                  <a:srgbClr val="FBF8F0"/>
                </a:solidFill>
                <a:latin typeface="Georgia"/>
              </a:rPr>
              <a:t>4</a:t>
            </a:r>
          </a:p>
        </p:txBody>
      </p:sp>
      <p:sp>
        <p:nvSpPr>
          <p:cNvPr id="96" name="TextBox 95"/>
          <p:cNvSpPr txBox="1"/>
          <p:nvPr/>
        </p:nvSpPr>
        <p:spPr>
          <a:xfrm>
            <a:off x="9550908" y="2788920"/>
            <a:ext cx="1760219" cy="329184"/>
          </a:xfrm>
          <a:prstGeom prst="rect">
            <a:avLst/>
          </a:prstGeom>
          <a:noFill/>
        </p:spPr>
        <p:txBody>
          <a:bodyPr wrap="square" lIns="0" tIns="0" rIns="0" bIns="0" anchor="ctr">
            <a:spAutoFit/>
          </a:bodyPr>
          <a:lstStyle/>
          <a:p>
            <a:pPr algn="l"/>
            <a:r>
              <a:rPr sz="1050" b="1" i="0">
                <a:solidFill>
                  <a:srgbClr val="16181D"/>
                </a:solidFill>
                <a:latin typeface="Arial"/>
              </a:rPr>
              <a:t>El código lee la casilla</a:t>
            </a:r>
          </a:p>
        </p:txBody>
      </p:sp>
      <p:sp>
        <p:nvSpPr>
          <p:cNvPr id="97" name="TextBox 96"/>
          <p:cNvSpPr txBox="1"/>
          <p:nvPr/>
        </p:nvSpPr>
        <p:spPr>
          <a:xfrm>
            <a:off x="9230868" y="3200400"/>
            <a:ext cx="2034540" cy="201168"/>
          </a:xfrm>
          <a:prstGeom prst="rect">
            <a:avLst/>
          </a:prstGeom>
          <a:noFill/>
        </p:spPr>
        <p:txBody>
          <a:bodyPr wrap="square" lIns="0" tIns="0" rIns="0" bIns="0" anchor="t">
            <a:spAutoFit/>
          </a:bodyPr>
          <a:lstStyle/>
          <a:p>
            <a:pPr algn="ctr"/>
            <a:r>
              <a:rPr sz="850" b="1" i="0">
                <a:solidFill>
                  <a:srgbClr val="984514"/>
                </a:solidFill>
                <a:latin typeface="Courier New"/>
              </a:rPr>
              <a:t>transferir_a_altas</a:t>
            </a:r>
          </a:p>
        </p:txBody>
      </p:sp>
      <p:cxnSp>
        <p:nvCxnSpPr>
          <p:cNvPr id="98" name="Connector 97"/>
          <p:cNvCxnSpPr/>
          <p:nvPr/>
        </p:nvCxnSpPr>
        <p:spPr>
          <a:xfrm>
            <a:off x="10248138" y="3429000"/>
            <a:ext cx="0" cy="164592"/>
          </a:xfrm>
          <a:prstGeom prst="line">
            <a:avLst/>
          </a:prstGeom>
          <a:ln w="1524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9230868" y="3593592"/>
            <a:ext cx="2034540" cy="201168"/>
          </a:xfrm>
          <a:prstGeom prst="rect">
            <a:avLst/>
          </a:prstGeom>
          <a:noFill/>
        </p:spPr>
        <p:txBody>
          <a:bodyPr wrap="square" lIns="0" tIns="0" rIns="0" bIns="0" anchor="t">
            <a:spAutoFit/>
          </a:bodyPr>
          <a:lstStyle/>
          <a:p>
            <a:pPr algn="ctr"/>
            <a:r>
              <a:rPr sz="900" b="1" i="0">
                <a:solidFill>
                  <a:srgbClr val="0033A0"/>
                </a:solidFill>
                <a:latin typeface="Courier New"/>
              </a:rPr>
              <a:t>"altas"</a:t>
            </a:r>
          </a:p>
        </p:txBody>
      </p:sp>
      <p:cxnSp>
        <p:nvCxnSpPr>
          <p:cNvPr id="100" name="Connector 99"/>
          <p:cNvCxnSpPr/>
          <p:nvPr/>
        </p:nvCxnSpPr>
        <p:spPr>
          <a:xfrm>
            <a:off x="10248138" y="3803904"/>
            <a:ext cx="0" cy="109728"/>
          </a:xfrm>
          <a:prstGeom prst="line">
            <a:avLst/>
          </a:prstGeom>
          <a:ln w="1524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9322308" y="3922776"/>
            <a:ext cx="1851660" cy="310896"/>
          </a:xfrm>
          <a:prstGeom prst="rect">
            <a:avLst/>
          </a:prstGeom>
          <a:solidFill>
            <a:srgbClr val="DCEBE2"/>
          </a:solidFill>
          <a:ln w="1270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9322308" y="3922776"/>
            <a:ext cx="1851660" cy="310896"/>
          </a:xfrm>
          <a:prstGeom prst="rect">
            <a:avLst/>
          </a:prstGeom>
          <a:noFill/>
        </p:spPr>
        <p:txBody>
          <a:bodyPr wrap="square" lIns="0" tIns="0" rIns="0" bIns="0" anchor="ctr">
            <a:spAutoFit/>
          </a:bodyPr>
          <a:lstStyle/>
          <a:p>
            <a:pPr algn="ctr">
              <a:lnSpc>
                <a:spcPct val="100000"/>
              </a:lnSpc>
            </a:pPr>
            <a:r>
              <a:rPr sz="850" b="1" i="0">
                <a:solidFill>
                  <a:srgbClr val="2E6B4F"/>
                </a:solidFill>
                <a:latin typeface="Arial"/>
              </a:rPr>
              <a:t>ALTAS contesta</a:t>
            </a:r>
          </a:p>
          <a:p>
            <a:pPr algn="ctr">
              <a:lnSpc>
                <a:spcPct val="100000"/>
              </a:lnSpc>
            </a:pPr>
            <a:r>
              <a:rPr sz="700" b="0" i="1">
                <a:solidFill>
                  <a:srgbClr val="2E6B4F"/>
                </a:solidFill>
                <a:latin typeface="Arial"/>
              </a:rPr>
              <a:t>«necesitas nombre, correo…»</a:t>
            </a:r>
          </a:p>
        </p:txBody>
      </p:sp>
      <p:sp>
        <p:nvSpPr>
          <p:cNvPr id="103" name="Rectangle 102"/>
          <p:cNvSpPr/>
          <p:nvPr/>
        </p:nvSpPr>
        <p:spPr>
          <a:xfrm>
            <a:off x="9203436" y="4251960"/>
            <a:ext cx="2089404" cy="34747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9276588" y="4251960"/>
            <a:ext cx="1943100" cy="347472"/>
          </a:xfrm>
          <a:prstGeom prst="rect">
            <a:avLst/>
          </a:prstGeom>
          <a:noFill/>
        </p:spPr>
        <p:txBody>
          <a:bodyPr wrap="square" lIns="0" tIns="0" rIns="0" bIns="0" anchor="ctr">
            <a:spAutoFit/>
          </a:bodyPr>
          <a:lstStyle/>
          <a:p>
            <a:pPr algn="l">
              <a:lnSpc>
                <a:spcPct val="100000"/>
              </a:lnSpc>
            </a:pPr>
            <a:r>
              <a:rPr sz="800" b="1" i="0">
                <a:solidFill>
                  <a:srgbClr val="0033A0"/>
                </a:solidFill>
                <a:latin typeface="Courier New"/>
              </a:rPr>
              <a:t>Command(goto="altas")</a:t>
            </a:r>
          </a:p>
          <a:p>
            <a:pPr algn="l">
              <a:lnSpc>
                <a:spcPct val="100000"/>
              </a:lnSpc>
            </a:pPr>
            <a:r>
              <a:rPr sz="720" b="0" i="0">
                <a:solidFill>
                  <a:srgbClr val="585E6F"/>
                </a:solidFill>
                <a:latin typeface="Arial"/>
              </a:rPr>
              <a:t>se pasa la conversación completa</a:t>
            </a:r>
          </a:p>
        </p:txBody>
      </p:sp>
      <p:sp>
        <p:nvSpPr>
          <p:cNvPr id="105" name="Rectangle 104"/>
          <p:cNvSpPr/>
          <p:nvPr/>
        </p:nvSpPr>
        <p:spPr>
          <a:xfrm>
            <a:off x="1344168" y="4818888"/>
            <a:ext cx="4892040" cy="603504"/>
          </a:xfrm>
          <a:prstGeom prst="rect">
            <a:avLst/>
          </a:prstGeom>
          <a:solidFill>
            <a:srgbClr val="F3E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Rectangle 105"/>
          <p:cNvSpPr/>
          <p:nvPr/>
        </p:nvSpPr>
        <p:spPr>
          <a:xfrm>
            <a:off x="1344168" y="4818888"/>
            <a:ext cx="54864" cy="603504"/>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1554480" y="4834536"/>
            <a:ext cx="4572000" cy="572208"/>
          </a:xfrm>
          <a:prstGeom prst="rect">
            <a:avLst/>
          </a:prstGeom>
          <a:noFill/>
        </p:spPr>
        <p:txBody>
          <a:bodyPr wrap="square" lIns="0" tIns="0" rIns="0" bIns="0" anchor="ctr">
            <a:spAutoFit/>
          </a:bodyPr>
          <a:lstStyle/>
          <a:p>
            <a:pPr algn="l">
              <a:lnSpc>
                <a:spcPct val="105000"/>
              </a:lnSpc>
            </a:pPr>
            <a:r>
              <a:rPr sz="950" b="1" i="0" dirty="0">
                <a:solidFill>
                  <a:srgbClr val="984514"/>
                </a:solidFill>
                <a:latin typeface="Arial"/>
              </a:rPr>
              <a:t>El </a:t>
            </a:r>
            <a:r>
              <a:rPr sz="950" b="1" i="0" dirty="0" err="1">
                <a:solidFill>
                  <a:srgbClr val="984514"/>
                </a:solidFill>
                <a:latin typeface="Arial"/>
              </a:rPr>
              <a:t>formulario</a:t>
            </a:r>
            <a:r>
              <a:rPr sz="950" b="1" i="0" dirty="0">
                <a:solidFill>
                  <a:srgbClr val="984514"/>
                </a:solidFill>
                <a:latin typeface="Arial"/>
              </a:rPr>
              <a:t> no </a:t>
            </a:r>
            <a:r>
              <a:rPr sz="950" b="1" i="0" dirty="0" err="1">
                <a:solidFill>
                  <a:srgbClr val="984514"/>
                </a:solidFill>
                <a:latin typeface="Arial"/>
              </a:rPr>
              <a:t>hace</a:t>
            </a:r>
            <a:r>
              <a:rPr sz="950" b="1" i="0" dirty="0">
                <a:solidFill>
                  <a:srgbClr val="984514"/>
                </a:solidFill>
                <a:latin typeface="Arial"/>
              </a:rPr>
              <a:t> nada: solo se lee.</a:t>
            </a:r>
          </a:p>
          <a:p>
            <a:pPr>
              <a:lnSpc>
                <a:spcPct val="105000"/>
              </a:lnSpc>
            </a:pPr>
            <a:r>
              <a:rPr lang="es-MX" sz="850" dirty="0">
                <a:solidFill>
                  <a:srgbClr val="16181D"/>
                </a:solidFill>
                <a:latin typeface="Arial"/>
              </a:rPr>
              <a:t>Su función es </a:t>
            </a:r>
            <a:r>
              <a:rPr lang="es-MX" sz="900" dirty="0"/>
              <a:t>convertir la decisión del modelo en algo que el código pueda leer sin </a:t>
            </a:r>
            <a:r>
              <a:rPr lang="es-MX" sz="850" dirty="0"/>
              <a:t>ambigüedad</a:t>
            </a:r>
          </a:p>
          <a:p>
            <a:pPr>
              <a:lnSpc>
                <a:spcPct val="105000"/>
              </a:lnSpc>
            </a:pPr>
            <a:r>
              <a:rPr sz="850" b="0" i="0" dirty="0">
                <a:solidFill>
                  <a:srgbClr val="16181D"/>
                </a:solidFill>
                <a:latin typeface="Arial"/>
              </a:rPr>
              <a:t> @tool </a:t>
            </a:r>
            <a:r>
              <a:rPr sz="850" b="0" i="0" dirty="0" err="1">
                <a:solidFill>
                  <a:srgbClr val="16181D"/>
                </a:solidFill>
                <a:latin typeface="Arial"/>
              </a:rPr>
              <a:t>nunca</a:t>
            </a:r>
            <a:r>
              <a:rPr sz="850" b="0" i="0" dirty="0">
                <a:solidFill>
                  <a:srgbClr val="16181D"/>
                </a:solidFill>
                <a:latin typeface="Arial"/>
              </a:rPr>
              <a:t> se </a:t>
            </a:r>
            <a:r>
              <a:rPr sz="850" b="0" i="0" dirty="0" err="1">
                <a:solidFill>
                  <a:srgbClr val="16181D"/>
                </a:solidFill>
                <a:latin typeface="Arial"/>
              </a:rPr>
              <a:t>ejecuta</a:t>
            </a:r>
            <a:r>
              <a:rPr sz="850" b="0" i="0" dirty="0">
                <a:solidFill>
                  <a:srgbClr val="16181D"/>
                </a:solidFill>
                <a:latin typeface="Arial"/>
              </a:rPr>
              <a:t>: </a:t>
            </a:r>
            <a:r>
              <a:rPr sz="850" b="0" i="0" dirty="0" err="1">
                <a:solidFill>
                  <a:srgbClr val="16181D"/>
                </a:solidFill>
                <a:latin typeface="Arial"/>
              </a:rPr>
              <a:t>si</a:t>
            </a:r>
            <a:r>
              <a:rPr lang="es-419" sz="850" dirty="0">
                <a:solidFill>
                  <a:srgbClr val="16181D"/>
                </a:solidFill>
                <a:latin typeface="Arial"/>
              </a:rPr>
              <a:t>rve para acotarle al modelo las opciones, a que casilla debe ir</a:t>
            </a:r>
            <a:endParaRPr sz="850" b="0" i="0" dirty="0">
              <a:solidFill>
                <a:srgbClr val="16181D"/>
              </a:solidFill>
              <a:latin typeface="Arial"/>
            </a:endParaRPr>
          </a:p>
        </p:txBody>
      </p:sp>
      <p:sp>
        <p:nvSpPr>
          <p:cNvPr id="108" name="Rectangle 107"/>
          <p:cNvSpPr/>
          <p:nvPr/>
        </p:nvSpPr>
        <p:spPr>
          <a:xfrm>
            <a:off x="6510527" y="4818888"/>
            <a:ext cx="4892040" cy="603504"/>
          </a:xfrm>
          <a:prstGeom prst="rect">
            <a:avLst/>
          </a:prstGeom>
          <a:solidFill>
            <a:srgbClr val="DC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Rectangle 108"/>
          <p:cNvSpPr/>
          <p:nvPr/>
        </p:nvSpPr>
        <p:spPr>
          <a:xfrm>
            <a:off x="6510527" y="4818888"/>
            <a:ext cx="54864" cy="603504"/>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6720840" y="4818888"/>
            <a:ext cx="4572000" cy="603504"/>
          </a:xfrm>
          <a:prstGeom prst="rect">
            <a:avLst/>
          </a:prstGeom>
          <a:noFill/>
        </p:spPr>
        <p:txBody>
          <a:bodyPr wrap="square" lIns="0" tIns="0" rIns="0" bIns="0" anchor="ctr">
            <a:spAutoFit/>
          </a:bodyPr>
          <a:lstStyle/>
          <a:p>
            <a:pPr algn="l">
              <a:lnSpc>
                <a:spcPct val="105000"/>
              </a:lnSpc>
            </a:pPr>
            <a:r>
              <a:rPr sz="950" b="1" i="0">
                <a:solidFill>
                  <a:srgbClr val="2E6B4F"/>
                </a:solidFill>
                <a:latin typeface="Arial"/>
              </a:rPr>
              <a:t>¿Y si el tema sí es suyo?</a:t>
            </a:r>
          </a:p>
          <a:p>
            <a:pPr algn="l">
              <a:lnSpc>
                <a:spcPct val="105000"/>
              </a:lnSpc>
            </a:pPr>
            <a:r>
              <a:rPr sz="850" b="0" i="0">
                <a:solidFill>
                  <a:srgbClr val="16181D"/>
                </a:solidFill>
                <a:latin typeface="Arial"/>
              </a:rPr>
              <a:t>No llena el formulario: contesta con texto y la conversación termina (goto="__end__").</a:t>
            </a:r>
          </a:p>
        </p:txBody>
      </p:sp>
      <p:sp>
        <p:nvSpPr>
          <p:cNvPr id="111" name="Rectangle 110"/>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111"/>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1527048" y="5541264"/>
            <a:ext cx="9784080" cy="457200"/>
          </a:xfrm>
          <a:prstGeom prst="rect">
            <a:avLst/>
          </a:prstGeom>
          <a:noFill/>
        </p:spPr>
        <p:txBody>
          <a:bodyPr wrap="square" lIns="0" tIns="0" rIns="0" bIns="0" anchor="ctr">
            <a:spAutoFit/>
          </a:bodyPr>
          <a:lstStyle/>
          <a:p>
            <a:pPr algn="l"/>
            <a:r>
              <a:rPr sz="1100" b="1" i="0" dirty="0" err="1">
                <a:solidFill>
                  <a:srgbClr val="0033A0"/>
                </a:solidFill>
                <a:latin typeface="Arial"/>
              </a:rPr>
              <a:t>Herramienta</a:t>
            </a:r>
            <a:r>
              <a:rPr sz="1100" b="1" i="0" dirty="0">
                <a:solidFill>
                  <a:srgbClr val="0033A0"/>
                </a:solidFill>
                <a:latin typeface="Arial"/>
              </a:rPr>
              <a:t> de </a:t>
            </a:r>
            <a:r>
              <a:rPr sz="1100" b="1" i="0" dirty="0" err="1">
                <a:solidFill>
                  <a:srgbClr val="0033A0"/>
                </a:solidFill>
                <a:latin typeface="Arial"/>
              </a:rPr>
              <a:t>traspaso</a:t>
            </a:r>
            <a:r>
              <a:rPr sz="1100" b="1" i="0" dirty="0">
                <a:solidFill>
                  <a:srgbClr val="0033A0"/>
                </a:solidFill>
                <a:latin typeface="Arial"/>
              </a:rPr>
              <a:t> = </a:t>
            </a:r>
            <a:r>
              <a:rPr sz="1100" b="1" i="0" dirty="0" err="1">
                <a:solidFill>
                  <a:srgbClr val="0033A0"/>
                </a:solidFill>
                <a:latin typeface="Arial"/>
              </a:rPr>
              <a:t>formulario</a:t>
            </a:r>
            <a:r>
              <a:rPr sz="1100" b="1" i="0" dirty="0">
                <a:solidFill>
                  <a:srgbClr val="0033A0"/>
                </a:solidFill>
                <a:latin typeface="Arial"/>
              </a:rPr>
              <a:t>: </a:t>
            </a:r>
            <a:r>
              <a:rPr sz="1100" b="0" i="0" dirty="0" err="1">
                <a:solidFill>
                  <a:srgbClr val="16181D"/>
                </a:solidFill>
                <a:latin typeface="Arial"/>
              </a:rPr>
              <a:t>el</a:t>
            </a:r>
            <a:r>
              <a:rPr sz="1100" b="0" i="0" dirty="0">
                <a:solidFill>
                  <a:srgbClr val="16181D"/>
                </a:solidFill>
                <a:latin typeface="Arial"/>
              </a:rPr>
              <a:t> </a:t>
            </a:r>
            <a:r>
              <a:rPr sz="1100" b="0" i="0" dirty="0" err="1">
                <a:solidFill>
                  <a:srgbClr val="16181D"/>
                </a:solidFill>
                <a:latin typeface="Arial"/>
              </a:rPr>
              <a:t>modelo</a:t>
            </a:r>
            <a:r>
              <a:rPr sz="1100" b="0" i="0" dirty="0">
                <a:solidFill>
                  <a:srgbClr val="16181D"/>
                </a:solidFill>
                <a:latin typeface="Arial"/>
              </a:rPr>
              <a:t> </a:t>
            </a:r>
            <a:r>
              <a:rPr sz="1100" b="0" i="0" dirty="0" err="1">
                <a:solidFill>
                  <a:srgbClr val="16181D"/>
                </a:solidFill>
                <a:latin typeface="Arial"/>
              </a:rPr>
              <a:t>marca</a:t>
            </a:r>
            <a:r>
              <a:rPr sz="1100" b="0" i="0" dirty="0">
                <a:solidFill>
                  <a:srgbClr val="16181D"/>
                </a:solidFill>
                <a:latin typeface="Arial"/>
              </a:rPr>
              <a:t> a </a:t>
            </a:r>
            <a:r>
              <a:rPr sz="1100" b="0" i="0" dirty="0" err="1">
                <a:solidFill>
                  <a:srgbClr val="16181D"/>
                </a:solidFill>
                <a:latin typeface="Arial"/>
              </a:rPr>
              <a:t>quién</a:t>
            </a:r>
            <a:r>
              <a:rPr sz="1100" b="0" i="0" dirty="0">
                <a:solidFill>
                  <a:srgbClr val="16181D"/>
                </a:solidFill>
                <a:latin typeface="Arial"/>
              </a:rPr>
              <a:t> </a:t>
            </a:r>
            <a:r>
              <a:rPr sz="1100" b="0" i="0" dirty="0" err="1">
                <a:solidFill>
                  <a:srgbClr val="16181D"/>
                </a:solidFill>
                <a:latin typeface="Arial"/>
              </a:rPr>
              <a:t>pasarle</a:t>
            </a:r>
            <a:r>
              <a:rPr sz="1100" b="0" i="0" dirty="0">
                <a:solidFill>
                  <a:srgbClr val="16181D"/>
                </a:solidFill>
                <a:latin typeface="Arial"/>
              </a:rPr>
              <a:t> la </a:t>
            </a:r>
            <a:r>
              <a:rPr sz="1100" b="0" i="0" dirty="0" err="1">
                <a:solidFill>
                  <a:srgbClr val="16181D"/>
                </a:solidFill>
                <a:latin typeface="Arial"/>
              </a:rPr>
              <a:t>conversación</a:t>
            </a:r>
            <a:r>
              <a:rPr sz="1100" b="0" i="0" dirty="0">
                <a:solidFill>
                  <a:srgbClr val="16181D"/>
                </a:solidFill>
                <a:latin typeface="Arial"/>
              </a:rPr>
              <a:t>; </a:t>
            </a:r>
            <a:r>
              <a:rPr sz="1100" b="0" i="0" dirty="0" err="1">
                <a:solidFill>
                  <a:srgbClr val="16181D"/>
                </a:solidFill>
                <a:latin typeface="Arial"/>
              </a:rPr>
              <a:t>el</a:t>
            </a:r>
            <a:r>
              <a:rPr sz="1100" b="0" i="0" dirty="0">
                <a:solidFill>
                  <a:srgbClr val="16181D"/>
                </a:solidFill>
                <a:latin typeface="Arial"/>
              </a:rPr>
              <a:t> </a:t>
            </a:r>
            <a:r>
              <a:rPr sz="1100" b="0" i="0" dirty="0" err="1">
                <a:solidFill>
                  <a:srgbClr val="16181D"/>
                </a:solidFill>
                <a:latin typeface="Arial"/>
              </a:rPr>
              <a:t>código</a:t>
            </a:r>
            <a:r>
              <a:rPr sz="1100" b="0" i="0" dirty="0">
                <a:solidFill>
                  <a:srgbClr val="16181D"/>
                </a:solidFill>
                <a:latin typeface="Arial"/>
              </a:rPr>
              <a:t> lee la </a:t>
            </a:r>
            <a:r>
              <a:rPr sz="1100" b="0" i="0" dirty="0" err="1">
                <a:solidFill>
                  <a:srgbClr val="16181D"/>
                </a:solidFill>
                <a:latin typeface="Arial"/>
              </a:rPr>
              <a:t>marca</a:t>
            </a:r>
            <a:r>
              <a:rPr sz="1100" b="0" i="0" dirty="0">
                <a:solidFill>
                  <a:srgbClr val="16181D"/>
                </a:solidFill>
                <a:latin typeface="Arial"/>
              </a:rPr>
              <a:t> y </a:t>
            </a:r>
            <a:r>
              <a:rPr sz="1100" b="0" i="0" dirty="0" err="1">
                <a:solidFill>
                  <a:srgbClr val="16181D"/>
                </a:solidFill>
                <a:latin typeface="Arial"/>
              </a:rPr>
              <a:t>hace</a:t>
            </a:r>
            <a:r>
              <a:rPr sz="1100" b="0" i="0" dirty="0">
                <a:solidFill>
                  <a:srgbClr val="16181D"/>
                </a:solidFill>
                <a:latin typeface="Arial"/>
              </a:rPr>
              <a:t> </a:t>
            </a:r>
            <a:r>
              <a:rPr sz="1100" b="0" i="0" dirty="0" err="1">
                <a:solidFill>
                  <a:srgbClr val="16181D"/>
                </a:solidFill>
                <a:latin typeface="Arial"/>
              </a:rPr>
              <a:t>el</a:t>
            </a:r>
            <a:r>
              <a:rPr sz="1100" b="0" i="0" dirty="0">
                <a:solidFill>
                  <a:srgbClr val="16181D"/>
                </a:solidFill>
                <a:latin typeface="Arial"/>
              </a:rPr>
              <a:t> </a:t>
            </a:r>
            <a:r>
              <a:rPr sz="1100" b="0" i="0" dirty="0" err="1">
                <a:solidFill>
                  <a:srgbClr val="16181D"/>
                </a:solidFill>
                <a:latin typeface="Arial"/>
              </a:rPr>
              <a:t>traspaso</a:t>
            </a:r>
            <a:r>
              <a:rPr sz="1100" b="0" i="0" dirty="0">
                <a:solidFill>
                  <a:srgbClr val="16181D"/>
                </a:solidFill>
                <a:latin typeface="Arial"/>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4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TRASPASOS · LOS MENSAJES</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¿Por qué usamos los mensajes de LangChain?</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029968"/>
            <a:ext cx="10058400" cy="50292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029968"/>
            <a:ext cx="54864" cy="50292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029968"/>
            <a:ext cx="9692640" cy="502920"/>
          </a:xfrm>
          <a:prstGeom prst="rect">
            <a:avLst/>
          </a:prstGeom>
          <a:noFill/>
        </p:spPr>
        <p:txBody>
          <a:bodyPr wrap="square" lIns="0" tIns="0" rIns="0" bIns="0" anchor="ctr">
            <a:spAutoFit/>
          </a:bodyPr>
          <a:lstStyle/>
          <a:p>
            <a:pPr algn="l"/>
            <a:r>
              <a:rPr sz="1300" b="0" i="0">
                <a:solidFill>
                  <a:srgbClr val="16181D"/>
                </a:solidFill>
                <a:latin typeface="Georgia"/>
              </a:rPr>
              <a:t>En traspasos el estado </a:t>
            </a:r>
            <a:r>
              <a:rPr sz="1300" b="1" i="0">
                <a:solidFill>
                  <a:srgbClr val="0033A0"/>
                </a:solidFill>
                <a:latin typeface="Georgia"/>
              </a:rPr>
              <a:t>es una conversación</a:t>
            </a:r>
            <a:r>
              <a:rPr sz="1300" b="0" i="0">
                <a:solidFill>
                  <a:srgbClr val="16181D"/>
                </a:solidFill>
                <a:latin typeface="Georgia"/>
              </a:rPr>
              <a:t> que viaja de agente a agente. Los mensajes de LangChain la guardan con </a:t>
            </a:r>
            <a:r>
              <a:rPr sz="1300" b="1" i="0">
                <a:solidFill>
                  <a:srgbClr val="16181D"/>
                </a:solidFill>
                <a:latin typeface="Georgia"/>
              </a:rPr>
              <a:t>quién dijo qué</a:t>
            </a:r>
            <a:r>
              <a:rPr sz="1300" b="0" i="0">
                <a:solidFill>
                  <a:srgbClr val="16181D"/>
                </a:solidFill>
                <a:latin typeface="Georgia"/>
              </a:rPr>
              <a:t>.</a:t>
            </a:r>
          </a:p>
        </p:txBody>
      </p:sp>
      <p:sp>
        <p:nvSpPr>
          <p:cNvPr id="47" name="Rectangle 46"/>
          <p:cNvSpPr/>
          <p:nvPr/>
        </p:nvSpPr>
        <p:spPr>
          <a:xfrm>
            <a:off x="1344168" y="2697480"/>
            <a:ext cx="5257800" cy="2724912"/>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508760" y="2788920"/>
            <a:ext cx="4983480" cy="228600"/>
          </a:xfrm>
          <a:prstGeom prst="rect">
            <a:avLst/>
          </a:prstGeom>
          <a:noFill/>
        </p:spPr>
        <p:txBody>
          <a:bodyPr wrap="square" lIns="0" tIns="0" rIns="0" bIns="0" anchor="ctr">
            <a:spAutoFit/>
          </a:bodyPr>
          <a:lstStyle/>
          <a:p>
            <a:pPr algn="l"/>
            <a:r>
              <a:rPr sz="950" b="1" i="0">
                <a:solidFill>
                  <a:srgbClr val="16181D"/>
                </a:solidFill>
                <a:latin typeface="Arial"/>
              </a:rPr>
              <a:t>El agente de ALTAS recibe las tres de arriba y contesta la de abajo</a:t>
            </a:r>
          </a:p>
        </p:txBody>
      </p:sp>
      <p:sp>
        <p:nvSpPr>
          <p:cNvPr id="49" name="Rounded Rectangle 48"/>
          <p:cNvSpPr/>
          <p:nvPr/>
        </p:nvSpPr>
        <p:spPr>
          <a:xfrm>
            <a:off x="1572768" y="3136392"/>
            <a:ext cx="3794760" cy="457200"/>
          </a:xfrm>
          <a:prstGeom prst="roundRect">
            <a:avLst>
              <a:gd name="adj" fmla="val 18000"/>
            </a:avLst>
          </a:prstGeom>
          <a:solidFill>
            <a:srgbClr val="ECE8DE"/>
          </a:solidFill>
          <a:ln w="1397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700784" y="3163824"/>
            <a:ext cx="3566160" cy="182880"/>
          </a:xfrm>
          <a:prstGeom prst="rect">
            <a:avLst/>
          </a:prstGeom>
          <a:noFill/>
        </p:spPr>
        <p:txBody>
          <a:bodyPr wrap="square" lIns="0" tIns="0" rIns="0" bIns="0" anchor="t">
            <a:spAutoFit/>
          </a:bodyPr>
          <a:lstStyle/>
          <a:p>
            <a:pPr algn="l"/>
            <a:r>
              <a:rPr sz="850" b="1" i="0">
                <a:solidFill>
                  <a:srgbClr val="585E6F"/>
                </a:solidFill>
                <a:latin typeface="Courier New"/>
              </a:rPr>
              <a:t>SystemMessage</a:t>
            </a:r>
            <a:r>
              <a:rPr sz="750" b="0" i="0">
                <a:solidFill>
                  <a:srgbClr val="585E6F"/>
                </a:solidFill>
                <a:latin typeface="Arial"/>
              </a:rPr>
              <a:t>  · instrucción del agente</a:t>
            </a:r>
          </a:p>
        </p:txBody>
      </p:sp>
      <p:sp>
        <p:nvSpPr>
          <p:cNvPr id="51" name="TextBox 50"/>
          <p:cNvSpPr txBox="1"/>
          <p:nvPr/>
        </p:nvSpPr>
        <p:spPr>
          <a:xfrm>
            <a:off x="1700784" y="3355848"/>
            <a:ext cx="3566160" cy="201168"/>
          </a:xfrm>
          <a:prstGeom prst="rect">
            <a:avLst/>
          </a:prstGeom>
          <a:noFill/>
        </p:spPr>
        <p:txBody>
          <a:bodyPr wrap="square" lIns="0" tIns="0" rIns="0" bIns="0" anchor="t">
            <a:spAutoFit/>
          </a:bodyPr>
          <a:lstStyle/>
          <a:p>
            <a:pPr algn="l"/>
            <a:r>
              <a:rPr sz="819" b="0" i="1">
                <a:solidFill>
                  <a:srgbClr val="16181D"/>
                </a:solidFill>
                <a:latin typeface="Arial"/>
              </a:rPr>
              <a:t>«Atiendes altas y bajas. Explica qué datos se necesitan…»</a:t>
            </a:r>
          </a:p>
        </p:txBody>
      </p:sp>
      <p:sp>
        <p:nvSpPr>
          <p:cNvPr id="52" name="Rounded Rectangle 51"/>
          <p:cNvSpPr/>
          <p:nvPr/>
        </p:nvSpPr>
        <p:spPr>
          <a:xfrm>
            <a:off x="1572768" y="3685032"/>
            <a:ext cx="3794760" cy="457200"/>
          </a:xfrm>
          <a:prstGeom prst="roundRect">
            <a:avLst>
              <a:gd name="adj" fmla="val 18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700784" y="3712464"/>
            <a:ext cx="3566160" cy="182880"/>
          </a:xfrm>
          <a:prstGeom prst="rect">
            <a:avLst/>
          </a:prstGeom>
          <a:noFill/>
        </p:spPr>
        <p:txBody>
          <a:bodyPr wrap="square" lIns="0" tIns="0" rIns="0" bIns="0" anchor="t">
            <a:spAutoFit/>
          </a:bodyPr>
          <a:lstStyle/>
          <a:p>
            <a:pPr algn="l"/>
            <a:r>
              <a:rPr sz="850" b="1" i="0">
                <a:solidFill>
                  <a:srgbClr val="0033A0"/>
                </a:solidFill>
                <a:latin typeface="Courier New"/>
              </a:rPr>
              <a:t>HumanMessage</a:t>
            </a:r>
            <a:r>
              <a:rPr sz="750" b="0" i="0">
                <a:solidFill>
                  <a:srgbClr val="585E6F"/>
                </a:solidFill>
                <a:latin typeface="Arial"/>
              </a:rPr>
              <a:t>  · pregunta del usuario</a:t>
            </a:r>
          </a:p>
        </p:txBody>
      </p:sp>
      <p:sp>
        <p:nvSpPr>
          <p:cNvPr id="54" name="TextBox 53"/>
          <p:cNvSpPr txBox="1"/>
          <p:nvPr/>
        </p:nvSpPr>
        <p:spPr>
          <a:xfrm>
            <a:off x="1700784" y="3904488"/>
            <a:ext cx="3566160" cy="201168"/>
          </a:xfrm>
          <a:prstGeom prst="rect">
            <a:avLst/>
          </a:prstGeom>
          <a:noFill/>
        </p:spPr>
        <p:txBody>
          <a:bodyPr wrap="square" lIns="0" tIns="0" rIns="0" bIns="0" anchor="t">
            <a:spAutoFit/>
          </a:bodyPr>
          <a:lstStyle/>
          <a:p>
            <a:pPr algn="l"/>
            <a:r>
              <a:rPr sz="819" b="0" i="1">
                <a:solidFill>
                  <a:srgbClr val="16181D"/>
                </a:solidFill>
                <a:latin typeface="Arial"/>
              </a:rPr>
              <a:t>«Quiero dar de alta a una analista en Finanzas»</a:t>
            </a:r>
          </a:p>
        </p:txBody>
      </p:sp>
      <p:sp>
        <p:nvSpPr>
          <p:cNvPr id="55" name="Rounded Rectangle 54"/>
          <p:cNvSpPr/>
          <p:nvPr/>
        </p:nvSpPr>
        <p:spPr>
          <a:xfrm>
            <a:off x="1572768" y="4233672"/>
            <a:ext cx="3794760" cy="457200"/>
          </a:xfrm>
          <a:prstGeom prst="roundRect">
            <a:avLst>
              <a:gd name="adj" fmla="val 18000"/>
            </a:avLst>
          </a:prstGeom>
          <a:solidFill>
            <a:srgbClr val="F3E0D2"/>
          </a:solidFill>
          <a:ln w="13970">
            <a:solidFill>
              <a:srgbClr val="98451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700784" y="4261104"/>
            <a:ext cx="3566160" cy="182880"/>
          </a:xfrm>
          <a:prstGeom prst="rect">
            <a:avLst/>
          </a:prstGeom>
          <a:noFill/>
        </p:spPr>
        <p:txBody>
          <a:bodyPr wrap="square" lIns="0" tIns="0" rIns="0" bIns="0" anchor="t">
            <a:spAutoFit/>
          </a:bodyPr>
          <a:lstStyle/>
          <a:p>
            <a:pPr algn="l"/>
            <a:r>
              <a:rPr sz="850" b="1" i="0">
                <a:solidFill>
                  <a:srgbClr val="984514"/>
                </a:solidFill>
                <a:latin typeface="Courier New"/>
              </a:rPr>
              <a:t>HumanMessage</a:t>
            </a:r>
            <a:r>
              <a:rPr sz="750" b="0" i="0">
                <a:solidFill>
                  <a:srgbClr val="585E6F"/>
                </a:solidFill>
                <a:latin typeface="Arial"/>
              </a:rPr>
              <a:t>  · nota del traspaso</a:t>
            </a:r>
          </a:p>
        </p:txBody>
      </p:sp>
      <p:sp>
        <p:nvSpPr>
          <p:cNvPr id="57" name="TextBox 56"/>
          <p:cNvSpPr txBox="1"/>
          <p:nvPr/>
        </p:nvSpPr>
        <p:spPr>
          <a:xfrm>
            <a:off x="1700784" y="4453128"/>
            <a:ext cx="3566160" cy="201168"/>
          </a:xfrm>
          <a:prstGeom prst="rect">
            <a:avLst/>
          </a:prstGeom>
          <a:noFill/>
        </p:spPr>
        <p:txBody>
          <a:bodyPr wrap="square" lIns="0" tIns="0" rIns="0" bIns="0" anchor="t">
            <a:spAutoFit/>
          </a:bodyPr>
          <a:lstStyle/>
          <a:p>
            <a:pPr algn="l"/>
            <a:r>
              <a:rPr sz="819" b="0" i="1">
                <a:solidFill>
                  <a:srgbClr val="16181D"/>
                </a:solidFill>
                <a:latin typeface="Arial"/>
              </a:rPr>
              <a:t>«[Traspaso: recepción pasa la conversación a altas…]»</a:t>
            </a:r>
          </a:p>
        </p:txBody>
      </p:sp>
      <p:sp>
        <p:nvSpPr>
          <p:cNvPr id="58" name="Rounded Rectangle 57"/>
          <p:cNvSpPr/>
          <p:nvPr/>
        </p:nvSpPr>
        <p:spPr>
          <a:xfrm>
            <a:off x="2578608" y="4782312"/>
            <a:ext cx="3794760" cy="457200"/>
          </a:xfrm>
          <a:prstGeom prst="roundRect">
            <a:avLst>
              <a:gd name="adj" fmla="val 18000"/>
            </a:avLst>
          </a:prstGeom>
          <a:solidFill>
            <a:srgbClr val="DCEBE2"/>
          </a:solidFill>
          <a:ln w="1397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2706624" y="4809744"/>
            <a:ext cx="3566160" cy="182880"/>
          </a:xfrm>
          <a:prstGeom prst="rect">
            <a:avLst/>
          </a:prstGeom>
          <a:noFill/>
        </p:spPr>
        <p:txBody>
          <a:bodyPr wrap="square" lIns="0" tIns="0" rIns="0" bIns="0" anchor="t">
            <a:spAutoFit/>
          </a:bodyPr>
          <a:lstStyle/>
          <a:p>
            <a:pPr algn="l"/>
            <a:r>
              <a:rPr sz="850" b="1" i="0">
                <a:solidFill>
                  <a:srgbClr val="2E6B4F"/>
                </a:solidFill>
                <a:latin typeface="Courier New"/>
              </a:rPr>
              <a:t>AIMessage</a:t>
            </a:r>
            <a:r>
              <a:rPr sz="750" b="0" i="0">
                <a:solidFill>
                  <a:srgbClr val="585E6F"/>
                </a:solidFill>
                <a:latin typeface="Arial"/>
              </a:rPr>
              <a:t>  · respuesta del modelo</a:t>
            </a:r>
          </a:p>
        </p:txBody>
      </p:sp>
      <p:sp>
        <p:nvSpPr>
          <p:cNvPr id="60" name="TextBox 59"/>
          <p:cNvSpPr txBox="1"/>
          <p:nvPr/>
        </p:nvSpPr>
        <p:spPr>
          <a:xfrm>
            <a:off x="2706624" y="5001768"/>
            <a:ext cx="3566160" cy="201168"/>
          </a:xfrm>
          <a:prstGeom prst="rect">
            <a:avLst/>
          </a:prstGeom>
          <a:noFill/>
        </p:spPr>
        <p:txBody>
          <a:bodyPr wrap="square" lIns="0" tIns="0" rIns="0" bIns="0" anchor="t">
            <a:spAutoFit/>
          </a:bodyPr>
          <a:lstStyle/>
          <a:p>
            <a:pPr algn="l"/>
            <a:r>
              <a:rPr sz="819" b="0" i="1">
                <a:solidFill>
                  <a:srgbClr val="16181D"/>
                </a:solidFill>
                <a:latin typeface="Arial"/>
              </a:rPr>
              <a:t>«Necesitas nombre, correo @empresa.com y departamento…»</a:t>
            </a:r>
          </a:p>
        </p:txBody>
      </p:sp>
      <p:sp>
        <p:nvSpPr>
          <p:cNvPr id="61" name="TextBox 60"/>
          <p:cNvSpPr txBox="1"/>
          <p:nvPr/>
        </p:nvSpPr>
        <p:spPr>
          <a:xfrm>
            <a:off x="1572768" y="5294375"/>
            <a:ext cx="4892040" cy="182880"/>
          </a:xfrm>
          <a:prstGeom prst="rect">
            <a:avLst/>
          </a:prstGeom>
          <a:noFill/>
        </p:spPr>
        <p:txBody>
          <a:bodyPr wrap="square" lIns="0" tIns="0" rIns="0" bIns="0" anchor="t">
            <a:spAutoFit/>
          </a:bodyPr>
          <a:lstStyle/>
          <a:p>
            <a:pPr algn="l"/>
            <a:r>
              <a:rPr sz="750" b="0" i="0">
                <a:solidFill>
                  <a:srgbClr val="585E6F"/>
                </a:solidFill>
                <a:latin typeface="Arial"/>
              </a:rPr>
              <a:t>la nota y la respuesta entran al estado con </a:t>
            </a:r>
            <a:r>
              <a:rPr sz="750" b="1" i="0">
                <a:solidFill>
                  <a:srgbClr val="0033A0"/>
                </a:solidFill>
                <a:latin typeface="Courier New"/>
              </a:rPr>
              <a:t>add_messages</a:t>
            </a:r>
            <a:r>
              <a:rPr sz="750" b="0" i="0">
                <a:solidFill>
                  <a:srgbClr val="585E6F"/>
                </a:solidFill>
                <a:latin typeface="Arial"/>
              </a:rPr>
              <a:t>, al final y en orden</a:t>
            </a:r>
          </a:p>
        </p:txBody>
      </p:sp>
      <p:sp>
        <p:nvSpPr>
          <p:cNvPr id="62" name="Rectangle 61"/>
          <p:cNvSpPr/>
          <p:nvPr/>
        </p:nvSpPr>
        <p:spPr>
          <a:xfrm>
            <a:off x="6830568" y="2697480"/>
            <a:ext cx="4572000" cy="598932"/>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6958583" y="2841498"/>
            <a:ext cx="310896" cy="31089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958583" y="2841498"/>
            <a:ext cx="310896" cy="310896"/>
          </a:xfrm>
          <a:prstGeom prst="rect">
            <a:avLst/>
          </a:prstGeom>
          <a:noFill/>
        </p:spPr>
        <p:txBody>
          <a:bodyPr wrap="square" lIns="0" tIns="0" rIns="0" bIns="0" anchor="ctr">
            <a:spAutoFit/>
          </a:bodyPr>
          <a:lstStyle/>
          <a:p>
            <a:pPr algn="ctr"/>
            <a:r>
              <a:rPr sz="1100" b="1" i="0">
                <a:solidFill>
                  <a:srgbClr val="FBF8F0"/>
                </a:solidFill>
                <a:latin typeface="Georgia"/>
              </a:rPr>
              <a:t>1</a:t>
            </a:r>
          </a:p>
        </p:txBody>
      </p:sp>
      <p:sp>
        <p:nvSpPr>
          <p:cNvPr id="65" name="TextBox 64"/>
          <p:cNvSpPr txBox="1"/>
          <p:nvPr/>
        </p:nvSpPr>
        <p:spPr>
          <a:xfrm>
            <a:off x="7397496" y="2734056"/>
            <a:ext cx="3886200" cy="525780"/>
          </a:xfrm>
          <a:prstGeom prst="rect">
            <a:avLst/>
          </a:prstGeom>
          <a:noFill/>
        </p:spPr>
        <p:txBody>
          <a:bodyPr wrap="square" lIns="0" tIns="0" rIns="0" bIns="0" anchor="ctr">
            <a:spAutoFit/>
          </a:bodyPr>
          <a:lstStyle/>
          <a:p>
            <a:pPr algn="l">
              <a:lnSpc>
                <a:spcPct val="100000"/>
              </a:lnSpc>
            </a:pPr>
            <a:r>
              <a:rPr sz="1000" b="1" i="0">
                <a:solidFill>
                  <a:srgbClr val="0033A0"/>
                </a:solidFill>
                <a:latin typeface="Arial"/>
              </a:rPr>
              <a:t>Dicen quién habla</a:t>
            </a:r>
          </a:p>
          <a:p>
            <a:pPr algn="l">
              <a:lnSpc>
                <a:spcPct val="100000"/>
              </a:lnSpc>
            </a:pPr>
            <a:r>
              <a:rPr sz="830" b="0" i="0">
                <a:solidFill>
                  <a:srgbClr val="16181D"/>
                </a:solidFill>
                <a:latin typeface="Arial"/>
              </a:rPr>
              <a:t>Cada clase marca un rol. Es lo mismo que el {"role": "user"} del Lab 1, pero como objeto.</a:t>
            </a:r>
          </a:p>
        </p:txBody>
      </p:sp>
      <p:sp>
        <p:nvSpPr>
          <p:cNvPr id="66" name="Rectangle 65"/>
          <p:cNvSpPr/>
          <p:nvPr/>
        </p:nvSpPr>
        <p:spPr>
          <a:xfrm>
            <a:off x="6830568" y="3406140"/>
            <a:ext cx="4572000" cy="598932"/>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6958583" y="3550158"/>
            <a:ext cx="310896" cy="31089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958583" y="3550158"/>
            <a:ext cx="310896" cy="310896"/>
          </a:xfrm>
          <a:prstGeom prst="rect">
            <a:avLst/>
          </a:prstGeom>
          <a:noFill/>
        </p:spPr>
        <p:txBody>
          <a:bodyPr wrap="square" lIns="0" tIns="0" rIns="0" bIns="0" anchor="ctr">
            <a:spAutoFit/>
          </a:bodyPr>
          <a:lstStyle/>
          <a:p>
            <a:pPr algn="ctr"/>
            <a:r>
              <a:rPr sz="1100" b="1" i="0">
                <a:solidFill>
                  <a:srgbClr val="FBF8F0"/>
                </a:solidFill>
                <a:latin typeface="Georgia"/>
              </a:rPr>
              <a:t>2</a:t>
            </a:r>
          </a:p>
        </p:txBody>
      </p:sp>
      <p:sp>
        <p:nvSpPr>
          <p:cNvPr id="69" name="TextBox 68"/>
          <p:cNvSpPr txBox="1"/>
          <p:nvPr/>
        </p:nvSpPr>
        <p:spPr>
          <a:xfrm>
            <a:off x="7397496" y="3442716"/>
            <a:ext cx="3886200" cy="525780"/>
          </a:xfrm>
          <a:prstGeom prst="rect">
            <a:avLst/>
          </a:prstGeom>
          <a:noFill/>
        </p:spPr>
        <p:txBody>
          <a:bodyPr wrap="square" lIns="0" tIns="0" rIns="0" bIns="0" anchor="ctr">
            <a:spAutoFit/>
          </a:bodyPr>
          <a:lstStyle/>
          <a:p>
            <a:pPr algn="l">
              <a:lnSpc>
                <a:spcPct val="100000"/>
              </a:lnSpc>
            </a:pPr>
            <a:r>
              <a:rPr sz="1000" b="1" i="0">
                <a:solidFill>
                  <a:srgbClr val="0033A0"/>
                </a:solidFill>
                <a:latin typeface="Arial"/>
              </a:rPr>
              <a:t>Sirven con cualquier modelo</a:t>
            </a:r>
          </a:p>
          <a:p>
            <a:pPr algn="l">
              <a:lnSpc>
                <a:spcPct val="100000"/>
              </a:lnSpc>
            </a:pPr>
            <a:r>
              <a:rPr sz="830" b="0" i="0">
                <a:solidFill>
                  <a:srgbClr val="16181D"/>
                </a:solidFill>
                <a:latin typeface="Arial"/>
              </a:rPr>
              <a:t>LangChain los traduce al formato de cada proveedor; si cambias de modelo, no cambian.</a:t>
            </a:r>
          </a:p>
        </p:txBody>
      </p:sp>
      <p:sp>
        <p:nvSpPr>
          <p:cNvPr id="70" name="Rectangle 69"/>
          <p:cNvSpPr/>
          <p:nvPr/>
        </p:nvSpPr>
        <p:spPr>
          <a:xfrm>
            <a:off x="6830568" y="4114800"/>
            <a:ext cx="4572000" cy="598932"/>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6958583" y="4258818"/>
            <a:ext cx="310896" cy="31089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958583" y="4258818"/>
            <a:ext cx="310896" cy="310896"/>
          </a:xfrm>
          <a:prstGeom prst="rect">
            <a:avLst/>
          </a:prstGeom>
          <a:noFill/>
        </p:spPr>
        <p:txBody>
          <a:bodyPr wrap="square" lIns="0" tIns="0" rIns="0" bIns="0" anchor="ctr">
            <a:spAutoFit/>
          </a:bodyPr>
          <a:lstStyle/>
          <a:p>
            <a:pPr algn="ctr"/>
            <a:r>
              <a:rPr sz="1100" b="1" i="0">
                <a:solidFill>
                  <a:srgbClr val="FBF8F0"/>
                </a:solidFill>
                <a:latin typeface="Georgia"/>
              </a:rPr>
              <a:t>3</a:t>
            </a:r>
          </a:p>
        </p:txBody>
      </p:sp>
      <p:sp>
        <p:nvSpPr>
          <p:cNvPr id="73" name="TextBox 72"/>
          <p:cNvSpPr txBox="1"/>
          <p:nvPr/>
        </p:nvSpPr>
        <p:spPr>
          <a:xfrm>
            <a:off x="7397496" y="4151376"/>
            <a:ext cx="3886200" cy="525780"/>
          </a:xfrm>
          <a:prstGeom prst="rect">
            <a:avLst/>
          </a:prstGeom>
          <a:noFill/>
        </p:spPr>
        <p:txBody>
          <a:bodyPr wrap="square" lIns="0" tIns="0" rIns="0" bIns="0" anchor="ctr">
            <a:spAutoFit/>
          </a:bodyPr>
          <a:lstStyle/>
          <a:p>
            <a:pPr algn="l">
              <a:lnSpc>
                <a:spcPct val="100000"/>
              </a:lnSpc>
            </a:pPr>
            <a:r>
              <a:rPr sz="1000" b="1" i="0">
                <a:solidFill>
                  <a:srgbClr val="0033A0"/>
                </a:solidFill>
                <a:latin typeface="Arial"/>
              </a:rPr>
              <a:t>Traen más que texto</a:t>
            </a:r>
          </a:p>
          <a:p>
            <a:pPr algn="l">
              <a:lnSpc>
                <a:spcPct val="100000"/>
              </a:lnSpc>
            </a:pPr>
            <a:r>
              <a:rPr sz="830" b="0" i="0">
                <a:solidFill>
                  <a:srgbClr val="16181D"/>
                </a:solidFill>
                <a:latin typeface="Arial"/>
              </a:rPr>
              <a:t>Un AIMessage trae .text y también .tool_calls: el formulario lleno de traspasos.</a:t>
            </a:r>
          </a:p>
        </p:txBody>
      </p:sp>
      <p:sp>
        <p:nvSpPr>
          <p:cNvPr id="74" name="Rectangle 73"/>
          <p:cNvSpPr/>
          <p:nvPr/>
        </p:nvSpPr>
        <p:spPr>
          <a:xfrm>
            <a:off x="6830568" y="4823460"/>
            <a:ext cx="4572000" cy="598932"/>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6958583" y="4967478"/>
            <a:ext cx="310896" cy="31089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958583" y="4967478"/>
            <a:ext cx="310896" cy="310896"/>
          </a:xfrm>
          <a:prstGeom prst="rect">
            <a:avLst/>
          </a:prstGeom>
          <a:noFill/>
        </p:spPr>
        <p:txBody>
          <a:bodyPr wrap="square" lIns="0" tIns="0" rIns="0" bIns="0" anchor="ctr">
            <a:spAutoFit/>
          </a:bodyPr>
          <a:lstStyle/>
          <a:p>
            <a:pPr algn="ctr"/>
            <a:r>
              <a:rPr sz="1100" b="1" i="0">
                <a:solidFill>
                  <a:srgbClr val="FBF8F0"/>
                </a:solidFill>
                <a:latin typeface="Georgia"/>
              </a:rPr>
              <a:t>4</a:t>
            </a:r>
          </a:p>
        </p:txBody>
      </p:sp>
      <p:sp>
        <p:nvSpPr>
          <p:cNvPr id="77" name="TextBox 76"/>
          <p:cNvSpPr txBox="1"/>
          <p:nvPr/>
        </p:nvSpPr>
        <p:spPr>
          <a:xfrm>
            <a:off x="7397496" y="4860036"/>
            <a:ext cx="3886200" cy="525780"/>
          </a:xfrm>
          <a:prstGeom prst="rect">
            <a:avLst/>
          </a:prstGeom>
          <a:noFill/>
        </p:spPr>
        <p:txBody>
          <a:bodyPr wrap="square" lIns="0" tIns="0" rIns="0" bIns="0" anchor="ctr">
            <a:spAutoFit/>
          </a:bodyPr>
          <a:lstStyle/>
          <a:p>
            <a:pPr algn="l">
              <a:lnSpc>
                <a:spcPct val="100000"/>
              </a:lnSpc>
            </a:pPr>
            <a:r>
              <a:rPr sz="1000" b="1" i="0">
                <a:solidFill>
                  <a:srgbClr val="0033A0"/>
                </a:solidFill>
                <a:latin typeface="Arial"/>
              </a:rPr>
              <a:t>add_messages los agrega bien</a:t>
            </a:r>
          </a:p>
          <a:p>
            <a:pPr algn="l">
              <a:lnSpc>
                <a:spcPct val="100000"/>
              </a:lnSpc>
            </a:pPr>
            <a:r>
              <a:rPr sz="830" b="0" i="0">
                <a:solidFill>
                  <a:srgbClr val="16181D"/>
                </a:solidFill>
                <a:latin typeface="Arial"/>
              </a:rPr>
              <a:t>Los pone al final de la conversación y, como cada uno tiene id, no los duplica.</a:t>
            </a:r>
          </a:p>
        </p:txBody>
      </p:sp>
      <p:sp>
        <p:nvSpPr>
          <p:cNvPr id="78" name="Rectangle 77"/>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¿Por qué la nota es HumanMessage? </a:t>
            </a:r>
            <a:r>
              <a:rPr sz="1100" b="0" i="0">
                <a:solidFill>
                  <a:srgbClr val="16181D"/>
                </a:solidFill>
                <a:latin typeface="Arial"/>
              </a:rPr>
              <a:t>Claude exige que el último turno sea del usuario antes de contestar; si fuera AIMessage, la API la rechaza.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6-texto-6"/>
          <p:cNvSpPr txBox="1"/>
          <p:nvPr/>
        </p:nvSpPr>
        <p:spPr>
          <a:xfrm>
            <a:off x="1342572" y="1456833"/>
            <a:ext cx="10076945" cy="342784"/>
          </a:xfrm>
          <a:prstGeom prst="rect">
            <a:avLst/>
          </a:prstGeom>
          <a:noFill/>
          <a:ln/>
        </p:spPr>
        <p:txBody>
          <a:bodyPr wrap="none" lIns="0" tIns="0" rIns="0" bIns="0" rtlCol="0" anchor="t"/>
          <a:lstStyle/>
          <a:p>
            <a:pPr marL="0" indent="0" algn="l">
              <a:lnSpc>
                <a:spcPts val="2524"/>
              </a:lnSpc>
              <a:buNone/>
            </a:pPr>
            <a:r>
              <a:rPr lang="en-US" sz="2294" b="1" kern="0" spc="-23" dirty="0">
                <a:solidFill>
                  <a:srgbClr val="16181D"/>
                </a:solidFill>
                <a:latin typeface="Georgia" pitchFamily="34" charset="0"/>
                <a:ea typeface="Georgia" pitchFamily="34" charset="-122"/>
                <a:cs typeface="Georgia" pitchFamily="34" charset="-120"/>
              </a:rPr>
              <a:t>Traspasos en código: herramientas que pasan el control</a:t>
            </a:r>
            <a:endParaRPr lang="en-US" sz="2294" dirty="0"/>
          </a:p>
        </p:txBody>
      </p:sp>
      <p:sp>
        <p:nvSpPr>
          <p:cNvPr id="8" name="s16-forma-7"/>
          <p:cNvSpPr/>
          <p:nvPr/>
        </p:nvSpPr>
        <p:spPr>
          <a:xfrm>
            <a:off x="1342572" y="2205246"/>
            <a:ext cx="5941595" cy="3159329"/>
          </a:xfrm>
          <a:prstGeom prst="rect">
            <a:avLst/>
          </a:prstGeom>
          <a:solidFill>
            <a:srgbClr val="E8E2D5"/>
          </a:solidFill>
          <a:ln/>
        </p:spPr>
        <p:txBody>
          <a:bodyPr/>
          <a:lstStyle/>
          <a:p>
            <a:endParaRPr lang="es-MX"/>
          </a:p>
        </p:txBody>
      </p:sp>
      <p:sp>
        <p:nvSpPr>
          <p:cNvPr id="9" name="s16-forma-8"/>
          <p:cNvSpPr/>
          <p:nvPr/>
        </p:nvSpPr>
        <p:spPr>
          <a:xfrm>
            <a:off x="1342572" y="2205246"/>
            <a:ext cx="5941595" cy="5713"/>
          </a:xfrm>
          <a:prstGeom prst="rect">
            <a:avLst/>
          </a:prstGeom>
          <a:solidFill>
            <a:srgbClr val="DBD4C4"/>
          </a:solidFill>
          <a:ln/>
        </p:spPr>
        <p:txBody>
          <a:bodyPr/>
          <a:lstStyle/>
          <a:p>
            <a:endParaRPr lang="es-MX"/>
          </a:p>
        </p:txBody>
      </p:sp>
      <p:sp>
        <p:nvSpPr>
          <p:cNvPr id="10" name="s16-forma-9"/>
          <p:cNvSpPr/>
          <p:nvPr/>
        </p:nvSpPr>
        <p:spPr>
          <a:xfrm>
            <a:off x="1342572" y="5358861"/>
            <a:ext cx="5941595" cy="5713"/>
          </a:xfrm>
          <a:prstGeom prst="rect">
            <a:avLst/>
          </a:prstGeom>
          <a:solidFill>
            <a:srgbClr val="DBD4C4"/>
          </a:solidFill>
          <a:ln/>
        </p:spPr>
        <p:txBody>
          <a:bodyPr/>
          <a:lstStyle/>
          <a:p>
            <a:endParaRPr lang="es-MX"/>
          </a:p>
        </p:txBody>
      </p:sp>
      <p:sp>
        <p:nvSpPr>
          <p:cNvPr id="11" name="s16-forma-10"/>
          <p:cNvSpPr/>
          <p:nvPr/>
        </p:nvSpPr>
        <p:spPr>
          <a:xfrm>
            <a:off x="1342572" y="2205246"/>
            <a:ext cx="17139" cy="3159329"/>
          </a:xfrm>
          <a:prstGeom prst="rect">
            <a:avLst/>
          </a:prstGeom>
          <a:solidFill>
            <a:srgbClr val="C6BFAE"/>
          </a:solidFill>
          <a:ln/>
        </p:spPr>
        <p:txBody>
          <a:bodyPr/>
          <a:lstStyle/>
          <a:p>
            <a:endParaRPr lang="es-MX"/>
          </a:p>
        </p:txBody>
      </p:sp>
      <p:sp>
        <p:nvSpPr>
          <p:cNvPr id="12" name="s16-forma-11"/>
          <p:cNvSpPr/>
          <p:nvPr/>
        </p:nvSpPr>
        <p:spPr>
          <a:xfrm>
            <a:off x="7278453" y="2205246"/>
            <a:ext cx="5713" cy="3159329"/>
          </a:xfrm>
          <a:prstGeom prst="rect">
            <a:avLst/>
          </a:prstGeom>
          <a:solidFill>
            <a:srgbClr val="DBD4C4"/>
          </a:solidFill>
          <a:ln/>
        </p:spPr>
        <p:txBody>
          <a:bodyPr/>
          <a:lstStyle/>
          <a:p>
            <a:endParaRPr lang="es-MX"/>
          </a:p>
        </p:txBody>
      </p:sp>
      <p:sp>
        <p:nvSpPr>
          <p:cNvPr id="13" name="s16-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@tool</a:t>
            </a:r>
            <a:endParaRPr lang="en-US" sz="990" dirty="0"/>
          </a:p>
        </p:txBody>
      </p:sp>
      <p:sp>
        <p:nvSpPr>
          <p:cNvPr id="14" name="s16-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transferir_a_altas(motivo: str) -&gt; str:</a:t>
            </a:r>
            <a:endParaRPr lang="en-US" sz="990" dirty="0"/>
          </a:p>
        </p:txBody>
      </p:sp>
      <p:sp>
        <p:nvSpPr>
          <p:cNvPr id="15" name="s16-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"""Pasa la conversación al agente de altas y bajas."""</a:t>
            </a:r>
            <a:endParaRPr lang="en-US" sz="990" dirty="0"/>
          </a:p>
        </p:txBody>
      </p:sp>
      <p:sp>
        <p:nvSpPr>
          <p:cNvPr id="16" name="s16-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motivo</a:t>
            </a:r>
            <a:endParaRPr lang="en-US" sz="990" dirty="0"/>
          </a:p>
        </p:txBody>
      </p:sp>
      <p:sp>
        <p:nvSpPr>
          <p:cNvPr id="17" name="s16-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nodo(s: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"altas"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"directorio"</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8" name="s16-forma-17"/>
          <p:cNvSpPr/>
          <p:nvPr/>
        </p:nvSpPr>
        <p:spPr>
          <a:xfrm>
            <a:off x="1451120" y="3502113"/>
            <a:ext cx="5735924" cy="188531"/>
          </a:xfrm>
          <a:prstGeom prst="rect">
            <a:avLst/>
          </a:prstGeom>
          <a:solidFill>
            <a:srgbClr val="DCE3F2"/>
          </a:solidFill>
          <a:ln/>
        </p:spPr>
        <p:txBody>
          <a:bodyPr/>
          <a:lstStyle/>
          <a:p>
            <a:endParaRPr lang="es-MX"/>
          </a:p>
        </p:txBody>
      </p:sp>
      <p:sp>
        <p:nvSpPr>
          <p:cNvPr id="19" name="s16-forma-18"/>
          <p:cNvSpPr/>
          <p:nvPr/>
        </p:nvSpPr>
        <p:spPr>
          <a:xfrm>
            <a:off x="1451120" y="3502113"/>
            <a:ext cx="22852" cy="188531"/>
          </a:xfrm>
          <a:prstGeom prst="rect">
            <a:avLst/>
          </a:prstGeom>
          <a:solidFill>
            <a:srgbClr val="AC321E"/>
          </a:solidFill>
          <a:ln/>
        </p:spPr>
        <p:txBody>
          <a:bodyPr/>
          <a:lstStyle/>
          <a:p>
            <a:endParaRPr lang="es-MX"/>
          </a:p>
        </p:txBody>
      </p:sp>
      <p:sp>
        <p:nvSpPr>
          <p:cNvPr id="20" name="s16-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modelo().bind_tools(herramientas).invoke(s[</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6-forma-20"/>
          <p:cNvSpPr/>
          <p:nvPr/>
        </p:nvSpPr>
        <p:spPr>
          <a:xfrm>
            <a:off x="1451120" y="3690644"/>
            <a:ext cx="5735924" cy="188531"/>
          </a:xfrm>
          <a:prstGeom prst="rect">
            <a:avLst/>
          </a:prstGeom>
          <a:solidFill>
            <a:srgbClr val="DCE3F2"/>
          </a:solidFill>
          <a:ln/>
        </p:spPr>
        <p:txBody>
          <a:bodyPr/>
          <a:lstStyle/>
          <a:p>
            <a:endParaRPr lang="es-MX"/>
          </a:p>
        </p:txBody>
      </p:sp>
      <p:sp>
        <p:nvSpPr>
          <p:cNvPr id="22" name="s16-forma-21"/>
          <p:cNvSpPr/>
          <p:nvPr/>
        </p:nvSpPr>
        <p:spPr>
          <a:xfrm>
            <a:off x="1451120" y="3690644"/>
            <a:ext cx="22852" cy="188531"/>
          </a:xfrm>
          <a:prstGeom prst="rect">
            <a:avLst/>
          </a:prstGeom>
          <a:solidFill>
            <a:srgbClr val="AC321E"/>
          </a:solidFill>
          <a:ln/>
        </p:spPr>
        <p:txBody>
          <a:bodyPr/>
          <a:lstStyle/>
          <a:p>
            <a:endParaRPr lang="es-MX"/>
          </a:p>
        </p:txBody>
      </p:sp>
      <p:sp>
        <p:nvSpPr>
          <p:cNvPr id="23" name="s16-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resp.tool_calls:                         </a:t>
            </a:r>
            <a:r>
              <a:rPr lang="en-US" sz="990" dirty="0">
                <a:solidFill>
                  <a:srgbClr val="585E6F"/>
                </a:solidFill>
                <a:latin typeface="Courier New" pitchFamily="34" charset="0"/>
                <a:ea typeface="Courier New" pitchFamily="34" charset="-122"/>
                <a:cs typeface="Courier New" pitchFamily="34" charset="-120"/>
              </a:rPr>
              <a:t># quiere traspasar</a:t>
            </a:r>
            <a:endParaRPr lang="en-US" sz="990" dirty="0"/>
          </a:p>
        </p:txBody>
      </p:sp>
      <p:sp>
        <p:nvSpPr>
          <p:cNvPr id="24" name="s16-texto-23"/>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llamada = resp.tool_calls[0]</a:t>
            </a:r>
            <a:endParaRPr lang="en-US" sz="990" dirty="0"/>
          </a:p>
        </p:txBody>
      </p:sp>
      <p:sp>
        <p:nvSpPr>
          <p:cNvPr id="25" name="s16-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destino = llamada[</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].removeprefix(</a:t>
            </a:r>
            <a:r>
              <a:rPr lang="en-US" sz="990" dirty="0">
                <a:solidFill>
                  <a:srgbClr val="1B6A43"/>
                </a:solidFill>
                <a:latin typeface="Courier New" pitchFamily="34" charset="0"/>
                <a:ea typeface="Courier New" pitchFamily="34" charset="-122"/>
                <a:cs typeface="Courier New" pitchFamily="34" charset="-120"/>
              </a:rPr>
              <a:t>"transferir_a_"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6" name="s16-forma-25"/>
          <p:cNvSpPr/>
          <p:nvPr/>
        </p:nvSpPr>
        <p:spPr>
          <a:xfrm>
            <a:off x="1451120" y="4256238"/>
            <a:ext cx="5735924" cy="188531"/>
          </a:xfrm>
          <a:prstGeom prst="rect">
            <a:avLst/>
          </a:prstGeom>
          <a:solidFill>
            <a:srgbClr val="DCE3F2"/>
          </a:solidFill>
          <a:ln/>
        </p:spPr>
        <p:txBody>
          <a:bodyPr/>
          <a:lstStyle/>
          <a:p>
            <a:endParaRPr lang="es-MX"/>
          </a:p>
        </p:txBody>
      </p:sp>
      <p:sp>
        <p:nvSpPr>
          <p:cNvPr id="27" name="s16-forma-26"/>
          <p:cNvSpPr/>
          <p:nvPr/>
        </p:nvSpPr>
        <p:spPr>
          <a:xfrm>
            <a:off x="1451120" y="4256238"/>
            <a:ext cx="22852" cy="188531"/>
          </a:xfrm>
          <a:prstGeom prst="rect">
            <a:avLst/>
          </a:prstGeom>
          <a:solidFill>
            <a:srgbClr val="AC321E"/>
          </a:solidFill>
          <a:ln/>
        </p:spPr>
        <p:txBody>
          <a:bodyPr/>
          <a:lstStyle/>
          <a:p>
            <a:endParaRPr lang="es-MX"/>
          </a:p>
        </p:txBody>
      </p:sp>
      <p:sp>
        <p:nvSpPr>
          <p:cNvPr id="28" name="s16-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(goto=destino, update={</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 [nota]})</a:t>
            </a:r>
            <a:endParaRPr lang="en-US" sz="990" dirty="0"/>
          </a:p>
        </p:txBody>
      </p:sp>
      <p:sp>
        <p:nvSpPr>
          <p:cNvPr id="29" name="s16-texto-28"/>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update={</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 [resp]})</a:t>
            </a:r>
            <a:endParaRPr lang="en-US" sz="990" dirty="0"/>
          </a:p>
        </p:txBody>
      </p:sp>
      <p:sp>
        <p:nvSpPr>
          <p:cNvPr id="30" name="s16-texto-29"/>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Estado(</a:t>
            </a:r>
            <a:r>
              <a:rPr lang="en-US" sz="990" dirty="0">
                <a:solidFill>
                  <a:srgbClr val="0033A0"/>
                </a:solidFill>
                <a:latin typeface="Courier New" pitchFamily="34" charset="0"/>
                <a:ea typeface="Courier New" pitchFamily="34" charset="-122"/>
                <a:cs typeface="Courier New" pitchFamily="34" charset="-120"/>
              </a:rPr>
              <a:t>TypedDict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1" name="s16-forma-30"/>
          <p:cNvSpPr/>
          <p:nvPr/>
        </p:nvSpPr>
        <p:spPr>
          <a:xfrm>
            <a:off x="1451120" y="5010364"/>
            <a:ext cx="5735924" cy="188531"/>
          </a:xfrm>
          <a:prstGeom prst="rect">
            <a:avLst/>
          </a:prstGeom>
          <a:solidFill>
            <a:srgbClr val="DCE3F2"/>
          </a:solidFill>
          <a:ln/>
        </p:spPr>
        <p:txBody>
          <a:bodyPr/>
          <a:lstStyle/>
          <a:p>
            <a:endParaRPr lang="es-MX"/>
          </a:p>
        </p:txBody>
      </p:sp>
      <p:sp>
        <p:nvSpPr>
          <p:cNvPr id="32" name="s16-forma-31"/>
          <p:cNvSpPr/>
          <p:nvPr/>
        </p:nvSpPr>
        <p:spPr>
          <a:xfrm>
            <a:off x="1451120" y="5010364"/>
            <a:ext cx="22852" cy="188531"/>
          </a:xfrm>
          <a:prstGeom prst="rect">
            <a:avLst/>
          </a:prstGeom>
          <a:solidFill>
            <a:srgbClr val="AC321E"/>
          </a:solidFill>
          <a:ln/>
        </p:spPr>
        <p:txBody>
          <a:bodyPr/>
          <a:lstStyle/>
          <a:p>
            <a:endParaRPr lang="es-MX"/>
          </a:p>
        </p:txBody>
      </p:sp>
      <p:sp>
        <p:nvSpPr>
          <p:cNvPr id="33" name="s16-texto-32"/>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 </a:t>
            </a:r>
            <a:r>
              <a:rPr lang="en-US" sz="990" dirty="0">
                <a:solidFill>
                  <a:srgbClr val="0033A0"/>
                </a:solidFill>
                <a:latin typeface="Courier New" pitchFamily="34" charset="0"/>
                <a:ea typeface="Courier New" pitchFamily="34" charset="-122"/>
                <a:cs typeface="Courier New" pitchFamily="34" charset="-120"/>
              </a:rPr>
              <a:t>Annotated</a:t>
            </a:r>
            <a:r>
              <a:rPr lang="en-US" sz="990" dirty="0">
                <a:solidFill>
                  <a:srgbClr val="16181D"/>
                </a:solidFill>
                <a:latin typeface="Courier New" pitchFamily="34" charset="0"/>
                <a:ea typeface="Courier New" pitchFamily="34" charset="-122"/>
                <a:cs typeface="Courier New" pitchFamily="34" charset="-120"/>
              </a:rPr>
              <a:t>[list, add_messages]     </a:t>
            </a:r>
            <a:r>
              <a:rPr lang="en-US" sz="990" dirty="0">
                <a:solidFill>
                  <a:srgbClr val="585E6F"/>
                </a:solidFill>
                <a:latin typeface="Courier New" pitchFamily="34" charset="0"/>
                <a:ea typeface="Courier New" pitchFamily="34" charset="-122"/>
                <a:cs typeface="Courier New" pitchFamily="34" charset="-120"/>
              </a:rPr>
              <a:t># una conversación</a:t>
            </a:r>
            <a:endParaRPr lang="en-US" sz="990" dirty="0"/>
          </a:p>
        </p:txBody>
      </p:sp>
      <p:sp>
        <p:nvSpPr>
          <p:cNvPr id="34" name="s16-texto-33"/>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5" name="s16-texto-34"/>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Herramientas </a:t>
            </a:r>
            <a:r>
              <a:rPr lang="en-US" sz="1170" b="1" dirty="0">
                <a:solidFill>
                  <a:srgbClr val="0033A0"/>
                </a:solidFill>
                <a:latin typeface="Arial" pitchFamily="34" charset="0"/>
                <a:ea typeface="Arial" pitchFamily="34" charset="-122"/>
                <a:cs typeface="Arial" pitchFamily="34" charset="-120"/>
              </a:rPr>
              <a:t>transferir_a_*</a:t>
            </a:r>
            <a:r>
              <a:rPr lang="en-US" sz="1170" dirty="0">
                <a:solidFill>
                  <a:srgbClr val="16181D"/>
                </a:solidFill>
                <a:latin typeface="Arial" pitchFamily="34" charset="0"/>
                <a:ea typeface="Arial" pitchFamily="34" charset="-122"/>
                <a:cs typeface="Arial" pitchFamily="34" charset="-120"/>
              </a:rPr>
              <a:t>: llamarlas es decidir quién sigue. Una sola conversación viaja con el control.</a:t>
            </a:r>
            <a:endParaRPr lang="en-US" sz="1170" dirty="0"/>
          </a:p>
        </p:txBody>
      </p:sp>
      <p:sp>
        <p:nvSpPr>
          <p:cNvPr id="36" name="s16-texto-35"/>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7" name="s16-texto-36"/>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allí el control siempre regresa al centro.</a:t>
            </a:r>
            <a:endParaRPr lang="en-US" sz="1170" dirty="0"/>
          </a:p>
        </p:txBody>
      </p:sp>
      <p:sp>
        <p:nvSpPr>
          <p:cNvPr id="38" name="s16-texto-37"/>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9" name="s16-forma-38"/>
          <p:cNvSpPr/>
          <p:nvPr/>
        </p:nvSpPr>
        <p:spPr>
          <a:xfrm>
            <a:off x="7558394" y="4084579"/>
            <a:ext cx="3290729" cy="289046"/>
          </a:xfrm>
          <a:prstGeom prst="rect">
            <a:avLst/>
          </a:prstGeom>
          <a:solidFill>
            <a:srgbClr val="E3DCCB"/>
          </a:solidFill>
          <a:ln/>
        </p:spPr>
        <p:txBody>
          <a:bodyPr/>
          <a:lstStyle/>
          <a:p>
            <a:endParaRPr lang="es-MX"/>
          </a:p>
        </p:txBody>
      </p:sp>
      <p:sp>
        <p:nvSpPr>
          <p:cNvPr id="40" name="s16-texto-39"/>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ejemplos.s3_topologias.traspasos</a:t>
            </a:r>
            <a:endParaRPr lang="en-US" sz="855" dirty="0"/>
          </a:p>
        </p:txBody>
      </p:sp>
      <p:sp>
        <p:nvSpPr>
          <p:cNvPr id="41" name="s16-forma-40"/>
          <p:cNvSpPr/>
          <p:nvPr/>
        </p:nvSpPr>
        <p:spPr>
          <a:xfrm>
            <a:off x="7558394" y="4510738"/>
            <a:ext cx="3290729" cy="832859"/>
          </a:xfrm>
          <a:prstGeom prst="rect">
            <a:avLst/>
          </a:prstGeom>
          <a:solidFill>
            <a:srgbClr val="E2D3C2"/>
          </a:solidFill>
          <a:ln/>
        </p:spPr>
        <p:txBody>
          <a:bodyPr/>
          <a:lstStyle/>
          <a:p>
            <a:endParaRPr lang="es-MX"/>
          </a:p>
        </p:txBody>
      </p:sp>
      <p:sp>
        <p:nvSpPr>
          <p:cNvPr id="42" name="s16-texto-41"/>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3" name="s16-texto-42"/>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Analista → diseñador → desarrollador podrían ser traspasos; el grafo fija el orden.</a:t>
            </a:r>
            <a:endParaRPr lang="en-US" sz="1170" dirty="0"/>
          </a:p>
        </p:txBody>
      </p:sp>
      <p:sp>
        <p:nvSpPr>
          <p:cNvPr id="44" name="s16-texto-43"/>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ejemplos/s3_topologias/traspasos.py · las líneas resaltadas son el patrón</a:t>
            </a:r>
            <a:endParaRPr lang="en-US" sz="1080" dirty="0"/>
          </a:p>
        </p:txBody>
      </p:sp>
      <p:sp>
        <p:nvSpPr>
          <p:cNvPr id="45" name="s16-forma-44"/>
          <p:cNvSpPr/>
          <p:nvPr/>
        </p:nvSpPr>
        <p:spPr>
          <a:xfrm>
            <a:off x="853390" y="6411138"/>
            <a:ext cx="10484915" cy="5713"/>
          </a:xfrm>
          <a:prstGeom prst="rect">
            <a:avLst/>
          </a:prstGeom>
          <a:solidFill>
            <a:srgbClr val="DBD4C4"/>
          </a:solidFill>
          <a:ln/>
        </p:spPr>
        <p:txBody>
          <a:bodyPr/>
          <a:lstStyle/>
          <a:p>
            <a:endParaRPr lang="es-MX"/>
          </a:p>
        </p:txBody>
      </p:sp>
      <p:pic>
        <p:nvPicPr>
          <p:cNvPr id="46" name="s16-logo-45" descr="preencoded.png"/>
          <p:cNvPicPr>
            <a:picLocks noChangeAspect="1"/>
          </p:cNvPicPr>
          <p:nvPr/>
        </p:nvPicPr>
        <p:blipFill>
          <a:blip r:embed="rId3"/>
          <a:stretch>
            <a:fillRect/>
          </a:stretch>
        </p:blipFill>
        <p:spPr>
          <a:xfrm>
            <a:off x="853390" y="6465055"/>
            <a:ext cx="687800" cy="212455"/>
          </a:xfrm>
          <a:prstGeom prst="rect">
            <a:avLst/>
          </a:prstGeom>
        </p:spPr>
      </p:pic>
      <p:sp>
        <p:nvSpPr>
          <p:cNvPr id="47" name="s16-forma-46"/>
          <p:cNvSpPr/>
          <p:nvPr/>
        </p:nvSpPr>
        <p:spPr>
          <a:xfrm>
            <a:off x="1659380" y="6519865"/>
            <a:ext cx="2926878" cy="102835"/>
          </a:xfrm>
          <a:prstGeom prst="rect">
            <a:avLst/>
          </a:prstGeom>
          <a:ln/>
        </p:spPr>
        <p:txBody>
          <a:bodyPr/>
          <a:lstStyle/>
          <a:p>
            <a:endParaRPr lang="es-MX"/>
          </a:p>
        </p:txBody>
      </p:sp>
      <p:sp>
        <p:nvSpPr>
          <p:cNvPr id="48" name="s16-forma-47"/>
          <p:cNvSpPr/>
          <p:nvPr/>
        </p:nvSpPr>
        <p:spPr>
          <a:xfrm>
            <a:off x="1659380" y="6519865"/>
            <a:ext cx="5713" cy="102835"/>
          </a:xfrm>
          <a:prstGeom prst="rect">
            <a:avLst/>
          </a:prstGeom>
          <a:solidFill>
            <a:srgbClr val="C6BFAE"/>
          </a:solidFill>
          <a:ln/>
        </p:spPr>
        <p:txBody>
          <a:bodyPr/>
          <a:lstStyle/>
          <a:p>
            <a:endParaRPr lang="es-MX"/>
          </a:p>
        </p:txBody>
      </p:sp>
      <p:sp>
        <p:nvSpPr>
          <p:cNvPr id="49" name="s16-texto-48"/>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0" name="s16-texto-4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36</a:t>
            </a:r>
            <a:endParaRPr lang="en-US" sz="745" dirty="0"/>
          </a:p>
        </p:txBody>
      </p:sp>
      <p:sp>
        <p:nvSpPr>
          <p:cNvPr id="51" name="s16-forma-50"/>
          <p:cNvSpPr/>
          <p:nvPr/>
        </p:nvSpPr>
        <p:spPr>
          <a:xfrm>
            <a:off x="0" y="0"/>
            <a:ext cx="5418492" cy="17139"/>
          </a:xfrm>
          <a:prstGeom prst="rect">
            <a:avLst/>
          </a:prstGeom>
          <a:solidFill>
            <a:srgbClr val="0033A0"/>
          </a:solidFill>
          <a:ln/>
        </p:spPr>
        <p:txBody>
          <a:bodyPr/>
          <a:lstStyle/>
          <a:p>
            <a:endParaRPr lang="es-MX"/>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Red: todos pueden hablar con todos</a:t>
            </a:r>
            <a:endParaRPr lang="en-US" sz="2879" dirty="0"/>
          </a:p>
        </p:txBody>
      </p:sp>
      <p:sp>
        <p:nvSpPr>
          <p:cNvPr id="8" name="s17-forma-7"/>
          <p:cNvSpPr/>
          <p:nvPr/>
        </p:nvSpPr>
        <p:spPr>
          <a:xfrm>
            <a:off x="1342572" y="2228098"/>
            <a:ext cx="4341935" cy="676374"/>
          </a:xfrm>
          <a:prstGeom prst="rect">
            <a:avLst/>
          </a:prstGeom>
          <a:solidFill>
            <a:srgbClr val="E3DCCB"/>
          </a:solidFill>
          <a:ln w="5713">
            <a:solidFill>
              <a:srgbClr val="585E6F"/>
            </a:solidFill>
            <a:prstDash val="dash"/>
          </a:ln>
        </p:spPr>
        <p:txBody>
          <a:bodyPr/>
          <a:lstStyle/>
          <a:p>
            <a:endParaRPr lang="es-MX"/>
          </a:p>
        </p:txBody>
      </p:sp>
      <p:sp>
        <p:nvSpPr>
          <p:cNvPr id="9" name="s17-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0" name="s17-texto-9"/>
          <p:cNvSpPr txBox="1"/>
          <p:nvPr/>
        </p:nvSpPr>
        <p:spPr>
          <a:xfrm>
            <a:off x="1576808" y="2593735"/>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centro decide todo: predecible, pero rígido.</a:t>
            </a:r>
            <a:endParaRPr lang="en-US" sz="1170" dirty="0"/>
          </a:p>
        </p:txBody>
      </p:sp>
      <p:sp>
        <p:nvSpPr>
          <p:cNvPr id="11" name="s17-forma-10"/>
          <p:cNvSpPr/>
          <p:nvPr/>
        </p:nvSpPr>
        <p:spPr>
          <a:xfrm>
            <a:off x="1342572" y="3041586"/>
            <a:ext cx="4341935" cy="676374"/>
          </a:xfrm>
          <a:prstGeom prst="rect">
            <a:avLst/>
          </a:prstGeom>
          <a:solidFill>
            <a:srgbClr val="E3DCCB"/>
          </a:solidFill>
          <a:ln w="5713">
            <a:solidFill>
              <a:srgbClr val="585E6F"/>
            </a:solidFill>
            <a:prstDash val="dash"/>
          </a:ln>
        </p:spPr>
        <p:txBody>
          <a:bodyPr/>
          <a:lstStyle/>
          <a:p>
            <a:endParaRPr lang="es-MX"/>
          </a:p>
        </p:txBody>
      </p:sp>
      <p:sp>
        <p:nvSpPr>
          <p:cNvPr id="12" name="s17-texto-11"/>
          <p:cNvSpPr txBox="1"/>
          <p:nvPr/>
        </p:nvSpPr>
        <p:spPr>
          <a:xfrm>
            <a:off x="1576808" y="3161560"/>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Traspasos</a:t>
            </a:r>
            <a:endParaRPr lang="en-US" sz="1260" dirty="0"/>
          </a:p>
        </p:txBody>
      </p:sp>
      <p:sp>
        <p:nvSpPr>
          <p:cNvPr id="13" name="s17-texto-12"/>
          <p:cNvSpPr txBox="1"/>
          <p:nvPr/>
        </p:nvSpPr>
        <p:spPr>
          <a:xfrm>
            <a:off x="1576808" y="3407222"/>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control pasa de uno en uno, en cadena.</a:t>
            </a:r>
            <a:endParaRPr lang="en-US" sz="1170" dirty="0"/>
          </a:p>
        </p:txBody>
      </p:sp>
      <p:sp>
        <p:nvSpPr>
          <p:cNvPr id="14" name="s17-forma-13"/>
          <p:cNvSpPr/>
          <p:nvPr/>
        </p:nvSpPr>
        <p:spPr>
          <a:xfrm>
            <a:off x="1342572" y="3855074"/>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7-texto-14"/>
          <p:cNvSpPr txBox="1"/>
          <p:nvPr/>
        </p:nvSpPr>
        <p:spPr>
          <a:xfrm>
            <a:off x="1576808" y="3975048"/>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Red</a:t>
            </a:r>
            <a:endParaRPr lang="en-US" sz="1260" dirty="0"/>
          </a:p>
        </p:txBody>
      </p:sp>
      <p:sp>
        <p:nvSpPr>
          <p:cNvPr id="16" name="s17-texto-15"/>
          <p:cNvSpPr txBox="1"/>
          <p:nvPr/>
        </p:nvSpPr>
        <p:spPr>
          <a:xfrm>
            <a:off x="1576808" y="4220710"/>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Cualquier agente puede pasar el trabajo a cualquier otro; el flujo surge de sus decisiones, no de un diseño fijo.</a:t>
            </a:r>
            <a:endParaRPr lang="en-US" sz="1170" dirty="0"/>
          </a:p>
        </p:txBody>
      </p:sp>
      <p:sp>
        <p:nvSpPr>
          <p:cNvPr id="17" name="s17-forma-16"/>
          <p:cNvSpPr/>
          <p:nvPr/>
        </p:nvSpPr>
        <p:spPr>
          <a:xfrm>
            <a:off x="6095848" y="2228098"/>
            <a:ext cx="4753276" cy="1610908"/>
          </a:xfrm>
          <a:prstGeom prst="rect">
            <a:avLst/>
          </a:prstGeom>
          <a:solidFill>
            <a:srgbClr val="E8E2D5"/>
          </a:solidFill>
          <a:ln/>
        </p:spPr>
        <p:txBody>
          <a:bodyPr/>
          <a:lstStyle/>
          <a:p>
            <a:endParaRPr lang="es-MX"/>
          </a:p>
        </p:txBody>
      </p:sp>
      <p:sp>
        <p:nvSpPr>
          <p:cNvPr id="18" name="s17-forma-17"/>
          <p:cNvSpPr/>
          <p:nvPr/>
        </p:nvSpPr>
        <p:spPr>
          <a:xfrm>
            <a:off x="6095848" y="2228098"/>
            <a:ext cx="4753276" cy="5713"/>
          </a:xfrm>
          <a:prstGeom prst="rect">
            <a:avLst/>
          </a:prstGeom>
          <a:solidFill>
            <a:srgbClr val="DBD4C4"/>
          </a:solidFill>
          <a:ln/>
        </p:spPr>
        <p:txBody>
          <a:bodyPr/>
          <a:lstStyle/>
          <a:p>
            <a:endParaRPr lang="es-MX"/>
          </a:p>
        </p:txBody>
      </p:sp>
      <p:sp>
        <p:nvSpPr>
          <p:cNvPr id="19" name="s17-forma-18"/>
          <p:cNvSpPr/>
          <p:nvPr/>
        </p:nvSpPr>
        <p:spPr>
          <a:xfrm>
            <a:off x="6095848" y="3833293"/>
            <a:ext cx="4753276" cy="5713"/>
          </a:xfrm>
          <a:prstGeom prst="rect">
            <a:avLst/>
          </a:prstGeom>
          <a:solidFill>
            <a:srgbClr val="DBD4C4"/>
          </a:solidFill>
          <a:ln/>
        </p:spPr>
        <p:txBody>
          <a:bodyPr/>
          <a:lstStyle/>
          <a:p>
            <a:endParaRPr lang="es-MX"/>
          </a:p>
        </p:txBody>
      </p:sp>
      <p:sp>
        <p:nvSpPr>
          <p:cNvPr id="20" name="s17-forma-19"/>
          <p:cNvSpPr/>
          <p:nvPr/>
        </p:nvSpPr>
        <p:spPr>
          <a:xfrm>
            <a:off x="6095848" y="2228098"/>
            <a:ext cx="17139" cy="1610908"/>
          </a:xfrm>
          <a:prstGeom prst="rect">
            <a:avLst/>
          </a:prstGeom>
          <a:solidFill>
            <a:srgbClr val="C6BFAE"/>
          </a:solidFill>
          <a:ln/>
        </p:spPr>
        <p:txBody>
          <a:bodyPr/>
          <a:lstStyle/>
          <a:p>
            <a:endParaRPr lang="es-MX"/>
          </a:p>
        </p:txBody>
      </p:sp>
      <p:sp>
        <p:nvSpPr>
          <p:cNvPr id="21" name="s17-forma-20"/>
          <p:cNvSpPr/>
          <p:nvPr/>
        </p:nvSpPr>
        <p:spPr>
          <a:xfrm>
            <a:off x="10843410" y="2228098"/>
            <a:ext cx="5713" cy="1610908"/>
          </a:xfrm>
          <a:prstGeom prst="rect">
            <a:avLst/>
          </a:prstGeom>
          <a:solidFill>
            <a:srgbClr val="DBD4C4"/>
          </a:solidFill>
          <a:ln/>
        </p:spPr>
        <p:txBody>
          <a:bodyPr/>
          <a:lstStyle/>
          <a:p>
            <a:endParaRPr lang="es-MX"/>
          </a:p>
        </p:txBody>
      </p:sp>
      <p:sp>
        <p:nvSpPr>
          <p:cNvPr id="22" name="s17-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a:t>
            </a:r>
            <a:r>
              <a:rPr lang="en-US" sz="1080" dirty="0">
                <a:solidFill>
                  <a:srgbClr val="16181D"/>
                </a:solidFill>
                <a:latin typeface="Arial" pitchFamily="34" charset="0"/>
                <a:ea typeface="Arial" pitchFamily="34" charset="-122"/>
                <a:cs typeface="Arial" pitchFamily="34" charset="-120"/>
              </a:rPr>
              <a:t> → Tester: «revisa si los criterios se pueden probar»</a:t>
            </a:r>
            <a:endParaRPr lang="en-US" sz="1080" dirty="0"/>
          </a:p>
        </p:txBody>
      </p:sp>
      <p:sp>
        <p:nvSpPr>
          <p:cNvPr id="23" name="s17-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Tester</a:t>
            </a:r>
            <a:r>
              <a:rPr lang="en-US" sz="1080" dirty="0">
                <a:solidFill>
                  <a:srgbClr val="16181D"/>
                </a:solidFill>
                <a:latin typeface="Arial" pitchFamily="34" charset="0"/>
                <a:ea typeface="Arial" pitchFamily="34" charset="-122"/>
                <a:cs typeface="Arial" pitchFamily="34" charset="-120"/>
              </a:rPr>
              <a:t> → Analista: «el escenario 3 es ambiguo»</a:t>
            </a:r>
            <a:endParaRPr lang="en-US" sz="1080" dirty="0"/>
          </a:p>
        </p:txBody>
      </p:sp>
      <p:sp>
        <p:nvSpPr>
          <p:cNvPr id="24" name="s17-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a:t>
            </a:r>
            <a:r>
              <a:rPr lang="en-US" sz="1080" dirty="0">
                <a:solidFill>
                  <a:srgbClr val="16181D"/>
                </a:solidFill>
                <a:latin typeface="Arial" pitchFamily="34" charset="0"/>
                <a:ea typeface="Arial" pitchFamily="34" charset="-122"/>
                <a:cs typeface="Arial" pitchFamily="34" charset="-120"/>
              </a:rPr>
              <a:t> → Desarrollador: «empieza con lo que está claro»</a:t>
            </a:r>
            <a:endParaRPr lang="en-US" sz="1080" dirty="0"/>
          </a:p>
        </p:txBody>
      </p:sp>
      <p:sp>
        <p:nvSpPr>
          <p:cNvPr id="25" name="s17-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Desarrollador</a:t>
            </a:r>
            <a:r>
              <a:rPr lang="en-US" sz="1080" dirty="0">
                <a:solidFill>
                  <a:srgbClr val="16181D"/>
                </a:solidFill>
                <a:latin typeface="Arial" pitchFamily="34" charset="0"/>
                <a:ea typeface="Arial" pitchFamily="34" charset="-122"/>
                <a:cs typeface="Arial" pitchFamily="34" charset="-120"/>
              </a:rPr>
              <a:t> → Revisor → Tester → Analista …</a:t>
            </a:r>
            <a:endParaRPr lang="en-US" sz="1080" dirty="0"/>
          </a:p>
        </p:txBody>
      </p:sp>
      <p:sp>
        <p:nvSpPr>
          <p:cNvPr id="26" name="s17-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Límite ·</a:t>
            </a:r>
            <a:r>
              <a:rPr lang="en-US" sz="1080" dirty="0">
                <a:solidFill>
                  <a:srgbClr val="16181D"/>
                </a:solidFill>
                <a:latin typeface="Arial" pitchFamily="34" charset="0"/>
                <a:ea typeface="Arial" pitchFamily="34" charset="-122"/>
                <a:cs typeface="Arial" pitchFamily="34" charset="-120"/>
              </a:rPr>
              <a:t> turno 12 de 12: el sistema se detiene</a:t>
            </a:r>
            <a:endParaRPr lang="en-US" sz="1080" dirty="0"/>
          </a:p>
        </p:txBody>
      </p:sp>
      <p:sp>
        <p:nvSpPr>
          <p:cNvPr id="27" name="s17-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Flexible para exploración abierta; difícil de depurar, cara y con riesgo de ciclos. El límite de turnos es obligatorio.</a:t>
            </a:r>
            <a:endParaRPr lang="en-US" sz="1080" dirty="0"/>
          </a:p>
        </p:txBody>
      </p:sp>
      <p:sp>
        <p:nvSpPr>
          <p:cNvPr id="28" name="s17-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29" name="s17-forma-28"/>
          <p:cNvSpPr/>
          <p:nvPr/>
        </p:nvSpPr>
        <p:spPr>
          <a:xfrm>
            <a:off x="853390" y="6411138"/>
            <a:ext cx="10484915" cy="5713"/>
          </a:xfrm>
          <a:prstGeom prst="rect">
            <a:avLst/>
          </a:prstGeom>
          <a:solidFill>
            <a:srgbClr val="DBD4C4"/>
          </a:solidFill>
          <a:ln/>
        </p:spPr>
        <p:txBody>
          <a:bodyPr/>
          <a:lstStyle/>
          <a:p>
            <a:endParaRPr lang="es-MX"/>
          </a:p>
        </p:txBody>
      </p:sp>
      <p:pic>
        <p:nvPicPr>
          <p:cNvPr id="30" name="s17-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7-forma-30"/>
          <p:cNvSpPr/>
          <p:nvPr/>
        </p:nvSpPr>
        <p:spPr>
          <a:xfrm>
            <a:off x="1659380" y="6519865"/>
            <a:ext cx="2926878" cy="102835"/>
          </a:xfrm>
          <a:prstGeom prst="rect">
            <a:avLst/>
          </a:prstGeom>
          <a:ln/>
        </p:spPr>
        <p:txBody>
          <a:bodyPr/>
          <a:lstStyle/>
          <a:p>
            <a:endParaRPr lang="es-MX"/>
          </a:p>
        </p:txBody>
      </p:sp>
      <p:sp>
        <p:nvSpPr>
          <p:cNvPr id="32" name="s17-forma-31"/>
          <p:cNvSpPr/>
          <p:nvPr/>
        </p:nvSpPr>
        <p:spPr>
          <a:xfrm>
            <a:off x="1659380" y="6519865"/>
            <a:ext cx="5713" cy="102835"/>
          </a:xfrm>
          <a:prstGeom prst="rect">
            <a:avLst/>
          </a:prstGeom>
          <a:solidFill>
            <a:srgbClr val="C6BFAE"/>
          </a:solidFill>
          <a:ln/>
        </p:spPr>
        <p:txBody>
          <a:bodyPr/>
          <a:lstStyle/>
          <a:p>
            <a:endParaRPr lang="es-MX"/>
          </a:p>
        </p:txBody>
      </p:sp>
      <p:sp>
        <p:nvSpPr>
          <p:cNvPr id="33" name="s17-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17-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36</a:t>
            </a:r>
            <a:endParaRPr lang="en-US" sz="745" dirty="0"/>
          </a:p>
        </p:txBody>
      </p:sp>
      <p:sp>
        <p:nvSpPr>
          <p:cNvPr id="35" name="s17-forma-34"/>
          <p:cNvSpPr/>
          <p:nvPr/>
        </p:nvSpPr>
        <p:spPr>
          <a:xfrm>
            <a:off x="0" y="0"/>
            <a:ext cx="5757170"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txBody>
          <a:bodyPr/>
          <a:lstStyle/>
          <a:p>
            <a:endParaRPr lang="es-MX"/>
          </a:p>
        </p:txBody>
      </p:sp>
      <p:sp>
        <p:nvSpPr>
          <p:cNvPr id="3" name="s18-forma-2"/>
          <p:cNvSpPr/>
          <p:nvPr/>
        </p:nvSpPr>
        <p:spPr>
          <a:xfrm>
            <a:off x="853390" y="331715"/>
            <a:ext cx="81411" cy="81411"/>
          </a:xfrm>
          <a:prstGeom prst="ellipse">
            <a:avLst/>
          </a:prstGeom>
          <a:solidFill>
            <a:srgbClr val="0033A0"/>
          </a:solidFill>
          <a:ln/>
        </p:spPr>
        <p:txBody>
          <a:bodyPr/>
          <a:lstStyle/>
          <a:p>
            <a:endParaRPr lang="es-MX"/>
          </a:p>
        </p:txBody>
      </p:sp>
      <p:sp>
        <p:nvSpPr>
          <p:cNvPr id="4" name="s1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4 DE 5</a:t>
            </a:r>
            <a:endParaRPr lang="en-US" sz="900" dirty="0"/>
          </a:p>
        </p:txBody>
      </p:sp>
      <p:sp>
        <p:nvSpPr>
          <p:cNvPr id="7" name="s1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Red: todos con todos</a:t>
            </a:r>
            <a:endParaRPr lang="en-US" sz="2879" dirty="0"/>
          </a:p>
        </p:txBody>
      </p:sp>
      <p:sp>
        <p:nvSpPr>
          <p:cNvPr id="8" name="s18-forma-7"/>
          <p:cNvSpPr/>
          <p:nvPr/>
        </p:nvSpPr>
        <p:spPr>
          <a:xfrm>
            <a:off x="1685356" y="2399490"/>
            <a:ext cx="1371137" cy="571307"/>
          </a:xfrm>
          <a:prstGeom prst="rect">
            <a:avLst/>
          </a:prstGeom>
          <a:solidFill>
            <a:srgbClr val="E3DCCB"/>
          </a:solidFill>
          <a:ln w="5713">
            <a:solidFill>
              <a:srgbClr val="585E6F"/>
            </a:solidFill>
            <a:prstDash val="solid"/>
          </a:ln>
        </p:spPr>
        <p:txBody>
          <a:bodyPr/>
          <a:lstStyle/>
          <a:p>
            <a:endParaRPr lang="es-MX"/>
          </a:p>
        </p:txBody>
      </p:sp>
      <p:sp>
        <p:nvSpPr>
          <p:cNvPr id="9" name="s18-texto-8"/>
          <p:cNvSpPr txBox="1"/>
          <p:nvPr/>
        </p:nvSpPr>
        <p:spPr>
          <a:xfrm>
            <a:off x="2036889" y="2593735"/>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0" name="s18-forma-9"/>
          <p:cNvSpPr/>
          <p:nvPr/>
        </p:nvSpPr>
        <p:spPr>
          <a:xfrm>
            <a:off x="4541892" y="2399490"/>
            <a:ext cx="1371137" cy="571307"/>
          </a:xfrm>
          <a:prstGeom prst="rect">
            <a:avLst/>
          </a:prstGeom>
          <a:solidFill>
            <a:srgbClr val="E3DCCB"/>
          </a:solidFill>
          <a:ln w="5713">
            <a:solidFill>
              <a:srgbClr val="585E6F"/>
            </a:solidFill>
            <a:prstDash val="solid"/>
          </a:ln>
        </p:spPr>
        <p:txBody>
          <a:bodyPr/>
          <a:lstStyle/>
          <a:p>
            <a:endParaRPr lang="es-MX"/>
          </a:p>
        </p:txBody>
      </p:sp>
      <p:sp>
        <p:nvSpPr>
          <p:cNvPr id="11" name="s18-texto-10"/>
          <p:cNvSpPr txBox="1"/>
          <p:nvPr/>
        </p:nvSpPr>
        <p:spPr>
          <a:xfrm>
            <a:off x="4970462" y="2593735"/>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12" name="s18-forma-11"/>
          <p:cNvSpPr/>
          <p:nvPr/>
        </p:nvSpPr>
        <p:spPr>
          <a:xfrm>
            <a:off x="1685356" y="4170542"/>
            <a:ext cx="1371137" cy="571307"/>
          </a:xfrm>
          <a:prstGeom prst="rect">
            <a:avLst/>
          </a:prstGeom>
          <a:solidFill>
            <a:srgbClr val="E3DCCB"/>
          </a:solidFill>
          <a:ln w="5713">
            <a:solidFill>
              <a:srgbClr val="585E6F"/>
            </a:solidFill>
            <a:prstDash val="solid"/>
          </a:ln>
        </p:spPr>
        <p:txBody>
          <a:bodyPr/>
          <a:lstStyle/>
          <a:p>
            <a:endParaRPr lang="es-MX"/>
          </a:p>
        </p:txBody>
      </p:sp>
      <p:sp>
        <p:nvSpPr>
          <p:cNvPr id="13" name="s18-texto-12"/>
          <p:cNvSpPr txBox="1"/>
          <p:nvPr/>
        </p:nvSpPr>
        <p:spPr>
          <a:xfrm>
            <a:off x="1819561" y="4364787"/>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4" name="s18-forma-13"/>
          <p:cNvSpPr/>
          <p:nvPr/>
        </p:nvSpPr>
        <p:spPr>
          <a:xfrm>
            <a:off x="4541892" y="4170542"/>
            <a:ext cx="1371137" cy="571307"/>
          </a:xfrm>
          <a:prstGeom prst="rect">
            <a:avLst/>
          </a:prstGeom>
          <a:solidFill>
            <a:srgbClr val="E3DCCB"/>
          </a:solidFill>
          <a:ln w="5713">
            <a:solidFill>
              <a:srgbClr val="585E6F"/>
            </a:solidFill>
            <a:prstDash val="solid"/>
          </a:ln>
        </p:spPr>
        <p:txBody>
          <a:bodyPr/>
          <a:lstStyle/>
          <a:p>
            <a:endParaRPr lang="es-MX"/>
          </a:p>
        </p:txBody>
      </p:sp>
      <p:sp>
        <p:nvSpPr>
          <p:cNvPr id="15" name="s18-texto-14"/>
          <p:cNvSpPr txBox="1"/>
          <p:nvPr/>
        </p:nvSpPr>
        <p:spPr>
          <a:xfrm>
            <a:off x="4911189" y="4364787"/>
            <a:ext cx="63254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Revisor</a:t>
            </a:r>
            <a:endParaRPr lang="en-US" sz="1260" dirty="0"/>
          </a:p>
        </p:txBody>
      </p:sp>
      <p:sp>
        <p:nvSpPr>
          <p:cNvPr id="16" name="s18-forma-15"/>
          <p:cNvSpPr/>
          <p:nvPr/>
        </p:nvSpPr>
        <p:spPr>
          <a:xfrm>
            <a:off x="1342572" y="5027503"/>
            <a:ext cx="5027503" cy="374742"/>
          </a:xfrm>
          <a:prstGeom prst="rect">
            <a:avLst/>
          </a:prstGeom>
          <a:solidFill>
            <a:srgbClr val="E3DCCB"/>
          </a:solidFill>
          <a:ln/>
        </p:spPr>
        <p:txBody>
          <a:bodyPr/>
          <a:lstStyle/>
          <a:p>
            <a:endParaRPr lang="es-MX"/>
          </a:p>
        </p:txBody>
      </p:sp>
      <p:sp>
        <p:nvSpPr>
          <p:cNvPr id="17" name="s18-texto-16"/>
          <p:cNvSpPr txBox="1"/>
          <p:nvPr/>
        </p:nvSpPr>
        <p:spPr>
          <a:xfrm>
            <a:off x="1479686" y="5136052"/>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4 agentes = 6 canales · 10 agentes = 45 canales</a:t>
            </a:r>
            <a:endParaRPr lang="en-US" sz="1080" dirty="0"/>
          </a:p>
        </p:txBody>
      </p:sp>
      <p:sp>
        <p:nvSpPr>
          <p:cNvPr id="18" name="s18-texto-17"/>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19" name="s18-texto-18"/>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Cualquier agente puede hablar con cualquier otro y decide a quién pasarle el trabajo.</a:t>
            </a:r>
            <a:endParaRPr lang="en-US" sz="1260" dirty="0"/>
          </a:p>
        </p:txBody>
      </p:sp>
      <p:sp>
        <p:nvSpPr>
          <p:cNvPr id="20" name="s18-texto-19"/>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1" name="s18-texto-20"/>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Flexible y emergente; difícil de depurar, cara y puede entrar en ciclos sin fin.</a:t>
            </a:r>
            <a:endParaRPr lang="en-US" sz="1260" dirty="0"/>
          </a:p>
        </p:txBody>
      </p:sp>
      <p:sp>
        <p:nvSpPr>
          <p:cNvPr id="22" name="s18-forma-21"/>
          <p:cNvSpPr/>
          <p:nvPr/>
        </p:nvSpPr>
        <p:spPr>
          <a:xfrm>
            <a:off x="7284167" y="3797764"/>
            <a:ext cx="3564957" cy="899095"/>
          </a:xfrm>
          <a:prstGeom prst="rect">
            <a:avLst/>
          </a:prstGeom>
          <a:solidFill>
            <a:srgbClr val="E2D3C2"/>
          </a:solidFill>
          <a:ln/>
        </p:spPr>
        <p:txBody>
          <a:bodyPr/>
          <a:lstStyle/>
          <a:p>
            <a:endParaRPr lang="es-MX"/>
          </a:p>
        </p:txBody>
      </p:sp>
      <p:sp>
        <p:nvSpPr>
          <p:cNvPr id="23" name="s18-texto-22"/>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4" name="s18-texto-23"/>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No la usamos: con pasos conocidos, un grafo es más predecible y más barato.</a:t>
            </a:r>
            <a:endParaRPr lang="en-US" sz="1260" dirty="0"/>
          </a:p>
        </p:txBody>
      </p:sp>
      <p:sp>
        <p:nvSpPr>
          <p:cNvPr id="25" name="s18-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6" name="s18-linea-25-0"/>
          <p:cNvSpPr/>
          <p:nvPr/>
        </p:nvSpPr>
        <p:spPr>
          <a:xfrm>
            <a:off x="3056493" y="2685144"/>
            <a:ext cx="1485399" cy="0"/>
          </a:xfrm>
          <a:prstGeom prst="line">
            <a:avLst/>
          </a:prstGeom>
          <a:noFill/>
          <a:ln w="17140">
            <a:solidFill>
              <a:srgbClr val="585E6F"/>
            </a:solidFill>
            <a:prstDash val="solid"/>
            <a:headEnd type="triangle"/>
            <a:tailEnd type="triangle"/>
          </a:ln>
        </p:spPr>
        <p:txBody>
          <a:bodyPr/>
          <a:lstStyle/>
          <a:p>
            <a:endParaRPr lang="es-MX"/>
          </a:p>
        </p:txBody>
      </p:sp>
      <p:sp>
        <p:nvSpPr>
          <p:cNvPr id="27" name="s18-linea-26-0"/>
          <p:cNvSpPr/>
          <p:nvPr/>
        </p:nvSpPr>
        <p:spPr>
          <a:xfrm>
            <a:off x="3056493" y="4456196"/>
            <a:ext cx="1485399" cy="0"/>
          </a:xfrm>
          <a:prstGeom prst="line">
            <a:avLst/>
          </a:prstGeom>
          <a:noFill/>
          <a:ln w="17140">
            <a:solidFill>
              <a:srgbClr val="585E6F"/>
            </a:solidFill>
            <a:prstDash val="solid"/>
            <a:headEnd type="triangle"/>
            <a:tailEnd type="triangle"/>
          </a:ln>
        </p:spPr>
        <p:txBody>
          <a:bodyPr/>
          <a:lstStyle/>
          <a:p>
            <a:endParaRPr lang="es-MX"/>
          </a:p>
        </p:txBody>
      </p:sp>
      <p:sp>
        <p:nvSpPr>
          <p:cNvPr id="28" name="s18-linea-27-0"/>
          <p:cNvSpPr/>
          <p:nvPr/>
        </p:nvSpPr>
        <p:spPr>
          <a:xfrm>
            <a:off x="2370925" y="2970797"/>
            <a:ext cx="0" cy="1199745"/>
          </a:xfrm>
          <a:prstGeom prst="line">
            <a:avLst/>
          </a:prstGeom>
          <a:noFill/>
          <a:ln w="17140">
            <a:solidFill>
              <a:srgbClr val="585E6F"/>
            </a:solidFill>
            <a:prstDash val="solid"/>
            <a:headEnd type="triangle"/>
            <a:tailEnd type="triangle"/>
          </a:ln>
        </p:spPr>
        <p:txBody>
          <a:bodyPr/>
          <a:lstStyle/>
          <a:p>
            <a:endParaRPr lang="es-MX"/>
          </a:p>
        </p:txBody>
      </p:sp>
      <p:sp>
        <p:nvSpPr>
          <p:cNvPr id="29" name="s18-linea-28-0"/>
          <p:cNvSpPr/>
          <p:nvPr/>
        </p:nvSpPr>
        <p:spPr>
          <a:xfrm>
            <a:off x="5227461" y="2970797"/>
            <a:ext cx="0" cy="1199745"/>
          </a:xfrm>
          <a:prstGeom prst="line">
            <a:avLst/>
          </a:prstGeom>
          <a:noFill/>
          <a:ln w="17140">
            <a:solidFill>
              <a:srgbClr val="585E6F"/>
            </a:solidFill>
            <a:prstDash val="solid"/>
            <a:headEnd type="triangle"/>
            <a:tailEnd type="triangle"/>
          </a:ln>
        </p:spPr>
        <p:txBody>
          <a:bodyPr/>
          <a:lstStyle/>
          <a:p>
            <a:endParaRPr lang="es-MX"/>
          </a:p>
        </p:txBody>
      </p:sp>
      <p:sp>
        <p:nvSpPr>
          <p:cNvPr id="30" name="s18-linea-29-0"/>
          <p:cNvSpPr/>
          <p:nvPr/>
        </p:nvSpPr>
        <p:spPr>
          <a:xfrm>
            <a:off x="3056493" y="2970797"/>
            <a:ext cx="1485399" cy="1199745"/>
          </a:xfrm>
          <a:prstGeom prst="line">
            <a:avLst/>
          </a:prstGeom>
          <a:noFill/>
          <a:ln w="17140">
            <a:solidFill>
              <a:srgbClr val="984514"/>
            </a:solidFill>
            <a:prstDash val="solid"/>
            <a:headEnd type="triangle"/>
            <a:tailEnd type="triangle"/>
          </a:ln>
        </p:spPr>
        <p:txBody>
          <a:bodyPr/>
          <a:lstStyle/>
          <a:p>
            <a:endParaRPr lang="es-MX"/>
          </a:p>
        </p:txBody>
      </p:sp>
      <p:sp>
        <p:nvSpPr>
          <p:cNvPr id="31" name="s18-linea-30-0"/>
          <p:cNvSpPr/>
          <p:nvPr/>
        </p:nvSpPr>
        <p:spPr>
          <a:xfrm flipH="1">
            <a:off x="3056493" y="2970797"/>
            <a:ext cx="1485399" cy="1199745"/>
          </a:xfrm>
          <a:prstGeom prst="line">
            <a:avLst/>
          </a:prstGeom>
          <a:noFill/>
          <a:ln w="17140">
            <a:solidFill>
              <a:srgbClr val="984514"/>
            </a:solidFill>
            <a:prstDash val="solid"/>
            <a:headEnd type="triangle"/>
            <a:tailEnd type="triangle"/>
          </a:ln>
        </p:spPr>
        <p:txBody>
          <a:bodyPr/>
          <a:lstStyle/>
          <a:p>
            <a:endParaRPr lang="es-MX"/>
          </a:p>
        </p:txBody>
      </p:sp>
      <p:sp>
        <p:nvSpPr>
          <p:cNvPr id="32" name="s18-forma-31"/>
          <p:cNvSpPr/>
          <p:nvPr/>
        </p:nvSpPr>
        <p:spPr>
          <a:xfrm>
            <a:off x="853390" y="6411138"/>
            <a:ext cx="10484915" cy="5713"/>
          </a:xfrm>
          <a:prstGeom prst="rect">
            <a:avLst/>
          </a:prstGeom>
          <a:solidFill>
            <a:srgbClr val="DBD4C4"/>
          </a:solidFill>
          <a:ln/>
        </p:spPr>
        <p:txBody>
          <a:bodyPr/>
          <a:lstStyle/>
          <a:p>
            <a:endParaRPr lang="es-MX"/>
          </a:p>
        </p:txBody>
      </p:sp>
      <p:pic>
        <p:nvPicPr>
          <p:cNvPr id="33" name="s18-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18-forma-33"/>
          <p:cNvSpPr/>
          <p:nvPr/>
        </p:nvSpPr>
        <p:spPr>
          <a:xfrm>
            <a:off x="1659380" y="6519865"/>
            <a:ext cx="2926878" cy="102835"/>
          </a:xfrm>
          <a:prstGeom prst="rect">
            <a:avLst/>
          </a:prstGeom>
          <a:ln/>
        </p:spPr>
        <p:txBody>
          <a:bodyPr/>
          <a:lstStyle/>
          <a:p>
            <a:endParaRPr lang="es-MX"/>
          </a:p>
        </p:txBody>
      </p:sp>
      <p:sp>
        <p:nvSpPr>
          <p:cNvPr id="35" name="s18-forma-34"/>
          <p:cNvSpPr/>
          <p:nvPr/>
        </p:nvSpPr>
        <p:spPr>
          <a:xfrm>
            <a:off x="1659380" y="6519865"/>
            <a:ext cx="5713" cy="102835"/>
          </a:xfrm>
          <a:prstGeom prst="rect">
            <a:avLst/>
          </a:prstGeom>
          <a:solidFill>
            <a:srgbClr val="C6BFAE"/>
          </a:solidFill>
          <a:ln/>
        </p:spPr>
        <p:txBody>
          <a:bodyPr/>
          <a:lstStyle/>
          <a:p>
            <a:endParaRPr lang="es-MX"/>
          </a:p>
        </p:txBody>
      </p:sp>
      <p:sp>
        <p:nvSpPr>
          <p:cNvPr id="36" name="s18-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18-texto-3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36</a:t>
            </a:r>
            <a:endParaRPr lang="en-US" sz="745" dirty="0"/>
          </a:p>
        </p:txBody>
      </p:sp>
      <p:sp>
        <p:nvSpPr>
          <p:cNvPr id="38" name="s18-forma-37"/>
          <p:cNvSpPr/>
          <p:nvPr/>
        </p:nvSpPr>
        <p:spPr>
          <a:xfrm>
            <a:off x="0" y="0"/>
            <a:ext cx="6095848"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Red en código: todos con Command a todos</a:t>
            </a:r>
            <a:endParaRPr lang="en-US" sz="2519" dirty="0"/>
          </a:p>
        </p:txBody>
      </p:sp>
      <p:sp>
        <p:nvSpPr>
          <p:cNvPr id="8" name="s19-forma-7"/>
          <p:cNvSpPr/>
          <p:nvPr/>
        </p:nvSpPr>
        <p:spPr>
          <a:xfrm>
            <a:off x="1342572" y="2205246"/>
            <a:ext cx="5941595" cy="3159329"/>
          </a:xfrm>
          <a:prstGeom prst="rect">
            <a:avLst/>
          </a:prstGeom>
          <a:solidFill>
            <a:srgbClr val="E8E2D5"/>
          </a:solidFill>
          <a:ln/>
        </p:spPr>
        <p:txBody>
          <a:bodyPr/>
          <a:lstStyle/>
          <a:p>
            <a:endParaRPr lang="es-MX"/>
          </a:p>
        </p:txBody>
      </p:sp>
      <p:sp>
        <p:nvSpPr>
          <p:cNvPr id="9" name="s19-forma-8"/>
          <p:cNvSpPr/>
          <p:nvPr/>
        </p:nvSpPr>
        <p:spPr>
          <a:xfrm>
            <a:off x="1342572" y="2205246"/>
            <a:ext cx="5941595" cy="5713"/>
          </a:xfrm>
          <a:prstGeom prst="rect">
            <a:avLst/>
          </a:prstGeom>
          <a:solidFill>
            <a:srgbClr val="DBD4C4"/>
          </a:solidFill>
          <a:ln/>
        </p:spPr>
        <p:txBody>
          <a:bodyPr/>
          <a:lstStyle/>
          <a:p>
            <a:endParaRPr lang="es-MX"/>
          </a:p>
        </p:txBody>
      </p:sp>
      <p:sp>
        <p:nvSpPr>
          <p:cNvPr id="10" name="s19-forma-9"/>
          <p:cNvSpPr/>
          <p:nvPr/>
        </p:nvSpPr>
        <p:spPr>
          <a:xfrm>
            <a:off x="1342572" y="5358861"/>
            <a:ext cx="5941595" cy="5713"/>
          </a:xfrm>
          <a:prstGeom prst="rect">
            <a:avLst/>
          </a:prstGeom>
          <a:solidFill>
            <a:srgbClr val="DBD4C4"/>
          </a:solidFill>
          <a:ln/>
        </p:spPr>
        <p:txBody>
          <a:bodyPr/>
          <a:lstStyle/>
          <a:p>
            <a:endParaRPr lang="es-MX"/>
          </a:p>
        </p:txBody>
      </p:sp>
      <p:sp>
        <p:nvSpPr>
          <p:cNvPr id="11" name="s19-forma-10"/>
          <p:cNvSpPr/>
          <p:nvPr/>
        </p:nvSpPr>
        <p:spPr>
          <a:xfrm>
            <a:off x="1342572" y="2205246"/>
            <a:ext cx="17139" cy="3159329"/>
          </a:xfrm>
          <a:prstGeom prst="rect">
            <a:avLst/>
          </a:prstGeom>
          <a:solidFill>
            <a:srgbClr val="C6BFAE"/>
          </a:solidFill>
          <a:ln/>
        </p:spPr>
        <p:txBody>
          <a:bodyPr/>
          <a:lstStyle/>
          <a:p>
            <a:endParaRPr lang="es-MX"/>
          </a:p>
        </p:txBody>
      </p:sp>
      <p:sp>
        <p:nvSpPr>
          <p:cNvPr id="12" name="s19-forma-11"/>
          <p:cNvSpPr/>
          <p:nvPr/>
        </p:nvSpPr>
        <p:spPr>
          <a:xfrm>
            <a:off x="7278453" y="2205246"/>
            <a:ext cx="5713" cy="3159329"/>
          </a:xfrm>
          <a:prstGeom prst="rect">
            <a:avLst/>
          </a:prstGeom>
          <a:solidFill>
            <a:srgbClr val="DBD4C4"/>
          </a:solidFill>
          <a:ln/>
        </p:spPr>
        <p:txBody>
          <a:bodyPr/>
          <a:lstStyle/>
          <a:p>
            <a:endParaRPr lang="es-MX"/>
          </a:p>
        </p:txBody>
      </p:sp>
      <p:sp>
        <p:nvSpPr>
          <p:cNvPr id="13" name="s1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Turno(</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aporte: str</a:t>
            </a:r>
            <a:endParaRPr lang="en-US" sz="990" dirty="0"/>
          </a:p>
        </p:txBody>
      </p:sp>
      <p:sp>
        <p:nvSpPr>
          <p:cNvPr id="15" name="s19-forma-14"/>
          <p:cNvSpPr/>
          <p:nvPr/>
        </p:nvSpPr>
        <p:spPr>
          <a:xfrm>
            <a:off x="1451120" y="2747988"/>
            <a:ext cx="5735924" cy="188531"/>
          </a:xfrm>
          <a:prstGeom prst="rect">
            <a:avLst/>
          </a:prstGeom>
          <a:solidFill>
            <a:srgbClr val="DCE3F2"/>
          </a:solidFill>
          <a:ln/>
        </p:spPr>
        <p:txBody>
          <a:bodyPr/>
          <a:lstStyle/>
          <a:p>
            <a:endParaRPr lang="es-MX"/>
          </a:p>
        </p:txBody>
      </p:sp>
      <p:sp>
        <p:nvSpPr>
          <p:cNvPr id="16" name="s19-forma-15"/>
          <p:cNvSpPr/>
          <p:nvPr/>
        </p:nvSpPr>
        <p:spPr>
          <a:xfrm>
            <a:off x="1451120" y="2747988"/>
            <a:ext cx="22852" cy="188531"/>
          </a:xfrm>
          <a:prstGeom prst="rect">
            <a:avLst/>
          </a:prstGeom>
          <a:solidFill>
            <a:srgbClr val="AC321E"/>
          </a:solidFill>
          <a:ln/>
        </p:spPr>
        <p:txBody>
          <a:bodyPr/>
          <a:lstStyle/>
          <a:p>
            <a:endParaRPr lang="es-MX"/>
          </a:p>
        </p:txBody>
      </p:sp>
      <p:sp>
        <p:nvSpPr>
          <p:cNvPr id="17" name="s19-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siguiente: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"tester"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"desarrollador"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8" name="s19-forma-17"/>
          <p:cNvSpPr/>
          <p:nvPr/>
        </p:nvSpPr>
        <p:spPr>
          <a:xfrm>
            <a:off x="1451120" y="2936519"/>
            <a:ext cx="5735924" cy="188531"/>
          </a:xfrm>
          <a:prstGeom prst="rect">
            <a:avLst/>
          </a:prstGeom>
          <a:solidFill>
            <a:srgbClr val="DCE3F2"/>
          </a:solidFill>
          <a:ln/>
        </p:spPr>
        <p:txBody>
          <a:bodyPr/>
          <a:lstStyle/>
          <a:p>
            <a:endParaRPr lang="es-MX"/>
          </a:p>
        </p:txBody>
      </p:sp>
      <p:sp>
        <p:nvSpPr>
          <p:cNvPr id="19" name="s19-forma-18"/>
          <p:cNvSpPr/>
          <p:nvPr/>
        </p:nvSpPr>
        <p:spPr>
          <a:xfrm>
            <a:off x="1451120" y="2936519"/>
            <a:ext cx="22852" cy="188531"/>
          </a:xfrm>
          <a:prstGeom prst="rect">
            <a:avLst/>
          </a:prstGeom>
          <a:solidFill>
            <a:srgbClr val="AC321E"/>
          </a:solidFill>
          <a:ln/>
        </p:spPr>
        <p:txBody>
          <a:bodyPr/>
          <a:lstStyle/>
          <a:p>
            <a:endParaRPr lang="es-MX"/>
          </a:p>
        </p:txBody>
      </p:sp>
      <p:sp>
        <p:nvSpPr>
          <p:cNvPr id="20" name="s19-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"revisor"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9-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par(nombre: str):</a:t>
            </a:r>
            <a:endParaRPr lang="en-US" sz="990" dirty="0"/>
          </a:p>
        </p:txBody>
      </p:sp>
      <p:sp>
        <p:nvSpPr>
          <p:cNvPr id="22" name="s19-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nodo(s: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[Destino]:    </a:t>
            </a:r>
            <a:r>
              <a:rPr lang="en-US" sz="990" dirty="0">
                <a:solidFill>
                  <a:srgbClr val="585E6F"/>
                </a:solidFill>
                <a:latin typeface="Courier New" pitchFamily="34" charset="0"/>
                <a:ea typeface="Courier New" pitchFamily="34" charset="-122"/>
                <a:cs typeface="Courier New" pitchFamily="34" charset="-120"/>
              </a:rPr>
              <a:t># Destino = todos</a:t>
            </a:r>
            <a:endParaRPr lang="en-US" sz="990" dirty="0"/>
          </a:p>
        </p:txBody>
      </p:sp>
      <p:sp>
        <p:nvSpPr>
          <p:cNvPr id="23" name="s19-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 = modelo().with_structured_output(Turno).invoke(...)</a:t>
            </a:r>
            <a:endParaRPr lang="en-US" sz="990" dirty="0"/>
          </a:p>
        </p:txBody>
      </p:sp>
      <p:sp>
        <p:nvSpPr>
          <p:cNvPr id="24" name="s19-forma-23"/>
          <p:cNvSpPr/>
          <p:nvPr/>
        </p:nvSpPr>
        <p:spPr>
          <a:xfrm>
            <a:off x="1451120" y="3879176"/>
            <a:ext cx="5735924" cy="188531"/>
          </a:xfrm>
          <a:prstGeom prst="rect">
            <a:avLst/>
          </a:prstGeom>
          <a:solidFill>
            <a:srgbClr val="DCE3F2"/>
          </a:solidFill>
          <a:ln/>
        </p:spPr>
        <p:txBody>
          <a:bodyPr/>
          <a:lstStyle/>
          <a:p>
            <a:endParaRPr lang="es-MX"/>
          </a:p>
        </p:txBody>
      </p:sp>
      <p:sp>
        <p:nvSpPr>
          <p:cNvPr id="25" name="s19-forma-24"/>
          <p:cNvSpPr/>
          <p:nvPr/>
        </p:nvSpPr>
        <p:spPr>
          <a:xfrm>
            <a:off x="1451120" y="3879176"/>
            <a:ext cx="22852" cy="188531"/>
          </a:xfrm>
          <a:prstGeom prst="rect">
            <a:avLst/>
          </a:prstGeom>
          <a:solidFill>
            <a:srgbClr val="AC321E"/>
          </a:solidFill>
          <a:ln/>
        </p:spPr>
        <p:txBody>
          <a:bodyPr/>
          <a:lstStyle/>
          <a:p>
            <a:endParaRPr lang="es-MX"/>
          </a:p>
        </p:txBody>
      </p:sp>
      <p:sp>
        <p:nvSpPr>
          <p:cNvPr id="26" name="s19-texto-25"/>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fin = t.siguiente ==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or</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"turnos"</a:t>
            </a:r>
            <a:r>
              <a:rPr lang="en-US" sz="990" dirty="0">
                <a:solidFill>
                  <a:srgbClr val="16181D"/>
                </a:solidFill>
                <a:latin typeface="Courier New" pitchFamily="34" charset="0"/>
                <a:ea typeface="Courier New" pitchFamily="34" charset="-122"/>
                <a:cs typeface="Courier New" pitchFamily="34" charset="-120"/>
              </a:rPr>
              <a:t>] &gt;= MAX_TURNOS</a:t>
            </a:r>
            <a:endParaRPr lang="en-US" sz="990" dirty="0"/>
          </a:p>
        </p:txBody>
      </p:sp>
      <p:sp>
        <p:nvSpPr>
          <p:cNvPr id="27" name="s19-forma-26"/>
          <p:cNvSpPr/>
          <p:nvPr/>
        </p:nvSpPr>
        <p:spPr>
          <a:xfrm>
            <a:off x="1451120" y="4067707"/>
            <a:ext cx="5735924" cy="188531"/>
          </a:xfrm>
          <a:prstGeom prst="rect">
            <a:avLst/>
          </a:prstGeom>
          <a:solidFill>
            <a:srgbClr val="DCE3F2"/>
          </a:solidFill>
          <a:ln/>
        </p:spPr>
        <p:txBody>
          <a:bodyPr/>
          <a:lstStyle/>
          <a:p>
            <a:endParaRPr lang="es-MX"/>
          </a:p>
        </p:txBody>
      </p:sp>
      <p:sp>
        <p:nvSpPr>
          <p:cNvPr id="28" name="s19-forma-27"/>
          <p:cNvSpPr/>
          <p:nvPr/>
        </p:nvSpPr>
        <p:spPr>
          <a:xfrm>
            <a:off x="1451120" y="4067707"/>
            <a:ext cx="22852" cy="188531"/>
          </a:xfrm>
          <a:prstGeom prst="rect">
            <a:avLst/>
          </a:prstGeom>
          <a:solidFill>
            <a:srgbClr val="AC321E"/>
          </a:solidFill>
          <a:ln/>
        </p:spPr>
        <p:txBody>
          <a:bodyPr/>
          <a:lstStyle/>
          <a:p>
            <a:endParaRPr lang="es-MX"/>
          </a:p>
        </p:txBody>
      </p:sp>
      <p:sp>
        <p:nvSpPr>
          <p:cNvPr id="29" name="s19-texto-28"/>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fin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t.siguiente, update=...)</a:t>
            </a:r>
            <a:endParaRPr lang="en-US" sz="990" dirty="0"/>
          </a:p>
        </p:txBody>
      </p:sp>
      <p:sp>
        <p:nvSpPr>
          <p:cNvPr id="30" name="s19-texto-29"/>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nodo</a:t>
            </a:r>
            <a:endParaRPr lang="en-US" sz="990" dirty="0"/>
          </a:p>
        </p:txBody>
      </p:sp>
      <p:sp>
        <p:nvSpPr>
          <p:cNvPr id="31" name="s19-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ROLES:</a:t>
            </a:r>
            <a:endParaRPr lang="en-US" sz="990" dirty="0"/>
          </a:p>
        </p:txBody>
      </p:sp>
      <p:sp>
        <p:nvSpPr>
          <p:cNvPr id="32" name="s19-texto-31"/>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grafo.add_node(nombre, par(nombre))</a:t>
            </a:r>
            <a:endParaRPr lang="en-US" sz="990" dirty="0"/>
          </a:p>
        </p:txBody>
      </p:sp>
      <p:sp>
        <p:nvSpPr>
          <p:cNvPr id="33" name="s19-forma-32"/>
          <p:cNvSpPr/>
          <p:nvPr/>
        </p:nvSpPr>
        <p:spPr>
          <a:xfrm>
            <a:off x="1451120" y="5010364"/>
            <a:ext cx="5735924" cy="188531"/>
          </a:xfrm>
          <a:prstGeom prst="rect">
            <a:avLst/>
          </a:prstGeom>
          <a:solidFill>
            <a:srgbClr val="DCE3F2"/>
          </a:solidFill>
          <a:ln/>
        </p:spPr>
        <p:txBody>
          <a:bodyPr/>
          <a:lstStyle/>
          <a:p>
            <a:endParaRPr lang="es-MX"/>
          </a:p>
        </p:txBody>
      </p:sp>
      <p:sp>
        <p:nvSpPr>
          <p:cNvPr id="34" name="s19-forma-33"/>
          <p:cNvSpPr/>
          <p:nvPr/>
        </p:nvSpPr>
        <p:spPr>
          <a:xfrm>
            <a:off x="1451120" y="5010364"/>
            <a:ext cx="22852" cy="188531"/>
          </a:xfrm>
          <a:prstGeom prst="rect">
            <a:avLst/>
          </a:prstGeom>
          <a:solidFill>
            <a:srgbClr val="AC321E"/>
          </a:solidFill>
          <a:ln/>
        </p:spPr>
        <p:txBody>
          <a:bodyPr/>
          <a:lstStyle/>
          <a:p>
            <a:endParaRPr lang="es-MX"/>
          </a:p>
        </p:txBody>
      </p:sp>
      <p:sp>
        <p:nvSpPr>
          <p:cNvPr id="35" name="s19-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la única arista fija</a:t>
            </a:r>
            <a:endParaRPr lang="en-US" sz="990" dirty="0"/>
          </a:p>
        </p:txBody>
      </p:sp>
      <p:sp>
        <p:nvSpPr>
          <p:cNvPr id="36" name="s19-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19-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Todos</a:t>
            </a:r>
            <a:r>
              <a:rPr lang="en-US" sz="1170" dirty="0">
                <a:solidFill>
                  <a:srgbClr val="16181D"/>
                </a:solidFill>
                <a:latin typeface="Arial" pitchFamily="34" charset="0"/>
                <a:ea typeface="Arial" pitchFamily="34" charset="-122"/>
                <a:cs typeface="Arial" pitchFamily="34" charset="-120"/>
              </a:rPr>
              <a:t> los nodos devuelven Command hacia cualquier otro. Sin aristas fijas, el tope de turnos es obligatorio.</a:t>
            </a:r>
            <a:endParaRPr lang="en-US" sz="1170" dirty="0"/>
          </a:p>
        </p:txBody>
      </p:sp>
      <p:sp>
        <p:nvSpPr>
          <p:cNvPr id="38" name="s19-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19-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misma pieza (Command), pero solo en un nodo.</a:t>
            </a:r>
            <a:endParaRPr lang="en-US" sz="1170" dirty="0"/>
          </a:p>
        </p:txBody>
      </p:sp>
      <p:sp>
        <p:nvSpPr>
          <p:cNvPr id="40" name="s19-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19-forma-40"/>
          <p:cNvSpPr/>
          <p:nvPr/>
        </p:nvSpPr>
        <p:spPr>
          <a:xfrm>
            <a:off x="7558394" y="4084579"/>
            <a:ext cx="3290729" cy="289046"/>
          </a:xfrm>
          <a:prstGeom prst="rect">
            <a:avLst/>
          </a:prstGeom>
          <a:solidFill>
            <a:srgbClr val="E3DCCB"/>
          </a:solidFill>
          <a:ln/>
        </p:spPr>
        <p:txBody>
          <a:bodyPr/>
          <a:lstStyle/>
          <a:p>
            <a:endParaRPr lang="es-MX"/>
          </a:p>
        </p:txBody>
      </p:sp>
      <p:sp>
        <p:nvSpPr>
          <p:cNvPr id="42" name="s19-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ejemplos.s3_topologias.red</a:t>
            </a:r>
            <a:endParaRPr lang="en-US" sz="855" dirty="0"/>
          </a:p>
        </p:txBody>
      </p:sp>
      <p:sp>
        <p:nvSpPr>
          <p:cNvPr id="43" name="s19-forma-42"/>
          <p:cNvSpPr/>
          <p:nvPr/>
        </p:nvSpPr>
        <p:spPr>
          <a:xfrm>
            <a:off x="7558394" y="4510738"/>
            <a:ext cx="3290729" cy="832859"/>
          </a:xfrm>
          <a:prstGeom prst="rect">
            <a:avLst/>
          </a:prstGeom>
          <a:solidFill>
            <a:srgbClr val="E2D3C2"/>
          </a:solidFill>
          <a:ln/>
        </p:spPr>
        <p:txBody>
          <a:bodyPr/>
          <a:lstStyle/>
          <a:p>
            <a:endParaRPr lang="es-MX"/>
          </a:p>
        </p:txBody>
      </p:sp>
      <p:sp>
        <p:nvSpPr>
          <p:cNvPr id="44" name="s19-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19-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No la usamos: con pasos conocidos, un grafo fijo es más predecible y barato.</a:t>
            </a:r>
            <a:endParaRPr lang="en-US" sz="1170" dirty="0"/>
          </a:p>
        </p:txBody>
      </p:sp>
      <p:sp>
        <p:nvSpPr>
          <p:cNvPr id="46" name="s19-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ejemplos/s3_topologias/red.py · las líneas resaltadas son el patrón</a:t>
            </a:r>
            <a:endParaRPr lang="en-US" sz="1080" dirty="0"/>
          </a:p>
        </p:txBody>
      </p:sp>
      <p:sp>
        <p:nvSpPr>
          <p:cNvPr id="47" name="s19-forma-46"/>
          <p:cNvSpPr/>
          <p:nvPr/>
        </p:nvSpPr>
        <p:spPr>
          <a:xfrm>
            <a:off x="853390" y="6411138"/>
            <a:ext cx="10484915" cy="5713"/>
          </a:xfrm>
          <a:prstGeom prst="rect">
            <a:avLst/>
          </a:prstGeom>
          <a:solidFill>
            <a:srgbClr val="DBD4C4"/>
          </a:solidFill>
          <a:ln/>
        </p:spPr>
        <p:txBody>
          <a:bodyPr/>
          <a:lstStyle/>
          <a:p>
            <a:endParaRPr lang="es-MX"/>
          </a:p>
        </p:txBody>
      </p:sp>
      <p:pic>
        <p:nvPicPr>
          <p:cNvPr id="48" name="s19-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19-forma-48"/>
          <p:cNvSpPr/>
          <p:nvPr/>
        </p:nvSpPr>
        <p:spPr>
          <a:xfrm>
            <a:off x="1659380" y="6519865"/>
            <a:ext cx="2926878" cy="102835"/>
          </a:xfrm>
          <a:prstGeom prst="rect">
            <a:avLst/>
          </a:prstGeom>
          <a:ln/>
        </p:spPr>
        <p:txBody>
          <a:bodyPr/>
          <a:lstStyle/>
          <a:p>
            <a:endParaRPr lang="es-MX"/>
          </a:p>
        </p:txBody>
      </p:sp>
      <p:sp>
        <p:nvSpPr>
          <p:cNvPr id="50" name="s19-forma-49"/>
          <p:cNvSpPr/>
          <p:nvPr/>
        </p:nvSpPr>
        <p:spPr>
          <a:xfrm>
            <a:off x="1659380" y="6519865"/>
            <a:ext cx="5713" cy="102835"/>
          </a:xfrm>
          <a:prstGeom prst="rect">
            <a:avLst/>
          </a:prstGeom>
          <a:solidFill>
            <a:srgbClr val="C6BFAE"/>
          </a:solidFill>
          <a:ln/>
        </p:spPr>
        <p:txBody>
          <a:bodyPr/>
          <a:lstStyle/>
          <a:p>
            <a:endParaRPr lang="es-MX"/>
          </a:p>
        </p:txBody>
      </p:sp>
      <p:sp>
        <p:nvSpPr>
          <p:cNvPr id="51" name="s19-texto-50"/>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2" name="s19-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36</a:t>
            </a:r>
            <a:endParaRPr lang="en-US" sz="745" dirty="0"/>
          </a:p>
        </p:txBody>
      </p:sp>
      <p:sp>
        <p:nvSpPr>
          <p:cNvPr id="53" name="s19-forma-52"/>
          <p:cNvSpPr/>
          <p:nvPr/>
        </p:nvSpPr>
        <p:spPr>
          <a:xfrm>
            <a:off x="0" y="0"/>
            <a:ext cx="6434436"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Pizarra: un espacio de trabajo compartido</a:t>
            </a:r>
            <a:endParaRPr lang="en-US" sz="2879" dirty="0"/>
          </a:p>
        </p:txBody>
      </p:sp>
      <p:sp>
        <p:nvSpPr>
          <p:cNvPr id="8" name="s20-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20-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Mensajes directos</a:t>
            </a:r>
            <a:endParaRPr lang="en-US" sz="1260" dirty="0"/>
          </a:p>
        </p:txBody>
      </p:sp>
      <p:sp>
        <p:nvSpPr>
          <p:cNvPr id="10" name="s20-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agente debe saber a quién avisar: agregar uno nuevo obliga a cambiar a los demás.</a:t>
            </a:r>
            <a:endParaRPr lang="en-US" sz="1170" dirty="0"/>
          </a:p>
        </p:txBody>
      </p:sp>
      <p:sp>
        <p:nvSpPr>
          <p:cNvPr id="11" name="s20-forma-10"/>
          <p:cNvSpPr/>
          <p:nvPr/>
        </p:nvSpPr>
        <p:spPr>
          <a:xfrm>
            <a:off x="1342572" y="3249488"/>
            <a:ext cx="4341935" cy="676374"/>
          </a:xfrm>
          <a:prstGeom prst="rect">
            <a:avLst/>
          </a:prstGeom>
          <a:solidFill>
            <a:srgbClr val="E3DCCB"/>
          </a:solidFill>
          <a:ln w="5713">
            <a:solidFill>
              <a:srgbClr val="585E6F"/>
            </a:solidFill>
            <a:prstDash val="dash"/>
          </a:ln>
        </p:spPr>
        <p:txBody>
          <a:bodyPr/>
          <a:lstStyle/>
          <a:p>
            <a:endParaRPr lang="es-MX"/>
          </a:p>
        </p:txBody>
      </p:sp>
      <p:sp>
        <p:nvSpPr>
          <p:cNvPr id="12" name="s20-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supervisor</a:t>
            </a:r>
            <a:endParaRPr lang="en-US" sz="1260" dirty="0"/>
          </a:p>
        </p:txBody>
      </p:sp>
      <p:sp>
        <p:nvSpPr>
          <p:cNvPr id="13" name="s20-texto-12"/>
          <p:cNvSpPr txBox="1"/>
          <p:nvPr/>
        </p:nvSpPr>
        <p:spPr>
          <a:xfrm>
            <a:off x="1576808" y="3615125"/>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Alguien tiene que decidir, en cada paso, quién sigue.</a:t>
            </a:r>
            <a:endParaRPr lang="en-US" sz="1170" dirty="0"/>
          </a:p>
        </p:txBody>
      </p:sp>
      <p:sp>
        <p:nvSpPr>
          <p:cNvPr id="14" name="s20-forma-13"/>
          <p:cNvSpPr/>
          <p:nvPr/>
        </p:nvSpPr>
        <p:spPr>
          <a:xfrm>
            <a:off x="1342572" y="4062976"/>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20-texto-14"/>
          <p:cNvSpPr txBox="1"/>
          <p:nvPr/>
        </p:nvSpPr>
        <p:spPr>
          <a:xfrm>
            <a:off x="1576808" y="4182950"/>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Pizarra</a:t>
            </a:r>
            <a:endParaRPr lang="en-US" sz="1260" dirty="0"/>
          </a:p>
        </p:txBody>
      </p:sp>
      <p:sp>
        <p:nvSpPr>
          <p:cNvPr id="16" name="s20-texto-15"/>
          <p:cNvSpPr txBox="1"/>
          <p:nvPr/>
        </p:nvSpPr>
        <p:spPr>
          <a:xfrm>
            <a:off x="1576808" y="4428613"/>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Los agentes leen y escriben en un espacio común; un controlador activa al agente cuya entrada ya está disponible.</a:t>
            </a:r>
            <a:endParaRPr lang="en-US" sz="1170" dirty="0"/>
          </a:p>
        </p:txBody>
      </p:sp>
      <p:sp>
        <p:nvSpPr>
          <p:cNvPr id="17" name="s20-forma-16"/>
          <p:cNvSpPr/>
          <p:nvPr/>
        </p:nvSpPr>
        <p:spPr>
          <a:xfrm>
            <a:off x="6095848" y="2228098"/>
            <a:ext cx="4753276" cy="1610908"/>
          </a:xfrm>
          <a:prstGeom prst="rect">
            <a:avLst/>
          </a:prstGeom>
          <a:solidFill>
            <a:srgbClr val="E8E2D5"/>
          </a:solidFill>
          <a:ln/>
        </p:spPr>
        <p:txBody>
          <a:bodyPr/>
          <a:lstStyle/>
          <a:p>
            <a:endParaRPr lang="es-MX"/>
          </a:p>
        </p:txBody>
      </p:sp>
      <p:sp>
        <p:nvSpPr>
          <p:cNvPr id="18" name="s20-forma-17"/>
          <p:cNvSpPr/>
          <p:nvPr/>
        </p:nvSpPr>
        <p:spPr>
          <a:xfrm>
            <a:off x="6095848" y="2228098"/>
            <a:ext cx="4753276" cy="5713"/>
          </a:xfrm>
          <a:prstGeom prst="rect">
            <a:avLst/>
          </a:prstGeom>
          <a:solidFill>
            <a:srgbClr val="DBD4C4"/>
          </a:solidFill>
          <a:ln/>
        </p:spPr>
        <p:txBody>
          <a:bodyPr/>
          <a:lstStyle/>
          <a:p>
            <a:endParaRPr lang="es-MX"/>
          </a:p>
        </p:txBody>
      </p:sp>
      <p:sp>
        <p:nvSpPr>
          <p:cNvPr id="19" name="s20-forma-18"/>
          <p:cNvSpPr/>
          <p:nvPr/>
        </p:nvSpPr>
        <p:spPr>
          <a:xfrm>
            <a:off x="6095848" y="3833293"/>
            <a:ext cx="4753276" cy="5713"/>
          </a:xfrm>
          <a:prstGeom prst="rect">
            <a:avLst/>
          </a:prstGeom>
          <a:solidFill>
            <a:srgbClr val="DBD4C4"/>
          </a:solidFill>
          <a:ln/>
        </p:spPr>
        <p:txBody>
          <a:bodyPr/>
          <a:lstStyle/>
          <a:p>
            <a:endParaRPr lang="es-MX"/>
          </a:p>
        </p:txBody>
      </p:sp>
      <p:sp>
        <p:nvSpPr>
          <p:cNvPr id="20" name="s20-forma-19"/>
          <p:cNvSpPr/>
          <p:nvPr/>
        </p:nvSpPr>
        <p:spPr>
          <a:xfrm>
            <a:off x="6095848" y="2228098"/>
            <a:ext cx="17139" cy="1610908"/>
          </a:xfrm>
          <a:prstGeom prst="rect">
            <a:avLst/>
          </a:prstGeom>
          <a:solidFill>
            <a:srgbClr val="C6BFAE"/>
          </a:solidFill>
          <a:ln/>
        </p:spPr>
        <p:txBody>
          <a:bodyPr/>
          <a:lstStyle/>
          <a:p>
            <a:endParaRPr lang="es-MX"/>
          </a:p>
        </p:txBody>
      </p:sp>
      <p:sp>
        <p:nvSpPr>
          <p:cNvPr id="21" name="s20-forma-20"/>
          <p:cNvSpPr/>
          <p:nvPr/>
        </p:nvSpPr>
        <p:spPr>
          <a:xfrm>
            <a:off x="10843410" y="2228098"/>
            <a:ext cx="5713" cy="1610908"/>
          </a:xfrm>
          <a:prstGeom prst="rect">
            <a:avLst/>
          </a:prstGeom>
          <a:solidFill>
            <a:srgbClr val="DBD4C4"/>
          </a:solidFill>
          <a:ln/>
        </p:spPr>
        <p:txBody>
          <a:bodyPr/>
          <a:lstStyle/>
          <a:p>
            <a:endParaRPr lang="es-MX"/>
          </a:p>
        </p:txBody>
      </p:sp>
      <p:sp>
        <p:nvSpPr>
          <p:cNvPr id="22" name="s20-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Pizarra: historia ✓ · criterios — · casos — · código —</a:t>
            </a:r>
            <a:endParaRPr lang="en-US" sz="1080" dirty="0"/>
          </a:p>
        </p:txBody>
      </p:sp>
      <p:sp>
        <p:nvSpPr>
          <p:cNvPr id="23" name="s20-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Controlador ·</a:t>
            </a:r>
            <a:r>
              <a:rPr lang="en-US" sz="1080" dirty="0">
                <a:solidFill>
                  <a:srgbClr val="16181D"/>
                </a:solidFill>
                <a:latin typeface="Arial" pitchFamily="34" charset="0"/>
                <a:ea typeface="Arial" pitchFamily="34" charset="-122"/>
                <a:cs typeface="Arial" pitchFamily="34" charset="-120"/>
              </a:rPr>
              <a:t> hay historia y faltan criterios → Analista</a:t>
            </a:r>
            <a:endParaRPr lang="en-US" sz="1080" dirty="0"/>
          </a:p>
        </p:txBody>
      </p:sp>
      <p:sp>
        <p:nvSpPr>
          <p:cNvPr id="24" name="s20-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criterios ✓ → el Diseñador ya puede trabajar</a:t>
            </a:r>
            <a:endParaRPr lang="en-US" sz="1080" dirty="0"/>
          </a:p>
        </p:txBody>
      </p:sp>
      <p:sp>
        <p:nvSpPr>
          <p:cNvPr id="25" name="s20-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casos ✓ → el Desarrollador ya puede trabajar</a:t>
            </a:r>
            <a:endParaRPr lang="en-US" sz="1080" dirty="0"/>
          </a:p>
        </p:txBody>
      </p:sp>
      <p:sp>
        <p:nvSpPr>
          <p:cNvPr id="26" name="s20-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todo ✓ → terminado</a:t>
            </a:r>
            <a:endParaRPr lang="en-US" sz="1080" dirty="0"/>
          </a:p>
        </p:txBody>
      </p:sp>
      <p:sp>
        <p:nvSpPr>
          <p:cNvPr id="27" name="s20-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Desacopla a los agentes; hay que definir quién escribe cada campo para que no se pisen.</a:t>
            </a:r>
            <a:endParaRPr lang="en-US" sz="1080" dirty="0"/>
          </a:p>
        </p:txBody>
      </p:sp>
      <p:sp>
        <p:nvSpPr>
          <p:cNvPr id="28" name="s20-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 · Erman et al., Hearsay-II (1980)</a:t>
            </a:r>
            <a:endParaRPr lang="en-US" sz="1080" dirty="0"/>
          </a:p>
        </p:txBody>
      </p:sp>
      <p:sp>
        <p:nvSpPr>
          <p:cNvPr id="29" name="s20-forma-28"/>
          <p:cNvSpPr/>
          <p:nvPr/>
        </p:nvSpPr>
        <p:spPr>
          <a:xfrm>
            <a:off x="853390" y="6411138"/>
            <a:ext cx="10484915" cy="5713"/>
          </a:xfrm>
          <a:prstGeom prst="rect">
            <a:avLst/>
          </a:prstGeom>
          <a:solidFill>
            <a:srgbClr val="DBD4C4"/>
          </a:solidFill>
          <a:ln/>
        </p:spPr>
        <p:txBody>
          <a:bodyPr/>
          <a:lstStyle/>
          <a:p>
            <a:endParaRPr lang="es-MX"/>
          </a:p>
        </p:txBody>
      </p:sp>
      <p:pic>
        <p:nvPicPr>
          <p:cNvPr id="30" name="s20-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20-forma-30"/>
          <p:cNvSpPr/>
          <p:nvPr/>
        </p:nvSpPr>
        <p:spPr>
          <a:xfrm>
            <a:off x="1659380" y="6519865"/>
            <a:ext cx="2926878" cy="102835"/>
          </a:xfrm>
          <a:prstGeom prst="rect">
            <a:avLst/>
          </a:prstGeom>
          <a:ln/>
        </p:spPr>
        <p:txBody>
          <a:bodyPr/>
          <a:lstStyle/>
          <a:p>
            <a:endParaRPr lang="es-MX"/>
          </a:p>
        </p:txBody>
      </p:sp>
      <p:sp>
        <p:nvSpPr>
          <p:cNvPr id="32" name="s20-forma-31"/>
          <p:cNvSpPr/>
          <p:nvPr/>
        </p:nvSpPr>
        <p:spPr>
          <a:xfrm>
            <a:off x="1659380" y="6519865"/>
            <a:ext cx="5713" cy="102835"/>
          </a:xfrm>
          <a:prstGeom prst="rect">
            <a:avLst/>
          </a:prstGeom>
          <a:solidFill>
            <a:srgbClr val="C6BFAE"/>
          </a:solidFill>
          <a:ln/>
        </p:spPr>
        <p:txBody>
          <a:bodyPr/>
          <a:lstStyle/>
          <a:p>
            <a:endParaRPr lang="es-MX"/>
          </a:p>
        </p:txBody>
      </p:sp>
      <p:sp>
        <p:nvSpPr>
          <p:cNvPr id="33" name="s20-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20-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36</a:t>
            </a:r>
            <a:endParaRPr lang="en-US" sz="745" dirty="0"/>
          </a:p>
        </p:txBody>
      </p:sp>
      <p:sp>
        <p:nvSpPr>
          <p:cNvPr id="35" name="s20-forma-34"/>
          <p:cNvSpPr/>
          <p:nvPr/>
        </p:nvSpPr>
        <p:spPr>
          <a:xfrm>
            <a:off x="0" y="0"/>
            <a:ext cx="6773114"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5 DE 5</a:t>
            </a:r>
            <a:endParaRPr lang="en-US" sz="900" dirty="0"/>
          </a:p>
        </p:txBody>
      </p:sp>
      <p:sp>
        <p:nvSpPr>
          <p:cNvPr id="7" name="s2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Pizarra: un estado compartido</a:t>
            </a:r>
            <a:endParaRPr lang="en-US" sz="2879" dirty="0"/>
          </a:p>
        </p:txBody>
      </p:sp>
      <p:sp>
        <p:nvSpPr>
          <p:cNvPr id="8" name="s21-forma-7"/>
          <p:cNvSpPr/>
          <p:nvPr/>
        </p:nvSpPr>
        <p:spPr>
          <a:xfrm>
            <a:off x="2713709" y="3142189"/>
            <a:ext cx="2285229" cy="742699"/>
          </a:xfrm>
          <a:prstGeom prst="rect">
            <a:avLst/>
          </a:prstGeom>
          <a:solidFill>
            <a:srgbClr val="DCE3F2"/>
          </a:solidFill>
          <a:ln w="5713">
            <a:solidFill>
              <a:srgbClr val="0033A0"/>
            </a:solidFill>
            <a:prstDash val="solid"/>
          </a:ln>
        </p:spPr>
        <p:txBody>
          <a:bodyPr/>
          <a:lstStyle/>
          <a:p>
            <a:endParaRPr lang="es-MX"/>
          </a:p>
        </p:txBody>
      </p:sp>
      <p:sp>
        <p:nvSpPr>
          <p:cNvPr id="9" name="s21-texto-8"/>
          <p:cNvSpPr txBox="1"/>
          <p:nvPr/>
        </p:nvSpPr>
        <p:spPr>
          <a:xfrm>
            <a:off x="3566653" y="3330721"/>
            <a:ext cx="57934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Pizarra</a:t>
            </a:r>
            <a:endParaRPr lang="en-US" sz="1260" dirty="0"/>
          </a:p>
        </p:txBody>
      </p:sp>
      <p:sp>
        <p:nvSpPr>
          <p:cNvPr id="10" name="s21-texto-9"/>
          <p:cNvSpPr txBox="1"/>
          <p:nvPr/>
        </p:nvSpPr>
        <p:spPr>
          <a:xfrm>
            <a:off x="2850767" y="3536391"/>
            <a:ext cx="201111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 · casos · plan · errores</a:t>
            </a:r>
            <a:endParaRPr lang="en-US" sz="1080" dirty="0"/>
          </a:p>
        </p:txBody>
      </p:sp>
      <p:sp>
        <p:nvSpPr>
          <p:cNvPr id="11" name="s21-forma-10"/>
          <p:cNvSpPr/>
          <p:nvPr/>
        </p:nvSpPr>
        <p:spPr>
          <a:xfrm>
            <a:off x="1342572" y="2228098"/>
            <a:ext cx="1256876" cy="514176"/>
          </a:xfrm>
          <a:prstGeom prst="rect">
            <a:avLst/>
          </a:prstGeom>
          <a:solidFill>
            <a:srgbClr val="E3DCCB"/>
          </a:solidFill>
          <a:ln w="5713">
            <a:solidFill>
              <a:srgbClr val="585E6F"/>
            </a:solidFill>
            <a:prstDash val="solid"/>
          </a:ln>
        </p:spPr>
        <p:txBody>
          <a:bodyPr/>
          <a:lstStyle/>
          <a:p>
            <a:endParaRPr lang="es-MX"/>
          </a:p>
        </p:txBody>
      </p:sp>
      <p:sp>
        <p:nvSpPr>
          <p:cNvPr id="12" name="s21-texto-11"/>
          <p:cNvSpPr txBox="1"/>
          <p:nvPr/>
        </p:nvSpPr>
        <p:spPr>
          <a:xfrm>
            <a:off x="1636974" y="2393777"/>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3" name="s21-forma-12"/>
          <p:cNvSpPr/>
          <p:nvPr/>
        </p:nvSpPr>
        <p:spPr>
          <a:xfrm>
            <a:off x="5570245" y="2228098"/>
            <a:ext cx="1256876" cy="514176"/>
          </a:xfrm>
          <a:prstGeom prst="rect">
            <a:avLst/>
          </a:prstGeom>
          <a:solidFill>
            <a:srgbClr val="E3DCCB"/>
          </a:solidFill>
          <a:ln w="5713">
            <a:solidFill>
              <a:srgbClr val="585E6F"/>
            </a:solidFill>
            <a:prstDash val="solid"/>
          </a:ln>
        </p:spPr>
        <p:txBody>
          <a:bodyPr/>
          <a:lstStyle/>
          <a:p>
            <a:endParaRPr lang="es-MX"/>
          </a:p>
        </p:txBody>
      </p:sp>
      <p:sp>
        <p:nvSpPr>
          <p:cNvPr id="14" name="s21-texto-13"/>
          <p:cNvSpPr txBox="1"/>
          <p:nvPr/>
        </p:nvSpPr>
        <p:spPr>
          <a:xfrm>
            <a:off x="5784046" y="2393777"/>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5" name="s21-forma-14"/>
          <p:cNvSpPr/>
          <p:nvPr/>
        </p:nvSpPr>
        <p:spPr>
          <a:xfrm>
            <a:off x="1342572" y="4399065"/>
            <a:ext cx="1256876" cy="514176"/>
          </a:xfrm>
          <a:prstGeom prst="rect">
            <a:avLst/>
          </a:prstGeom>
          <a:solidFill>
            <a:srgbClr val="E3DCCB"/>
          </a:solidFill>
          <a:ln w="5713">
            <a:solidFill>
              <a:srgbClr val="585E6F"/>
            </a:solidFill>
            <a:prstDash val="solid"/>
          </a:ln>
        </p:spPr>
        <p:txBody>
          <a:bodyPr/>
          <a:lstStyle/>
          <a:p>
            <a:endParaRPr lang="es-MX"/>
          </a:p>
        </p:txBody>
      </p:sp>
      <p:sp>
        <p:nvSpPr>
          <p:cNvPr id="16" name="s21-texto-15"/>
          <p:cNvSpPr txBox="1"/>
          <p:nvPr/>
        </p:nvSpPr>
        <p:spPr>
          <a:xfrm>
            <a:off x="1419646" y="4564744"/>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21-forma-16"/>
          <p:cNvSpPr/>
          <p:nvPr/>
        </p:nvSpPr>
        <p:spPr>
          <a:xfrm>
            <a:off x="5570245" y="4399065"/>
            <a:ext cx="1256876" cy="514176"/>
          </a:xfrm>
          <a:prstGeom prst="rect">
            <a:avLst/>
          </a:prstGeom>
          <a:solidFill>
            <a:srgbClr val="E3DCCB"/>
          </a:solidFill>
          <a:ln w="5713">
            <a:solidFill>
              <a:srgbClr val="585E6F"/>
            </a:solidFill>
            <a:prstDash val="solid"/>
          </a:ln>
        </p:spPr>
        <p:txBody>
          <a:bodyPr/>
          <a:lstStyle/>
          <a:p>
            <a:endParaRPr lang="es-MX"/>
          </a:p>
        </p:txBody>
      </p:sp>
      <p:sp>
        <p:nvSpPr>
          <p:cNvPr id="18" name="s21-texto-17"/>
          <p:cNvSpPr txBox="1"/>
          <p:nvPr/>
        </p:nvSpPr>
        <p:spPr>
          <a:xfrm>
            <a:off x="5605209" y="4564744"/>
            <a:ext cx="11869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Automatizador</a:t>
            </a:r>
            <a:endParaRPr lang="en-US" sz="1260" dirty="0"/>
          </a:p>
        </p:txBody>
      </p:sp>
      <p:sp>
        <p:nvSpPr>
          <p:cNvPr id="19" name="s21-texto-18"/>
          <p:cNvSpPr txBox="1"/>
          <p:nvPr/>
        </p:nvSpPr>
        <p:spPr>
          <a:xfrm>
            <a:off x="1178035" y="5141765"/>
            <a:ext cx="5813622"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Los agentes no se hablan: leen y escriben en la pizarra</a:t>
            </a:r>
            <a:endParaRPr lang="en-US" sz="1080" dirty="0"/>
          </a:p>
        </p:txBody>
      </p:sp>
      <p:sp>
        <p:nvSpPr>
          <p:cNvPr id="20" name="s21-texto-19"/>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1" name="s21-texto-20"/>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agentes leen y escriben en un espacio compartido; cada uno actúa cuando hay algo que le toca.</a:t>
            </a:r>
            <a:endParaRPr lang="en-US" sz="1260" dirty="0"/>
          </a:p>
        </p:txBody>
      </p:sp>
      <p:sp>
        <p:nvSpPr>
          <p:cNvPr id="22" name="s21-texto-21"/>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3" name="s21-texto-22"/>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Desacopla a los agentes; hay que controlar quién escribe qué para no pisarse.</a:t>
            </a:r>
            <a:endParaRPr lang="en-US" sz="1260" dirty="0"/>
          </a:p>
        </p:txBody>
      </p:sp>
      <p:sp>
        <p:nvSpPr>
          <p:cNvPr id="24" name="s21-forma-23"/>
          <p:cNvSpPr/>
          <p:nvPr/>
        </p:nvSpPr>
        <p:spPr>
          <a:xfrm>
            <a:off x="7284167" y="4021645"/>
            <a:ext cx="3564957" cy="899095"/>
          </a:xfrm>
          <a:prstGeom prst="rect">
            <a:avLst/>
          </a:prstGeom>
          <a:solidFill>
            <a:srgbClr val="E2D3C2"/>
          </a:solidFill>
          <a:ln/>
        </p:spPr>
        <p:txBody>
          <a:bodyPr/>
          <a:lstStyle/>
          <a:p>
            <a:endParaRPr lang="es-MX"/>
          </a:p>
        </p:txBody>
      </p:sp>
      <p:sp>
        <p:nvSpPr>
          <p:cNvPr id="25" name="s21-texto-24"/>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6" name="s21-texto-25"/>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estado de LangGraph es tu pizarra, y también la carpeta salida/HU-xx.</a:t>
            </a:r>
            <a:endParaRPr lang="en-US" sz="1260" dirty="0"/>
          </a:p>
        </p:txBody>
      </p:sp>
      <p:sp>
        <p:nvSpPr>
          <p:cNvPr id="27" name="s21-texto-2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8" name="s21-linea-27-0"/>
          <p:cNvSpPr/>
          <p:nvPr/>
        </p:nvSpPr>
        <p:spPr>
          <a:xfrm>
            <a:off x="2325220" y="2742274"/>
            <a:ext cx="685569" cy="399915"/>
          </a:xfrm>
          <a:prstGeom prst="line">
            <a:avLst/>
          </a:prstGeom>
          <a:noFill/>
          <a:ln w="17140">
            <a:solidFill>
              <a:srgbClr val="585E6F"/>
            </a:solidFill>
            <a:prstDash val="solid"/>
            <a:headEnd type="triangle"/>
            <a:tailEnd type="triangle"/>
          </a:ln>
        </p:spPr>
        <p:txBody>
          <a:bodyPr/>
          <a:lstStyle/>
          <a:p>
            <a:endParaRPr lang="es-MX"/>
          </a:p>
        </p:txBody>
      </p:sp>
      <p:sp>
        <p:nvSpPr>
          <p:cNvPr id="29" name="s21-linea-28-0"/>
          <p:cNvSpPr/>
          <p:nvPr/>
        </p:nvSpPr>
        <p:spPr>
          <a:xfrm flipH="1">
            <a:off x="4701858" y="2742274"/>
            <a:ext cx="1142614" cy="399915"/>
          </a:xfrm>
          <a:prstGeom prst="line">
            <a:avLst/>
          </a:prstGeom>
          <a:noFill/>
          <a:ln w="17140">
            <a:solidFill>
              <a:srgbClr val="585E6F"/>
            </a:solidFill>
            <a:prstDash val="solid"/>
            <a:headEnd type="triangle"/>
            <a:tailEnd type="triangle"/>
          </a:ln>
        </p:spPr>
        <p:txBody>
          <a:bodyPr/>
          <a:lstStyle/>
          <a:p>
            <a:endParaRPr lang="es-MX"/>
          </a:p>
        </p:txBody>
      </p:sp>
      <p:sp>
        <p:nvSpPr>
          <p:cNvPr id="30" name="s21-linea-29-0"/>
          <p:cNvSpPr/>
          <p:nvPr/>
        </p:nvSpPr>
        <p:spPr>
          <a:xfrm flipV="1">
            <a:off x="2325220" y="3884889"/>
            <a:ext cx="685569" cy="514176"/>
          </a:xfrm>
          <a:prstGeom prst="line">
            <a:avLst/>
          </a:prstGeom>
          <a:noFill/>
          <a:ln w="17140">
            <a:solidFill>
              <a:srgbClr val="585E6F"/>
            </a:solidFill>
            <a:prstDash val="solid"/>
            <a:headEnd type="triangle"/>
            <a:tailEnd type="triangle"/>
          </a:ln>
        </p:spPr>
        <p:txBody>
          <a:bodyPr/>
          <a:lstStyle/>
          <a:p>
            <a:endParaRPr lang="es-MX"/>
          </a:p>
        </p:txBody>
      </p:sp>
      <p:sp>
        <p:nvSpPr>
          <p:cNvPr id="31" name="s21-linea-30-0"/>
          <p:cNvSpPr/>
          <p:nvPr/>
        </p:nvSpPr>
        <p:spPr>
          <a:xfrm flipH="1" flipV="1">
            <a:off x="4701858" y="3884889"/>
            <a:ext cx="1142614" cy="514176"/>
          </a:xfrm>
          <a:prstGeom prst="line">
            <a:avLst/>
          </a:prstGeom>
          <a:noFill/>
          <a:ln w="17140">
            <a:solidFill>
              <a:srgbClr val="585E6F"/>
            </a:solidFill>
            <a:prstDash val="solid"/>
            <a:headEnd type="triangle"/>
            <a:tailEnd type="triangle"/>
          </a:ln>
        </p:spPr>
        <p:txBody>
          <a:bodyPr/>
          <a:lstStyle/>
          <a:p>
            <a:endParaRPr lang="es-MX"/>
          </a:p>
        </p:txBody>
      </p:sp>
      <p:sp>
        <p:nvSpPr>
          <p:cNvPr id="32" name="s21-forma-31"/>
          <p:cNvSpPr/>
          <p:nvPr/>
        </p:nvSpPr>
        <p:spPr>
          <a:xfrm>
            <a:off x="853390" y="6411138"/>
            <a:ext cx="10484915" cy="5713"/>
          </a:xfrm>
          <a:prstGeom prst="rect">
            <a:avLst/>
          </a:prstGeom>
          <a:solidFill>
            <a:srgbClr val="DBD4C4"/>
          </a:solidFill>
          <a:ln/>
        </p:spPr>
        <p:txBody>
          <a:bodyPr/>
          <a:lstStyle/>
          <a:p>
            <a:endParaRPr lang="es-MX"/>
          </a:p>
        </p:txBody>
      </p:sp>
      <p:pic>
        <p:nvPicPr>
          <p:cNvPr id="33" name="s21-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21-forma-33"/>
          <p:cNvSpPr/>
          <p:nvPr/>
        </p:nvSpPr>
        <p:spPr>
          <a:xfrm>
            <a:off x="1659380" y="6519865"/>
            <a:ext cx="2926878" cy="102835"/>
          </a:xfrm>
          <a:prstGeom prst="rect">
            <a:avLst/>
          </a:prstGeom>
          <a:ln/>
        </p:spPr>
        <p:txBody>
          <a:bodyPr/>
          <a:lstStyle/>
          <a:p>
            <a:endParaRPr lang="es-MX"/>
          </a:p>
        </p:txBody>
      </p:sp>
      <p:sp>
        <p:nvSpPr>
          <p:cNvPr id="35" name="s21-forma-34"/>
          <p:cNvSpPr/>
          <p:nvPr/>
        </p:nvSpPr>
        <p:spPr>
          <a:xfrm>
            <a:off x="1659380" y="6519865"/>
            <a:ext cx="5713" cy="102835"/>
          </a:xfrm>
          <a:prstGeom prst="rect">
            <a:avLst/>
          </a:prstGeom>
          <a:solidFill>
            <a:srgbClr val="C6BFAE"/>
          </a:solidFill>
          <a:ln/>
        </p:spPr>
        <p:txBody>
          <a:bodyPr/>
          <a:lstStyle/>
          <a:p>
            <a:endParaRPr lang="es-MX"/>
          </a:p>
        </p:txBody>
      </p:sp>
      <p:sp>
        <p:nvSpPr>
          <p:cNvPr id="36" name="s21-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21-texto-3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36</a:t>
            </a:r>
            <a:endParaRPr lang="en-US" sz="745" dirty="0"/>
          </a:p>
        </p:txBody>
      </p:sp>
      <p:sp>
        <p:nvSpPr>
          <p:cNvPr id="38" name="s21-forma-37"/>
          <p:cNvSpPr/>
          <p:nvPr/>
        </p:nvSpPr>
        <p:spPr>
          <a:xfrm>
            <a:off x="0" y="0"/>
            <a:ext cx="7111792"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4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PIZARRA · EL CONTROLADOR</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controlador de la pizarra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94460" y="2276856"/>
            <a:ext cx="1691640" cy="658368"/>
          </a:xfrm>
          <a:prstGeom prst="rect">
            <a:avLst/>
          </a:prstGeom>
          <a:solidFill>
            <a:srgbClr val="DDE4F2"/>
          </a:solidFill>
          <a:ln w="1524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467612" y="2468880"/>
            <a:ext cx="274320" cy="274320"/>
          </a:xfrm>
          <a:prstGeom prst="ellipse">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467612" y="2468880"/>
            <a:ext cx="274320" cy="274320"/>
          </a:xfrm>
          <a:prstGeom prst="rect">
            <a:avLst/>
          </a:prstGeom>
          <a:noFill/>
        </p:spPr>
        <p:txBody>
          <a:bodyPr wrap="square" lIns="0" tIns="0" rIns="0" bIns="0" anchor="ctr">
            <a:spAutoFit/>
          </a:bodyPr>
          <a:lstStyle/>
          <a:p>
            <a:pPr algn="ctr"/>
            <a:r>
              <a:rPr sz="1000" b="1" i="0">
                <a:solidFill>
                  <a:srgbClr val="FBF8F0"/>
                </a:solidFill>
                <a:latin typeface="Georgia"/>
              </a:rPr>
              <a:t>1</a:t>
            </a:r>
          </a:p>
        </p:txBody>
      </p:sp>
      <p:sp>
        <p:nvSpPr>
          <p:cNvPr id="47" name="TextBox 46"/>
          <p:cNvSpPr txBox="1"/>
          <p:nvPr/>
        </p:nvSpPr>
        <p:spPr>
          <a:xfrm>
            <a:off x="1805940" y="2313432"/>
            <a:ext cx="1216152" cy="585216"/>
          </a:xfrm>
          <a:prstGeom prst="rect">
            <a:avLst/>
          </a:prstGeom>
          <a:noFill/>
        </p:spPr>
        <p:txBody>
          <a:bodyPr wrap="square" lIns="0" tIns="0" rIns="0" bIns="0" anchor="ctr">
            <a:spAutoFit/>
          </a:bodyPr>
          <a:lstStyle/>
          <a:p>
            <a:pPr algn="l">
              <a:lnSpc>
                <a:spcPct val="100000"/>
              </a:lnSpc>
            </a:pPr>
            <a:r>
              <a:rPr sz="950" b="1" i="0">
                <a:solidFill>
                  <a:srgbClr val="0033A0"/>
                </a:solidFill>
                <a:latin typeface="Arial"/>
              </a:rPr>
              <a:t>Mira la pizarra</a:t>
            </a:r>
          </a:p>
          <a:p>
            <a:pPr algn="l">
              <a:lnSpc>
                <a:spcPct val="100000"/>
              </a:lnSpc>
            </a:pPr>
            <a:r>
              <a:rPr sz="750" b="0" i="0">
                <a:solidFill>
                  <a:srgbClr val="585E6F"/>
                </a:solidFill>
                <a:latin typeface="Arial"/>
              </a:rPr>
              <a:t>¿qué casillas ya están llenas?</a:t>
            </a:r>
          </a:p>
        </p:txBody>
      </p:sp>
      <p:sp>
        <p:nvSpPr>
          <p:cNvPr id="48" name="Rectangle 47"/>
          <p:cNvSpPr/>
          <p:nvPr/>
        </p:nvSpPr>
        <p:spPr>
          <a:xfrm>
            <a:off x="4594860" y="2276856"/>
            <a:ext cx="1691640" cy="658368"/>
          </a:xfrm>
          <a:prstGeom prst="rect">
            <a:avLst/>
          </a:prstGeom>
          <a:solidFill>
            <a:srgbClr val="F3E0D2"/>
          </a:solidFill>
          <a:ln w="1524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668012" y="2468880"/>
            <a:ext cx="274320" cy="274320"/>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668012" y="2468880"/>
            <a:ext cx="274320" cy="274320"/>
          </a:xfrm>
          <a:prstGeom prst="rect">
            <a:avLst/>
          </a:prstGeom>
          <a:noFill/>
        </p:spPr>
        <p:txBody>
          <a:bodyPr wrap="square" lIns="0" tIns="0" rIns="0" bIns="0" anchor="ctr">
            <a:spAutoFit/>
          </a:bodyPr>
          <a:lstStyle/>
          <a:p>
            <a:pPr algn="ctr"/>
            <a:r>
              <a:rPr sz="1000" b="1" i="0">
                <a:solidFill>
                  <a:srgbClr val="FBF8F0"/>
                </a:solidFill>
                <a:latin typeface="Georgia"/>
              </a:rPr>
              <a:t>2</a:t>
            </a:r>
          </a:p>
        </p:txBody>
      </p:sp>
      <p:sp>
        <p:nvSpPr>
          <p:cNvPr id="51" name="TextBox 50"/>
          <p:cNvSpPr txBox="1"/>
          <p:nvPr/>
        </p:nvSpPr>
        <p:spPr>
          <a:xfrm>
            <a:off x="5006340" y="2313432"/>
            <a:ext cx="1216152" cy="585216"/>
          </a:xfrm>
          <a:prstGeom prst="rect">
            <a:avLst/>
          </a:prstGeom>
          <a:noFill/>
        </p:spPr>
        <p:txBody>
          <a:bodyPr wrap="square" lIns="0" tIns="0" rIns="0" bIns="0" anchor="ctr">
            <a:spAutoFit/>
          </a:bodyPr>
          <a:lstStyle/>
          <a:p>
            <a:pPr algn="l">
              <a:lnSpc>
                <a:spcPct val="100000"/>
              </a:lnSpc>
            </a:pPr>
            <a:r>
              <a:rPr sz="950" b="1" i="0">
                <a:solidFill>
                  <a:srgbClr val="984514"/>
                </a:solidFill>
                <a:latin typeface="Arial"/>
              </a:rPr>
              <a:t>Decide quién sigue</a:t>
            </a:r>
          </a:p>
          <a:p>
            <a:pPr algn="l">
              <a:lnSpc>
                <a:spcPct val="100000"/>
              </a:lnSpc>
            </a:pPr>
            <a:r>
              <a:rPr sz="750" b="0" i="0">
                <a:solidFill>
                  <a:srgbClr val="585E6F"/>
                </a:solidFill>
                <a:latin typeface="Arial"/>
              </a:rPr>
              <a:t>¿quién ya tiene lo que lee y no ha trabajado?</a:t>
            </a:r>
          </a:p>
        </p:txBody>
      </p:sp>
      <p:sp>
        <p:nvSpPr>
          <p:cNvPr id="52" name="Rectangle 51"/>
          <p:cNvSpPr/>
          <p:nvPr/>
        </p:nvSpPr>
        <p:spPr>
          <a:xfrm>
            <a:off x="4594860" y="4654296"/>
            <a:ext cx="1691640" cy="658368"/>
          </a:xfrm>
          <a:prstGeom prst="rect">
            <a:avLst/>
          </a:prstGeom>
          <a:solidFill>
            <a:srgbClr val="DDE4F2"/>
          </a:solidFill>
          <a:ln w="1524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668012" y="4846320"/>
            <a:ext cx="274320" cy="274320"/>
          </a:xfrm>
          <a:prstGeom prst="ellipse">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668012" y="4846320"/>
            <a:ext cx="274320" cy="274320"/>
          </a:xfrm>
          <a:prstGeom prst="rect">
            <a:avLst/>
          </a:prstGeom>
          <a:noFill/>
        </p:spPr>
        <p:txBody>
          <a:bodyPr wrap="square" lIns="0" tIns="0" rIns="0" bIns="0" anchor="ctr">
            <a:spAutoFit/>
          </a:bodyPr>
          <a:lstStyle/>
          <a:p>
            <a:pPr algn="ctr"/>
            <a:r>
              <a:rPr sz="1000" b="1" i="0">
                <a:solidFill>
                  <a:srgbClr val="FBF8F0"/>
                </a:solidFill>
                <a:latin typeface="Georgia"/>
              </a:rPr>
              <a:t>3</a:t>
            </a:r>
          </a:p>
        </p:txBody>
      </p:sp>
      <p:sp>
        <p:nvSpPr>
          <p:cNvPr id="55" name="TextBox 54"/>
          <p:cNvSpPr txBox="1"/>
          <p:nvPr/>
        </p:nvSpPr>
        <p:spPr>
          <a:xfrm>
            <a:off x="5006340" y="4690872"/>
            <a:ext cx="1216152" cy="585216"/>
          </a:xfrm>
          <a:prstGeom prst="rect">
            <a:avLst/>
          </a:prstGeom>
          <a:noFill/>
        </p:spPr>
        <p:txBody>
          <a:bodyPr wrap="square" lIns="0" tIns="0" rIns="0" bIns="0" anchor="ctr">
            <a:spAutoFit/>
          </a:bodyPr>
          <a:lstStyle/>
          <a:p>
            <a:pPr algn="l">
              <a:lnSpc>
                <a:spcPct val="100000"/>
              </a:lnSpc>
            </a:pPr>
            <a:r>
              <a:rPr sz="950" b="1" i="0">
                <a:solidFill>
                  <a:srgbClr val="0033A0"/>
                </a:solidFill>
                <a:latin typeface="Arial"/>
              </a:rPr>
              <a:t>Activa a ese agente</a:t>
            </a:r>
          </a:p>
          <a:p>
            <a:pPr algn="l">
              <a:lnSpc>
                <a:spcPct val="100000"/>
              </a:lnSpc>
            </a:pPr>
            <a:r>
              <a:rPr sz="750" b="0" i="0">
                <a:solidFill>
                  <a:srgbClr val="585E6F"/>
                </a:solidFill>
                <a:latin typeface="Arial"/>
              </a:rPr>
              <a:t>solo uno a la vez, en este ejemplo</a:t>
            </a:r>
          </a:p>
        </p:txBody>
      </p:sp>
      <p:sp>
        <p:nvSpPr>
          <p:cNvPr id="56" name="Rectangle 55"/>
          <p:cNvSpPr/>
          <p:nvPr/>
        </p:nvSpPr>
        <p:spPr>
          <a:xfrm>
            <a:off x="1394460" y="4654296"/>
            <a:ext cx="1691640" cy="658368"/>
          </a:xfrm>
          <a:prstGeom prst="rect">
            <a:avLst/>
          </a:prstGeom>
          <a:solidFill>
            <a:srgbClr val="DCEBE2"/>
          </a:solidFill>
          <a:ln w="1524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467612" y="4846320"/>
            <a:ext cx="274320" cy="274320"/>
          </a:xfrm>
          <a:prstGeom prst="ellipse">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467612" y="4846320"/>
            <a:ext cx="274320" cy="274320"/>
          </a:xfrm>
          <a:prstGeom prst="rect">
            <a:avLst/>
          </a:prstGeom>
          <a:noFill/>
        </p:spPr>
        <p:txBody>
          <a:bodyPr wrap="square" lIns="0" tIns="0" rIns="0" bIns="0" anchor="ctr">
            <a:spAutoFit/>
          </a:bodyPr>
          <a:lstStyle/>
          <a:p>
            <a:pPr algn="ctr"/>
            <a:r>
              <a:rPr sz="1000" b="1" i="0">
                <a:solidFill>
                  <a:srgbClr val="FBF8F0"/>
                </a:solidFill>
                <a:latin typeface="Georgia"/>
              </a:rPr>
              <a:t>4</a:t>
            </a:r>
          </a:p>
        </p:txBody>
      </p:sp>
      <p:sp>
        <p:nvSpPr>
          <p:cNvPr id="59" name="TextBox 58"/>
          <p:cNvSpPr txBox="1"/>
          <p:nvPr/>
        </p:nvSpPr>
        <p:spPr>
          <a:xfrm>
            <a:off x="1805940" y="4690872"/>
            <a:ext cx="1216152" cy="585216"/>
          </a:xfrm>
          <a:prstGeom prst="rect">
            <a:avLst/>
          </a:prstGeom>
          <a:noFill/>
        </p:spPr>
        <p:txBody>
          <a:bodyPr wrap="square" lIns="0" tIns="0" rIns="0" bIns="0" anchor="ctr">
            <a:spAutoFit/>
          </a:bodyPr>
          <a:lstStyle/>
          <a:p>
            <a:pPr algn="l">
              <a:lnSpc>
                <a:spcPct val="100000"/>
              </a:lnSpc>
            </a:pPr>
            <a:r>
              <a:rPr sz="950" b="1" i="0">
                <a:solidFill>
                  <a:srgbClr val="2E6B4F"/>
                </a:solidFill>
                <a:latin typeface="Arial"/>
              </a:rPr>
              <a:t>El agente escribe su casilla</a:t>
            </a:r>
          </a:p>
          <a:p>
            <a:pPr algn="l">
              <a:lnSpc>
                <a:spcPct val="100000"/>
              </a:lnSpc>
            </a:pPr>
            <a:r>
              <a:rPr sz="750" b="0" i="0">
                <a:solidFill>
                  <a:srgbClr val="585E6F"/>
                </a:solidFill>
                <a:latin typeface="Arial"/>
              </a:rPr>
              <a:t>solo la suya, y regresa al controlador</a:t>
            </a:r>
          </a:p>
        </p:txBody>
      </p:sp>
      <p:cxnSp>
        <p:nvCxnSpPr>
          <p:cNvPr id="60" name="Connector 59"/>
          <p:cNvCxnSpPr/>
          <p:nvPr/>
        </p:nvCxnSpPr>
        <p:spPr>
          <a:xfrm>
            <a:off x="3131820" y="2606040"/>
            <a:ext cx="1417320" cy="0"/>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40680" y="2980944"/>
            <a:ext cx="0" cy="1627632"/>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3131820" y="4983480"/>
            <a:ext cx="1417320" cy="0"/>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240280" y="2980944"/>
            <a:ext cx="0" cy="1627632"/>
          </a:xfrm>
          <a:prstGeom prst="line">
            <a:avLst/>
          </a:prstGeom>
          <a:ln w="254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2926080" y="5038344"/>
            <a:ext cx="1828800" cy="182880"/>
          </a:xfrm>
          <a:prstGeom prst="rect">
            <a:avLst/>
          </a:prstGeom>
          <a:noFill/>
        </p:spPr>
        <p:txBody>
          <a:bodyPr wrap="square" lIns="0" tIns="0" rIns="0" bIns="0" anchor="t">
            <a:spAutoFit/>
          </a:bodyPr>
          <a:lstStyle/>
          <a:p>
            <a:pPr algn="ctr"/>
            <a:r>
              <a:rPr sz="750" b="1" i="1">
                <a:solidFill>
                  <a:srgbClr val="984514"/>
                </a:solidFill>
                <a:latin typeface="Arial"/>
              </a:rPr>
              <a:t>se repite</a:t>
            </a:r>
          </a:p>
        </p:txBody>
      </p:sp>
      <p:cxnSp>
        <p:nvCxnSpPr>
          <p:cNvPr id="65" name="Connector 64"/>
          <p:cNvCxnSpPr/>
          <p:nvPr/>
        </p:nvCxnSpPr>
        <p:spPr>
          <a:xfrm>
            <a:off x="6304788" y="2606040"/>
            <a:ext cx="365760" cy="0"/>
          </a:xfrm>
          <a:prstGeom prst="line">
            <a:avLst/>
          </a:prstGeom>
          <a:ln w="19050">
            <a:solidFill>
              <a:srgbClr val="A32D2D"/>
            </a:solidFill>
            <a:tailEnd type="triangle" w="sm" len="sm"/>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688836" y="2450592"/>
            <a:ext cx="502920" cy="310896"/>
          </a:xfrm>
          <a:prstGeom prst="roundRect">
            <a:avLst>
              <a:gd name="adj" fmla="val 50000"/>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688836" y="2450592"/>
            <a:ext cx="502920" cy="310896"/>
          </a:xfrm>
          <a:prstGeom prst="rect">
            <a:avLst/>
          </a:prstGeom>
          <a:noFill/>
        </p:spPr>
        <p:txBody>
          <a:bodyPr wrap="square" lIns="0" tIns="0" rIns="0" bIns="0" anchor="ctr">
            <a:spAutoFit/>
          </a:bodyPr>
          <a:lstStyle/>
          <a:p>
            <a:pPr algn="ctr"/>
            <a:r>
              <a:rPr sz="850" b="1" i="0">
                <a:solidFill>
                  <a:srgbClr val="FBF8F0"/>
                </a:solidFill>
                <a:latin typeface="Arial"/>
              </a:rPr>
              <a:t>FIN</a:t>
            </a:r>
          </a:p>
        </p:txBody>
      </p:sp>
      <p:sp>
        <p:nvSpPr>
          <p:cNvPr id="68" name="TextBox 67"/>
          <p:cNvSpPr txBox="1"/>
          <p:nvPr/>
        </p:nvSpPr>
        <p:spPr>
          <a:xfrm>
            <a:off x="6240780" y="2039112"/>
            <a:ext cx="1051560" cy="365760"/>
          </a:xfrm>
          <a:prstGeom prst="rect">
            <a:avLst/>
          </a:prstGeom>
          <a:noFill/>
        </p:spPr>
        <p:txBody>
          <a:bodyPr wrap="square" lIns="0" tIns="0" rIns="0" bIns="0" anchor="b">
            <a:spAutoFit/>
          </a:bodyPr>
          <a:lstStyle/>
          <a:p>
            <a:pPr algn="ctr"/>
            <a:r>
              <a:rPr sz="700" b="1" i="0">
                <a:solidFill>
                  <a:srgbClr val="A32D2D"/>
                </a:solidFill>
                <a:latin typeface="Arial"/>
              </a:rPr>
              <a:t>si nadie está listo</a:t>
            </a:r>
          </a:p>
        </p:txBody>
      </p:sp>
      <p:sp>
        <p:nvSpPr>
          <p:cNvPr id="69" name="Rectangle 68"/>
          <p:cNvSpPr/>
          <p:nvPr/>
        </p:nvSpPr>
        <p:spPr>
          <a:xfrm>
            <a:off x="3108960" y="3154680"/>
            <a:ext cx="1463040" cy="1280160"/>
          </a:xfrm>
          <a:prstGeom prst="rect">
            <a:avLst/>
          </a:prstGeom>
          <a:solidFill>
            <a:srgbClr val="1F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108960" y="3200400"/>
            <a:ext cx="1463040" cy="201168"/>
          </a:xfrm>
          <a:prstGeom prst="rect">
            <a:avLst/>
          </a:prstGeom>
          <a:noFill/>
        </p:spPr>
        <p:txBody>
          <a:bodyPr wrap="square" lIns="0" tIns="0" rIns="0" bIns="0" anchor="t">
            <a:spAutoFit/>
          </a:bodyPr>
          <a:lstStyle/>
          <a:p>
            <a:pPr algn="ctr"/>
            <a:r>
              <a:rPr sz="800" b="1" i="0">
                <a:solidFill>
                  <a:srgbClr val="FBF8F0"/>
                </a:solidFill>
                <a:latin typeface="Arial"/>
              </a:rPr>
              <a:t>LA PIZARRA</a:t>
            </a:r>
          </a:p>
        </p:txBody>
      </p:sp>
      <p:sp>
        <p:nvSpPr>
          <p:cNvPr id="71" name="Rectangle 70"/>
          <p:cNvSpPr/>
          <p:nvPr/>
        </p:nvSpPr>
        <p:spPr>
          <a:xfrm>
            <a:off x="3246120" y="3447288"/>
            <a:ext cx="1188720" cy="192024"/>
          </a:xfrm>
          <a:prstGeom prst="rect">
            <a:avLst/>
          </a:prstGeom>
          <a:solidFill>
            <a:srgbClr val="DCEBE2"/>
          </a:solidFill>
          <a:ln w="1016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310128" y="3447288"/>
            <a:ext cx="1097280" cy="192024"/>
          </a:xfrm>
          <a:prstGeom prst="rect">
            <a:avLst/>
          </a:prstGeom>
          <a:noFill/>
        </p:spPr>
        <p:txBody>
          <a:bodyPr wrap="square" lIns="0" tIns="0" rIns="0" bIns="0" anchor="ctr">
            <a:spAutoFit/>
          </a:bodyPr>
          <a:lstStyle/>
          <a:p>
            <a:pPr algn="l"/>
            <a:r>
              <a:rPr sz="750" b="1" i="0">
                <a:solidFill>
                  <a:srgbClr val="2E6B4F"/>
                </a:solidFill>
                <a:latin typeface="Courier New"/>
              </a:rPr>
              <a:t>historia</a:t>
            </a:r>
          </a:p>
        </p:txBody>
      </p:sp>
      <p:sp>
        <p:nvSpPr>
          <p:cNvPr id="73" name="Rectangle 72"/>
          <p:cNvSpPr/>
          <p:nvPr/>
        </p:nvSpPr>
        <p:spPr>
          <a:xfrm>
            <a:off x="3246120" y="3685032"/>
            <a:ext cx="1188720" cy="192024"/>
          </a:xfrm>
          <a:prstGeom prst="rect">
            <a:avLst/>
          </a:prstGeom>
          <a:solidFill>
            <a:srgbClr val="DCEBE2"/>
          </a:solidFill>
          <a:ln w="1016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310128" y="3685032"/>
            <a:ext cx="1097280" cy="192024"/>
          </a:xfrm>
          <a:prstGeom prst="rect">
            <a:avLst/>
          </a:prstGeom>
          <a:noFill/>
        </p:spPr>
        <p:txBody>
          <a:bodyPr wrap="square" lIns="0" tIns="0" rIns="0" bIns="0" anchor="ctr">
            <a:spAutoFit/>
          </a:bodyPr>
          <a:lstStyle/>
          <a:p>
            <a:pPr algn="l"/>
            <a:r>
              <a:rPr sz="750" b="1" i="0">
                <a:solidFill>
                  <a:srgbClr val="2E6B4F"/>
                </a:solidFill>
                <a:latin typeface="Courier New"/>
              </a:rPr>
              <a:t>criterios</a:t>
            </a:r>
          </a:p>
        </p:txBody>
      </p:sp>
      <p:sp>
        <p:nvSpPr>
          <p:cNvPr id="75" name="Rectangle 74"/>
          <p:cNvSpPr/>
          <p:nvPr/>
        </p:nvSpPr>
        <p:spPr>
          <a:xfrm>
            <a:off x="3246120" y="3922776"/>
            <a:ext cx="1188720" cy="192024"/>
          </a:xfrm>
          <a:prstGeom prst="rect">
            <a:avLst/>
          </a:prstGeom>
          <a:noFill/>
          <a:ln w="10160">
            <a:solidFill>
              <a:srgbClr val="8A938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3310128" y="3922776"/>
            <a:ext cx="1097280" cy="192024"/>
          </a:xfrm>
          <a:prstGeom prst="rect">
            <a:avLst/>
          </a:prstGeom>
          <a:noFill/>
        </p:spPr>
        <p:txBody>
          <a:bodyPr wrap="square" lIns="0" tIns="0" rIns="0" bIns="0" anchor="ctr">
            <a:spAutoFit/>
          </a:bodyPr>
          <a:lstStyle/>
          <a:p>
            <a:pPr algn="l"/>
            <a:r>
              <a:rPr sz="750" b="1" i="0">
                <a:solidFill>
                  <a:srgbClr val="C9CFCA"/>
                </a:solidFill>
                <a:latin typeface="Courier New"/>
              </a:rPr>
              <a:t>casos</a:t>
            </a:r>
          </a:p>
        </p:txBody>
      </p:sp>
      <p:sp>
        <p:nvSpPr>
          <p:cNvPr id="77" name="Rectangle 76"/>
          <p:cNvSpPr/>
          <p:nvPr/>
        </p:nvSpPr>
        <p:spPr>
          <a:xfrm>
            <a:off x="3246120" y="4160520"/>
            <a:ext cx="1188720" cy="192024"/>
          </a:xfrm>
          <a:prstGeom prst="rect">
            <a:avLst/>
          </a:prstGeom>
          <a:noFill/>
          <a:ln w="10160">
            <a:solidFill>
              <a:srgbClr val="8A938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310128" y="4160520"/>
            <a:ext cx="1097280" cy="192024"/>
          </a:xfrm>
          <a:prstGeom prst="rect">
            <a:avLst/>
          </a:prstGeom>
          <a:noFill/>
        </p:spPr>
        <p:txBody>
          <a:bodyPr wrap="square" lIns="0" tIns="0" rIns="0" bIns="0" anchor="ctr">
            <a:spAutoFit/>
          </a:bodyPr>
          <a:lstStyle/>
          <a:p>
            <a:pPr algn="l"/>
            <a:r>
              <a:rPr sz="750" b="1" i="0">
                <a:solidFill>
                  <a:srgbClr val="C9CFCA"/>
                </a:solidFill>
                <a:latin typeface="Courier New"/>
              </a:rPr>
              <a:t>endpoint</a:t>
            </a:r>
          </a:p>
        </p:txBody>
      </p:sp>
      <p:sp>
        <p:nvSpPr>
          <p:cNvPr id="79" name="Rectangle 78"/>
          <p:cNvSpPr/>
          <p:nvPr/>
        </p:nvSpPr>
        <p:spPr>
          <a:xfrm>
            <a:off x="7406640" y="2103120"/>
            <a:ext cx="3995928" cy="1188720"/>
          </a:xfrm>
          <a:prstGeom prst="rect">
            <a:avLst/>
          </a:prstGeom>
          <a:solidFill>
            <a:srgbClr val="DC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7406640" y="2103120"/>
            <a:ext cx="54864" cy="1188720"/>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7607808" y="2176272"/>
            <a:ext cx="3721608" cy="1097280"/>
          </a:xfrm>
          <a:prstGeom prst="rect">
            <a:avLst/>
          </a:prstGeom>
          <a:noFill/>
        </p:spPr>
        <p:txBody>
          <a:bodyPr wrap="square" lIns="0" tIns="0" rIns="0" bIns="0" anchor="t">
            <a:spAutoFit/>
          </a:bodyPr>
          <a:lstStyle/>
          <a:p>
            <a:pPr algn="l">
              <a:lnSpc>
                <a:spcPct val="110000"/>
              </a:lnSpc>
            </a:pPr>
            <a:r>
              <a:rPr sz="1000" b="1" i="0">
                <a:solidFill>
                  <a:srgbClr val="2E6B4F"/>
                </a:solidFill>
                <a:latin typeface="Arial"/>
              </a:rPr>
              <a:t>El controlador SÍ:</a:t>
            </a:r>
          </a:p>
          <a:p>
            <a:pPr algn="l">
              <a:lnSpc>
                <a:spcPct val="110000"/>
              </a:lnSpc>
            </a:pPr>
            <a:r>
              <a:rPr sz="880" b="0" i="0">
                <a:solidFill>
                  <a:srgbClr val="16181D"/>
                </a:solidFill>
                <a:latin typeface="Arial"/>
              </a:rPr>
              <a:t>•  mira qué hay en la pizarra</a:t>
            </a:r>
          </a:p>
          <a:p>
            <a:pPr algn="l">
              <a:lnSpc>
                <a:spcPct val="110000"/>
              </a:lnSpc>
            </a:pPr>
            <a:r>
              <a:rPr sz="880" b="0" i="0">
                <a:solidFill>
                  <a:srgbClr val="16181D"/>
                </a:solidFill>
                <a:latin typeface="Arial"/>
              </a:rPr>
              <a:t>•  decide con una regla quién sigue</a:t>
            </a:r>
          </a:p>
          <a:p>
            <a:pPr algn="l">
              <a:lnSpc>
                <a:spcPct val="110000"/>
              </a:lnSpc>
            </a:pPr>
            <a:r>
              <a:rPr sz="880" b="0" i="0">
                <a:solidFill>
                  <a:srgbClr val="16181D"/>
                </a:solidFill>
                <a:latin typeface="Arial"/>
              </a:rPr>
              <a:t>•  activa a ese agente, o termina</a:t>
            </a:r>
          </a:p>
        </p:txBody>
      </p:sp>
      <p:sp>
        <p:nvSpPr>
          <p:cNvPr id="82" name="Rectangle 81"/>
          <p:cNvSpPr/>
          <p:nvPr/>
        </p:nvSpPr>
        <p:spPr>
          <a:xfrm>
            <a:off x="7406640" y="3401568"/>
            <a:ext cx="3995928" cy="960120"/>
          </a:xfrm>
          <a:prstGeom prst="rect">
            <a:avLst/>
          </a:prstGeom>
          <a:solidFill>
            <a:srgbClr val="F3E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7406640" y="3401568"/>
            <a:ext cx="54864" cy="96012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7607808" y="3474720"/>
            <a:ext cx="3721608" cy="868680"/>
          </a:xfrm>
          <a:prstGeom prst="rect">
            <a:avLst/>
          </a:prstGeom>
          <a:noFill/>
        </p:spPr>
        <p:txBody>
          <a:bodyPr wrap="square" lIns="0" tIns="0" rIns="0" bIns="0" anchor="t">
            <a:spAutoFit/>
          </a:bodyPr>
          <a:lstStyle/>
          <a:p>
            <a:pPr algn="l">
              <a:lnSpc>
                <a:spcPct val="110000"/>
              </a:lnSpc>
            </a:pPr>
            <a:r>
              <a:rPr sz="1000" b="1" i="0">
                <a:solidFill>
                  <a:srgbClr val="A32D2D"/>
                </a:solidFill>
                <a:latin typeface="Arial"/>
              </a:rPr>
              <a:t>El controlador NO:</a:t>
            </a:r>
          </a:p>
          <a:p>
            <a:pPr algn="l">
              <a:lnSpc>
                <a:spcPct val="110000"/>
              </a:lnSpc>
            </a:pPr>
            <a:r>
              <a:rPr sz="880" b="0" i="0">
                <a:solidFill>
                  <a:srgbClr val="16181D"/>
                </a:solidFill>
                <a:latin typeface="Arial"/>
              </a:rPr>
              <a:t>•  hace el trabajo ni escribe en la pizarra</a:t>
            </a:r>
          </a:p>
          <a:p>
            <a:pPr algn="l">
              <a:lnSpc>
                <a:spcPct val="110000"/>
              </a:lnSpc>
            </a:pPr>
            <a:r>
              <a:rPr sz="880" b="0" i="0">
                <a:solidFill>
                  <a:srgbClr val="16181D"/>
                </a:solidFill>
                <a:latin typeface="Arial"/>
              </a:rPr>
              <a:t>•  le pregunta a un modelo: aquí es código</a:t>
            </a:r>
          </a:p>
        </p:txBody>
      </p:sp>
      <p:sp>
        <p:nvSpPr>
          <p:cNvPr id="85" name="Rectangle 84"/>
          <p:cNvSpPr/>
          <p:nvPr/>
        </p:nvSpPr>
        <p:spPr>
          <a:xfrm>
            <a:off x="7406640" y="4498848"/>
            <a:ext cx="3995928" cy="94183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543800" y="4526280"/>
            <a:ext cx="3767328" cy="896112"/>
          </a:xfrm>
          <a:prstGeom prst="rect">
            <a:avLst/>
          </a:prstGeom>
          <a:noFill/>
        </p:spPr>
        <p:txBody>
          <a:bodyPr wrap="square" lIns="0" tIns="0" rIns="0" bIns="0" anchor="ctr">
            <a:spAutoFit/>
          </a:bodyPr>
          <a:lstStyle/>
          <a:p>
            <a:pPr algn="l">
              <a:lnSpc>
                <a:spcPct val="105000"/>
              </a:lnSpc>
            </a:pPr>
            <a:r>
              <a:rPr sz="780" b="1" i="0">
                <a:solidFill>
                  <a:srgbClr val="0033A0"/>
                </a:solidFill>
                <a:latin typeface="Courier New"/>
              </a:rPr>
              <a:t>controlador()</a:t>
            </a:r>
            <a:r>
              <a:rPr sz="750" b="0" i="0">
                <a:solidFill>
                  <a:srgbClr val="585E6F"/>
                </a:solidFill>
                <a:latin typeface="Arial"/>
              </a:rPr>
              <a:t> muestra el estado</a:t>
            </a:r>
          </a:p>
          <a:p>
            <a:pPr algn="l">
              <a:lnSpc>
                <a:spcPct val="105000"/>
              </a:lnSpc>
            </a:pPr>
            <a:r>
              <a:rPr sz="780" b="1" i="0">
                <a:solidFill>
                  <a:srgbClr val="0033A0"/>
                </a:solidFill>
                <a:latin typeface="Courier New"/>
              </a:rPr>
              <a:t>listo_para()</a:t>
            </a:r>
            <a:r>
              <a:rPr sz="750" b="0" i="0">
                <a:solidFill>
                  <a:srgbClr val="585E6F"/>
                </a:solidFill>
                <a:latin typeface="Arial"/>
              </a:rPr>
              <a:t> la regla  ·  </a:t>
            </a:r>
            <a:r>
              <a:rPr sz="780" b="1" i="0">
                <a:solidFill>
                  <a:srgbClr val="0033A0"/>
                </a:solidFill>
                <a:latin typeface="Courier New"/>
              </a:rPr>
              <a:t>elegir()</a:t>
            </a:r>
            <a:r>
              <a:rPr sz="750" b="0" i="0">
                <a:solidFill>
                  <a:srgbClr val="585E6F"/>
                </a:solidFill>
                <a:latin typeface="Arial"/>
              </a:rPr>
              <a:t> la decisión</a:t>
            </a:r>
          </a:p>
          <a:p>
            <a:pPr algn="l">
              <a:lnSpc>
                <a:spcPct val="105000"/>
              </a:lnSpc>
            </a:pPr>
            <a:r>
              <a:rPr sz="780" b="1" i="0">
                <a:solidFill>
                  <a:srgbClr val="0033A0"/>
                </a:solidFill>
                <a:latin typeface="Courier New"/>
              </a:rPr>
              <a:t>add_edge(agente, "controlador")</a:t>
            </a:r>
            <a:r>
              <a:rPr sz="750" b="0" i="0">
                <a:solidFill>
                  <a:srgbClr val="585E6F"/>
                </a:solidFill>
                <a:latin typeface="Arial"/>
              </a:rPr>
              <a:t> todos regresan</a:t>
            </a:r>
          </a:p>
        </p:txBody>
      </p:sp>
      <p:sp>
        <p:nvSpPr>
          <p:cNvPr id="87" name="Rectangle 86"/>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Los agentes nunca se hablan: </a:t>
            </a:r>
            <a:r>
              <a:rPr sz="1100" b="0" i="0">
                <a:solidFill>
                  <a:srgbClr val="16181D"/>
                </a:solidFill>
                <a:latin typeface="Arial"/>
              </a:rPr>
              <a:t>cada uno escribe su casilla y regresa; el controlador mira la pizarra y activa al siguiente.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4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PIZARRA · EL CONTROLADOR</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listo_para: ¿quién puede trabajar ya?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011680"/>
            <a:ext cx="10058400" cy="45720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81328" y="2011680"/>
            <a:ext cx="9875520" cy="457200"/>
          </a:xfrm>
          <a:prstGeom prst="rect">
            <a:avLst/>
          </a:prstGeom>
          <a:noFill/>
        </p:spPr>
        <p:txBody>
          <a:bodyPr wrap="square" lIns="0" tIns="0" rIns="0" bIns="0" anchor="ctr">
            <a:spAutoFit/>
          </a:bodyPr>
          <a:lstStyle/>
          <a:p>
            <a:pPr algn="l"/>
            <a:r>
              <a:rPr sz="1050" b="1" i="0">
                <a:solidFill>
                  <a:srgbClr val="16181D"/>
                </a:solidFill>
                <a:latin typeface="Courier New"/>
              </a:rPr>
              <a:t>return [a for a, (lee, escribe, _) in AGENTES.items() </a:t>
            </a:r>
            <a:r>
              <a:rPr sz="1050" b="0" i="0">
                <a:solidFill>
                  <a:srgbClr val="585E6F"/>
                </a:solidFill>
                <a:latin typeface="Courier New"/>
              </a:rPr>
              <a:t>if </a:t>
            </a:r>
            <a:r>
              <a:rPr sz="1050" b="1" i="0">
                <a:solidFill>
                  <a:srgbClr val="0033A0"/>
                </a:solidFill>
                <a:latin typeface="Courier New"/>
              </a:rPr>
              <a:t>all(p.get(c) for c in lee)</a:t>
            </a:r>
            <a:r>
              <a:rPr sz="1050" b="0" i="0">
                <a:solidFill>
                  <a:srgbClr val="585E6F"/>
                </a:solidFill>
                <a:latin typeface="Courier New"/>
              </a:rPr>
              <a:t> and </a:t>
            </a:r>
            <a:r>
              <a:rPr sz="1050" b="1" i="0">
                <a:solidFill>
                  <a:srgbClr val="984514"/>
                </a:solidFill>
                <a:latin typeface="Courier New"/>
              </a:rPr>
              <a:t>not p.get(escribe)</a:t>
            </a:r>
            <a:r>
              <a:rPr sz="1050" b="1" i="0">
                <a:solidFill>
                  <a:srgbClr val="16181D"/>
                </a:solidFill>
                <a:latin typeface="Courier New"/>
              </a:rPr>
              <a:t>]</a:t>
            </a:r>
          </a:p>
        </p:txBody>
      </p:sp>
      <p:sp>
        <p:nvSpPr>
          <p:cNvPr id="46" name="TextBox 45"/>
          <p:cNvSpPr txBox="1"/>
          <p:nvPr/>
        </p:nvSpPr>
        <p:spPr>
          <a:xfrm>
            <a:off x="1481328" y="2514600"/>
            <a:ext cx="4206240" cy="201168"/>
          </a:xfrm>
          <a:prstGeom prst="rect">
            <a:avLst/>
          </a:prstGeom>
          <a:noFill/>
        </p:spPr>
        <p:txBody>
          <a:bodyPr wrap="square" lIns="0" tIns="0" rIns="0" bIns="0" anchor="t">
            <a:spAutoFit/>
          </a:bodyPr>
          <a:lstStyle/>
          <a:p>
            <a:pPr algn="l"/>
            <a:r>
              <a:rPr sz="800" b="1" i="0">
                <a:solidFill>
                  <a:srgbClr val="585E6F"/>
                </a:solidFill>
                <a:latin typeface="Arial"/>
              </a:rPr>
              <a:t>recorre la tabla AGENTES, fila por fila</a:t>
            </a:r>
          </a:p>
        </p:txBody>
      </p:sp>
      <p:sp>
        <p:nvSpPr>
          <p:cNvPr id="47" name="TextBox 46"/>
          <p:cNvSpPr txBox="1"/>
          <p:nvPr/>
        </p:nvSpPr>
        <p:spPr>
          <a:xfrm>
            <a:off x="5989320" y="2514600"/>
            <a:ext cx="2377440" cy="123111"/>
          </a:xfrm>
          <a:prstGeom prst="rect">
            <a:avLst/>
          </a:prstGeom>
          <a:noFill/>
        </p:spPr>
        <p:txBody>
          <a:bodyPr wrap="square" lIns="0" tIns="0" rIns="0" bIns="0" anchor="t">
            <a:spAutoFit/>
          </a:bodyPr>
          <a:lstStyle/>
          <a:p>
            <a:pPr algn="l"/>
            <a:r>
              <a:rPr sz="800" b="1" i="0" dirty="0">
                <a:solidFill>
                  <a:srgbClr val="0033A0"/>
                </a:solidFill>
                <a:latin typeface="Arial"/>
              </a:rPr>
              <a:t>① ¿</a:t>
            </a:r>
            <a:r>
              <a:rPr sz="800" b="1" i="0" dirty="0" err="1">
                <a:solidFill>
                  <a:srgbClr val="0033A0"/>
                </a:solidFill>
                <a:latin typeface="Arial"/>
              </a:rPr>
              <a:t>ya</a:t>
            </a:r>
            <a:r>
              <a:rPr sz="800" b="1" i="0" dirty="0">
                <a:solidFill>
                  <a:srgbClr val="0033A0"/>
                </a:solidFill>
                <a:latin typeface="Arial"/>
              </a:rPr>
              <a:t> </a:t>
            </a:r>
            <a:r>
              <a:rPr sz="800" b="1" i="0" dirty="0" err="1">
                <a:solidFill>
                  <a:srgbClr val="0033A0"/>
                </a:solidFill>
                <a:latin typeface="Arial"/>
              </a:rPr>
              <a:t>tiene</a:t>
            </a:r>
            <a:r>
              <a:rPr sz="800" b="1" i="0" dirty="0">
                <a:solidFill>
                  <a:srgbClr val="0033A0"/>
                </a:solidFill>
                <a:latin typeface="Arial"/>
              </a:rPr>
              <a:t> lo </a:t>
            </a:r>
            <a:r>
              <a:rPr sz="800" b="1" i="0" dirty="0" err="1">
                <a:solidFill>
                  <a:srgbClr val="0033A0"/>
                </a:solidFill>
                <a:latin typeface="Arial"/>
              </a:rPr>
              <a:t>que</a:t>
            </a:r>
            <a:r>
              <a:rPr sz="800" b="1" i="0" dirty="0">
                <a:solidFill>
                  <a:srgbClr val="0033A0"/>
                </a:solidFill>
                <a:latin typeface="Arial"/>
              </a:rPr>
              <a:t> </a:t>
            </a:r>
            <a:r>
              <a:rPr lang="es-419" sz="800" b="1" i="0" dirty="0">
                <a:solidFill>
                  <a:srgbClr val="0033A0"/>
                </a:solidFill>
                <a:latin typeface="Arial"/>
              </a:rPr>
              <a:t>necesita (lee)</a:t>
            </a:r>
            <a:r>
              <a:rPr sz="800" b="1" i="0" dirty="0">
                <a:solidFill>
                  <a:srgbClr val="0033A0"/>
                </a:solidFill>
                <a:latin typeface="Arial"/>
              </a:rPr>
              <a:t>?</a:t>
            </a:r>
          </a:p>
        </p:txBody>
      </p:sp>
      <p:sp>
        <p:nvSpPr>
          <p:cNvPr id="48" name="TextBox 47"/>
          <p:cNvSpPr txBox="1"/>
          <p:nvPr/>
        </p:nvSpPr>
        <p:spPr>
          <a:xfrm>
            <a:off x="8915400" y="2514600"/>
            <a:ext cx="2194560" cy="201168"/>
          </a:xfrm>
          <a:prstGeom prst="rect">
            <a:avLst/>
          </a:prstGeom>
          <a:noFill/>
        </p:spPr>
        <p:txBody>
          <a:bodyPr wrap="square" lIns="0" tIns="0" rIns="0" bIns="0" anchor="t">
            <a:spAutoFit/>
          </a:bodyPr>
          <a:lstStyle/>
          <a:p>
            <a:pPr algn="l"/>
            <a:r>
              <a:rPr sz="800" b="1" i="0">
                <a:solidFill>
                  <a:srgbClr val="984514"/>
                </a:solidFill>
                <a:latin typeface="Arial"/>
              </a:rPr>
              <a:t>② ¿su casilla sigue vacía?</a:t>
            </a:r>
          </a:p>
        </p:txBody>
      </p:sp>
      <p:sp>
        <p:nvSpPr>
          <p:cNvPr id="49" name="Rectangle 48"/>
          <p:cNvSpPr/>
          <p:nvPr/>
        </p:nvSpPr>
        <p:spPr>
          <a:xfrm>
            <a:off x="1344168" y="2852928"/>
            <a:ext cx="1874519" cy="2578608"/>
          </a:xfrm>
          <a:prstGeom prst="rect">
            <a:avLst/>
          </a:prstGeom>
          <a:solidFill>
            <a:srgbClr val="1F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344168" y="2926080"/>
            <a:ext cx="1874519" cy="228600"/>
          </a:xfrm>
          <a:prstGeom prst="rect">
            <a:avLst/>
          </a:prstGeom>
          <a:noFill/>
        </p:spPr>
        <p:txBody>
          <a:bodyPr wrap="square" lIns="0" tIns="0" rIns="0" bIns="0" anchor="t">
            <a:spAutoFit/>
          </a:bodyPr>
          <a:lstStyle/>
          <a:p>
            <a:pPr algn="ctr"/>
            <a:r>
              <a:rPr sz="850" b="1" i="0">
                <a:solidFill>
                  <a:srgbClr val="FBF8F0"/>
                </a:solidFill>
                <a:latin typeface="Arial"/>
              </a:rPr>
              <a:t>LA PIZARRA · vuelta 2</a:t>
            </a:r>
          </a:p>
        </p:txBody>
      </p:sp>
      <p:sp>
        <p:nvSpPr>
          <p:cNvPr id="51" name="Rectangle 50"/>
          <p:cNvSpPr/>
          <p:nvPr/>
        </p:nvSpPr>
        <p:spPr>
          <a:xfrm>
            <a:off x="1481328" y="3236976"/>
            <a:ext cx="1600199" cy="329184"/>
          </a:xfrm>
          <a:prstGeom prst="rect">
            <a:avLst/>
          </a:prstGeom>
          <a:solidFill>
            <a:srgbClr val="DCEBE2"/>
          </a:solidFill>
          <a:ln w="1270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572768" y="3236976"/>
            <a:ext cx="1417319" cy="329184"/>
          </a:xfrm>
          <a:prstGeom prst="rect">
            <a:avLst/>
          </a:prstGeom>
          <a:noFill/>
        </p:spPr>
        <p:txBody>
          <a:bodyPr wrap="square" lIns="0" tIns="0" rIns="0" bIns="0" anchor="ctr">
            <a:spAutoFit/>
          </a:bodyPr>
          <a:lstStyle/>
          <a:p>
            <a:pPr algn="l"/>
            <a:r>
              <a:rPr sz="900" b="1" i="0">
                <a:solidFill>
                  <a:srgbClr val="2E6B4F"/>
                </a:solidFill>
                <a:latin typeface="Courier New"/>
              </a:rPr>
              <a:t>historia</a:t>
            </a:r>
            <a:r>
              <a:rPr sz="750" b="0" i="0">
                <a:solidFill>
                  <a:srgbClr val="2E6B4F"/>
                </a:solidFill>
                <a:latin typeface="Arial"/>
              </a:rPr>
              <a:t>   lleno</a:t>
            </a:r>
          </a:p>
        </p:txBody>
      </p:sp>
      <p:sp>
        <p:nvSpPr>
          <p:cNvPr id="53" name="Rectangle 52"/>
          <p:cNvSpPr/>
          <p:nvPr/>
        </p:nvSpPr>
        <p:spPr>
          <a:xfrm>
            <a:off x="1481328" y="3657600"/>
            <a:ext cx="1600199" cy="329184"/>
          </a:xfrm>
          <a:prstGeom prst="rect">
            <a:avLst/>
          </a:prstGeom>
          <a:solidFill>
            <a:srgbClr val="DCEBE2"/>
          </a:solidFill>
          <a:ln w="1270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572768" y="3657600"/>
            <a:ext cx="1417319" cy="329184"/>
          </a:xfrm>
          <a:prstGeom prst="rect">
            <a:avLst/>
          </a:prstGeom>
          <a:noFill/>
        </p:spPr>
        <p:txBody>
          <a:bodyPr wrap="square" lIns="0" tIns="0" rIns="0" bIns="0" anchor="ctr">
            <a:spAutoFit/>
          </a:bodyPr>
          <a:lstStyle/>
          <a:p>
            <a:pPr algn="l"/>
            <a:r>
              <a:rPr sz="900" b="1" i="0">
                <a:solidFill>
                  <a:srgbClr val="2E6B4F"/>
                </a:solidFill>
                <a:latin typeface="Courier New"/>
              </a:rPr>
              <a:t>criterios</a:t>
            </a:r>
            <a:r>
              <a:rPr sz="750" b="0" i="0">
                <a:solidFill>
                  <a:srgbClr val="2E6B4F"/>
                </a:solidFill>
                <a:latin typeface="Arial"/>
              </a:rPr>
              <a:t>   lleno</a:t>
            </a:r>
          </a:p>
        </p:txBody>
      </p:sp>
      <p:sp>
        <p:nvSpPr>
          <p:cNvPr id="55" name="Rectangle 54"/>
          <p:cNvSpPr/>
          <p:nvPr/>
        </p:nvSpPr>
        <p:spPr>
          <a:xfrm>
            <a:off x="1481328" y="4078224"/>
            <a:ext cx="1600199" cy="329184"/>
          </a:xfrm>
          <a:prstGeom prst="rect">
            <a:avLst/>
          </a:prstGeom>
          <a:noFill/>
          <a:ln w="12700">
            <a:solidFill>
              <a:srgbClr val="8A938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572768" y="4078224"/>
            <a:ext cx="1417319" cy="329184"/>
          </a:xfrm>
          <a:prstGeom prst="rect">
            <a:avLst/>
          </a:prstGeom>
          <a:noFill/>
        </p:spPr>
        <p:txBody>
          <a:bodyPr wrap="square" lIns="0" tIns="0" rIns="0" bIns="0" anchor="ctr">
            <a:spAutoFit/>
          </a:bodyPr>
          <a:lstStyle/>
          <a:p>
            <a:pPr algn="l"/>
            <a:r>
              <a:rPr sz="900" b="1" i="0">
                <a:solidFill>
                  <a:srgbClr val="C9CFCA"/>
                </a:solidFill>
                <a:latin typeface="Courier New"/>
              </a:rPr>
              <a:t>casos</a:t>
            </a:r>
            <a:r>
              <a:rPr sz="750" b="0" i="0">
                <a:solidFill>
                  <a:srgbClr val="C9CFCA"/>
                </a:solidFill>
                <a:latin typeface="Arial"/>
              </a:rPr>
              <a:t>   vacío</a:t>
            </a:r>
          </a:p>
        </p:txBody>
      </p:sp>
      <p:sp>
        <p:nvSpPr>
          <p:cNvPr id="57" name="Rectangle 56"/>
          <p:cNvSpPr/>
          <p:nvPr/>
        </p:nvSpPr>
        <p:spPr>
          <a:xfrm>
            <a:off x="1481328" y="4498848"/>
            <a:ext cx="1600199" cy="329184"/>
          </a:xfrm>
          <a:prstGeom prst="rect">
            <a:avLst/>
          </a:prstGeom>
          <a:noFill/>
          <a:ln w="12700">
            <a:solidFill>
              <a:srgbClr val="8A938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572768" y="4498848"/>
            <a:ext cx="1417319" cy="329184"/>
          </a:xfrm>
          <a:prstGeom prst="rect">
            <a:avLst/>
          </a:prstGeom>
          <a:noFill/>
        </p:spPr>
        <p:txBody>
          <a:bodyPr wrap="square" lIns="0" tIns="0" rIns="0" bIns="0" anchor="ctr">
            <a:spAutoFit/>
          </a:bodyPr>
          <a:lstStyle/>
          <a:p>
            <a:pPr algn="l"/>
            <a:r>
              <a:rPr sz="900" b="1" i="0">
                <a:solidFill>
                  <a:srgbClr val="C9CFCA"/>
                </a:solidFill>
                <a:latin typeface="Courier New"/>
              </a:rPr>
              <a:t>endpoint</a:t>
            </a:r>
            <a:r>
              <a:rPr sz="750" b="0" i="0">
                <a:solidFill>
                  <a:srgbClr val="C9CFCA"/>
                </a:solidFill>
                <a:latin typeface="Arial"/>
              </a:rPr>
              <a:t>   vacío</a:t>
            </a:r>
          </a:p>
        </p:txBody>
      </p:sp>
      <p:sp>
        <p:nvSpPr>
          <p:cNvPr id="59" name="Rectangle 58"/>
          <p:cNvSpPr/>
          <p:nvPr/>
        </p:nvSpPr>
        <p:spPr>
          <a:xfrm>
            <a:off x="1481328" y="4919472"/>
            <a:ext cx="1600199" cy="329184"/>
          </a:xfrm>
          <a:prstGeom prst="rect">
            <a:avLst/>
          </a:prstGeom>
          <a:noFill/>
          <a:ln w="12700">
            <a:solidFill>
              <a:srgbClr val="8A938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572768" y="4919472"/>
            <a:ext cx="1417319" cy="329184"/>
          </a:xfrm>
          <a:prstGeom prst="rect">
            <a:avLst/>
          </a:prstGeom>
          <a:noFill/>
        </p:spPr>
        <p:txBody>
          <a:bodyPr wrap="square" lIns="0" tIns="0" rIns="0" bIns="0" anchor="ctr">
            <a:spAutoFit/>
          </a:bodyPr>
          <a:lstStyle/>
          <a:p>
            <a:pPr algn="l"/>
            <a:r>
              <a:rPr sz="900" b="1" i="0">
                <a:solidFill>
                  <a:srgbClr val="C9CFCA"/>
                </a:solidFill>
                <a:latin typeface="Courier New"/>
              </a:rPr>
              <a:t>pantalla</a:t>
            </a:r>
            <a:r>
              <a:rPr sz="750" b="0" i="0">
                <a:solidFill>
                  <a:srgbClr val="C9CFCA"/>
                </a:solidFill>
                <a:latin typeface="Arial"/>
              </a:rPr>
              <a:t>   vacío</a:t>
            </a:r>
          </a:p>
        </p:txBody>
      </p:sp>
      <p:sp>
        <p:nvSpPr>
          <p:cNvPr id="61" name="TextBox 60"/>
          <p:cNvSpPr txBox="1"/>
          <p:nvPr/>
        </p:nvSpPr>
        <p:spPr>
          <a:xfrm>
            <a:off x="3447287" y="2852928"/>
            <a:ext cx="960120" cy="274320"/>
          </a:xfrm>
          <a:prstGeom prst="rect">
            <a:avLst/>
          </a:prstGeom>
          <a:noFill/>
        </p:spPr>
        <p:txBody>
          <a:bodyPr wrap="square" lIns="0" tIns="0" rIns="0" bIns="0" anchor="ctr">
            <a:spAutoFit/>
          </a:bodyPr>
          <a:lstStyle/>
          <a:p>
            <a:pPr algn="l"/>
            <a:r>
              <a:rPr sz="800" b="1" i="0">
                <a:solidFill>
                  <a:srgbClr val="16181D"/>
                </a:solidFill>
                <a:latin typeface="Arial"/>
              </a:rPr>
              <a:t>Agente</a:t>
            </a:r>
          </a:p>
        </p:txBody>
      </p:sp>
      <p:sp>
        <p:nvSpPr>
          <p:cNvPr id="62" name="TextBox 61"/>
          <p:cNvSpPr txBox="1"/>
          <p:nvPr/>
        </p:nvSpPr>
        <p:spPr>
          <a:xfrm>
            <a:off x="4407407" y="2852928"/>
            <a:ext cx="1417320" cy="274320"/>
          </a:xfrm>
          <a:prstGeom prst="rect">
            <a:avLst/>
          </a:prstGeom>
          <a:noFill/>
        </p:spPr>
        <p:txBody>
          <a:bodyPr wrap="square" lIns="0" tIns="0" rIns="0" bIns="0" anchor="ctr">
            <a:spAutoFit/>
          </a:bodyPr>
          <a:lstStyle/>
          <a:p>
            <a:pPr algn="l"/>
            <a:r>
              <a:rPr sz="800" b="1" i="0">
                <a:solidFill>
                  <a:srgbClr val="16181D"/>
                </a:solidFill>
                <a:latin typeface="Arial"/>
              </a:rPr>
              <a:t>Lee</a:t>
            </a:r>
          </a:p>
        </p:txBody>
      </p:sp>
      <p:sp>
        <p:nvSpPr>
          <p:cNvPr id="63" name="TextBox 62"/>
          <p:cNvSpPr txBox="1"/>
          <p:nvPr/>
        </p:nvSpPr>
        <p:spPr>
          <a:xfrm>
            <a:off x="5824727" y="2928532"/>
            <a:ext cx="1143000" cy="123111"/>
          </a:xfrm>
          <a:prstGeom prst="rect">
            <a:avLst/>
          </a:prstGeom>
          <a:noFill/>
        </p:spPr>
        <p:txBody>
          <a:bodyPr wrap="square" lIns="0" tIns="0" rIns="0" bIns="0" anchor="ctr">
            <a:spAutoFit/>
          </a:bodyPr>
          <a:lstStyle/>
          <a:p>
            <a:pPr algn="l"/>
            <a:r>
              <a:rPr sz="800" b="1" i="0" dirty="0">
                <a:solidFill>
                  <a:srgbClr val="0033A0"/>
                </a:solidFill>
                <a:latin typeface="Arial"/>
              </a:rPr>
              <a:t>① ¿</a:t>
            </a:r>
            <a:r>
              <a:rPr sz="800" b="1" i="0" dirty="0" err="1">
                <a:solidFill>
                  <a:srgbClr val="0033A0"/>
                </a:solidFill>
                <a:latin typeface="Arial"/>
              </a:rPr>
              <a:t>Está</a:t>
            </a:r>
            <a:r>
              <a:rPr sz="800" b="1" i="0" dirty="0">
                <a:solidFill>
                  <a:srgbClr val="0033A0"/>
                </a:solidFill>
                <a:latin typeface="Arial"/>
              </a:rPr>
              <a:t> lo </a:t>
            </a:r>
            <a:r>
              <a:rPr sz="800" b="1" i="0" dirty="0" err="1">
                <a:solidFill>
                  <a:srgbClr val="0033A0"/>
                </a:solidFill>
                <a:latin typeface="Arial"/>
              </a:rPr>
              <a:t>que</a:t>
            </a:r>
            <a:r>
              <a:rPr sz="800" b="1" i="0" dirty="0">
                <a:solidFill>
                  <a:srgbClr val="0033A0"/>
                </a:solidFill>
                <a:latin typeface="Arial"/>
              </a:rPr>
              <a:t> </a:t>
            </a:r>
            <a:r>
              <a:rPr lang="es-419" sz="800" b="1" i="0" dirty="0">
                <a:solidFill>
                  <a:srgbClr val="0033A0"/>
                </a:solidFill>
                <a:latin typeface="Arial"/>
              </a:rPr>
              <a:t>lee</a:t>
            </a:r>
            <a:r>
              <a:rPr sz="800" b="1" i="0" dirty="0">
                <a:solidFill>
                  <a:srgbClr val="0033A0"/>
                </a:solidFill>
                <a:latin typeface="Arial"/>
              </a:rPr>
              <a:t>?</a:t>
            </a:r>
          </a:p>
        </p:txBody>
      </p:sp>
      <p:sp>
        <p:nvSpPr>
          <p:cNvPr id="64" name="TextBox 63"/>
          <p:cNvSpPr txBox="1"/>
          <p:nvPr/>
        </p:nvSpPr>
        <p:spPr>
          <a:xfrm>
            <a:off x="6967727" y="2852928"/>
            <a:ext cx="868680" cy="274320"/>
          </a:xfrm>
          <a:prstGeom prst="rect">
            <a:avLst/>
          </a:prstGeom>
          <a:noFill/>
        </p:spPr>
        <p:txBody>
          <a:bodyPr wrap="square" lIns="0" tIns="0" rIns="0" bIns="0" anchor="ctr">
            <a:spAutoFit/>
          </a:bodyPr>
          <a:lstStyle/>
          <a:p>
            <a:pPr algn="l"/>
            <a:r>
              <a:rPr sz="800" b="1" i="0">
                <a:solidFill>
                  <a:srgbClr val="16181D"/>
                </a:solidFill>
                <a:latin typeface="Arial"/>
              </a:rPr>
              <a:t>Escribe</a:t>
            </a:r>
          </a:p>
        </p:txBody>
      </p:sp>
      <p:sp>
        <p:nvSpPr>
          <p:cNvPr id="65" name="TextBox 64"/>
          <p:cNvSpPr txBox="1"/>
          <p:nvPr/>
        </p:nvSpPr>
        <p:spPr>
          <a:xfrm>
            <a:off x="7836407" y="2852928"/>
            <a:ext cx="914400" cy="274320"/>
          </a:xfrm>
          <a:prstGeom prst="rect">
            <a:avLst/>
          </a:prstGeom>
          <a:noFill/>
        </p:spPr>
        <p:txBody>
          <a:bodyPr wrap="square" lIns="0" tIns="0" rIns="0" bIns="0" anchor="ctr">
            <a:spAutoFit/>
          </a:bodyPr>
          <a:lstStyle/>
          <a:p>
            <a:pPr algn="l"/>
            <a:r>
              <a:rPr sz="800" b="1" i="0">
                <a:solidFill>
                  <a:srgbClr val="984514"/>
                </a:solidFill>
                <a:latin typeface="Arial"/>
              </a:rPr>
              <a:t>② ¿Casilla vacía?</a:t>
            </a:r>
          </a:p>
        </p:txBody>
      </p:sp>
      <p:sp>
        <p:nvSpPr>
          <p:cNvPr id="66" name="TextBox 65"/>
          <p:cNvSpPr txBox="1"/>
          <p:nvPr/>
        </p:nvSpPr>
        <p:spPr>
          <a:xfrm>
            <a:off x="8750807" y="2852928"/>
            <a:ext cx="822960" cy="274320"/>
          </a:xfrm>
          <a:prstGeom prst="rect">
            <a:avLst/>
          </a:prstGeom>
          <a:noFill/>
        </p:spPr>
        <p:txBody>
          <a:bodyPr wrap="square" lIns="0" tIns="0" rIns="0" bIns="0" anchor="ctr">
            <a:spAutoFit/>
          </a:bodyPr>
          <a:lstStyle/>
          <a:p>
            <a:pPr algn="l"/>
            <a:r>
              <a:rPr sz="800" b="1" i="0">
                <a:solidFill>
                  <a:srgbClr val="16181D"/>
                </a:solidFill>
                <a:latin typeface="Arial"/>
              </a:rPr>
              <a:t>¿Listo?</a:t>
            </a:r>
          </a:p>
        </p:txBody>
      </p:sp>
      <p:cxnSp>
        <p:nvCxnSpPr>
          <p:cNvPr id="67" name="Connector 66"/>
          <p:cNvCxnSpPr/>
          <p:nvPr/>
        </p:nvCxnSpPr>
        <p:spPr>
          <a:xfrm>
            <a:off x="3447287" y="3154680"/>
            <a:ext cx="6126480" cy="0"/>
          </a:xfrm>
          <a:prstGeom prst="line">
            <a:avLst/>
          </a:prstGeom>
          <a:ln w="10160">
            <a:solidFill>
              <a:srgbClr val="585E6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447287" y="3236976"/>
            <a:ext cx="960120" cy="274320"/>
          </a:xfrm>
          <a:prstGeom prst="rect">
            <a:avLst/>
          </a:prstGeom>
          <a:noFill/>
        </p:spPr>
        <p:txBody>
          <a:bodyPr wrap="square" lIns="0" tIns="0" rIns="0" bIns="0" anchor="ctr">
            <a:spAutoFit/>
          </a:bodyPr>
          <a:lstStyle/>
          <a:p>
            <a:pPr algn="l"/>
            <a:r>
              <a:rPr sz="900" b="1" i="0">
                <a:solidFill>
                  <a:srgbClr val="16181D"/>
                </a:solidFill>
                <a:latin typeface="Courier New"/>
              </a:rPr>
              <a:t>pantalla</a:t>
            </a:r>
          </a:p>
        </p:txBody>
      </p:sp>
      <p:sp>
        <p:nvSpPr>
          <p:cNvPr id="69" name="TextBox 68"/>
          <p:cNvSpPr txBox="1"/>
          <p:nvPr/>
        </p:nvSpPr>
        <p:spPr>
          <a:xfrm>
            <a:off x="4407407" y="3236976"/>
            <a:ext cx="1371600" cy="274320"/>
          </a:xfrm>
          <a:prstGeom prst="rect">
            <a:avLst/>
          </a:prstGeom>
          <a:noFill/>
        </p:spPr>
        <p:txBody>
          <a:bodyPr wrap="square" lIns="0" tIns="0" rIns="0" bIns="0" anchor="ctr">
            <a:spAutoFit/>
          </a:bodyPr>
          <a:lstStyle/>
          <a:p>
            <a:pPr algn="l"/>
            <a:r>
              <a:rPr sz="780" b="0" i="0">
                <a:solidFill>
                  <a:srgbClr val="16181D"/>
                </a:solidFill>
                <a:latin typeface="Courier New"/>
              </a:rPr>
              <a:t>criterios, endpoint</a:t>
            </a:r>
          </a:p>
        </p:txBody>
      </p:sp>
      <p:sp>
        <p:nvSpPr>
          <p:cNvPr id="70" name="Rounded Rectangle 69"/>
          <p:cNvSpPr/>
          <p:nvPr/>
        </p:nvSpPr>
        <p:spPr>
          <a:xfrm>
            <a:off x="5824727" y="3255264"/>
            <a:ext cx="1051560" cy="246888"/>
          </a:xfrm>
          <a:prstGeom prst="roundRect">
            <a:avLst>
              <a:gd name="adj" fmla="val 50000"/>
            </a:avLst>
          </a:prstGeom>
          <a:solidFill>
            <a:srgbClr val="F4DDDA"/>
          </a:solidFill>
          <a:ln w="11430">
            <a:solidFill>
              <a:srgbClr val="A32D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5824727" y="3255264"/>
            <a:ext cx="1051560" cy="246888"/>
          </a:xfrm>
          <a:prstGeom prst="rect">
            <a:avLst/>
          </a:prstGeom>
          <a:noFill/>
        </p:spPr>
        <p:txBody>
          <a:bodyPr wrap="square" lIns="0" tIns="0" rIns="0" bIns="0" anchor="ctr">
            <a:spAutoFit/>
          </a:bodyPr>
          <a:lstStyle/>
          <a:p>
            <a:pPr algn="ctr"/>
            <a:r>
              <a:rPr sz="750" b="1" i="0">
                <a:solidFill>
                  <a:srgbClr val="A32D2D"/>
                </a:solidFill>
                <a:latin typeface="Arial"/>
              </a:rPr>
              <a:t>no: falta endpoint</a:t>
            </a:r>
          </a:p>
        </p:txBody>
      </p:sp>
      <p:sp>
        <p:nvSpPr>
          <p:cNvPr id="72" name="TextBox 71"/>
          <p:cNvSpPr txBox="1"/>
          <p:nvPr/>
        </p:nvSpPr>
        <p:spPr>
          <a:xfrm>
            <a:off x="6967727" y="3236976"/>
            <a:ext cx="868680" cy="274320"/>
          </a:xfrm>
          <a:prstGeom prst="rect">
            <a:avLst/>
          </a:prstGeom>
          <a:noFill/>
        </p:spPr>
        <p:txBody>
          <a:bodyPr wrap="square" lIns="0" tIns="0" rIns="0" bIns="0" anchor="ctr">
            <a:spAutoFit/>
          </a:bodyPr>
          <a:lstStyle/>
          <a:p>
            <a:pPr algn="l"/>
            <a:r>
              <a:rPr sz="780" b="0" i="0">
                <a:solidFill>
                  <a:srgbClr val="16181D"/>
                </a:solidFill>
                <a:latin typeface="Courier New"/>
              </a:rPr>
              <a:t>pantalla</a:t>
            </a:r>
          </a:p>
        </p:txBody>
      </p:sp>
      <p:sp>
        <p:nvSpPr>
          <p:cNvPr id="73" name="Rounded Rectangle 72"/>
          <p:cNvSpPr/>
          <p:nvPr/>
        </p:nvSpPr>
        <p:spPr>
          <a:xfrm>
            <a:off x="7836407" y="3255264"/>
            <a:ext cx="8229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36407" y="3255264"/>
            <a:ext cx="8229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75" name="Rectangle 74"/>
          <p:cNvSpPr/>
          <p:nvPr/>
        </p:nvSpPr>
        <p:spPr>
          <a:xfrm>
            <a:off x="8750807" y="3236976"/>
            <a:ext cx="640080" cy="292608"/>
          </a:xfrm>
          <a:prstGeom prst="rect">
            <a:avLst/>
          </a:prstGeom>
          <a:noFill/>
          <a:ln w="1016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750807" y="3236976"/>
            <a:ext cx="640080" cy="292608"/>
          </a:xfrm>
          <a:prstGeom prst="rect">
            <a:avLst/>
          </a:prstGeom>
          <a:noFill/>
        </p:spPr>
        <p:txBody>
          <a:bodyPr wrap="square" lIns="0" tIns="0" rIns="0" bIns="0" anchor="ctr">
            <a:spAutoFit/>
          </a:bodyPr>
          <a:lstStyle/>
          <a:p>
            <a:pPr algn="ctr"/>
            <a:r>
              <a:rPr sz="900" b="1" i="0">
                <a:solidFill>
                  <a:srgbClr val="585E6F"/>
                </a:solidFill>
                <a:latin typeface="Arial"/>
              </a:rPr>
              <a:t>no</a:t>
            </a:r>
          </a:p>
        </p:txBody>
      </p:sp>
      <p:sp>
        <p:nvSpPr>
          <p:cNvPr id="77" name="Rectangle 76"/>
          <p:cNvSpPr/>
          <p:nvPr/>
        </p:nvSpPr>
        <p:spPr>
          <a:xfrm>
            <a:off x="3374135" y="3730752"/>
            <a:ext cx="6199632" cy="512063"/>
          </a:xfrm>
          <a:prstGeom prst="rect">
            <a:avLst/>
          </a:prstGeom>
          <a:solidFill>
            <a:srgbClr val="F3E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447287" y="3785615"/>
            <a:ext cx="960120" cy="274320"/>
          </a:xfrm>
          <a:prstGeom prst="rect">
            <a:avLst/>
          </a:prstGeom>
          <a:noFill/>
        </p:spPr>
        <p:txBody>
          <a:bodyPr wrap="square" lIns="0" tIns="0" rIns="0" bIns="0" anchor="ctr">
            <a:spAutoFit/>
          </a:bodyPr>
          <a:lstStyle/>
          <a:p>
            <a:pPr algn="l"/>
            <a:r>
              <a:rPr sz="900" b="1" i="0">
                <a:solidFill>
                  <a:srgbClr val="0033A0"/>
                </a:solidFill>
                <a:latin typeface="Courier New"/>
              </a:rPr>
              <a:t>disenador</a:t>
            </a:r>
          </a:p>
        </p:txBody>
      </p:sp>
      <p:sp>
        <p:nvSpPr>
          <p:cNvPr id="79" name="TextBox 78"/>
          <p:cNvSpPr txBox="1"/>
          <p:nvPr/>
        </p:nvSpPr>
        <p:spPr>
          <a:xfrm>
            <a:off x="4407407" y="3785615"/>
            <a:ext cx="1371600" cy="274320"/>
          </a:xfrm>
          <a:prstGeom prst="rect">
            <a:avLst/>
          </a:prstGeom>
          <a:noFill/>
        </p:spPr>
        <p:txBody>
          <a:bodyPr wrap="square" lIns="0" tIns="0" rIns="0" bIns="0" anchor="ctr">
            <a:spAutoFit/>
          </a:bodyPr>
          <a:lstStyle/>
          <a:p>
            <a:pPr algn="l"/>
            <a:r>
              <a:rPr sz="780" b="0" i="0">
                <a:solidFill>
                  <a:srgbClr val="16181D"/>
                </a:solidFill>
                <a:latin typeface="Courier New"/>
              </a:rPr>
              <a:t>criterios</a:t>
            </a:r>
          </a:p>
        </p:txBody>
      </p:sp>
      <p:sp>
        <p:nvSpPr>
          <p:cNvPr id="80" name="Rounded Rectangle 79"/>
          <p:cNvSpPr/>
          <p:nvPr/>
        </p:nvSpPr>
        <p:spPr>
          <a:xfrm>
            <a:off x="5824727" y="3803903"/>
            <a:ext cx="10515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824727" y="3803903"/>
            <a:ext cx="10515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82" name="TextBox 81"/>
          <p:cNvSpPr txBox="1"/>
          <p:nvPr/>
        </p:nvSpPr>
        <p:spPr>
          <a:xfrm>
            <a:off x="6967727" y="3785615"/>
            <a:ext cx="868680" cy="274320"/>
          </a:xfrm>
          <a:prstGeom prst="rect">
            <a:avLst/>
          </a:prstGeom>
          <a:noFill/>
        </p:spPr>
        <p:txBody>
          <a:bodyPr wrap="square" lIns="0" tIns="0" rIns="0" bIns="0" anchor="ctr">
            <a:spAutoFit/>
          </a:bodyPr>
          <a:lstStyle/>
          <a:p>
            <a:pPr algn="l"/>
            <a:r>
              <a:rPr sz="780" b="0" i="0">
                <a:solidFill>
                  <a:srgbClr val="16181D"/>
                </a:solidFill>
                <a:latin typeface="Courier New"/>
              </a:rPr>
              <a:t>casos</a:t>
            </a:r>
          </a:p>
        </p:txBody>
      </p:sp>
      <p:sp>
        <p:nvSpPr>
          <p:cNvPr id="83" name="Rounded Rectangle 82"/>
          <p:cNvSpPr/>
          <p:nvPr/>
        </p:nvSpPr>
        <p:spPr>
          <a:xfrm>
            <a:off x="7836407" y="3803903"/>
            <a:ext cx="8229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7836407" y="3803903"/>
            <a:ext cx="8229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85" name="Rectangle 84"/>
          <p:cNvSpPr/>
          <p:nvPr/>
        </p:nvSpPr>
        <p:spPr>
          <a:xfrm>
            <a:off x="8750807" y="3785615"/>
            <a:ext cx="640080" cy="292608"/>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750807" y="3785615"/>
            <a:ext cx="640080" cy="292608"/>
          </a:xfrm>
          <a:prstGeom prst="rect">
            <a:avLst/>
          </a:prstGeom>
          <a:noFill/>
        </p:spPr>
        <p:txBody>
          <a:bodyPr wrap="square" lIns="0" tIns="0" rIns="0" bIns="0" anchor="ctr">
            <a:spAutoFit/>
          </a:bodyPr>
          <a:lstStyle/>
          <a:p>
            <a:pPr algn="ctr"/>
            <a:r>
              <a:rPr sz="900" b="1" i="0">
                <a:solidFill>
                  <a:srgbClr val="FBF8F0"/>
                </a:solidFill>
                <a:latin typeface="Arial"/>
              </a:rPr>
              <a:t>SÍ</a:t>
            </a:r>
          </a:p>
        </p:txBody>
      </p:sp>
      <p:sp>
        <p:nvSpPr>
          <p:cNvPr id="87" name="TextBox 86"/>
          <p:cNvSpPr txBox="1"/>
          <p:nvPr/>
        </p:nvSpPr>
        <p:spPr>
          <a:xfrm>
            <a:off x="3447287" y="4334256"/>
            <a:ext cx="960120" cy="274320"/>
          </a:xfrm>
          <a:prstGeom prst="rect">
            <a:avLst/>
          </a:prstGeom>
          <a:noFill/>
        </p:spPr>
        <p:txBody>
          <a:bodyPr wrap="square" lIns="0" tIns="0" rIns="0" bIns="0" anchor="ctr">
            <a:spAutoFit/>
          </a:bodyPr>
          <a:lstStyle/>
          <a:p>
            <a:pPr algn="l"/>
            <a:r>
              <a:rPr sz="900" b="1" i="0">
                <a:solidFill>
                  <a:srgbClr val="16181D"/>
                </a:solidFill>
                <a:latin typeface="Courier New"/>
              </a:rPr>
              <a:t>analista</a:t>
            </a:r>
          </a:p>
        </p:txBody>
      </p:sp>
      <p:sp>
        <p:nvSpPr>
          <p:cNvPr id="88" name="TextBox 87"/>
          <p:cNvSpPr txBox="1"/>
          <p:nvPr/>
        </p:nvSpPr>
        <p:spPr>
          <a:xfrm>
            <a:off x="4407407" y="4334256"/>
            <a:ext cx="1371600" cy="274320"/>
          </a:xfrm>
          <a:prstGeom prst="rect">
            <a:avLst/>
          </a:prstGeom>
          <a:noFill/>
        </p:spPr>
        <p:txBody>
          <a:bodyPr wrap="square" lIns="0" tIns="0" rIns="0" bIns="0" anchor="ctr">
            <a:spAutoFit/>
          </a:bodyPr>
          <a:lstStyle/>
          <a:p>
            <a:pPr algn="l"/>
            <a:r>
              <a:rPr sz="780" b="0" i="0">
                <a:solidFill>
                  <a:srgbClr val="16181D"/>
                </a:solidFill>
                <a:latin typeface="Courier New"/>
              </a:rPr>
              <a:t>historia</a:t>
            </a:r>
          </a:p>
        </p:txBody>
      </p:sp>
      <p:sp>
        <p:nvSpPr>
          <p:cNvPr id="89" name="Rounded Rectangle 88"/>
          <p:cNvSpPr/>
          <p:nvPr/>
        </p:nvSpPr>
        <p:spPr>
          <a:xfrm>
            <a:off x="5824727" y="4352544"/>
            <a:ext cx="10515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5824727" y="4352544"/>
            <a:ext cx="10515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91" name="TextBox 90"/>
          <p:cNvSpPr txBox="1"/>
          <p:nvPr/>
        </p:nvSpPr>
        <p:spPr>
          <a:xfrm>
            <a:off x="6967727" y="4334256"/>
            <a:ext cx="868680" cy="274320"/>
          </a:xfrm>
          <a:prstGeom prst="rect">
            <a:avLst/>
          </a:prstGeom>
          <a:noFill/>
        </p:spPr>
        <p:txBody>
          <a:bodyPr wrap="square" lIns="0" tIns="0" rIns="0" bIns="0" anchor="ctr">
            <a:spAutoFit/>
          </a:bodyPr>
          <a:lstStyle/>
          <a:p>
            <a:pPr algn="l"/>
            <a:r>
              <a:rPr sz="780" b="0" i="0">
                <a:solidFill>
                  <a:srgbClr val="16181D"/>
                </a:solidFill>
                <a:latin typeface="Courier New"/>
              </a:rPr>
              <a:t>criterios</a:t>
            </a:r>
          </a:p>
        </p:txBody>
      </p:sp>
      <p:sp>
        <p:nvSpPr>
          <p:cNvPr id="92" name="Rounded Rectangle 91"/>
          <p:cNvSpPr/>
          <p:nvPr/>
        </p:nvSpPr>
        <p:spPr>
          <a:xfrm>
            <a:off x="7836407" y="4352544"/>
            <a:ext cx="822960" cy="246888"/>
          </a:xfrm>
          <a:prstGeom prst="roundRect">
            <a:avLst>
              <a:gd name="adj" fmla="val 50000"/>
            </a:avLst>
          </a:prstGeom>
          <a:solidFill>
            <a:srgbClr val="F4DDDA"/>
          </a:solidFill>
          <a:ln w="11430">
            <a:solidFill>
              <a:srgbClr val="A32D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7836407" y="4352544"/>
            <a:ext cx="822960" cy="246888"/>
          </a:xfrm>
          <a:prstGeom prst="rect">
            <a:avLst/>
          </a:prstGeom>
          <a:noFill/>
        </p:spPr>
        <p:txBody>
          <a:bodyPr wrap="square" lIns="0" tIns="0" rIns="0" bIns="0" anchor="ctr">
            <a:spAutoFit/>
          </a:bodyPr>
          <a:lstStyle/>
          <a:p>
            <a:pPr algn="ctr"/>
            <a:r>
              <a:rPr sz="750" b="1" i="0">
                <a:solidFill>
                  <a:srgbClr val="A32D2D"/>
                </a:solidFill>
                <a:latin typeface="Arial"/>
              </a:rPr>
              <a:t>no: ya escribió</a:t>
            </a:r>
          </a:p>
        </p:txBody>
      </p:sp>
      <p:sp>
        <p:nvSpPr>
          <p:cNvPr id="94" name="Rectangle 93"/>
          <p:cNvSpPr/>
          <p:nvPr/>
        </p:nvSpPr>
        <p:spPr>
          <a:xfrm>
            <a:off x="8750807" y="4334256"/>
            <a:ext cx="640080" cy="292608"/>
          </a:xfrm>
          <a:prstGeom prst="rect">
            <a:avLst/>
          </a:prstGeom>
          <a:noFill/>
          <a:ln w="1016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8750807" y="4334256"/>
            <a:ext cx="640080" cy="292608"/>
          </a:xfrm>
          <a:prstGeom prst="rect">
            <a:avLst/>
          </a:prstGeom>
          <a:noFill/>
        </p:spPr>
        <p:txBody>
          <a:bodyPr wrap="square" lIns="0" tIns="0" rIns="0" bIns="0" anchor="ctr">
            <a:spAutoFit/>
          </a:bodyPr>
          <a:lstStyle/>
          <a:p>
            <a:pPr algn="ctr"/>
            <a:r>
              <a:rPr sz="900" b="1" i="0">
                <a:solidFill>
                  <a:srgbClr val="585E6F"/>
                </a:solidFill>
                <a:latin typeface="Arial"/>
              </a:rPr>
              <a:t>no</a:t>
            </a:r>
          </a:p>
        </p:txBody>
      </p:sp>
      <p:sp>
        <p:nvSpPr>
          <p:cNvPr id="96" name="Rectangle 95"/>
          <p:cNvSpPr/>
          <p:nvPr/>
        </p:nvSpPr>
        <p:spPr>
          <a:xfrm>
            <a:off x="3374135" y="4828032"/>
            <a:ext cx="6199632" cy="512063"/>
          </a:xfrm>
          <a:prstGeom prst="rect">
            <a:avLst/>
          </a:prstGeom>
          <a:solidFill>
            <a:srgbClr val="F3E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3447287" y="4882896"/>
            <a:ext cx="960120" cy="274320"/>
          </a:xfrm>
          <a:prstGeom prst="rect">
            <a:avLst/>
          </a:prstGeom>
          <a:noFill/>
        </p:spPr>
        <p:txBody>
          <a:bodyPr wrap="square" lIns="0" tIns="0" rIns="0" bIns="0" anchor="ctr">
            <a:spAutoFit/>
          </a:bodyPr>
          <a:lstStyle/>
          <a:p>
            <a:pPr algn="l"/>
            <a:r>
              <a:rPr sz="900" b="1" i="0">
                <a:solidFill>
                  <a:srgbClr val="0033A0"/>
                </a:solidFill>
                <a:latin typeface="Courier New"/>
              </a:rPr>
              <a:t>backend</a:t>
            </a:r>
          </a:p>
        </p:txBody>
      </p:sp>
      <p:sp>
        <p:nvSpPr>
          <p:cNvPr id="98" name="TextBox 97"/>
          <p:cNvSpPr txBox="1"/>
          <p:nvPr/>
        </p:nvSpPr>
        <p:spPr>
          <a:xfrm>
            <a:off x="4407407" y="4882896"/>
            <a:ext cx="1371600" cy="274320"/>
          </a:xfrm>
          <a:prstGeom prst="rect">
            <a:avLst/>
          </a:prstGeom>
          <a:noFill/>
        </p:spPr>
        <p:txBody>
          <a:bodyPr wrap="square" lIns="0" tIns="0" rIns="0" bIns="0" anchor="ctr">
            <a:spAutoFit/>
          </a:bodyPr>
          <a:lstStyle/>
          <a:p>
            <a:pPr algn="l"/>
            <a:r>
              <a:rPr sz="780" b="0" i="0">
                <a:solidFill>
                  <a:srgbClr val="16181D"/>
                </a:solidFill>
                <a:latin typeface="Courier New"/>
              </a:rPr>
              <a:t>criterios</a:t>
            </a:r>
          </a:p>
        </p:txBody>
      </p:sp>
      <p:sp>
        <p:nvSpPr>
          <p:cNvPr id="99" name="Rounded Rectangle 98"/>
          <p:cNvSpPr/>
          <p:nvPr/>
        </p:nvSpPr>
        <p:spPr>
          <a:xfrm>
            <a:off x="5824727" y="4901183"/>
            <a:ext cx="10515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5824727" y="4901183"/>
            <a:ext cx="10515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101" name="TextBox 100"/>
          <p:cNvSpPr txBox="1"/>
          <p:nvPr/>
        </p:nvSpPr>
        <p:spPr>
          <a:xfrm>
            <a:off x="6967727" y="4882896"/>
            <a:ext cx="868680" cy="274320"/>
          </a:xfrm>
          <a:prstGeom prst="rect">
            <a:avLst/>
          </a:prstGeom>
          <a:noFill/>
        </p:spPr>
        <p:txBody>
          <a:bodyPr wrap="square" lIns="0" tIns="0" rIns="0" bIns="0" anchor="ctr">
            <a:spAutoFit/>
          </a:bodyPr>
          <a:lstStyle/>
          <a:p>
            <a:pPr algn="l"/>
            <a:r>
              <a:rPr sz="780" b="0" i="0">
                <a:solidFill>
                  <a:srgbClr val="16181D"/>
                </a:solidFill>
                <a:latin typeface="Courier New"/>
              </a:rPr>
              <a:t>endpoint</a:t>
            </a:r>
          </a:p>
        </p:txBody>
      </p:sp>
      <p:sp>
        <p:nvSpPr>
          <p:cNvPr id="102" name="Rounded Rectangle 101"/>
          <p:cNvSpPr/>
          <p:nvPr/>
        </p:nvSpPr>
        <p:spPr>
          <a:xfrm>
            <a:off x="7836407" y="4901183"/>
            <a:ext cx="822960" cy="246888"/>
          </a:xfrm>
          <a:prstGeom prst="roundRect">
            <a:avLst>
              <a:gd name="adj" fmla="val 50000"/>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7836407" y="4901183"/>
            <a:ext cx="822960" cy="246888"/>
          </a:xfrm>
          <a:prstGeom prst="rect">
            <a:avLst/>
          </a:prstGeom>
          <a:noFill/>
        </p:spPr>
        <p:txBody>
          <a:bodyPr wrap="square" lIns="0" tIns="0" rIns="0" bIns="0" anchor="ctr">
            <a:spAutoFit/>
          </a:bodyPr>
          <a:lstStyle/>
          <a:p>
            <a:pPr algn="ctr"/>
            <a:r>
              <a:rPr sz="750" b="1" i="0">
                <a:solidFill>
                  <a:srgbClr val="2E6B4F"/>
                </a:solidFill>
                <a:latin typeface="Arial"/>
              </a:rPr>
              <a:t>sí</a:t>
            </a:r>
          </a:p>
        </p:txBody>
      </p:sp>
      <p:sp>
        <p:nvSpPr>
          <p:cNvPr id="104" name="Rectangle 103"/>
          <p:cNvSpPr/>
          <p:nvPr/>
        </p:nvSpPr>
        <p:spPr>
          <a:xfrm>
            <a:off x="8750807" y="4882896"/>
            <a:ext cx="640080" cy="292608"/>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750807" y="4882896"/>
            <a:ext cx="640080" cy="292608"/>
          </a:xfrm>
          <a:prstGeom prst="rect">
            <a:avLst/>
          </a:prstGeom>
          <a:noFill/>
        </p:spPr>
        <p:txBody>
          <a:bodyPr wrap="square" lIns="0" tIns="0" rIns="0" bIns="0" anchor="ctr">
            <a:spAutoFit/>
          </a:bodyPr>
          <a:lstStyle/>
          <a:p>
            <a:pPr algn="ctr"/>
            <a:r>
              <a:rPr sz="900" b="1" i="0">
                <a:solidFill>
                  <a:srgbClr val="FBF8F0"/>
                </a:solidFill>
                <a:latin typeface="Arial"/>
              </a:rPr>
              <a:t>SÍ</a:t>
            </a:r>
          </a:p>
        </p:txBody>
      </p:sp>
      <p:sp>
        <p:nvSpPr>
          <p:cNvPr id="106" name="Rectangle 105"/>
          <p:cNvSpPr/>
          <p:nvPr/>
        </p:nvSpPr>
        <p:spPr>
          <a:xfrm>
            <a:off x="9756647" y="2852928"/>
            <a:ext cx="1645920" cy="2578608"/>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9848087" y="2944368"/>
            <a:ext cx="1463040" cy="228600"/>
          </a:xfrm>
          <a:prstGeom prst="rect">
            <a:avLst/>
          </a:prstGeom>
          <a:noFill/>
        </p:spPr>
        <p:txBody>
          <a:bodyPr wrap="square" lIns="0" tIns="0" rIns="0" bIns="0" anchor="t">
            <a:spAutoFit/>
          </a:bodyPr>
          <a:lstStyle/>
          <a:p>
            <a:pPr algn="ctr"/>
            <a:r>
              <a:rPr sz="900" b="1" i="0">
                <a:solidFill>
                  <a:srgbClr val="16181D"/>
                </a:solidFill>
                <a:latin typeface="Arial"/>
              </a:rPr>
              <a:t>Resultado</a:t>
            </a:r>
          </a:p>
        </p:txBody>
      </p:sp>
      <p:sp>
        <p:nvSpPr>
          <p:cNvPr id="108" name="TextBox 107"/>
          <p:cNvSpPr txBox="1"/>
          <p:nvPr/>
        </p:nvSpPr>
        <p:spPr>
          <a:xfrm>
            <a:off x="9848087" y="3218688"/>
            <a:ext cx="1463040" cy="201168"/>
          </a:xfrm>
          <a:prstGeom prst="rect">
            <a:avLst/>
          </a:prstGeom>
          <a:noFill/>
        </p:spPr>
        <p:txBody>
          <a:bodyPr wrap="square" lIns="0" tIns="0" rIns="0" bIns="0" anchor="t">
            <a:spAutoFit/>
          </a:bodyPr>
          <a:lstStyle/>
          <a:p>
            <a:pPr algn="ctr"/>
            <a:r>
              <a:rPr sz="800" b="1" i="0">
                <a:solidFill>
                  <a:srgbClr val="585E6F"/>
                </a:solidFill>
                <a:latin typeface="Courier New"/>
              </a:rPr>
              <a:t>listo_para(p)</a:t>
            </a:r>
          </a:p>
        </p:txBody>
      </p:sp>
      <p:sp>
        <p:nvSpPr>
          <p:cNvPr id="109" name="Rectangle 108"/>
          <p:cNvSpPr/>
          <p:nvPr/>
        </p:nvSpPr>
        <p:spPr>
          <a:xfrm>
            <a:off x="9866375" y="3456432"/>
            <a:ext cx="1426464" cy="566928"/>
          </a:xfrm>
          <a:prstGeom prst="rect">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9866375" y="3456432"/>
            <a:ext cx="1426464" cy="566928"/>
          </a:xfrm>
          <a:prstGeom prst="rect">
            <a:avLst/>
          </a:prstGeom>
          <a:noFill/>
        </p:spPr>
        <p:txBody>
          <a:bodyPr wrap="square" lIns="0" tIns="0" rIns="0" bIns="0" anchor="ctr">
            <a:spAutoFit/>
          </a:bodyPr>
          <a:lstStyle/>
          <a:p>
            <a:pPr algn="ctr">
              <a:lnSpc>
                <a:spcPct val="100000"/>
              </a:lnSpc>
            </a:pPr>
            <a:r>
              <a:rPr sz="850" b="1" i="0">
                <a:solidFill>
                  <a:srgbClr val="0033A0"/>
                </a:solidFill>
                <a:latin typeface="Courier New"/>
              </a:rPr>
              <a:t>["disenador",</a:t>
            </a:r>
          </a:p>
          <a:p>
            <a:pPr algn="ctr">
              <a:lnSpc>
                <a:spcPct val="100000"/>
              </a:lnSpc>
            </a:pPr>
            <a:r>
              <a:rPr sz="850" b="1" i="0">
                <a:solidFill>
                  <a:srgbClr val="0033A0"/>
                </a:solidFill>
                <a:latin typeface="Courier New"/>
              </a:rPr>
              <a:t> "backend"]</a:t>
            </a:r>
          </a:p>
        </p:txBody>
      </p:sp>
      <p:cxnSp>
        <p:nvCxnSpPr>
          <p:cNvPr id="111" name="Connector 110"/>
          <p:cNvCxnSpPr/>
          <p:nvPr/>
        </p:nvCxnSpPr>
        <p:spPr>
          <a:xfrm>
            <a:off x="10579608" y="4059936"/>
            <a:ext cx="0" cy="274320"/>
          </a:xfrm>
          <a:prstGeom prst="line">
            <a:avLst/>
          </a:prstGeom>
          <a:ln w="1905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9848087" y="4096512"/>
            <a:ext cx="713232" cy="201168"/>
          </a:xfrm>
          <a:prstGeom prst="rect">
            <a:avLst/>
          </a:prstGeom>
          <a:noFill/>
        </p:spPr>
        <p:txBody>
          <a:bodyPr wrap="square" lIns="0" tIns="0" rIns="0" bIns="0" anchor="t">
            <a:spAutoFit/>
          </a:bodyPr>
          <a:lstStyle/>
          <a:p>
            <a:pPr algn="r"/>
            <a:r>
              <a:rPr sz="800" b="1" i="0">
                <a:solidFill>
                  <a:srgbClr val="984514"/>
                </a:solidFill>
                <a:latin typeface="Courier New"/>
              </a:rPr>
              <a:t>elegir</a:t>
            </a:r>
          </a:p>
        </p:txBody>
      </p:sp>
      <p:sp>
        <p:nvSpPr>
          <p:cNvPr id="113" name="Rectangle 112"/>
          <p:cNvSpPr/>
          <p:nvPr/>
        </p:nvSpPr>
        <p:spPr>
          <a:xfrm>
            <a:off x="9866375" y="4370832"/>
            <a:ext cx="1426464" cy="384048"/>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866375" y="4370832"/>
            <a:ext cx="1426464" cy="384048"/>
          </a:xfrm>
          <a:prstGeom prst="rect">
            <a:avLst/>
          </a:prstGeom>
          <a:noFill/>
        </p:spPr>
        <p:txBody>
          <a:bodyPr wrap="square" lIns="0" tIns="0" rIns="0" bIns="0" anchor="ctr">
            <a:spAutoFit/>
          </a:bodyPr>
          <a:lstStyle/>
          <a:p>
            <a:pPr algn="ctr"/>
            <a:r>
              <a:rPr sz="1000" b="1" i="0">
                <a:solidFill>
                  <a:srgbClr val="FBF8F0"/>
                </a:solidFill>
                <a:latin typeface="Courier New"/>
              </a:rPr>
              <a:t>disenador</a:t>
            </a:r>
          </a:p>
        </p:txBody>
      </p:sp>
      <p:sp>
        <p:nvSpPr>
          <p:cNvPr id="115" name="TextBox 114"/>
          <p:cNvSpPr txBox="1"/>
          <p:nvPr/>
        </p:nvSpPr>
        <p:spPr>
          <a:xfrm>
            <a:off x="9866375" y="4828032"/>
            <a:ext cx="1426464" cy="548640"/>
          </a:xfrm>
          <a:prstGeom prst="rect">
            <a:avLst/>
          </a:prstGeom>
          <a:noFill/>
        </p:spPr>
        <p:txBody>
          <a:bodyPr wrap="square" lIns="0" tIns="0" rIns="0" bIns="0" anchor="t">
            <a:spAutoFit/>
          </a:bodyPr>
          <a:lstStyle/>
          <a:p>
            <a:pPr algn="ctr"/>
            <a:r>
              <a:rPr sz="730" b="0" i="1">
                <a:solidFill>
                  <a:srgbClr val="585E6F"/>
                </a:solidFill>
                <a:latin typeface="Arial"/>
              </a:rPr>
              <a:t>toma el primero: el orden de la tabla solo decide los empates</a:t>
            </a:r>
          </a:p>
        </p:txBody>
      </p:sp>
      <p:sp>
        <p:nvSpPr>
          <p:cNvPr id="116" name="Rectangle 115"/>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Un agente entra a la lista solo si pasa los dos filtros: </a:t>
            </a:r>
            <a:r>
              <a:rPr sz="1100" b="0" i="0">
                <a:solidFill>
                  <a:srgbClr val="16181D"/>
                </a:solidFill>
                <a:latin typeface="Arial"/>
              </a:rPr>
              <a:t>ya tiene en la pizarra lo que lee y todavía no ha escrito su casilla.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520961"/>
            <a:ext cx="10484915" cy="5713"/>
          </a:xfrm>
          <a:prstGeom prst="rect">
            <a:avLst/>
          </a:prstGeom>
          <a:solidFill>
            <a:srgbClr val="C6BFAE"/>
          </a:solidFill>
          <a:ln/>
        </p:spPr>
        <p:txBody>
          <a:bodyPr/>
          <a:lstStyle/>
          <a:p>
            <a:endParaRPr lang="es-MX"/>
          </a:p>
        </p:txBody>
      </p:sp>
      <p:sp>
        <p:nvSpPr>
          <p:cNvPr id="3" name="s22-forma-2"/>
          <p:cNvSpPr/>
          <p:nvPr/>
        </p:nvSpPr>
        <p:spPr>
          <a:xfrm>
            <a:off x="853390" y="331715"/>
            <a:ext cx="81411" cy="81411"/>
          </a:xfrm>
          <a:prstGeom prst="ellipse">
            <a:avLst/>
          </a:prstGeom>
          <a:solidFill>
            <a:srgbClr val="0033A0"/>
          </a:solidFill>
          <a:ln/>
        </p:spPr>
        <p:txBody>
          <a:bodyPr/>
          <a:lstStyle/>
          <a:p>
            <a:endParaRPr lang="es-MX"/>
          </a:p>
        </p:txBody>
      </p:sp>
      <p:sp>
        <p:nvSpPr>
          <p:cNvPr id="4" name="s2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22-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Pizarra en código: una tabla y un controlador</a:t>
            </a:r>
            <a:endParaRPr lang="en-US" sz="2519" dirty="0"/>
          </a:p>
        </p:txBody>
      </p:sp>
      <p:sp>
        <p:nvSpPr>
          <p:cNvPr id="8" name="s22-forma-7"/>
          <p:cNvSpPr/>
          <p:nvPr/>
        </p:nvSpPr>
        <p:spPr>
          <a:xfrm>
            <a:off x="1342572" y="2205246"/>
            <a:ext cx="5941595" cy="3159329"/>
          </a:xfrm>
          <a:prstGeom prst="rect">
            <a:avLst/>
          </a:prstGeom>
          <a:solidFill>
            <a:srgbClr val="E8E2D5"/>
          </a:solidFill>
          <a:ln/>
        </p:spPr>
        <p:txBody>
          <a:bodyPr/>
          <a:lstStyle/>
          <a:p>
            <a:endParaRPr lang="es-MX"/>
          </a:p>
        </p:txBody>
      </p:sp>
      <p:sp>
        <p:nvSpPr>
          <p:cNvPr id="9" name="s22-forma-8"/>
          <p:cNvSpPr/>
          <p:nvPr/>
        </p:nvSpPr>
        <p:spPr>
          <a:xfrm>
            <a:off x="1342572" y="2205246"/>
            <a:ext cx="5941595" cy="5713"/>
          </a:xfrm>
          <a:prstGeom prst="rect">
            <a:avLst/>
          </a:prstGeom>
          <a:solidFill>
            <a:srgbClr val="DBD4C4"/>
          </a:solidFill>
          <a:ln/>
        </p:spPr>
        <p:txBody>
          <a:bodyPr/>
          <a:lstStyle/>
          <a:p>
            <a:endParaRPr lang="es-MX"/>
          </a:p>
        </p:txBody>
      </p:sp>
      <p:sp>
        <p:nvSpPr>
          <p:cNvPr id="10" name="s22-forma-9"/>
          <p:cNvSpPr/>
          <p:nvPr/>
        </p:nvSpPr>
        <p:spPr>
          <a:xfrm>
            <a:off x="1342572" y="5358861"/>
            <a:ext cx="5941595" cy="5713"/>
          </a:xfrm>
          <a:prstGeom prst="rect">
            <a:avLst/>
          </a:prstGeom>
          <a:solidFill>
            <a:srgbClr val="DBD4C4"/>
          </a:solidFill>
          <a:ln/>
        </p:spPr>
        <p:txBody>
          <a:bodyPr/>
          <a:lstStyle/>
          <a:p>
            <a:endParaRPr lang="es-MX"/>
          </a:p>
        </p:txBody>
      </p:sp>
      <p:sp>
        <p:nvSpPr>
          <p:cNvPr id="11" name="s22-forma-10"/>
          <p:cNvSpPr/>
          <p:nvPr/>
        </p:nvSpPr>
        <p:spPr>
          <a:xfrm>
            <a:off x="1342572" y="2205246"/>
            <a:ext cx="17139" cy="3159329"/>
          </a:xfrm>
          <a:prstGeom prst="rect">
            <a:avLst/>
          </a:prstGeom>
          <a:solidFill>
            <a:srgbClr val="C6BFAE"/>
          </a:solidFill>
          <a:ln/>
        </p:spPr>
        <p:txBody>
          <a:bodyPr/>
          <a:lstStyle/>
          <a:p>
            <a:endParaRPr lang="es-MX"/>
          </a:p>
        </p:txBody>
      </p:sp>
      <p:sp>
        <p:nvSpPr>
          <p:cNvPr id="12" name="s22-forma-11"/>
          <p:cNvSpPr/>
          <p:nvPr/>
        </p:nvSpPr>
        <p:spPr>
          <a:xfrm>
            <a:off x="7278453" y="2205246"/>
            <a:ext cx="5713" cy="3159329"/>
          </a:xfrm>
          <a:prstGeom prst="rect">
            <a:avLst/>
          </a:prstGeom>
          <a:solidFill>
            <a:srgbClr val="DBD4C4"/>
          </a:solidFill>
          <a:ln/>
        </p:spPr>
        <p:txBody>
          <a:bodyPr/>
          <a:lstStyle/>
          <a:p>
            <a:endParaRPr lang="es-MX"/>
          </a:p>
        </p:txBody>
      </p:sp>
      <p:sp>
        <p:nvSpPr>
          <p:cNvPr id="13" name="s22-forma-12"/>
          <p:cNvSpPr/>
          <p:nvPr/>
        </p:nvSpPr>
        <p:spPr>
          <a:xfrm>
            <a:off x="1451120" y="2370925"/>
            <a:ext cx="5735924" cy="188531"/>
          </a:xfrm>
          <a:prstGeom prst="rect">
            <a:avLst/>
          </a:prstGeom>
          <a:solidFill>
            <a:srgbClr val="DCE3F2"/>
          </a:solidFill>
          <a:ln/>
        </p:spPr>
        <p:txBody>
          <a:bodyPr/>
          <a:lstStyle/>
          <a:p>
            <a:endParaRPr lang="es-MX"/>
          </a:p>
        </p:txBody>
      </p:sp>
      <p:sp>
        <p:nvSpPr>
          <p:cNvPr id="14" name="s22-forma-13"/>
          <p:cNvSpPr/>
          <p:nvPr/>
        </p:nvSpPr>
        <p:spPr>
          <a:xfrm>
            <a:off x="1451120" y="2370925"/>
            <a:ext cx="22852" cy="188531"/>
          </a:xfrm>
          <a:prstGeom prst="rect">
            <a:avLst/>
          </a:prstGeom>
          <a:solidFill>
            <a:srgbClr val="AC321E"/>
          </a:solidFill>
          <a:ln/>
        </p:spPr>
        <p:txBody>
          <a:bodyPr/>
          <a:lstStyle/>
          <a:p>
            <a:endParaRPr lang="es-MX"/>
          </a:p>
        </p:txBody>
      </p:sp>
      <p:sp>
        <p:nvSpPr>
          <p:cNvPr id="15" name="s22-texto-14"/>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AGENTES = {   </a:t>
            </a:r>
            <a:r>
              <a:rPr lang="en-US" sz="990" dirty="0">
                <a:solidFill>
                  <a:srgbClr val="585E6F"/>
                </a:solidFill>
                <a:latin typeface="Courier New" pitchFamily="34" charset="0"/>
                <a:ea typeface="Courier New" pitchFamily="34" charset="-122"/>
                <a:cs typeface="Courier New" pitchFamily="34" charset="-120"/>
              </a:rPr>
              <a:t># agente: (lo que lee, lo que escribe)</a:t>
            </a:r>
            <a:endParaRPr lang="en-US" sz="990" dirty="0"/>
          </a:p>
        </p:txBody>
      </p:sp>
      <p:sp>
        <p:nvSpPr>
          <p:cNvPr id="16" name="s22-forma-15"/>
          <p:cNvSpPr/>
          <p:nvPr/>
        </p:nvSpPr>
        <p:spPr>
          <a:xfrm>
            <a:off x="1451120" y="2559456"/>
            <a:ext cx="5735924" cy="188531"/>
          </a:xfrm>
          <a:prstGeom prst="rect">
            <a:avLst/>
          </a:prstGeom>
          <a:solidFill>
            <a:srgbClr val="DCE3F2"/>
          </a:solidFill>
          <a:ln/>
        </p:spPr>
        <p:txBody>
          <a:bodyPr/>
          <a:lstStyle/>
          <a:p>
            <a:endParaRPr lang="es-MX"/>
          </a:p>
        </p:txBody>
      </p:sp>
      <p:sp>
        <p:nvSpPr>
          <p:cNvPr id="17" name="s22-forma-16"/>
          <p:cNvSpPr/>
          <p:nvPr/>
        </p:nvSpPr>
        <p:spPr>
          <a:xfrm>
            <a:off x="1451120" y="2559456"/>
            <a:ext cx="22852" cy="188531"/>
          </a:xfrm>
          <a:prstGeom prst="rect">
            <a:avLst/>
          </a:prstGeom>
          <a:solidFill>
            <a:srgbClr val="AC321E"/>
          </a:solidFill>
          <a:ln/>
        </p:spPr>
        <p:txBody>
          <a:bodyPr/>
          <a:lstStyle/>
          <a:p>
            <a:endParaRPr lang="es-MX"/>
          </a:p>
        </p:txBody>
      </p:sp>
      <p:sp>
        <p:nvSpPr>
          <p:cNvPr id="18" name="s22-texto-17"/>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"historia"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9" name="s22-forma-18"/>
          <p:cNvSpPr/>
          <p:nvPr/>
        </p:nvSpPr>
        <p:spPr>
          <a:xfrm>
            <a:off x="1451120" y="2747988"/>
            <a:ext cx="5735924" cy="188531"/>
          </a:xfrm>
          <a:prstGeom prst="rect">
            <a:avLst/>
          </a:prstGeom>
          <a:solidFill>
            <a:srgbClr val="DCE3F2"/>
          </a:solidFill>
          <a:ln/>
        </p:spPr>
        <p:txBody>
          <a:bodyPr/>
          <a:lstStyle/>
          <a:p>
            <a:endParaRPr lang="es-MX"/>
          </a:p>
        </p:txBody>
      </p:sp>
      <p:sp>
        <p:nvSpPr>
          <p:cNvPr id="20" name="s22-forma-19"/>
          <p:cNvSpPr/>
          <p:nvPr/>
        </p:nvSpPr>
        <p:spPr>
          <a:xfrm>
            <a:off x="1451120" y="2747988"/>
            <a:ext cx="22852" cy="188531"/>
          </a:xfrm>
          <a:prstGeom prst="rect">
            <a:avLst/>
          </a:prstGeom>
          <a:solidFill>
            <a:srgbClr val="AC321E"/>
          </a:solidFill>
          <a:ln/>
        </p:spPr>
        <p:txBody>
          <a:bodyPr/>
          <a:lstStyle/>
          <a:p>
            <a:endParaRPr lang="es-MX"/>
          </a:p>
        </p:txBody>
      </p:sp>
      <p:sp>
        <p:nvSpPr>
          <p:cNvPr id="21" name="s22-texto-20"/>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"disenador"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2-forma-21"/>
          <p:cNvSpPr/>
          <p:nvPr/>
        </p:nvSpPr>
        <p:spPr>
          <a:xfrm>
            <a:off x="1451120" y="2936519"/>
            <a:ext cx="5735924" cy="188531"/>
          </a:xfrm>
          <a:prstGeom prst="rect">
            <a:avLst/>
          </a:prstGeom>
          <a:solidFill>
            <a:srgbClr val="DCE3F2"/>
          </a:solidFill>
          <a:ln/>
        </p:spPr>
        <p:txBody>
          <a:bodyPr/>
          <a:lstStyle/>
          <a:p>
            <a:endParaRPr lang="es-MX"/>
          </a:p>
        </p:txBody>
      </p:sp>
      <p:sp>
        <p:nvSpPr>
          <p:cNvPr id="23" name="s22-forma-22"/>
          <p:cNvSpPr/>
          <p:nvPr/>
        </p:nvSpPr>
        <p:spPr>
          <a:xfrm>
            <a:off x="1451120" y="2936519"/>
            <a:ext cx="22852" cy="188531"/>
          </a:xfrm>
          <a:prstGeom prst="rect">
            <a:avLst/>
          </a:prstGeom>
          <a:solidFill>
            <a:srgbClr val="AC321E"/>
          </a:solidFill>
          <a:ln/>
        </p:spPr>
        <p:txBody>
          <a:bodyPr/>
          <a:lstStyle/>
          <a:p>
            <a:endParaRPr lang="es-MX"/>
          </a:p>
        </p:txBody>
      </p:sp>
      <p:sp>
        <p:nvSpPr>
          <p:cNvPr id="24" name="s22-texto-23"/>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"backend"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"endpoint"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22-forma-24"/>
          <p:cNvSpPr/>
          <p:nvPr/>
        </p:nvSpPr>
        <p:spPr>
          <a:xfrm>
            <a:off x="1451120" y="3125050"/>
            <a:ext cx="5735924" cy="188531"/>
          </a:xfrm>
          <a:prstGeom prst="rect">
            <a:avLst/>
          </a:prstGeom>
          <a:solidFill>
            <a:srgbClr val="DCE3F2"/>
          </a:solidFill>
          <a:ln/>
        </p:spPr>
        <p:txBody>
          <a:bodyPr/>
          <a:lstStyle/>
          <a:p>
            <a:endParaRPr lang="es-MX"/>
          </a:p>
        </p:txBody>
      </p:sp>
      <p:sp>
        <p:nvSpPr>
          <p:cNvPr id="26" name="s22-forma-25"/>
          <p:cNvSpPr/>
          <p:nvPr/>
        </p:nvSpPr>
        <p:spPr>
          <a:xfrm>
            <a:off x="1451120" y="3125050"/>
            <a:ext cx="22852" cy="188531"/>
          </a:xfrm>
          <a:prstGeom prst="rect">
            <a:avLst/>
          </a:prstGeom>
          <a:solidFill>
            <a:srgbClr val="AC321E"/>
          </a:solidFill>
          <a:ln/>
        </p:spPr>
        <p:txBody>
          <a:bodyPr/>
          <a:lstStyle/>
          <a:p>
            <a:endParaRPr lang="es-MX"/>
          </a:p>
        </p:txBody>
      </p:sp>
      <p:sp>
        <p:nvSpPr>
          <p:cNvPr id="27" name="s22-texto-26"/>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"pantalla"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"endpoint"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"pantalla"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2-texto-27"/>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22-texto-28"/>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elegir(p: Pizarra) -&gt; str:                 </a:t>
            </a:r>
            <a:r>
              <a:rPr lang="en-US" sz="990" dirty="0">
                <a:solidFill>
                  <a:srgbClr val="585E6F"/>
                </a:solidFill>
                <a:latin typeface="Courier New" pitchFamily="34" charset="0"/>
                <a:ea typeface="Courier New" pitchFamily="34" charset="-122"/>
                <a:cs typeface="Courier New" pitchFamily="34" charset="-120"/>
              </a:rPr>
              <a:t># el controlador</a:t>
            </a:r>
            <a:endParaRPr lang="en-US" sz="990" dirty="0"/>
          </a:p>
        </p:txBody>
      </p:sp>
      <p:sp>
        <p:nvSpPr>
          <p:cNvPr id="30" name="s22-texto-29"/>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listos = [a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a, (lee, escribe)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AGENTES.items()</a:t>
            </a:r>
            <a:endParaRPr lang="en-US" sz="990" dirty="0"/>
          </a:p>
        </p:txBody>
      </p:sp>
      <p:sp>
        <p:nvSpPr>
          <p:cNvPr id="31" name="s22-texto-30"/>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all(p.get(c)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c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lee) </a:t>
            </a:r>
            <a:r>
              <a:rPr lang="en-US" sz="990" dirty="0">
                <a:solidFill>
                  <a:srgbClr val="AC321E"/>
                </a:solidFill>
                <a:latin typeface="Courier New" pitchFamily="34" charset="0"/>
                <a:ea typeface="Courier New" pitchFamily="34" charset="-122"/>
                <a:cs typeface="Courier New" pitchFamily="34" charset="-120"/>
              </a:rPr>
              <a:t>and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p.get(escribe)]</a:t>
            </a:r>
            <a:endParaRPr lang="en-US" sz="990" dirty="0"/>
          </a:p>
        </p:txBody>
      </p:sp>
      <p:sp>
        <p:nvSpPr>
          <p:cNvPr id="32" name="s22-texto-31"/>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listos[0]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listos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endParaRPr lang="en-US" sz="990" dirty="0"/>
          </a:p>
        </p:txBody>
      </p:sp>
      <p:sp>
        <p:nvSpPr>
          <p:cNvPr id="33" name="s22-texto-32"/>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a:t>
            </a:r>
            <a:endParaRPr lang="en-US" sz="990" dirty="0"/>
          </a:p>
        </p:txBody>
      </p:sp>
      <p:sp>
        <p:nvSpPr>
          <p:cNvPr id="34" name="s22-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grafo.add_edge(nombre, </a:t>
            </a:r>
            <a:r>
              <a:rPr lang="en-US" sz="990" dirty="0">
                <a:solidFill>
                  <a:srgbClr val="1B6A43"/>
                </a:solidFill>
                <a:latin typeface="Courier New" pitchFamily="34" charset="0"/>
                <a:ea typeface="Courier New" pitchFamily="34" charset="-122"/>
                <a:cs typeface="Courier New" pitchFamily="34" charset="-120"/>
              </a:rPr>
              <a:t>"controlador"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todos vuelven</a:t>
            </a:r>
            <a:endParaRPr lang="en-US" sz="990" dirty="0"/>
          </a:p>
        </p:txBody>
      </p:sp>
      <p:sp>
        <p:nvSpPr>
          <p:cNvPr id="35" name="s22-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"controlador"</a:t>
            </a:r>
            <a:r>
              <a:rPr lang="en-US" sz="990" dirty="0">
                <a:solidFill>
                  <a:srgbClr val="16181D"/>
                </a:solidFill>
                <a:latin typeface="Courier New" pitchFamily="34" charset="0"/>
                <a:ea typeface="Courier New" pitchFamily="34" charset="-122"/>
                <a:cs typeface="Courier New" pitchFamily="34" charset="-120"/>
              </a:rPr>
              <a:t>, elegir, [*AGENTES,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6" name="s22-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22-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agente declara qué </a:t>
            </a:r>
            <a:r>
              <a:rPr lang="en-US" sz="1170" b="1" dirty="0">
                <a:solidFill>
                  <a:srgbClr val="0033A0"/>
                </a:solidFill>
                <a:latin typeface="Arial" pitchFamily="34" charset="0"/>
                <a:ea typeface="Arial" pitchFamily="34" charset="-122"/>
                <a:cs typeface="Arial" pitchFamily="34" charset="-120"/>
              </a:rPr>
              <a:t>lee</a:t>
            </a:r>
            <a:r>
              <a:rPr lang="en-US" sz="1170" dirty="0">
                <a:solidFill>
                  <a:srgbClr val="16181D"/>
                </a:solidFill>
                <a:latin typeface="Arial" pitchFamily="34" charset="0"/>
                <a:ea typeface="Arial" pitchFamily="34" charset="-122"/>
                <a:cs typeface="Arial" pitchFamily="34" charset="-120"/>
              </a:rPr>
              <a:t> y qué </a:t>
            </a:r>
            <a:r>
              <a:rPr lang="en-US" sz="1170" b="1" dirty="0">
                <a:solidFill>
                  <a:srgbClr val="0033A0"/>
                </a:solidFill>
                <a:latin typeface="Arial" pitchFamily="34" charset="0"/>
                <a:ea typeface="Arial" pitchFamily="34" charset="-122"/>
                <a:cs typeface="Arial" pitchFamily="34" charset="-120"/>
              </a:rPr>
              <a:t>escribe</a:t>
            </a:r>
            <a:r>
              <a:rPr lang="en-US" sz="1170" dirty="0">
                <a:solidFill>
                  <a:srgbClr val="16181D"/>
                </a:solidFill>
                <a:latin typeface="Arial" pitchFamily="34" charset="0"/>
                <a:ea typeface="Arial" pitchFamily="34" charset="-122"/>
                <a:cs typeface="Arial" pitchFamily="34" charset="-120"/>
              </a:rPr>
              <a:t>; un controlador en código activa a quien ya puede trabajar.</a:t>
            </a:r>
            <a:endParaRPr lang="en-US" sz="1170" dirty="0"/>
          </a:p>
        </p:txBody>
      </p:sp>
      <p:sp>
        <p:nvSpPr>
          <p:cNvPr id="38" name="s22-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22-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allí un modelo elige; aquí lo decide el estado de la pizarra.</a:t>
            </a:r>
            <a:endParaRPr lang="en-US" sz="1170" dirty="0"/>
          </a:p>
        </p:txBody>
      </p:sp>
      <p:sp>
        <p:nvSpPr>
          <p:cNvPr id="40" name="s22-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22-forma-40"/>
          <p:cNvSpPr/>
          <p:nvPr/>
        </p:nvSpPr>
        <p:spPr>
          <a:xfrm>
            <a:off x="7558394" y="4084579"/>
            <a:ext cx="3290729" cy="289046"/>
          </a:xfrm>
          <a:prstGeom prst="rect">
            <a:avLst/>
          </a:prstGeom>
          <a:solidFill>
            <a:srgbClr val="E3DCCB"/>
          </a:solidFill>
          <a:ln/>
        </p:spPr>
        <p:txBody>
          <a:bodyPr/>
          <a:lstStyle/>
          <a:p>
            <a:endParaRPr lang="es-MX"/>
          </a:p>
        </p:txBody>
      </p:sp>
      <p:sp>
        <p:nvSpPr>
          <p:cNvPr id="42" name="s22-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ejemplos.s3_topologias.pizarra</a:t>
            </a:r>
            <a:endParaRPr lang="en-US" sz="855" dirty="0"/>
          </a:p>
        </p:txBody>
      </p:sp>
      <p:sp>
        <p:nvSpPr>
          <p:cNvPr id="43" name="s22-forma-42"/>
          <p:cNvSpPr/>
          <p:nvPr/>
        </p:nvSpPr>
        <p:spPr>
          <a:xfrm>
            <a:off x="7558394" y="4510738"/>
            <a:ext cx="3290729" cy="832859"/>
          </a:xfrm>
          <a:prstGeom prst="rect">
            <a:avLst/>
          </a:prstGeom>
          <a:solidFill>
            <a:srgbClr val="E2D3C2"/>
          </a:solidFill>
          <a:ln/>
        </p:spPr>
        <p:txBody>
          <a:bodyPr/>
          <a:lstStyle/>
          <a:p>
            <a:endParaRPr lang="es-MX"/>
          </a:p>
        </p:txBody>
      </p:sp>
      <p:sp>
        <p:nvSpPr>
          <p:cNvPr id="44" name="s22-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22-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estado de LangGraph es tu pizarra; también la carpeta salida/HU-xx/.</a:t>
            </a:r>
            <a:endParaRPr lang="en-US" sz="1170" dirty="0"/>
          </a:p>
        </p:txBody>
      </p:sp>
      <p:sp>
        <p:nvSpPr>
          <p:cNvPr id="46" name="s22-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ejemplos/s3_topologias/pizarra.py · las líneas resaltadas son el patrón</a:t>
            </a:r>
            <a:endParaRPr lang="en-US" sz="1080" dirty="0"/>
          </a:p>
        </p:txBody>
      </p:sp>
      <p:sp>
        <p:nvSpPr>
          <p:cNvPr id="47" name="s22-forma-46"/>
          <p:cNvSpPr/>
          <p:nvPr/>
        </p:nvSpPr>
        <p:spPr>
          <a:xfrm>
            <a:off x="853390" y="6411138"/>
            <a:ext cx="10484915" cy="5713"/>
          </a:xfrm>
          <a:prstGeom prst="rect">
            <a:avLst/>
          </a:prstGeom>
          <a:solidFill>
            <a:srgbClr val="DBD4C4"/>
          </a:solidFill>
          <a:ln/>
        </p:spPr>
        <p:txBody>
          <a:bodyPr/>
          <a:lstStyle/>
          <a:p>
            <a:endParaRPr lang="es-MX"/>
          </a:p>
        </p:txBody>
      </p:sp>
      <p:pic>
        <p:nvPicPr>
          <p:cNvPr id="48" name="s22-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22-forma-48"/>
          <p:cNvSpPr/>
          <p:nvPr/>
        </p:nvSpPr>
        <p:spPr>
          <a:xfrm>
            <a:off x="1659380" y="6519865"/>
            <a:ext cx="2926878" cy="102835"/>
          </a:xfrm>
          <a:prstGeom prst="rect">
            <a:avLst/>
          </a:prstGeom>
          <a:ln/>
        </p:spPr>
        <p:txBody>
          <a:bodyPr/>
          <a:lstStyle/>
          <a:p>
            <a:endParaRPr lang="es-MX"/>
          </a:p>
        </p:txBody>
      </p:sp>
      <p:sp>
        <p:nvSpPr>
          <p:cNvPr id="50" name="s22-forma-49"/>
          <p:cNvSpPr/>
          <p:nvPr/>
        </p:nvSpPr>
        <p:spPr>
          <a:xfrm>
            <a:off x="1659380" y="6519865"/>
            <a:ext cx="5713" cy="102835"/>
          </a:xfrm>
          <a:prstGeom prst="rect">
            <a:avLst/>
          </a:prstGeom>
          <a:solidFill>
            <a:srgbClr val="C6BFAE"/>
          </a:solidFill>
          <a:ln/>
        </p:spPr>
        <p:txBody>
          <a:bodyPr/>
          <a:lstStyle/>
          <a:p>
            <a:endParaRPr lang="es-MX"/>
          </a:p>
        </p:txBody>
      </p:sp>
      <p:sp>
        <p:nvSpPr>
          <p:cNvPr id="51" name="s22-texto-50"/>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2" name="s22-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36</a:t>
            </a:r>
            <a:endParaRPr lang="en-US" sz="745" dirty="0"/>
          </a:p>
        </p:txBody>
      </p:sp>
      <p:sp>
        <p:nvSpPr>
          <p:cNvPr id="53" name="s22-forma-52"/>
          <p:cNvSpPr/>
          <p:nvPr/>
        </p:nvSpPr>
        <p:spPr>
          <a:xfrm>
            <a:off x="0" y="0"/>
            <a:ext cx="7450470" cy="17139"/>
          </a:xfrm>
          <a:prstGeom prst="rect">
            <a:avLst/>
          </a:prstGeom>
          <a:solidFill>
            <a:srgbClr val="0033A0"/>
          </a:solidFill>
          <a:ln/>
        </p:spPr>
        <p:txBody>
          <a:bodyPr/>
          <a:lstStyle/>
          <a:p>
            <a:endParaRPr lang="es-MX"/>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331715"/>
            <a:ext cx="81411" cy="81411"/>
          </a:xfrm>
          <a:prstGeom prst="ellipse">
            <a:avLst/>
          </a:prstGeom>
          <a:solidFill>
            <a:srgbClr val="0033A0"/>
          </a:solidFill>
          <a:ln/>
        </p:spPr>
        <p:txBody>
          <a:bodyPr/>
          <a:lstStyle/>
          <a:p>
            <a:endParaRPr lang="es-MX"/>
          </a:p>
        </p:txBody>
      </p:sp>
      <p:sp>
        <p:nvSpPr>
          <p:cNvPr id="3" name="s2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5" name="s2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3.3</a:t>
            </a:r>
            <a:endParaRPr lang="en-US" sz="869" dirty="0"/>
          </a:p>
        </p:txBody>
      </p:sp>
      <p:sp>
        <p:nvSpPr>
          <p:cNvPr id="6" name="s23-forma-5"/>
          <p:cNvSpPr/>
          <p:nvPr/>
        </p:nvSpPr>
        <p:spPr>
          <a:xfrm>
            <a:off x="853390" y="3768306"/>
            <a:ext cx="722704" cy="22852"/>
          </a:xfrm>
          <a:prstGeom prst="rect">
            <a:avLst/>
          </a:prstGeom>
          <a:solidFill>
            <a:srgbClr val="0033A0"/>
          </a:solidFill>
          <a:ln/>
        </p:spPr>
        <p:txBody>
          <a:bodyPr/>
          <a:lstStyle/>
          <a:p>
            <a:endParaRPr lang="es-MX"/>
          </a:p>
        </p:txBody>
      </p:sp>
      <p:sp>
        <p:nvSpPr>
          <p:cNvPr id="7" name="s2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¿Qué arquitectura elijo?</a:t>
            </a:r>
            <a:endParaRPr lang="en-US" sz="4242" dirty="0"/>
          </a:p>
        </p:txBody>
      </p:sp>
      <p:sp>
        <p:nvSpPr>
          <p:cNvPr id="8" name="s2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Tres preguntas, en orden, y un ejercicio en parejas.</a:t>
            </a:r>
            <a:endParaRPr lang="en-US" sz="1676" dirty="0"/>
          </a:p>
        </p:txBody>
      </p:sp>
      <p:pic>
        <p:nvPicPr>
          <p:cNvPr id="9" name="s2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3-forma-9"/>
          <p:cNvSpPr/>
          <p:nvPr/>
        </p:nvSpPr>
        <p:spPr>
          <a:xfrm>
            <a:off x="1659380" y="6519865"/>
            <a:ext cx="2926878" cy="102835"/>
          </a:xfrm>
          <a:prstGeom prst="rect">
            <a:avLst/>
          </a:prstGeom>
          <a:ln/>
        </p:spPr>
        <p:txBody>
          <a:bodyPr/>
          <a:lstStyle/>
          <a:p>
            <a:endParaRPr lang="es-MX"/>
          </a:p>
        </p:txBody>
      </p:sp>
      <p:sp>
        <p:nvSpPr>
          <p:cNvPr id="11" name="s23-forma-10"/>
          <p:cNvSpPr/>
          <p:nvPr/>
        </p:nvSpPr>
        <p:spPr>
          <a:xfrm>
            <a:off x="1659380" y="6519865"/>
            <a:ext cx="5713" cy="102835"/>
          </a:xfrm>
          <a:prstGeom prst="rect">
            <a:avLst/>
          </a:prstGeom>
          <a:solidFill>
            <a:srgbClr val="C6BFAE"/>
          </a:solidFill>
          <a:ln/>
        </p:spPr>
        <p:txBody>
          <a:bodyPr/>
          <a:lstStyle/>
          <a:p>
            <a:endParaRPr lang="es-MX"/>
          </a:p>
        </p:txBody>
      </p:sp>
      <p:sp>
        <p:nvSpPr>
          <p:cNvPr id="12" name="s2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36</a:t>
            </a:r>
            <a:endParaRPr lang="en-US" sz="745" dirty="0"/>
          </a:p>
        </p:txBody>
      </p:sp>
      <p:sp>
        <p:nvSpPr>
          <p:cNvPr id="14" name="s23-forma-13"/>
          <p:cNvSpPr/>
          <p:nvPr/>
        </p:nvSpPr>
        <p:spPr>
          <a:xfrm>
            <a:off x="0" y="0"/>
            <a:ext cx="7789059"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ARQUITECTURAS · SÍNTESIS</a:t>
            </a:r>
            <a:endParaRPr lang="en-US" sz="900" dirty="0"/>
          </a:p>
        </p:txBody>
      </p:sp>
      <p:sp>
        <p:nvSpPr>
          <p:cNvPr id="7" name="s2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¿Qué arquitectura elijo?</a:t>
            </a:r>
            <a:endParaRPr lang="en-US" sz="2879" dirty="0"/>
          </a:p>
        </p:txBody>
      </p:sp>
      <p:sp>
        <p:nvSpPr>
          <p:cNvPr id="8" name="s24-forma-7"/>
          <p:cNvSpPr/>
          <p:nvPr/>
        </p:nvSpPr>
        <p:spPr>
          <a:xfrm>
            <a:off x="1342572" y="2076077"/>
            <a:ext cx="3077471" cy="568986"/>
          </a:xfrm>
          <a:prstGeom prst="rect">
            <a:avLst/>
          </a:prstGeom>
          <a:solidFill>
            <a:srgbClr val="DCE3F2"/>
          </a:solidFill>
          <a:ln/>
        </p:spPr>
        <p:txBody>
          <a:bodyPr/>
          <a:lstStyle/>
          <a:p>
            <a:endParaRPr lang="es-MX"/>
          </a:p>
        </p:txBody>
      </p:sp>
      <p:sp>
        <p:nvSpPr>
          <p:cNvPr id="9" name="s24-texto-8"/>
          <p:cNvSpPr txBox="1"/>
          <p:nvPr/>
        </p:nvSpPr>
        <p:spPr>
          <a:xfrm>
            <a:off x="1479686"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1</a:t>
            </a:r>
            <a:endParaRPr lang="en-US" sz="1799" dirty="0"/>
          </a:p>
        </p:txBody>
      </p:sp>
      <p:sp>
        <p:nvSpPr>
          <p:cNvPr id="10" name="s24-texto-9"/>
          <p:cNvSpPr txBox="1"/>
          <p:nvPr/>
        </p:nvSpPr>
        <p:spPr>
          <a:xfrm>
            <a:off x="1714189" y="2269696"/>
            <a:ext cx="2713591" cy="171392"/>
          </a:xfrm>
          <a:prstGeom prst="rect">
            <a:avLst/>
          </a:prstGeom>
          <a:noFill/>
          <a:ln/>
        </p:spPr>
        <p:txBody>
          <a:bodyPr wrap="non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¿Los pasos se conocen de antemano?</a:t>
            </a:r>
            <a:endParaRPr lang="en-US" sz="1170" dirty="0"/>
          </a:p>
        </p:txBody>
      </p:sp>
      <p:sp>
        <p:nvSpPr>
          <p:cNvPr id="11" name="s24-forma-10"/>
          <p:cNvSpPr/>
          <p:nvPr/>
        </p:nvSpPr>
        <p:spPr>
          <a:xfrm>
            <a:off x="4557157" y="2076077"/>
            <a:ext cx="3077471" cy="568986"/>
          </a:xfrm>
          <a:prstGeom prst="rect">
            <a:avLst/>
          </a:prstGeom>
          <a:solidFill>
            <a:srgbClr val="DCE3F2"/>
          </a:solidFill>
          <a:ln/>
        </p:spPr>
        <p:txBody>
          <a:bodyPr/>
          <a:lstStyle/>
          <a:p>
            <a:endParaRPr lang="es-MX"/>
          </a:p>
        </p:txBody>
      </p:sp>
      <p:sp>
        <p:nvSpPr>
          <p:cNvPr id="12" name="s24-texto-11"/>
          <p:cNvSpPr txBox="1"/>
          <p:nvPr/>
        </p:nvSpPr>
        <p:spPr>
          <a:xfrm>
            <a:off x="4694270"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2</a:t>
            </a:r>
            <a:endParaRPr lang="en-US" sz="1799" dirty="0"/>
          </a:p>
        </p:txBody>
      </p:sp>
      <p:sp>
        <p:nvSpPr>
          <p:cNvPr id="13" name="s24-texto-12"/>
          <p:cNvSpPr txBox="1"/>
          <p:nvPr/>
        </p:nvSpPr>
        <p:spPr>
          <a:xfrm>
            <a:off x="4928774" y="2173199"/>
            <a:ext cx="2722864" cy="364476"/>
          </a:xfrm>
          <a:prstGeom prst="rect">
            <a:avLst/>
          </a:prstGeom>
          <a:noFill/>
          <a:ln/>
        </p:spPr>
        <p:txBody>
          <a:bodyPr wrap="squar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¿Un solo agente con buenas herramientas alcanza?</a:t>
            </a:r>
            <a:endParaRPr lang="en-US" sz="1170" dirty="0"/>
          </a:p>
        </p:txBody>
      </p:sp>
      <p:sp>
        <p:nvSpPr>
          <p:cNvPr id="14" name="s24-forma-13"/>
          <p:cNvSpPr/>
          <p:nvPr/>
        </p:nvSpPr>
        <p:spPr>
          <a:xfrm>
            <a:off x="7771742" y="2076077"/>
            <a:ext cx="3077471" cy="568986"/>
          </a:xfrm>
          <a:prstGeom prst="rect">
            <a:avLst/>
          </a:prstGeom>
          <a:solidFill>
            <a:srgbClr val="DCE3F2"/>
          </a:solidFill>
          <a:ln/>
        </p:spPr>
        <p:txBody>
          <a:bodyPr/>
          <a:lstStyle/>
          <a:p>
            <a:endParaRPr lang="es-MX"/>
          </a:p>
        </p:txBody>
      </p:sp>
      <p:sp>
        <p:nvSpPr>
          <p:cNvPr id="15" name="s24-texto-14"/>
          <p:cNvSpPr txBox="1"/>
          <p:nvPr/>
        </p:nvSpPr>
        <p:spPr>
          <a:xfrm>
            <a:off x="7908855"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3</a:t>
            </a:r>
            <a:endParaRPr lang="en-US" sz="1799" dirty="0"/>
          </a:p>
        </p:txBody>
      </p:sp>
      <p:sp>
        <p:nvSpPr>
          <p:cNvPr id="16" name="s24-texto-15"/>
          <p:cNvSpPr txBox="1"/>
          <p:nvPr/>
        </p:nvSpPr>
        <p:spPr>
          <a:xfrm>
            <a:off x="8143359" y="2173199"/>
            <a:ext cx="2722864" cy="364476"/>
          </a:xfrm>
          <a:prstGeom prst="rect">
            <a:avLst/>
          </a:prstGeom>
          <a:noFill/>
          <a:ln/>
        </p:spPr>
        <p:txBody>
          <a:bodyPr wrap="squar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¿Quién debe decidir el siguiente paso?</a:t>
            </a:r>
            <a:endParaRPr lang="en-US" sz="1170" dirty="0"/>
          </a:p>
        </p:txBody>
      </p:sp>
      <p:sp>
        <p:nvSpPr>
          <p:cNvPr id="17" name="s24-forma-16"/>
          <p:cNvSpPr/>
          <p:nvPr/>
        </p:nvSpPr>
        <p:spPr>
          <a:xfrm>
            <a:off x="1342572" y="2850734"/>
            <a:ext cx="1140740" cy="351890"/>
          </a:xfrm>
          <a:prstGeom prst="rect">
            <a:avLst/>
          </a:prstGeom>
          <a:ln/>
        </p:spPr>
        <p:txBody>
          <a:bodyPr/>
          <a:lstStyle/>
          <a:p>
            <a:endParaRPr lang="es-MX"/>
          </a:p>
        </p:txBody>
      </p:sp>
      <p:sp>
        <p:nvSpPr>
          <p:cNvPr id="18" name="s24-forma-17"/>
          <p:cNvSpPr/>
          <p:nvPr/>
        </p:nvSpPr>
        <p:spPr>
          <a:xfrm>
            <a:off x="1342572" y="3196910"/>
            <a:ext cx="1140740" cy="5713"/>
          </a:xfrm>
          <a:prstGeom prst="rect">
            <a:avLst/>
          </a:prstGeom>
          <a:solidFill>
            <a:srgbClr val="0033A0"/>
          </a:solidFill>
          <a:ln/>
        </p:spPr>
        <p:txBody>
          <a:bodyPr/>
          <a:lstStyle/>
          <a:p>
            <a:endParaRPr lang="es-MX"/>
          </a:p>
        </p:txBody>
      </p:sp>
      <p:sp>
        <p:nvSpPr>
          <p:cNvPr id="19" name="s24-texto-18"/>
          <p:cNvSpPr txBox="1"/>
          <p:nvPr/>
        </p:nvSpPr>
        <p:spPr>
          <a:xfrm>
            <a:off x="1418538" y="2899562"/>
            <a:ext cx="104811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ARQUITECTURA</a:t>
            </a:r>
            <a:endParaRPr lang="en-US" sz="855" dirty="0"/>
          </a:p>
        </p:txBody>
      </p:sp>
      <p:sp>
        <p:nvSpPr>
          <p:cNvPr id="20" name="s24-forma-19"/>
          <p:cNvSpPr/>
          <p:nvPr/>
        </p:nvSpPr>
        <p:spPr>
          <a:xfrm>
            <a:off x="2483312" y="2850734"/>
            <a:ext cx="1616085" cy="351890"/>
          </a:xfrm>
          <a:prstGeom prst="rect">
            <a:avLst/>
          </a:prstGeom>
          <a:ln/>
        </p:spPr>
        <p:txBody>
          <a:bodyPr/>
          <a:lstStyle/>
          <a:p>
            <a:endParaRPr lang="es-MX"/>
          </a:p>
        </p:txBody>
      </p:sp>
      <p:sp>
        <p:nvSpPr>
          <p:cNvPr id="21" name="s24-forma-20"/>
          <p:cNvSpPr/>
          <p:nvPr/>
        </p:nvSpPr>
        <p:spPr>
          <a:xfrm>
            <a:off x="2483312" y="3196910"/>
            <a:ext cx="1616085" cy="5713"/>
          </a:xfrm>
          <a:prstGeom prst="rect">
            <a:avLst/>
          </a:prstGeom>
          <a:solidFill>
            <a:srgbClr val="0033A0"/>
          </a:solidFill>
          <a:ln/>
        </p:spPr>
        <p:txBody>
          <a:bodyPr/>
          <a:lstStyle/>
          <a:p>
            <a:endParaRPr lang="es-MX"/>
          </a:p>
        </p:txBody>
      </p:sp>
      <p:sp>
        <p:nvSpPr>
          <p:cNvPr id="22" name="s24-texto-21"/>
          <p:cNvSpPr txBox="1"/>
          <p:nvPr/>
        </p:nvSpPr>
        <p:spPr>
          <a:xfrm>
            <a:off x="2559278" y="2899562"/>
            <a:ext cx="1551983" cy="251375"/>
          </a:xfrm>
          <a:prstGeom prst="rect">
            <a:avLst/>
          </a:prstGeom>
          <a:noFill/>
          <a:ln/>
        </p:spPr>
        <p:txBody>
          <a:bodyPr wrap="squar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QUIÉN DECIDE EL SIGUIENTE PASO</a:t>
            </a:r>
            <a:endParaRPr lang="en-US" sz="855" dirty="0"/>
          </a:p>
        </p:txBody>
      </p:sp>
      <p:sp>
        <p:nvSpPr>
          <p:cNvPr id="23" name="s24-forma-22"/>
          <p:cNvSpPr/>
          <p:nvPr/>
        </p:nvSpPr>
        <p:spPr>
          <a:xfrm>
            <a:off x="4099397" y="2850734"/>
            <a:ext cx="2186500" cy="351890"/>
          </a:xfrm>
          <a:prstGeom prst="rect">
            <a:avLst/>
          </a:prstGeom>
          <a:ln/>
        </p:spPr>
        <p:txBody>
          <a:bodyPr/>
          <a:lstStyle/>
          <a:p>
            <a:endParaRPr lang="es-MX"/>
          </a:p>
        </p:txBody>
      </p:sp>
      <p:sp>
        <p:nvSpPr>
          <p:cNvPr id="24" name="s24-forma-23"/>
          <p:cNvSpPr/>
          <p:nvPr/>
        </p:nvSpPr>
        <p:spPr>
          <a:xfrm>
            <a:off x="4099397" y="3196910"/>
            <a:ext cx="2186500" cy="5713"/>
          </a:xfrm>
          <a:prstGeom prst="rect">
            <a:avLst/>
          </a:prstGeom>
          <a:solidFill>
            <a:srgbClr val="0033A0"/>
          </a:solidFill>
          <a:ln/>
        </p:spPr>
        <p:txBody>
          <a:bodyPr/>
          <a:lstStyle/>
          <a:p>
            <a:endParaRPr lang="es-MX"/>
          </a:p>
        </p:txBody>
      </p:sp>
      <p:sp>
        <p:nvSpPr>
          <p:cNvPr id="25" name="s24-texto-24"/>
          <p:cNvSpPr txBox="1"/>
          <p:nvPr/>
        </p:nvSpPr>
        <p:spPr>
          <a:xfrm>
            <a:off x="4175363" y="2899562"/>
            <a:ext cx="215662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ÚSALA CUANDO</a:t>
            </a:r>
            <a:endParaRPr lang="en-US" sz="855" dirty="0"/>
          </a:p>
        </p:txBody>
      </p:sp>
      <p:sp>
        <p:nvSpPr>
          <p:cNvPr id="26" name="s24-forma-25"/>
          <p:cNvSpPr/>
          <p:nvPr/>
        </p:nvSpPr>
        <p:spPr>
          <a:xfrm>
            <a:off x="6285897" y="2850734"/>
            <a:ext cx="1806223" cy="351890"/>
          </a:xfrm>
          <a:prstGeom prst="rect">
            <a:avLst/>
          </a:prstGeom>
          <a:ln/>
        </p:spPr>
        <p:txBody>
          <a:bodyPr/>
          <a:lstStyle/>
          <a:p>
            <a:endParaRPr lang="es-MX"/>
          </a:p>
        </p:txBody>
      </p:sp>
      <p:sp>
        <p:nvSpPr>
          <p:cNvPr id="27" name="s24-forma-26"/>
          <p:cNvSpPr/>
          <p:nvPr/>
        </p:nvSpPr>
        <p:spPr>
          <a:xfrm>
            <a:off x="6285897" y="3196910"/>
            <a:ext cx="1806223" cy="5713"/>
          </a:xfrm>
          <a:prstGeom prst="rect">
            <a:avLst/>
          </a:prstGeom>
          <a:solidFill>
            <a:srgbClr val="0033A0"/>
          </a:solidFill>
          <a:ln/>
        </p:spPr>
        <p:txBody>
          <a:bodyPr/>
          <a:lstStyle/>
          <a:p>
            <a:endParaRPr lang="es-MX"/>
          </a:p>
        </p:txBody>
      </p:sp>
      <p:sp>
        <p:nvSpPr>
          <p:cNvPr id="28" name="s24-texto-27"/>
          <p:cNvSpPr txBox="1"/>
          <p:nvPr/>
        </p:nvSpPr>
        <p:spPr>
          <a:xfrm>
            <a:off x="6361863" y="2899562"/>
            <a:ext cx="1753530"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EVÍTALA CUANDO</a:t>
            </a:r>
            <a:endParaRPr lang="en-US" sz="855" dirty="0"/>
          </a:p>
        </p:txBody>
      </p:sp>
      <p:sp>
        <p:nvSpPr>
          <p:cNvPr id="29" name="s24-forma-28"/>
          <p:cNvSpPr/>
          <p:nvPr/>
        </p:nvSpPr>
        <p:spPr>
          <a:xfrm>
            <a:off x="8092120" y="2850734"/>
            <a:ext cx="2757003" cy="351890"/>
          </a:xfrm>
          <a:prstGeom prst="rect">
            <a:avLst/>
          </a:prstGeom>
          <a:ln/>
        </p:spPr>
        <p:txBody>
          <a:bodyPr/>
          <a:lstStyle/>
          <a:p>
            <a:endParaRPr lang="es-MX"/>
          </a:p>
        </p:txBody>
      </p:sp>
      <p:sp>
        <p:nvSpPr>
          <p:cNvPr id="30" name="s24-forma-29"/>
          <p:cNvSpPr/>
          <p:nvPr/>
        </p:nvSpPr>
        <p:spPr>
          <a:xfrm>
            <a:off x="8092120" y="3196910"/>
            <a:ext cx="2757003" cy="5713"/>
          </a:xfrm>
          <a:prstGeom prst="rect">
            <a:avLst/>
          </a:prstGeom>
          <a:solidFill>
            <a:srgbClr val="0033A0"/>
          </a:solidFill>
          <a:ln/>
        </p:spPr>
        <p:txBody>
          <a:bodyPr/>
          <a:lstStyle/>
          <a:p>
            <a:endParaRPr lang="es-MX"/>
          </a:p>
        </p:txBody>
      </p:sp>
      <p:sp>
        <p:nvSpPr>
          <p:cNvPr id="31" name="s24-texto-30"/>
          <p:cNvSpPr txBox="1"/>
          <p:nvPr/>
        </p:nvSpPr>
        <p:spPr>
          <a:xfrm>
            <a:off x="8168086" y="2899562"/>
            <a:ext cx="276135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EJEMPLO DE LA VIDA REAL</a:t>
            </a:r>
            <a:endParaRPr lang="en-US" sz="855" dirty="0"/>
          </a:p>
        </p:txBody>
      </p:sp>
      <p:sp>
        <p:nvSpPr>
          <p:cNvPr id="32" name="s24-forma-31"/>
          <p:cNvSpPr/>
          <p:nvPr/>
        </p:nvSpPr>
        <p:spPr>
          <a:xfrm>
            <a:off x="1342572" y="3202623"/>
            <a:ext cx="9506551" cy="387775"/>
          </a:xfrm>
          <a:prstGeom prst="rect">
            <a:avLst/>
          </a:prstGeom>
          <a:solidFill>
            <a:srgbClr val="E2D3C2"/>
          </a:solidFill>
          <a:ln/>
        </p:spPr>
        <p:txBody>
          <a:bodyPr/>
          <a:lstStyle/>
          <a:p>
            <a:endParaRPr lang="es-MX"/>
          </a:p>
        </p:txBody>
      </p:sp>
      <p:sp>
        <p:nvSpPr>
          <p:cNvPr id="33" name="s24-forma-32"/>
          <p:cNvSpPr/>
          <p:nvPr/>
        </p:nvSpPr>
        <p:spPr>
          <a:xfrm>
            <a:off x="1342572" y="3202623"/>
            <a:ext cx="1140740" cy="387775"/>
          </a:xfrm>
          <a:prstGeom prst="rect">
            <a:avLst/>
          </a:prstGeom>
          <a:ln/>
        </p:spPr>
        <p:txBody>
          <a:bodyPr/>
          <a:lstStyle/>
          <a:p>
            <a:endParaRPr lang="es-MX"/>
          </a:p>
        </p:txBody>
      </p:sp>
      <p:sp>
        <p:nvSpPr>
          <p:cNvPr id="34" name="s24-forma-33"/>
          <p:cNvSpPr/>
          <p:nvPr/>
        </p:nvSpPr>
        <p:spPr>
          <a:xfrm>
            <a:off x="1342572" y="3584685"/>
            <a:ext cx="1140740" cy="5713"/>
          </a:xfrm>
          <a:prstGeom prst="rect">
            <a:avLst/>
          </a:prstGeom>
          <a:solidFill>
            <a:srgbClr val="DBD4C4"/>
          </a:solidFill>
          <a:ln/>
        </p:spPr>
        <p:txBody>
          <a:bodyPr/>
          <a:lstStyle/>
          <a:p>
            <a:endParaRPr lang="es-MX"/>
          </a:p>
        </p:txBody>
      </p:sp>
      <p:sp>
        <p:nvSpPr>
          <p:cNvPr id="35" name="s24-texto-34"/>
          <p:cNvSpPr txBox="1"/>
          <p:nvPr/>
        </p:nvSpPr>
        <p:spPr>
          <a:xfrm>
            <a:off x="1426483" y="3259397"/>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Workflow</a:t>
            </a:r>
            <a:endParaRPr lang="en-US" sz="945" dirty="0"/>
          </a:p>
        </p:txBody>
      </p:sp>
      <p:sp>
        <p:nvSpPr>
          <p:cNvPr id="36" name="s24-forma-35"/>
          <p:cNvSpPr/>
          <p:nvPr/>
        </p:nvSpPr>
        <p:spPr>
          <a:xfrm>
            <a:off x="2483312" y="3202623"/>
            <a:ext cx="1616085" cy="387775"/>
          </a:xfrm>
          <a:prstGeom prst="rect">
            <a:avLst/>
          </a:prstGeom>
          <a:ln/>
        </p:spPr>
        <p:txBody>
          <a:bodyPr/>
          <a:lstStyle/>
          <a:p>
            <a:endParaRPr lang="es-MX"/>
          </a:p>
        </p:txBody>
      </p:sp>
      <p:sp>
        <p:nvSpPr>
          <p:cNvPr id="37" name="s24-forma-36"/>
          <p:cNvSpPr/>
          <p:nvPr/>
        </p:nvSpPr>
        <p:spPr>
          <a:xfrm>
            <a:off x="2483312" y="3584685"/>
            <a:ext cx="1616085" cy="5713"/>
          </a:xfrm>
          <a:prstGeom prst="rect">
            <a:avLst/>
          </a:prstGeom>
          <a:solidFill>
            <a:srgbClr val="DBD4C4"/>
          </a:solidFill>
          <a:ln/>
        </p:spPr>
        <p:txBody>
          <a:bodyPr/>
          <a:lstStyle/>
          <a:p>
            <a:endParaRPr lang="es-MX"/>
          </a:p>
        </p:txBody>
      </p:sp>
      <p:sp>
        <p:nvSpPr>
          <p:cNvPr id="38" name="s24-texto-37"/>
          <p:cNvSpPr txBox="1"/>
          <p:nvPr/>
        </p:nvSpPr>
        <p:spPr>
          <a:xfrm>
            <a:off x="2567222" y="3259397"/>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El código</a:t>
            </a:r>
            <a:endParaRPr lang="en-US" sz="945" dirty="0"/>
          </a:p>
        </p:txBody>
      </p:sp>
      <p:sp>
        <p:nvSpPr>
          <p:cNvPr id="39" name="s24-forma-38"/>
          <p:cNvSpPr/>
          <p:nvPr/>
        </p:nvSpPr>
        <p:spPr>
          <a:xfrm>
            <a:off x="4099397" y="3202623"/>
            <a:ext cx="2186500" cy="387775"/>
          </a:xfrm>
          <a:prstGeom prst="rect">
            <a:avLst/>
          </a:prstGeom>
          <a:ln/>
        </p:spPr>
        <p:txBody>
          <a:bodyPr/>
          <a:lstStyle/>
          <a:p>
            <a:endParaRPr lang="es-MX"/>
          </a:p>
        </p:txBody>
      </p:sp>
      <p:sp>
        <p:nvSpPr>
          <p:cNvPr id="40" name="s24-forma-39"/>
          <p:cNvSpPr/>
          <p:nvPr/>
        </p:nvSpPr>
        <p:spPr>
          <a:xfrm>
            <a:off x="4099397" y="3584685"/>
            <a:ext cx="2186500" cy="5713"/>
          </a:xfrm>
          <a:prstGeom prst="rect">
            <a:avLst/>
          </a:prstGeom>
          <a:solidFill>
            <a:srgbClr val="DBD4C4"/>
          </a:solidFill>
          <a:ln/>
        </p:spPr>
        <p:txBody>
          <a:bodyPr/>
          <a:lstStyle/>
          <a:p>
            <a:endParaRPr lang="es-MX"/>
          </a:p>
        </p:txBody>
      </p:sp>
      <p:sp>
        <p:nvSpPr>
          <p:cNvPr id="41" name="s24-texto-40"/>
          <p:cNvSpPr txBox="1"/>
          <p:nvPr/>
        </p:nvSpPr>
        <p:spPr>
          <a:xfrm>
            <a:off x="4183308" y="3259397"/>
            <a:ext cx="2139723"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Los pasos se conocen de antemano</a:t>
            </a:r>
            <a:endParaRPr lang="en-US" sz="945" dirty="0"/>
          </a:p>
        </p:txBody>
      </p:sp>
      <p:sp>
        <p:nvSpPr>
          <p:cNvPr id="42" name="s24-forma-41"/>
          <p:cNvSpPr/>
          <p:nvPr/>
        </p:nvSpPr>
        <p:spPr>
          <a:xfrm>
            <a:off x="6285897" y="3202623"/>
            <a:ext cx="1806223" cy="387775"/>
          </a:xfrm>
          <a:prstGeom prst="rect">
            <a:avLst/>
          </a:prstGeom>
          <a:ln/>
        </p:spPr>
        <p:txBody>
          <a:bodyPr/>
          <a:lstStyle/>
          <a:p>
            <a:endParaRPr lang="es-MX"/>
          </a:p>
        </p:txBody>
      </p:sp>
      <p:sp>
        <p:nvSpPr>
          <p:cNvPr id="43" name="s24-forma-42"/>
          <p:cNvSpPr/>
          <p:nvPr/>
        </p:nvSpPr>
        <p:spPr>
          <a:xfrm>
            <a:off x="6285897" y="3584685"/>
            <a:ext cx="1806223" cy="5713"/>
          </a:xfrm>
          <a:prstGeom prst="rect">
            <a:avLst/>
          </a:prstGeom>
          <a:solidFill>
            <a:srgbClr val="DBD4C4"/>
          </a:solidFill>
          <a:ln/>
        </p:spPr>
        <p:txBody>
          <a:bodyPr/>
          <a:lstStyle/>
          <a:p>
            <a:endParaRPr lang="es-MX"/>
          </a:p>
        </p:txBody>
      </p:sp>
      <p:sp>
        <p:nvSpPr>
          <p:cNvPr id="44" name="s24-texto-43"/>
          <p:cNvSpPr txBox="1"/>
          <p:nvPr/>
        </p:nvSpPr>
        <p:spPr>
          <a:xfrm>
            <a:off x="6369807" y="3259397"/>
            <a:ext cx="1736630"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La tarea cambia con cada entrada</a:t>
            </a:r>
            <a:endParaRPr lang="en-US" sz="945" dirty="0"/>
          </a:p>
        </p:txBody>
      </p:sp>
      <p:sp>
        <p:nvSpPr>
          <p:cNvPr id="45" name="s24-forma-44"/>
          <p:cNvSpPr/>
          <p:nvPr/>
        </p:nvSpPr>
        <p:spPr>
          <a:xfrm>
            <a:off x="8092120" y="3202623"/>
            <a:ext cx="2757003" cy="387775"/>
          </a:xfrm>
          <a:prstGeom prst="rect">
            <a:avLst/>
          </a:prstGeom>
          <a:ln/>
        </p:spPr>
        <p:txBody>
          <a:bodyPr/>
          <a:lstStyle/>
          <a:p>
            <a:endParaRPr lang="es-MX"/>
          </a:p>
        </p:txBody>
      </p:sp>
      <p:sp>
        <p:nvSpPr>
          <p:cNvPr id="46" name="s24-forma-45"/>
          <p:cNvSpPr/>
          <p:nvPr/>
        </p:nvSpPr>
        <p:spPr>
          <a:xfrm>
            <a:off x="8092120" y="3584685"/>
            <a:ext cx="2757003" cy="5713"/>
          </a:xfrm>
          <a:prstGeom prst="rect">
            <a:avLst/>
          </a:prstGeom>
          <a:solidFill>
            <a:srgbClr val="DBD4C4"/>
          </a:solidFill>
          <a:ln/>
        </p:spPr>
        <p:txBody>
          <a:bodyPr/>
          <a:lstStyle/>
          <a:p>
            <a:endParaRPr lang="es-MX"/>
          </a:p>
        </p:txBody>
      </p:sp>
      <p:sp>
        <p:nvSpPr>
          <p:cNvPr id="47" name="s24-texto-46"/>
          <p:cNvSpPr txBox="1"/>
          <p:nvPr/>
        </p:nvSpPr>
        <p:spPr>
          <a:xfrm>
            <a:off x="8176031" y="3259397"/>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Procesar facturas: leer el PDF, validar el RFC y registrar el gasto</a:t>
            </a:r>
            <a:endParaRPr lang="en-US" sz="945" dirty="0"/>
          </a:p>
        </p:txBody>
      </p:sp>
      <p:sp>
        <p:nvSpPr>
          <p:cNvPr id="48" name="s24-forma-47"/>
          <p:cNvSpPr/>
          <p:nvPr/>
        </p:nvSpPr>
        <p:spPr>
          <a:xfrm>
            <a:off x="1342572" y="3590398"/>
            <a:ext cx="1140740" cy="387775"/>
          </a:xfrm>
          <a:prstGeom prst="rect">
            <a:avLst/>
          </a:prstGeom>
          <a:ln/>
        </p:spPr>
        <p:txBody>
          <a:bodyPr/>
          <a:lstStyle/>
          <a:p>
            <a:endParaRPr lang="es-MX"/>
          </a:p>
        </p:txBody>
      </p:sp>
      <p:sp>
        <p:nvSpPr>
          <p:cNvPr id="49" name="s24-forma-48"/>
          <p:cNvSpPr/>
          <p:nvPr/>
        </p:nvSpPr>
        <p:spPr>
          <a:xfrm>
            <a:off x="1342572" y="3972459"/>
            <a:ext cx="1140740" cy="5713"/>
          </a:xfrm>
          <a:prstGeom prst="rect">
            <a:avLst/>
          </a:prstGeom>
          <a:solidFill>
            <a:srgbClr val="DBD4C4"/>
          </a:solidFill>
          <a:ln/>
        </p:spPr>
        <p:txBody>
          <a:bodyPr/>
          <a:lstStyle/>
          <a:p>
            <a:endParaRPr lang="es-MX"/>
          </a:p>
        </p:txBody>
      </p:sp>
      <p:sp>
        <p:nvSpPr>
          <p:cNvPr id="50" name="s24-texto-49"/>
          <p:cNvSpPr txBox="1"/>
          <p:nvPr/>
        </p:nvSpPr>
        <p:spPr>
          <a:xfrm>
            <a:off x="1426483" y="3647171"/>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Un agente</a:t>
            </a:r>
            <a:endParaRPr lang="en-US" sz="945" dirty="0"/>
          </a:p>
        </p:txBody>
      </p:sp>
      <p:sp>
        <p:nvSpPr>
          <p:cNvPr id="51" name="s24-forma-50"/>
          <p:cNvSpPr/>
          <p:nvPr/>
        </p:nvSpPr>
        <p:spPr>
          <a:xfrm>
            <a:off x="2483312" y="3590398"/>
            <a:ext cx="1616085" cy="387775"/>
          </a:xfrm>
          <a:prstGeom prst="rect">
            <a:avLst/>
          </a:prstGeom>
          <a:ln/>
        </p:spPr>
        <p:txBody>
          <a:bodyPr/>
          <a:lstStyle/>
          <a:p>
            <a:endParaRPr lang="es-MX"/>
          </a:p>
        </p:txBody>
      </p:sp>
      <p:sp>
        <p:nvSpPr>
          <p:cNvPr id="52" name="s24-forma-51"/>
          <p:cNvSpPr/>
          <p:nvPr/>
        </p:nvSpPr>
        <p:spPr>
          <a:xfrm>
            <a:off x="2483312" y="3972459"/>
            <a:ext cx="1616085" cy="5713"/>
          </a:xfrm>
          <a:prstGeom prst="rect">
            <a:avLst/>
          </a:prstGeom>
          <a:solidFill>
            <a:srgbClr val="DBD4C4"/>
          </a:solidFill>
          <a:ln/>
        </p:spPr>
        <p:txBody>
          <a:bodyPr/>
          <a:lstStyle/>
          <a:p>
            <a:endParaRPr lang="es-MX"/>
          </a:p>
        </p:txBody>
      </p:sp>
      <p:sp>
        <p:nvSpPr>
          <p:cNvPr id="53" name="s24-texto-52"/>
          <p:cNvSpPr txBox="1"/>
          <p:nvPr/>
        </p:nvSpPr>
        <p:spPr>
          <a:xfrm>
            <a:off x="2567222" y="3647171"/>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El modelo, en su bucle</a:t>
            </a:r>
            <a:endParaRPr lang="en-US" sz="945" dirty="0"/>
          </a:p>
        </p:txBody>
      </p:sp>
      <p:sp>
        <p:nvSpPr>
          <p:cNvPr id="54" name="s24-forma-53"/>
          <p:cNvSpPr/>
          <p:nvPr/>
        </p:nvSpPr>
        <p:spPr>
          <a:xfrm>
            <a:off x="4099397" y="3590398"/>
            <a:ext cx="2186500" cy="387775"/>
          </a:xfrm>
          <a:prstGeom prst="rect">
            <a:avLst/>
          </a:prstGeom>
          <a:ln/>
        </p:spPr>
        <p:txBody>
          <a:bodyPr/>
          <a:lstStyle/>
          <a:p>
            <a:endParaRPr lang="es-MX"/>
          </a:p>
        </p:txBody>
      </p:sp>
      <p:sp>
        <p:nvSpPr>
          <p:cNvPr id="55" name="s24-forma-54"/>
          <p:cNvSpPr/>
          <p:nvPr/>
        </p:nvSpPr>
        <p:spPr>
          <a:xfrm>
            <a:off x="4099397" y="3972459"/>
            <a:ext cx="2186500" cy="5713"/>
          </a:xfrm>
          <a:prstGeom prst="rect">
            <a:avLst/>
          </a:prstGeom>
          <a:solidFill>
            <a:srgbClr val="DBD4C4"/>
          </a:solidFill>
          <a:ln/>
        </p:spPr>
        <p:txBody>
          <a:bodyPr/>
          <a:lstStyle/>
          <a:p>
            <a:endParaRPr lang="es-MX"/>
          </a:p>
        </p:txBody>
      </p:sp>
      <p:sp>
        <p:nvSpPr>
          <p:cNvPr id="56" name="s24-texto-55"/>
          <p:cNvSpPr txBox="1"/>
          <p:nvPr/>
        </p:nvSpPr>
        <p:spPr>
          <a:xfrm>
            <a:off x="4183308" y="3647171"/>
            <a:ext cx="2139723"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Tarea abierta que cabe en un contexto y unos permisos</a:t>
            </a:r>
            <a:endParaRPr lang="en-US" sz="945" dirty="0"/>
          </a:p>
        </p:txBody>
      </p:sp>
      <p:sp>
        <p:nvSpPr>
          <p:cNvPr id="57" name="s24-forma-56"/>
          <p:cNvSpPr/>
          <p:nvPr/>
        </p:nvSpPr>
        <p:spPr>
          <a:xfrm>
            <a:off x="6285897" y="3590398"/>
            <a:ext cx="1806223" cy="387775"/>
          </a:xfrm>
          <a:prstGeom prst="rect">
            <a:avLst/>
          </a:prstGeom>
          <a:ln/>
        </p:spPr>
        <p:txBody>
          <a:bodyPr/>
          <a:lstStyle/>
          <a:p>
            <a:endParaRPr lang="es-MX"/>
          </a:p>
        </p:txBody>
      </p:sp>
      <p:sp>
        <p:nvSpPr>
          <p:cNvPr id="58" name="s24-forma-57"/>
          <p:cNvSpPr/>
          <p:nvPr/>
        </p:nvSpPr>
        <p:spPr>
          <a:xfrm>
            <a:off x="6285897" y="3972459"/>
            <a:ext cx="1806223" cy="5713"/>
          </a:xfrm>
          <a:prstGeom prst="rect">
            <a:avLst/>
          </a:prstGeom>
          <a:solidFill>
            <a:srgbClr val="DBD4C4"/>
          </a:solidFill>
          <a:ln/>
        </p:spPr>
        <p:txBody>
          <a:bodyPr/>
          <a:lstStyle/>
          <a:p>
            <a:endParaRPr lang="es-MX"/>
          </a:p>
        </p:txBody>
      </p:sp>
      <p:sp>
        <p:nvSpPr>
          <p:cNvPr id="59" name="s24-texto-58"/>
          <p:cNvSpPr txBox="1"/>
          <p:nvPr/>
        </p:nvSpPr>
        <p:spPr>
          <a:xfrm>
            <a:off x="6369807" y="3647171"/>
            <a:ext cx="1736630"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Mezcla permisos o especialidades</a:t>
            </a:r>
            <a:endParaRPr lang="en-US" sz="945" dirty="0"/>
          </a:p>
        </p:txBody>
      </p:sp>
      <p:sp>
        <p:nvSpPr>
          <p:cNvPr id="60" name="s24-forma-59"/>
          <p:cNvSpPr/>
          <p:nvPr/>
        </p:nvSpPr>
        <p:spPr>
          <a:xfrm>
            <a:off x="8092120" y="3590398"/>
            <a:ext cx="2757003" cy="387775"/>
          </a:xfrm>
          <a:prstGeom prst="rect">
            <a:avLst/>
          </a:prstGeom>
          <a:ln/>
        </p:spPr>
        <p:txBody>
          <a:bodyPr/>
          <a:lstStyle/>
          <a:p>
            <a:endParaRPr lang="es-MX"/>
          </a:p>
        </p:txBody>
      </p:sp>
      <p:sp>
        <p:nvSpPr>
          <p:cNvPr id="61" name="s24-forma-60"/>
          <p:cNvSpPr/>
          <p:nvPr/>
        </p:nvSpPr>
        <p:spPr>
          <a:xfrm>
            <a:off x="8092120" y="3972459"/>
            <a:ext cx="2757003" cy="5713"/>
          </a:xfrm>
          <a:prstGeom prst="rect">
            <a:avLst/>
          </a:prstGeom>
          <a:solidFill>
            <a:srgbClr val="DBD4C4"/>
          </a:solidFill>
          <a:ln/>
        </p:spPr>
        <p:txBody>
          <a:bodyPr/>
          <a:lstStyle/>
          <a:p>
            <a:endParaRPr lang="es-MX"/>
          </a:p>
        </p:txBody>
      </p:sp>
      <p:sp>
        <p:nvSpPr>
          <p:cNvPr id="62" name="s24-texto-61"/>
          <p:cNvSpPr txBox="1"/>
          <p:nvPr/>
        </p:nvSpPr>
        <p:spPr>
          <a:xfrm>
            <a:off x="8176031" y="3647171"/>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Asistente que responde dudas de vacaciones buscando en el reglamento</a:t>
            </a:r>
            <a:endParaRPr lang="en-US" sz="945" dirty="0"/>
          </a:p>
        </p:txBody>
      </p:sp>
      <p:sp>
        <p:nvSpPr>
          <p:cNvPr id="63" name="s24-forma-62"/>
          <p:cNvSpPr/>
          <p:nvPr/>
        </p:nvSpPr>
        <p:spPr>
          <a:xfrm>
            <a:off x="1342572" y="3978173"/>
            <a:ext cx="1140740" cy="387775"/>
          </a:xfrm>
          <a:prstGeom prst="rect">
            <a:avLst/>
          </a:prstGeom>
          <a:ln/>
        </p:spPr>
        <p:txBody>
          <a:bodyPr/>
          <a:lstStyle/>
          <a:p>
            <a:endParaRPr lang="es-MX"/>
          </a:p>
        </p:txBody>
      </p:sp>
      <p:sp>
        <p:nvSpPr>
          <p:cNvPr id="64" name="s24-forma-63"/>
          <p:cNvSpPr/>
          <p:nvPr/>
        </p:nvSpPr>
        <p:spPr>
          <a:xfrm>
            <a:off x="1342572" y="4360234"/>
            <a:ext cx="1140740" cy="5713"/>
          </a:xfrm>
          <a:prstGeom prst="rect">
            <a:avLst/>
          </a:prstGeom>
          <a:solidFill>
            <a:srgbClr val="DBD4C4"/>
          </a:solidFill>
          <a:ln/>
        </p:spPr>
        <p:txBody>
          <a:bodyPr/>
          <a:lstStyle/>
          <a:p>
            <a:endParaRPr lang="es-MX"/>
          </a:p>
        </p:txBody>
      </p:sp>
      <p:sp>
        <p:nvSpPr>
          <p:cNvPr id="65" name="s24-texto-64"/>
          <p:cNvSpPr txBox="1"/>
          <p:nvPr/>
        </p:nvSpPr>
        <p:spPr>
          <a:xfrm>
            <a:off x="1426483" y="4034946"/>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Supervisor</a:t>
            </a:r>
            <a:endParaRPr lang="en-US" sz="945" dirty="0"/>
          </a:p>
        </p:txBody>
      </p:sp>
      <p:sp>
        <p:nvSpPr>
          <p:cNvPr id="66" name="s24-forma-65"/>
          <p:cNvSpPr/>
          <p:nvPr/>
        </p:nvSpPr>
        <p:spPr>
          <a:xfrm>
            <a:off x="2483312" y="3978173"/>
            <a:ext cx="1616085" cy="387775"/>
          </a:xfrm>
          <a:prstGeom prst="rect">
            <a:avLst/>
          </a:prstGeom>
          <a:ln/>
        </p:spPr>
        <p:txBody>
          <a:bodyPr/>
          <a:lstStyle/>
          <a:p>
            <a:endParaRPr lang="es-MX"/>
          </a:p>
        </p:txBody>
      </p:sp>
      <p:sp>
        <p:nvSpPr>
          <p:cNvPr id="67" name="s24-forma-66"/>
          <p:cNvSpPr/>
          <p:nvPr/>
        </p:nvSpPr>
        <p:spPr>
          <a:xfrm>
            <a:off x="2483312" y="4360234"/>
            <a:ext cx="1616085" cy="5713"/>
          </a:xfrm>
          <a:prstGeom prst="rect">
            <a:avLst/>
          </a:prstGeom>
          <a:solidFill>
            <a:srgbClr val="DBD4C4"/>
          </a:solidFill>
          <a:ln/>
        </p:spPr>
        <p:txBody>
          <a:bodyPr/>
          <a:lstStyle/>
          <a:p>
            <a:endParaRPr lang="es-MX"/>
          </a:p>
        </p:txBody>
      </p:sp>
      <p:sp>
        <p:nvSpPr>
          <p:cNvPr id="68" name="s24-texto-67"/>
          <p:cNvSpPr txBox="1"/>
          <p:nvPr/>
        </p:nvSpPr>
        <p:spPr>
          <a:xfrm>
            <a:off x="2567222" y="4034946"/>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Un agente central o código</a:t>
            </a:r>
            <a:endParaRPr lang="en-US" sz="945" dirty="0"/>
          </a:p>
        </p:txBody>
      </p:sp>
      <p:sp>
        <p:nvSpPr>
          <p:cNvPr id="69" name="s24-forma-68"/>
          <p:cNvSpPr/>
          <p:nvPr/>
        </p:nvSpPr>
        <p:spPr>
          <a:xfrm>
            <a:off x="4099397" y="3978173"/>
            <a:ext cx="2186500" cy="387775"/>
          </a:xfrm>
          <a:prstGeom prst="rect">
            <a:avLst/>
          </a:prstGeom>
          <a:ln/>
        </p:spPr>
        <p:txBody>
          <a:bodyPr/>
          <a:lstStyle/>
          <a:p>
            <a:endParaRPr lang="es-MX"/>
          </a:p>
        </p:txBody>
      </p:sp>
      <p:sp>
        <p:nvSpPr>
          <p:cNvPr id="70" name="s24-forma-69"/>
          <p:cNvSpPr/>
          <p:nvPr/>
        </p:nvSpPr>
        <p:spPr>
          <a:xfrm>
            <a:off x="4099397" y="4360234"/>
            <a:ext cx="2186500" cy="5713"/>
          </a:xfrm>
          <a:prstGeom prst="rect">
            <a:avLst/>
          </a:prstGeom>
          <a:solidFill>
            <a:srgbClr val="DBD4C4"/>
          </a:solidFill>
          <a:ln/>
        </p:spPr>
        <p:txBody>
          <a:bodyPr/>
          <a:lstStyle/>
          <a:p>
            <a:endParaRPr lang="es-MX"/>
          </a:p>
        </p:txBody>
      </p:sp>
      <p:sp>
        <p:nvSpPr>
          <p:cNvPr id="71" name="s24-texto-70"/>
          <p:cNvSpPr txBox="1"/>
          <p:nvPr/>
        </p:nvSpPr>
        <p:spPr>
          <a:xfrm>
            <a:off x="4183308" y="4034946"/>
            <a:ext cx="2139723"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Varias especialidades, orden según el caso</a:t>
            </a:r>
            <a:endParaRPr lang="en-US" sz="945" dirty="0"/>
          </a:p>
        </p:txBody>
      </p:sp>
      <p:sp>
        <p:nvSpPr>
          <p:cNvPr id="72" name="s24-forma-71"/>
          <p:cNvSpPr/>
          <p:nvPr/>
        </p:nvSpPr>
        <p:spPr>
          <a:xfrm>
            <a:off x="6285897" y="3978173"/>
            <a:ext cx="1806223" cy="387775"/>
          </a:xfrm>
          <a:prstGeom prst="rect">
            <a:avLst/>
          </a:prstGeom>
          <a:ln/>
        </p:spPr>
        <p:txBody>
          <a:bodyPr/>
          <a:lstStyle/>
          <a:p>
            <a:endParaRPr lang="es-MX"/>
          </a:p>
        </p:txBody>
      </p:sp>
      <p:sp>
        <p:nvSpPr>
          <p:cNvPr id="73" name="s24-forma-72"/>
          <p:cNvSpPr/>
          <p:nvPr/>
        </p:nvSpPr>
        <p:spPr>
          <a:xfrm>
            <a:off x="6285897" y="4360234"/>
            <a:ext cx="1806223" cy="5713"/>
          </a:xfrm>
          <a:prstGeom prst="rect">
            <a:avLst/>
          </a:prstGeom>
          <a:solidFill>
            <a:srgbClr val="DBD4C4"/>
          </a:solidFill>
          <a:ln/>
        </p:spPr>
        <p:txBody>
          <a:bodyPr/>
          <a:lstStyle/>
          <a:p>
            <a:endParaRPr lang="es-MX"/>
          </a:p>
        </p:txBody>
      </p:sp>
      <p:sp>
        <p:nvSpPr>
          <p:cNvPr id="74" name="s24-texto-73"/>
          <p:cNvSpPr txBox="1"/>
          <p:nvPr/>
        </p:nvSpPr>
        <p:spPr>
          <a:xfrm>
            <a:off x="6369807" y="4034946"/>
            <a:ext cx="1736630"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El centro se vuelve cuello de botella</a:t>
            </a:r>
            <a:endParaRPr lang="en-US" sz="945" dirty="0"/>
          </a:p>
        </p:txBody>
      </p:sp>
      <p:sp>
        <p:nvSpPr>
          <p:cNvPr id="75" name="s24-forma-74"/>
          <p:cNvSpPr/>
          <p:nvPr/>
        </p:nvSpPr>
        <p:spPr>
          <a:xfrm>
            <a:off x="8092120" y="3978173"/>
            <a:ext cx="2757003" cy="387775"/>
          </a:xfrm>
          <a:prstGeom prst="rect">
            <a:avLst/>
          </a:prstGeom>
          <a:ln/>
        </p:spPr>
        <p:txBody>
          <a:bodyPr/>
          <a:lstStyle/>
          <a:p>
            <a:endParaRPr lang="es-MX"/>
          </a:p>
        </p:txBody>
      </p:sp>
      <p:sp>
        <p:nvSpPr>
          <p:cNvPr id="76" name="s24-forma-75"/>
          <p:cNvSpPr/>
          <p:nvPr/>
        </p:nvSpPr>
        <p:spPr>
          <a:xfrm>
            <a:off x="8092120" y="4360234"/>
            <a:ext cx="2757003" cy="5713"/>
          </a:xfrm>
          <a:prstGeom prst="rect">
            <a:avLst/>
          </a:prstGeom>
          <a:solidFill>
            <a:srgbClr val="DBD4C4"/>
          </a:solidFill>
          <a:ln/>
        </p:spPr>
        <p:txBody>
          <a:bodyPr/>
          <a:lstStyle/>
          <a:p>
            <a:endParaRPr lang="es-MX"/>
          </a:p>
        </p:txBody>
      </p:sp>
      <p:sp>
        <p:nvSpPr>
          <p:cNvPr id="77" name="s24-texto-76"/>
          <p:cNvSpPr txBox="1"/>
          <p:nvPr/>
        </p:nvSpPr>
        <p:spPr>
          <a:xfrm>
            <a:off x="8176031" y="4034946"/>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Agencia de viajes: un coordinador reparte vuelo, hotel y auto según el cliente</a:t>
            </a:r>
            <a:endParaRPr lang="en-US" sz="945" dirty="0"/>
          </a:p>
        </p:txBody>
      </p:sp>
      <p:sp>
        <p:nvSpPr>
          <p:cNvPr id="78" name="s24-forma-77"/>
          <p:cNvSpPr/>
          <p:nvPr/>
        </p:nvSpPr>
        <p:spPr>
          <a:xfrm>
            <a:off x="1342572" y="4365947"/>
            <a:ext cx="1140740" cy="387775"/>
          </a:xfrm>
          <a:prstGeom prst="rect">
            <a:avLst/>
          </a:prstGeom>
          <a:ln/>
        </p:spPr>
        <p:txBody>
          <a:bodyPr/>
          <a:lstStyle/>
          <a:p>
            <a:endParaRPr lang="es-MX"/>
          </a:p>
        </p:txBody>
      </p:sp>
      <p:sp>
        <p:nvSpPr>
          <p:cNvPr id="79" name="s24-forma-78"/>
          <p:cNvSpPr/>
          <p:nvPr/>
        </p:nvSpPr>
        <p:spPr>
          <a:xfrm>
            <a:off x="1342572" y="4748009"/>
            <a:ext cx="1140740" cy="5713"/>
          </a:xfrm>
          <a:prstGeom prst="rect">
            <a:avLst/>
          </a:prstGeom>
          <a:solidFill>
            <a:srgbClr val="DBD4C4"/>
          </a:solidFill>
          <a:ln/>
        </p:spPr>
        <p:txBody>
          <a:bodyPr/>
          <a:lstStyle/>
          <a:p>
            <a:endParaRPr lang="es-MX"/>
          </a:p>
        </p:txBody>
      </p:sp>
      <p:sp>
        <p:nvSpPr>
          <p:cNvPr id="80" name="s24-texto-79"/>
          <p:cNvSpPr txBox="1"/>
          <p:nvPr/>
        </p:nvSpPr>
        <p:spPr>
          <a:xfrm>
            <a:off x="1426483" y="4422721"/>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Jerárquica</a:t>
            </a:r>
            <a:endParaRPr lang="en-US" sz="945" dirty="0"/>
          </a:p>
        </p:txBody>
      </p:sp>
      <p:sp>
        <p:nvSpPr>
          <p:cNvPr id="81" name="s24-forma-80"/>
          <p:cNvSpPr/>
          <p:nvPr/>
        </p:nvSpPr>
        <p:spPr>
          <a:xfrm>
            <a:off x="2483312" y="4365947"/>
            <a:ext cx="1616085" cy="387775"/>
          </a:xfrm>
          <a:prstGeom prst="rect">
            <a:avLst/>
          </a:prstGeom>
          <a:ln/>
        </p:spPr>
        <p:txBody>
          <a:bodyPr/>
          <a:lstStyle/>
          <a:p>
            <a:endParaRPr lang="es-MX"/>
          </a:p>
        </p:txBody>
      </p:sp>
      <p:sp>
        <p:nvSpPr>
          <p:cNvPr id="82" name="s24-forma-81"/>
          <p:cNvSpPr/>
          <p:nvPr/>
        </p:nvSpPr>
        <p:spPr>
          <a:xfrm>
            <a:off x="2483312" y="4748009"/>
            <a:ext cx="1616085" cy="5713"/>
          </a:xfrm>
          <a:prstGeom prst="rect">
            <a:avLst/>
          </a:prstGeom>
          <a:solidFill>
            <a:srgbClr val="DBD4C4"/>
          </a:solidFill>
          <a:ln/>
        </p:spPr>
        <p:txBody>
          <a:bodyPr/>
          <a:lstStyle/>
          <a:p>
            <a:endParaRPr lang="es-MX"/>
          </a:p>
        </p:txBody>
      </p:sp>
      <p:sp>
        <p:nvSpPr>
          <p:cNvPr id="83" name="s24-texto-82"/>
          <p:cNvSpPr txBox="1"/>
          <p:nvPr/>
        </p:nvSpPr>
        <p:spPr>
          <a:xfrm>
            <a:off x="2567222" y="4422721"/>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Un supervisor por nivel</a:t>
            </a:r>
            <a:endParaRPr lang="en-US" sz="945" dirty="0"/>
          </a:p>
        </p:txBody>
      </p:sp>
      <p:sp>
        <p:nvSpPr>
          <p:cNvPr id="84" name="s24-forma-83"/>
          <p:cNvSpPr/>
          <p:nvPr/>
        </p:nvSpPr>
        <p:spPr>
          <a:xfrm>
            <a:off x="4099397" y="4365947"/>
            <a:ext cx="2186500" cy="387775"/>
          </a:xfrm>
          <a:prstGeom prst="rect">
            <a:avLst/>
          </a:prstGeom>
          <a:ln/>
        </p:spPr>
        <p:txBody>
          <a:bodyPr/>
          <a:lstStyle/>
          <a:p>
            <a:endParaRPr lang="es-MX"/>
          </a:p>
        </p:txBody>
      </p:sp>
      <p:sp>
        <p:nvSpPr>
          <p:cNvPr id="85" name="s24-forma-84"/>
          <p:cNvSpPr/>
          <p:nvPr/>
        </p:nvSpPr>
        <p:spPr>
          <a:xfrm>
            <a:off x="4099397" y="4748009"/>
            <a:ext cx="2186500" cy="5713"/>
          </a:xfrm>
          <a:prstGeom prst="rect">
            <a:avLst/>
          </a:prstGeom>
          <a:solidFill>
            <a:srgbClr val="DBD4C4"/>
          </a:solidFill>
          <a:ln/>
        </p:spPr>
        <p:txBody>
          <a:bodyPr/>
          <a:lstStyle/>
          <a:p>
            <a:endParaRPr lang="es-MX"/>
          </a:p>
        </p:txBody>
      </p:sp>
      <p:sp>
        <p:nvSpPr>
          <p:cNvPr id="86" name="s24-texto-85"/>
          <p:cNvSpPr txBox="1"/>
          <p:nvPr/>
        </p:nvSpPr>
        <p:spPr>
          <a:xfrm>
            <a:off x="4183308" y="4422721"/>
            <a:ext cx="2139723"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Muchos agentes agrupados en equipos</a:t>
            </a:r>
            <a:endParaRPr lang="en-US" sz="945" dirty="0"/>
          </a:p>
        </p:txBody>
      </p:sp>
      <p:sp>
        <p:nvSpPr>
          <p:cNvPr id="87" name="s24-forma-86"/>
          <p:cNvSpPr/>
          <p:nvPr/>
        </p:nvSpPr>
        <p:spPr>
          <a:xfrm>
            <a:off x="6285897" y="4365947"/>
            <a:ext cx="1806223" cy="387775"/>
          </a:xfrm>
          <a:prstGeom prst="rect">
            <a:avLst/>
          </a:prstGeom>
          <a:ln/>
        </p:spPr>
        <p:txBody>
          <a:bodyPr/>
          <a:lstStyle/>
          <a:p>
            <a:endParaRPr lang="es-MX"/>
          </a:p>
        </p:txBody>
      </p:sp>
      <p:sp>
        <p:nvSpPr>
          <p:cNvPr id="88" name="s24-forma-87"/>
          <p:cNvSpPr/>
          <p:nvPr/>
        </p:nvSpPr>
        <p:spPr>
          <a:xfrm>
            <a:off x="6285897" y="4748009"/>
            <a:ext cx="1806223" cy="5713"/>
          </a:xfrm>
          <a:prstGeom prst="rect">
            <a:avLst/>
          </a:prstGeom>
          <a:solidFill>
            <a:srgbClr val="DBD4C4"/>
          </a:solidFill>
          <a:ln/>
        </p:spPr>
        <p:txBody>
          <a:bodyPr/>
          <a:lstStyle/>
          <a:p>
            <a:endParaRPr lang="es-MX"/>
          </a:p>
        </p:txBody>
      </p:sp>
      <p:sp>
        <p:nvSpPr>
          <p:cNvPr id="89" name="s24-texto-88"/>
          <p:cNvSpPr txBox="1"/>
          <p:nvPr/>
        </p:nvSpPr>
        <p:spPr>
          <a:xfrm>
            <a:off x="6369807" y="4422721"/>
            <a:ext cx="1736630"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Hay pocos agentes</a:t>
            </a:r>
            <a:endParaRPr lang="en-US" sz="945" dirty="0"/>
          </a:p>
        </p:txBody>
      </p:sp>
      <p:sp>
        <p:nvSpPr>
          <p:cNvPr id="90" name="s24-forma-89"/>
          <p:cNvSpPr/>
          <p:nvPr/>
        </p:nvSpPr>
        <p:spPr>
          <a:xfrm>
            <a:off x="8092120" y="4365947"/>
            <a:ext cx="2757003" cy="387775"/>
          </a:xfrm>
          <a:prstGeom prst="rect">
            <a:avLst/>
          </a:prstGeom>
          <a:ln/>
        </p:spPr>
        <p:txBody>
          <a:bodyPr/>
          <a:lstStyle/>
          <a:p>
            <a:endParaRPr lang="es-MX"/>
          </a:p>
        </p:txBody>
      </p:sp>
      <p:sp>
        <p:nvSpPr>
          <p:cNvPr id="91" name="s24-forma-90"/>
          <p:cNvSpPr/>
          <p:nvPr/>
        </p:nvSpPr>
        <p:spPr>
          <a:xfrm>
            <a:off x="8092120" y="4748009"/>
            <a:ext cx="2757003" cy="5713"/>
          </a:xfrm>
          <a:prstGeom prst="rect">
            <a:avLst/>
          </a:prstGeom>
          <a:solidFill>
            <a:srgbClr val="DBD4C4"/>
          </a:solidFill>
          <a:ln/>
        </p:spPr>
        <p:txBody>
          <a:bodyPr/>
          <a:lstStyle/>
          <a:p>
            <a:endParaRPr lang="es-MX"/>
          </a:p>
        </p:txBody>
      </p:sp>
      <p:sp>
        <p:nvSpPr>
          <p:cNvPr id="92" name="s24-texto-91"/>
          <p:cNvSpPr txBox="1"/>
          <p:nvPr/>
        </p:nvSpPr>
        <p:spPr>
          <a:xfrm>
            <a:off x="8176031" y="4422721"/>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Due diligence de una compra: un director coordina equipos legal, financiero y fiscal</a:t>
            </a:r>
            <a:endParaRPr lang="en-US" sz="945" dirty="0"/>
          </a:p>
        </p:txBody>
      </p:sp>
      <p:sp>
        <p:nvSpPr>
          <p:cNvPr id="93" name="s24-forma-92"/>
          <p:cNvSpPr/>
          <p:nvPr/>
        </p:nvSpPr>
        <p:spPr>
          <a:xfrm>
            <a:off x="1342572" y="4753722"/>
            <a:ext cx="1140740" cy="387775"/>
          </a:xfrm>
          <a:prstGeom prst="rect">
            <a:avLst/>
          </a:prstGeom>
          <a:ln/>
        </p:spPr>
        <p:txBody>
          <a:bodyPr/>
          <a:lstStyle/>
          <a:p>
            <a:endParaRPr lang="es-MX"/>
          </a:p>
        </p:txBody>
      </p:sp>
      <p:sp>
        <p:nvSpPr>
          <p:cNvPr id="94" name="s24-forma-93"/>
          <p:cNvSpPr/>
          <p:nvPr/>
        </p:nvSpPr>
        <p:spPr>
          <a:xfrm>
            <a:off x="1342572" y="5135784"/>
            <a:ext cx="1140740" cy="5713"/>
          </a:xfrm>
          <a:prstGeom prst="rect">
            <a:avLst/>
          </a:prstGeom>
          <a:solidFill>
            <a:srgbClr val="DBD4C4"/>
          </a:solidFill>
          <a:ln/>
        </p:spPr>
        <p:txBody>
          <a:bodyPr/>
          <a:lstStyle/>
          <a:p>
            <a:endParaRPr lang="es-MX"/>
          </a:p>
        </p:txBody>
      </p:sp>
      <p:sp>
        <p:nvSpPr>
          <p:cNvPr id="95" name="s24-texto-94"/>
          <p:cNvSpPr txBox="1"/>
          <p:nvPr/>
        </p:nvSpPr>
        <p:spPr>
          <a:xfrm>
            <a:off x="1426483" y="4810496"/>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Traspasos</a:t>
            </a:r>
            <a:endParaRPr lang="en-US" sz="945" dirty="0"/>
          </a:p>
        </p:txBody>
      </p:sp>
      <p:sp>
        <p:nvSpPr>
          <p:cNvPr id="96" name="s24-forma-95"/>
          <p:cNvSpPr/>
          <p:nvPr/>
        </p:nvSpPr>
        <p:spPr>
          <a:xfrm>
            <a:off x="2483312" y="4753722"/>
            <a:ext cx="1616085" cy="387775"/>
          </a:xfrm>
          <a:prstGeom prst="rect">
            <a:avLst/>
          </a:prstGeom>
          <a:ln/>
        </p:spPr>
        <p:txBody>
          <a:bodyPr/>
          <a:lstStyle/>
          <a:p>
            <a:endParaRPr lang="es-MX"/>
          </a:p>
        </p:txBody>
      </p:sp>
      <p:sp>
        <p:nvSpPr>
          <p:cNvPr id="97" name="s24-forma-96"/>
          <p:cNvSpPr/>
          <p:nvPr/>
        </p:nvSpPr>
        <p:spPr>
          <a:xfrm>
            <a:off x="2483312" y="5135784"/>
            <a:ext cx="1616085" cy="5713"/>
          </a:xfrm>
          <a:prstGeom prst="rect">
            <a:avLst/>
          </a:prstGeom>
          <a:solidFill>
            <a:srgbClr val="DBD4C4"/>
          </a:solidFill>
          <a:ln/>
        </p:spPr>
        <p:txBody>
          <a:bodyPr/>
          <a:lstStyle/>
          <a:p>
            <a:endParaRPr lang="es-MX"/>
          </a:p>
        </p:txBody>
      </p:sp>
      <p:sp>
        <p:nvSpPr>
          <p:cNvPr id="98" name="s24-texto-97"/>
          <p:cNvSpPr txBox="1"/>
          <p:nvPr/>
        </p:nvSpPr>
        <p:spPr>
          <a:xfrm>
            <a:off x="2567222" y="4810496"/>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El agente activo</a:t>
            </a:r>
            <a:endParaRPr lang="en-US" sz="945" dirty="0"/>
          </a:p>
        </p:txBody>
      </p:sp>
      <p:sp>
        <p:nvSpPr>
          <p:cNvPr id="99" name="s24-forma-98"/>
          <p:cNvSpPr/>
          <p:nvPr/>
        </p:nvSpPr>
        <p:spPr>
          <a:xfrm>
            <a:off x="4099397" y="4753722"/>
            <a:ext cx="2186500" cy="387775"/>
          </a:xfrm>
          <a:prstGeom prst="rect">
            <a:avLst/>
          </a:prstGeom>
          <a:ln/>
        </p:spPr>
        <p:txBody>
          <a:bodyPr/>
          <a:lstStyle/>
          <a:p>
            <a:endParaRPr lang="es-MX"/>
          </a:p>
        </p:txBody>
      </p:sp>
      <p:sp>
        <p:nvSpPr>
          <p:cNvPr id="100" name="s24-forma-99"/>
          <p:cNvSpPr/>
          <p:nvPr/>
        </p:nvSpPr>
        <p:spPr>
          <a:xfrm>
            <a:off x="4099397" y="5135784"/>
            <a:ext cx="2186500" cy="5713"/>
          </a:xfrm>
          <a:prstGeom prst="rect">
            <a:avLst/>
          </a:prstGeom>
          <a:solidFill>
            <a:srgbClr val="DBD4C4"/>
          </a:solidFill>
          <a:ln/>
        </p:spPr>
        <p:txBody>
          <a:bodyPr/>
          <a:lstStyle/>
          <a:p>
            <a:endParaRPr lang="es-MX"/>
          </a:p>
        </p:txBody>
      </p:sp>
      <p:sp>
        <p:nvSpPr>
          <p:cNvPr id="101" name="s24-texto-100"/>
          <p:cNvSpPr txBox="1"/>
          <p:nvPr/>
        </p:nvSpPr>
        <p:spPr>
          <a:xfrm>
            <a:off x="4183308" y="4810496"/>
            <a:ext cx="2139723"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Atención por etapas en una conversación</a:t>
            </a:r>
            <a:endParaRPr lang="en-US" sz="945" dirty="0"/>
          </a:p>
        </p:txBody>
      </p:sp>
      <p:sp>
        <p:nvSpPr>
          <p:cNvPr id="102" name="s24-forma-101"/>
          <p:cNvSpPr/>
          <p:nvPr/>
        </p:nvSpPr>
        <p:spPr>
          <a:xfrm>
            <a:off x="6285897" y="4753722"/>
            <a:ext cx="1806223" cy="387775"/>
          </a:xfrm>
          <a:prstGeom prst="rect">
            <a:avLst/>
          </a:prstGeom>
          <a:ln/>
        </p:spPr>
        <p:txBody>
          <a:bodyPr/>
          <a:lstStyle/>
          <a:p>
            <a:endParaRPr lang="es-MX"/>
          </a:p>
        </p:txBody>
      </p:sp>
      <p:sp>
        <p:nvSpPr>
          <p:cNvPr id="103" name="s24-forma-102"/>
          <p:cNvSpPr/>
          <p:nvPr/>
        </p:nvSpPr>
        <p:spPr>
          <a:xfrm>
            <a:off x="6285897" y="5135784"/>
            <a:ext cx="1806223" cy="5713"/>
          </a:xfrm>
          <a:prstGeom prst="rect">
            <a:avLst/>
          </a:prstGeom>
          <a:solidFill>
            <a:srgbClr val="DBD4C4"/>
          </a:solidFill>
          <a:ln/>
        </p:spPr>
        <p:txBody>
          <a:bodyPr/>
          <a:lstStyle/>
          <a:p>
            <a:endParaRPr lang="es-MX"/>
          </a:p>
        </p:txBody>
      </p:sp>
      <p:sp>
        <p:nvSpPr>
          <p:cNvPr id="104" name="s24-texto-103"/>
          <p:cNvSpPr txBox="1"/>
          <p:nvPr/>
        </p:nvSpPr>
        <p:spPr>
          <a:xfrm>
            <a:off x="6369807" y="4810496"/>
            <a:ext cx="1736630"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El orden debe ser fijo y auditable</a:t>
            </a:r>
            <a:endParaRPr lang="en-US" sz="945" dirty="0"/>
          </a:p>
        </p:txBody>
      </p:sp>
      <p:sp>
        <p:nvSpPr>
          <p:cNvPr id="105" name="s24-forma-104"/>
          <p:cNvSpPr/>
          <p:nvPr/>
        </p:nvSpPr>
        <p:spPr>
          <a:xfrm>
            <a:off x="8092120" y="4753722"/>
            <a:ext cx="2757003" cy="387775"/>
          </a:xfrm>
          <a:prstGeom prst="rect">
            <a:avLst/>
          </a:prstGeom>
          <a:ln/>
        </p:spPr>
        <p:txBody>
          <a:bodyPr/>
          <a:lstStyle/>
          <a:p>
            <a:endParaRPr lang="es-MX"/>
          </a:p>
        </p:txBody>
      </p:sp>
      <p:sp>
        <p:nvSpPr>
          <p:cNvPr id="106" name="s24-forma-105"/>
          <p:cNvSpPr/>
          <p:nvPr/>
        </p:nvSpPr>
        <p:spPr>
          <a:xfrm>
            <a:off x="8092120" y="5135784"/>
            <a:ext cx="2757003" cy="5713"/>
          </a:xfrm>
          <a:prstGeom prst="rect">
            <a:avLst/>
          </a:prstGeom>
          <a:solidFill>
            <a:srgbClr val="DBD4C4"/>
          </a:solidFill>
          <a:ln/>
        </p:spPr>
        <p:txBody>
          <a:bodyPr/>
          <a:lstStyle/>
          <a:p>
            <a:endParaRPr lang="es-MX"/>
          </a:p>
        </p:txBody>
      </p:sp>
      <p:sp>
        <p:nvSpPr>
          <p:cNvPr id="107" name="s24-texto-106"/>
          <p:cNvSpPr txBox="1"/>
          <p:nvPr/>
        </p:nvSpPr>
        <p:spPr>
          <a:xfrm>
            <a:off x="8176031" y="4810496"/>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Call center bancario: recepción te pasa a tarjetas y tarjetas a aclaraciones</a:t>
            </a:r>
            <a:endParaRPr lang="en-US" sz="945" dirty="0"/>
          </a:p>
        </p:txBody>
      </p:sp>
      <p:sp>
        <p:nvSpPr>
          <p:cNvPr id="108" name="s24-forma-107"/>
          <p:cNvSpPr/>
          <p:nvPr/>
        </p:nvSpPr>
        <p:spPr>
          <a:xfrm>
            <a:off x="1342572" y="5141497"/>
            <a:ext cx="1140740" cy="387775"/>
          </a:xfrm>
          <a:prstGeom prst="rect">
            <a:avLst/>
          </a:prstGeom>
          <a:ln/>
        </p:spPr>
        <p:txBody>
          <a:bodyPr/>
          <a:lstStyle/>
          <a:p>
            <a:endParaRPr lang="es-MX"/>
          </a:p>
        </p:txBody>
      </p:sp>
      <p:sp>
        <p:nvSpPr>
          <p:cNvPr id="109" name="s24-forma-108"/>
          <p:cNvSpPr/>
          <p:nvPr/>
        </p:nvSpPr>
        <p:spPr>
          <a:xfrm>
            <a:off x="1342572" y="5523558"/>
            <a:ext cx="1140740" cy="5713"/>
          </a:xfrm>
          <a:prstGeom prst="rect">
            <a:avLst/>
          </a:prstGeom>
          <a:solidFill>
            <a:srgbClr val="DBD4C4"/>
          </a:solidFill>
          <a:ln/>
        </p:spPr>
        <p:txBody>
          <a:bodyPr/>
          <a:lstStyle/>
          <a:p>
            <a:endParaRPr lang="es-MX"/>
          </a:p>
        </p:txBody>
      </p:sp>
      <p:sp>
        <p:nvSpPr>
          <p:cNvPr id="110" name="s24-texto-109"/>
          <p:cNvSpPr txBox="1"/>
          <p:nvPr/>
        </p:nvSpPr>
        <p:spPr>
          <a:xfrm>
            <a:off x="1426483" y="5198270"/>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Red</a:t>
            </a:r>
            <a:endParaRPr lang="en-US" sz="945" dirty="0"/>
          </a:p>
        </p:txBody>
      </p:sp>
      <p:sp>
        <p:nvSpPr>
          <p:cNvPr id="111" name="s24-forma-110"/>
          <p:cNvSpPr/>
          <p:nvPr/>
        </p:nvSpPr>
        <p:spPr>
          <a:xfrm>
            <a:off x="2483312" y="5141497"/>
            <a:ext cx="1616085" cy="387775"/>
          </a:xfrm>
          <a:prstGeom prst="rect">
            <a:avLst/>
          </a:prstGeom>
          <a:ln/>
        </p:spPr>
        <p:txBody>
          <a:bodyPr/>
          <a:lstStyle/>
          <a:p>
            <a:endParaRPr lang="es-MX"/>
          </a:p>
        </p:txBody>
      </p:sp>
      <p:sp>
        <p:nvSpPr>
          <p:cNvPr id="112" name="s24-forma-111"/>
          <p:cNvSpPr/>
          <p:nvPr/>
        </p:nvSpPr>
        <p:spPr>
          <a:xfrm>
            <a:off x="2483312" y="5523558"/>
            <a:ext cx="1616085" cy="5713"/>
          </a:xfrm>
          <a:prstGeom prst="rect">
            <a:avLst/>
          </a:prstGeom>
          <a:solidFill>
            <a:srgbClr val="DBD4C4"/>
          </a:solidFill>
          <a:ln/>
        </p:spPr>
        <p:txBody>
          <a:bodyPr/>
          <a:lstStyle/>
          <a:p>
            <a:endParaRPr lang="es-MX"/>
          </a:p>
        </p:txBody>
      </p:sp>
      <p:sp>
        <p:nvSpPr>
          <p:cNvPr id="113" name="s24-texto-112"/>
          <p:cNvSpPr txBox="1"/>
          <p:nvPr/>
        </p:nvSpPr>
        <p:spPr>
          <a:xfrm>
            <a:off x="2567222" y="5198270"/>
            <a:ext cx="1535084"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Cualquier agente</a:t>
            </a:r>
            <a:endParaRPr lang="en-US" sz="945" dirty="0"/>
          </a:p>
        </p:txBody>
      </p:sp>
      <p:sp>
        <p:nvSpPr>
          <p:cNvPr id="114" name="s24-forma-113"/>
          <p:cNvSpPr/>
          <p:nvPr/>
        </p:nvSpPr>
        <p:spPr>
          <a:xfrm>
            <a:off x="4099397" y="5141497"/>
            <a:ext cx="2186500" cy="387775"/>
          </a:xfrm>
          <a:prstGeom prst="rect">
            <a:avLst/>
          </a:prstGeom>
          <a:ln/>
        </p:spPr>
        <p:txBody>
          <a:bodyPr/>
          <a:lstStyle/>
          <a:p>
            <a:endParaRPr lang="es-MX"/>
          </a:p>
        </p:txBody>
      </p:sp>
      <p:sp>
        <p:nvSpPr>
          <p:cNvPr id="115" name="s24-forma-114"/>
          <p:cNvSpPr/>
          <p:nvPr/>
        </p:nvSpPr>
        <p:spPr>
          <a:xfrm>
            <a:off x="4099397" y="5523558"/>
            <a:ext cx="2186500" cy="5713"/>
          </a:xfrm>
          <a:prstGeom prst="rect">
            <a:avLst/>
          </a:prstGeom>
          <a:solidFill>
            <a:srgbClr val="DBD4C4"/>
          </a:solidFill>
          <a:ln/>
        </p:spPr>
        <p:txBody>
          <a:bodyPr/>
          <a:lstStyle/>
          <a:p>
            <a:endParaRPr lang="es-MX"/>
          </a:p>
        </p:txBody>
      </p:sp>
      <p:sp>
        <p:nvSpPr>
          <p:cNvPr id="116" name="s24-texto-115"/>
          <p:cNvSpPr txBox="1"/>
          <p:nvPr/>
        </p:nvSpPr>
        <p:spPr>
          <a:xfrm>
            <a:off x="4183308" y="5198270"/>
            <a:ext cx="2139723"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Exploración abierta o simulaciones</a:t>
            </a:r>
            <a:endParaRPr lang="en-US" sz="945" dirty="0"/>
          </a:p>
        </p:txBody>
      </p:sp>
      <p:sp>
        <p:nvSpPr>
          <p:cNvPr id="117" name="s24-forma-116"/>
          <p:cNvSpPr/>
          <p:nvPr/>
        </p:nvSpPr>
        <p:spPr>
          <a:xfrm>
            <a:off x="6285897" y="5141497"/>
            <a:ext cx="1806223" cy="387775"/>
          </a:xfrm>
          <a:prstGeom prst="rect">
            <a:avLst/>
          </a:prstGeom>
          <a:ln/>
        </p:spPr>
        <p:txBody>
          <a:bodyPr/>
          <a:lstStyle/>
          <a:p>
            <a:endParaRPr lang="es-MX"/>
          </a:p>
        </p:txBody>
      </p:sp>
      <p:sp>
        <p:nvSpPr>
          <p:cNvPr id="118" name="s24-forma-117"/>
          <p:cNvSpPr/>
          <p:nvPr/>
        </p:nvSpPr>
        <p:spPr>
          <a:xfrm>
            <a:off x="6285897" y="5523558"/>
            <a:ext cx="1806223" cy="5713"/>
          </a:xfrm>
          <a:prstGeom prst="rect">
            <a:avLst/>
          </a:prstGeom>
          <a:solidFill>
            <a:srgbClr val="DBD4C4"/>
          </a:solidFill>
          <a:ln/>
        </p:spPr>
        <p:txBody>
          <a:bodyPr/>
          <a:lstStyle/>
          <a:p>
            <a:endParaRPr lang="es-MX"/>
          </a:p>
        </p:txBody>
      </p:sp>
      <p:sp>
        <p:nvSpPr>
          <p:cNvPr id="119" name="s24-texto-118"/>
          <p:cNvSpPr txBox="1"/>
          <p:nvPr/>
        </p:nvSpPr>
        <p:spPr>
          <a:xfrm>
            <a:off x="6369807" y="5198270"/>
            <a:ext cx="1736630" cy="131401"/>
          </a:xfrm>
          <a:prstGeom prst="rect">
            <a:avLst/>
          </a:prstGeom>
          <a:noFill/>
          <a:ln/>
        </p:spPr>
        <p:txBody>
          <a:bodyPr wrap="non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Casi siempre, en producción</a:t>
            </a:r>
            <a:endParaRPr lang="en-US" sz="945" dirty="0"/>
          </a:p>
        </p:txBody>
      </p:sp>
      <p:sp>
        <p:nvSpPr>
          <p:cNvPr id="120" name="s24-forma-119"/>
          <p:cNvSpPr/>
          <p:nvPr/>
        </p:nvSpPr>
        <p:spPr>
          <a:xfrm>
            <a:off x="8092120" y="5141497"/>
            <a:ext cx="2757003" cy="387775"/>
          </a:xfrm>
          <a:prstGeom prst="rect">
            <a:avLst/>
          </a:prstGeom>
          <a:ln/>
        </p:spPr>
        <p:txBody>
          <a:bodyPr/>
          <a:lstStyle/>
          <a:p>
            <a:endParaRPr lang="es-MX"/>
          </a:p>
        </p:txBody>
      </p:sp>
      <p:sp>
        <p:nvSpPr>
          <p:cNvPr id="121" name="s24-forma-120"/>
          <p:cNvSpPr/>
          <p:nvPr/>
        </p:nvSpPr>
        <p:spPr>
          <a:xfrm>
            <a:off x="8092120" y="5523558"/>
            <a:ext cx="2757003" cy="5713"/>
          </a:xfrm>
          <a:prstGeom prst="rect">
            <a:avLst/>
          </a:prstGeom>
          <a:solidFill>
            <a:srgbClr val="DBD4C4"/>
          </a:solidFill>
          <a:ln/>
        </p:spPr>
        <p:txBody>
          <a:bodyPr/>
          <a:lstStyle/>
          <a:p>
            <a:endParaRPr lang="es-MX"/>
          </a:p>
        </p:txBody>
      </p:sp>
      <p:sp>
        <p:nvSpPr>
          <p:cNvPr id="122" name="s24-texto-121"/>
          <p:cNvSpPr txBox="1"/>
          <p:nvPr/>
        </p:nvSpPr>
        <p:spPr>
          <a:xfrm>
            <a:off x="8176031" y="5198270"/>
            <a:ext cx="2744457"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Simular una negociación entre comprador, vendedor y mediador</a:t>
            </a:r>
            <a:endParaRPr lang="en-US" sz="945" dirty="0"/>
          </a:p>
        </p:txBody>
      </p:sp>
      <p:sp>
        <p:nvSpPr>
          <p:cNvPr id="123" name="s24-texto-122"/>
          <p:cNvSpPr txBox="1"/>
          <p:nvPr/>
        </p:nvSpPr>
        <p:spPr>
          <a:xfrm>
            <a:off x="1426483" y="5586045"/>
            <a:ext cx="1031218" cy="131401"/>
          </a:xfrm>
          <a:prstGeom prst="rect">
            <a:avLst/>
          </a:prstGeom>
          <a:noFill/>
          <a:ln/>
        </p:spPr>
        <p:txBody>
          <a:bodyPr wrap="none" lIns="0" tIns="0" rIns="0" bIns="0" rtlCol="0" anchor="t"/>
          <a:lstStyle/>
          <a:p>
            <a:pPr marL="0" indent="0" algn="l">
              <a:lnSpc>
                <a:spcPts val="1134"/>
              </a:lnSpc>
              <a:buNone/>
            </a:pPr>
            <a:r>
              <a:rPr lang="en-US" sz="945" b="1" dirty="0">
                <a:solidFill>
                  <a:srgbClr val="0033A0"/>
                </a:solidFill>
                <a:latin typeface="Arial" pitchFamily="34" charset="0"/>
                <a:ea typeface="Arial" pitchFamily="34" charset="-122"/>
                <a:cs typeface="Arial" pitchFamily="34" charset="-120"/>
              </a:rPr>
              <a:t>Pizarra</a:t>
            </a:r>
            <a:endParaRPr lang="en-US" sz="945" dirty="0"/>
          </a:p>
        </p:txBody>
      </p:sp>
      <p:sp>
        <p:nvSpPr>
          <p:cNvPr id="124" name="s24-texto-123"/>
          <p:cNvSpPr txBox="1"/>
          <p:nvPr/>
        </p:nvSpPr>
        <p:spPr>
          <a:xfrm>
            <a:off x="2567222" y="5586045"/>
            <a:ext cx="1535084"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Un controlador que mira el estado</a:t>
            </a:r>
            <a:endParaRPr lang="en-US" sz="945" dirty="0"/>
          </a:p>
        </p:txBody>
      </p:sp>
      <p:sp>
        <p:nvSpPr>
          <p:cNvPr id="125" name="s24-texto-124"/>
          <p:cNvSpPr txBox="1"/>
          <p:nvPr/>
        </p:nvSpPr>
        <p:spPr>
          <a:xfrm>
            <a:off x="4183308" y="5586045"/>
            <a:ext cx="2139723"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Agentes desacoplados que aportan por insumos</a:t>
            </a:r>
            <a:endParaRPr lang="en-US" sz="945" dirty="0"/>
          </a:p>
        </p:txBody>
      </p:sp>
      <p:sp>
        <p:nvSpPr>
          <p:cNvPr id="126" name="s24-texto-125"/>
          <p:cNvSpPr txBox="1"/>
          <p:nvPr/>
        </p:nvSpPr>
        <p:spPr>
          <a:xfrm>
            <a:off x="6369807" y="5586045"/>
            <a:ext cx="1736630" cy="268514"/>
          </a:xfrm>
          <a:prstGeom prst="rect">
            <a:avLst/>
          </a:prstGeom>
          <a:noFill/>
          <a:ln/>
        </p:spPr>
        <p:txBody>
          <a:bodyPr wrap="square" lIns="0" tIns="0" rIns="0" bIns="0" rtlCol="0" anchor="t"/>
          <a:lstStyle/>
          <a:p>
            <a:pPr marL="0" indent="0" algn="l">
              <a:lnSpc>
                <a:spcPts val="1134"/>
              </a:lnSpc>
              <a:buNone/>
            </a:pPr>
            <a:r>
              <a:rPr lang="en-US" sz="945" dirty="0">
                <a:solidFill>
                  <a:srgbClr val="16181D"/>
                </a:solidFill>
                <a:latin typeface="Arial" pitchFamily="34" charset="0"/>
                <a:ea typeface="Arial" pitchFamily="34" charset="-122"/>
                <a:cs typeface="Arial" pitchFamily="34" charset="-120"/>
              </a:rPr>
              <a:t>Varios escriben el mismo campo</a:t>
            </a:r>
            <a:endParaRPr lang="en-US" sz="945" dirty="0"/>
          </a:p>
        </p:txBody>
      </p:sp>
      <p:sp>
        <p:nvSpPr>
          <p:cNvPr id="127" name="s24-texto-126"/>
          <p:cNvSpPr txBox="1"/>
          <p:nvPr/>
        </p:nvSpPr>
        <p:spPr>
          <a:xfrm>
            <a:off x="8176031" y="5586045"/>
            <a:ext cx="2744457" cy="268514"/>
          </a:xfrm>
          <a:prstGeom prst="rect">
            <a:avLst/>
          </a:prstGeom>
          <a:noFill/>
          <a:ln/>
        </p:spPr>
        <p:txBody>
          <a:bodyPr wrap="square" lIns="0" tIns="0" rIns="0" bIns="0" rtlCol="0" anchor="t"/>
          <a:lstStyle/>
          <a:p>
            <a:pPr marL="0" indent="0" algn="l">
              <a:lnSpc>
                <a:spcPts val="1134"/>
              </a:lnSpc>
              <a:buNone/>
            </a:pPr>
            <a:r>
              <a:rPr lang="en-US" sz="945" dirty="0" err="1">
                <a:solidFill>
                  <a:srgbClr val="16181D"/>
                </a:solidFill>
                <a:latin typeface="Arial" pitchFamily="34" charset="0"/>
                <a:ea typeface="Arial" pitchFamily="34" charset="-122"/>
                <a:cs typeface="Arial" pitchFamily="34" charset="-120"/>
              </a:rPr>
              <a:t>Atender</a:t>
            </a:r>
            <a:r>
              <a:rPr lang="en-US" sz="945" dirty="0">
                <a:solidFill>
                  <a:srgbClr val="16181D"/>
                </a:solidFill>
                <a:latin typeface="Arial" pitchFamily="34" charset="0"/>
                <a:ea typeface="Arial" pitchFamily="34" charset="-122"/>
                <a:cs typeface="Arial" pitchFamily="34" charset="-120"/>
              </a:rPr>
              <a:t> un incidente: logs, red y base de datos anotan hallazgos en un </a:t>
            </a:r>
            <a:r>
              <a:rPr lang="en-US" sz="945" dirty="0" err="1">
                <a:solidFill>
                  <a:srgbClr val="16181D"/>
                </a:solidFill>
                <a:latin typeface="Arial" pitchFamily="34" charset="0"/>
                <a:ea typeface="Arial" pitchFamily="34" charset="-122"/>
                <a:cs typeface="Arial" pitchFamily="34" charset="-120"/>
              </a:rPr>
              <a:t>tablero</a:t>
            </a:r>
            <a:r>
              <a:rPr lang="en-US" sz="945" dirty="0">
                <a:solidFill>
                  <a:srgbClr val="16181D"/>
                </a:solidFill>
                <a:latin typeface="Arial" pitchFamily="34" charset="0"/>
                <a:ea typeface="Arial" pitchFamily="34" charset="-122"/>
                <a:cs typeface="Arial" pitchFamily="34" charset="-120"/>
              </a:rPr>
              <a:t> </a:t>
            </a:r>
            <a:r>
              <a:rPr lang="en-US" sz="945" dirty="0" err="1">
                <a:solidFill>
                  <a:srgbClr val="16181D"/>
                </a:solidFill>
                <a:latin typeface="Arial" pitchFamily="34" charset="0"/>
                <a:ea typeface="Arial" pitchFamily="34" charset="-122"/>
                <a:cs typeface="Arial" pitchFamily="34" charset="-120"/>
              </a:rPr>
              <a:t>común</a:t>
            </a:r>
            <a:r>
              <a:rPr lang="en-US" sz="945" dirty="0">
                <a:solidFill>
                  <a:srgbClr val="16181D"/>
                </a:solidFill>
                <a:latin typeface="Arial" pitchFamily="34" charset="0"/>
                <a:ea typeface="Arial" pitchFamily="34" charset="-122"/>
                <a:cs typeface="Arial" pitchFamily="34" charset="-120"/>
              </a:rPr>
              <a:t> (</a:t>
            </a:r>
            <a:r>
              <a:rPr lang="en-US" sz="945" dirty="0" err="1">
                <a:solidFill>
                  <a:srgbClr val="16181D"/>
                </a:solidFill>
                <a:latin typeface="Arial" pitchFamily="34" charset="0"/>
                <a:ea typeface="Arial" pitchFamily="34" charset="-122"/>
                <a:cs typeface="Arial" pitchFamily="34" charset="-120"/>
              </a:rPr>
              <a:t>ej</a:t>
            </a:r>
            <a:r>
              <a:rPr lang="en-US" sz="945" dirty="0">
                <a:solidFill>
                  <a:srgbClr val="16181D"/>
                </a:solidFill>
                <a:latin typeface="Arial" pitchFamily="34" charset="0"/>
                <a:ea typeface="Arial" pitchFamily="34" charset="-122"/>
                <a:cs typeface="Arial" pitchFamily="34" charset="-120"/>
              </a:rPr>
              <a:t>. Service now)</a:t>
            </a:r>
            <a:endParaRPr lang="en-US" sz="945" dirty="0"/>
          </a:p>
        </p:txBody>
      </p:sp>
      <p:sp>
        <p:nvSpPr>
          <p:cNvPr id="128" name="s24-texto-1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La fábrica: un workflow orquestado por código, con agentes dentro de algunos nodos</a:t>
            </a:r>
            <a:endParaRPr lang="en-US" sz="1080" dirty="0"/>
          </a:p>
        </p:txBody>
      </p:sp>
      <p:sp>
        <p:nvSpPr>
          <p:cNvPr id="129" name="s24-forma-128"/>
          <p:cNvSpPr/>
          <p:nvPr/>
        </p:nvSpPr>
        <p:spPr>
          <a:xfrm>
            <a:off x="853390" y="6411138"/>
            <a:ext cx="10484915" cy="5713"/>
          </a:xfrm>
          <a:prstGeom prst="rect">
            <a:avLst/>
          </a:prstGeom>
          <a:solidFill>
            <a:srgbClr val="DBD4C4"/>
          </a:solidFill>
          <a:ln/>
        </p:spPr>
        <p:txBody>
          <a:bodyPr/>
          <a:lstStyle/>
          <a:p>
            <a:endParaRPr lang="es-MX"/>
          </a:p>
        </p:txBody>
      </p:sp>
      <p:pic>
        <p:nvPicPr>
          <p:cNvPr id="130" name="s24-logo-129" descr="preencoded.png"/>
          <p:cNvPicPr>
            <a:picLocks noChangeAspect="1"/>
          </p:cNvPicPr>
          <p:nvPr/>
        </p:nvPicPr>
        <p:blipFill>
          <a:blip r:embed="rId3"/>
          <a:stretch>
            <a:fillRect/>
          </a:stretch>
        </p:blipFill>
        <p:spPr>
          <a:xfrm>
            <a:off x="853390" y="6465055"/>
            <a:ext cx="687800" cy="212455"/>
          </a:xfrm>
          <a:prstGeom prst="rect">
            <a:avLst/>
          </a:prstGeom>
        </p:spPr>
      </p:pic>
      <p:sp>
        <p:nvSpPr>
          <p:cNvPr id="131" name="s24-forma-130"/>
          <p:cNvSpPr/>
          <p:nvPr/>
        </p:nvSpPr>
        <p:spPr>
          <a:xfrm>
            <a:off x="1659380" y="6519865"/>
            <a:ext cx="2926878" cy="102835"/>
          </a:xfrm>
          <a:prstGeom prst="rect">
            <a:avLst/>
          </a:prstGeom>
          <a:ln/>
        </p:spPr>
        <p:txBody>
          <a:bodyPr/>
          <a:lstStyle/>
          <a:p>
            <a:endParaRPr lang="es-MX"/>
          </a:p>
        </p:txBody>
      </p:sp>
      <p:sp>
        <p:nvSpPr>
          <p:cNvPr id="132" name="s24-forma-131"/>
          <p:cNvSpPr/>
          <p:nvPr/>
        </p:nvSpPr>
        <p:spPr>
          <a:xfrm>
            <a:off x="1659380" y="6519865"/>
            <a:ext cx="5713" cy="102835"/>
          </a:xfrm>
          <a:prstGeom prst="rect">
            <a:avLst/>
          </a:prstGeom>
          <a:solidFill>
            <a:srgbClr val="C6BFAE"/>
          </a:solidFill>
          <a:ln/>
        </p:spPr>
        <p:txBody>
          <a:bodyPr/>
          <a:lstStyle/>
          <a:p>
            <a:endParaRPr lang="es-MX"/>
          </a:p>
        </p:txBody>
      </p:sp>
      <p:sp>
        <p:nvSpPr>
          <p:cNvPr id="133" name="s24-texto-1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4" name="s24-texto-1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36</a:t>
            </a:r>
            <a:endParaRPr lang="en-US" sz="745" dirty="0"/>
          </a:p>
        </p:txBody>
      </p:sp>
      <p:sp>
        <p:nvSpPr>
          <p:cNvPr id="135" name="s24-forma-134"/>
          <p:cNvSpPr/>
          <p:nvPr/>
        </p:nvSpPr>
        <p:spPr>
          <a:xfrm>
            <a:off x="0" y="0"/>
            <a:ext cx="8127737"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290B8-0F4D-94A7-B73F-6A6FF7209398}"/>
            </a:ext>
          </a:extLst>
        </p:cNvPr>
        <p:cNvGrpSpPr/>
        <p:nvPr/>
      </p:nvGrpSpPr>
      <p:grpSpPr>
        <a:xfrm>
          <a:off x="0" y="0"/>
          <a:ext cx="0" cy="0"/>
          <a:chOff x="0" y="0"/>
          <a:chExt cx="0" cy="0"/>
        </a:xfrm>
      </p:grpSpPr>
      <p:sp>
        <p:nvSpPr>
          <p:cNvPr id="2" name="s30-forma-1">
            <a:extLst>
              <a:ext uri="{FF2B5EF4-FFF2-40B4-BE49-F238E27FC236}">
                <a16:creationId xmlns:a16="http://schemas.microsoft.com/office/drawing/2014/main" id="{16FA0DC3-AE51-A429-8332-4226A55F74E7}"/>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30-forma-2">
            <a:extLst>
              <a:ext uri="{FF2B5EF4-FFF2-40B4-BE49-F238E27FC236}">
                <a16:creationId xmlns:a16="http://schemas.microsoft.com/office/drawing/2014/main" id="{3D5AA48D-E961-79C5-A4A7-EE09E9D26025}"/>
              </a:ext>
            </a:extLst>
          </p:cNvPr>
          <p:cNvSpPr/>
          <p:nvPr/>
        </p:nvSpPr>
        <p:spPr>
          <a:xfrm>
            <a:off x="853390" y="331715"/>
            <a:ext cx="81411" cy="81411"/>
          </a:xfrm>
          <a:prstGeom prst="ellipse">
            <a:avLst/>
          </a:prstGeom>
          <a:solidFill>
            <a:srgbClr val="0E6871"/>
          </a:solidFill>
          <a:ln/>
        </p:spPr>
        <p:txBody>
          <a:bodyPr/>
          <a:lstStyle/>
          <a:p>
            <a:endParaRPr lang="es-MX"/>
          </a:p>
        </p:txBody>
      </p:sp>
      <p:sp>
        <p:nvSpPr>
          <p:cNvPr id="4" name="s30-texto-3">
            <a:extLst>
              <a:ext uri="{FF2B5EF4-FFF2-40B4-BE49-F238E27FC236}">
                <a16:creationId xmlns:a16="http://schemas.microsoft.com/office/drawing/2014/main" id="{CB52DEB8-E028-F6C1-15E6-4D218702FAE7}"/>
              </a:ext>
            </a:extLst>
          </p:cNvPr>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30-texto-4">
            <a:extLst>
              <a:ext uri="{FF2B5EF4-FFF2-40B4-BE49-F238E27FC236}">
                <a16:creationId xmlns:a16="http://schemas.microsoft.com/office/drawing/2014/main" id="{538EBE5E-9511-986E-6625-A8AA7B1F402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30-forma-5">
            <a:extLst>
              <a:ext uri="{FF2B5EF4-FFF2-40B4-BE49-F238E27FC236}">
                <a16:creationId xmlns:a16="http://schemas.microsoft.com/office/drawing/2014/main" id="{76D65472-947E-429E-8932-002C0BAAFB0E}"/>
              </a:ext>
            </a:extLst>
          </p:cNvPr>
          <p:cNvSpPr/>
          <p:nvPr/>
        </p:nvSpPr>
        <p:spPr>
          <a:xfrm>
            <a:off x="5885535" y="2400561"/>
            <a:ext cx="420446" cy="17139"/>
          </a:xfrm>
          <a:prstGeom prst="rect">
            <a:avLst/>
          </a:prstGeom>
          <a:solidFill>
            <a:srgbClr val="0033A0"/>
          </a:solidFill>
          <a:ln/>
        </p:spPr>
        <p:txBody>
          <a:bodyPr/>
          <a:lstStyle/>
          <a:p>
            <a:endParaRPr lang="es-MX"/>
          </a:p>
        </p:txBody>
      </p:sp>
      <p:sp>
        <p:nvSpPr>
          <p:cNvPr id="7" name="s30-texto-6">
            <a:extLst>
              <a:ext uri="{FF2B5EF4-FFF2-40B4-BE49-F238E27FC236}">
                <a16:creationId xmlns:a16="http://schemas.microsoft.com/office/drawing/2014/main" id="{5DAC23AC-DB05-13CC-5327-2D143C1EC2D9}"/>
              </a:ext>
            </a:extLst>
          </p:cNvPr>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30-texto-7">
            <a:extLst>
              <a:ext uri="{FF2B5EF4-FFF2-40B4-BE49-F238E27FC236}">
                <a16:creationId xmlns:a16="http://schemas.microsoft.com/office/drawing/2014/main" id="{A1B4FD38-D571-F58D-1FEE-485655F79783}"/>
              </a:ext>
            </a:extLst>
          </p:cNvPr>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10" name="s30-forma-9">
            <a:extLst>
              <a:ext uri="{FF2B5EF4-FFF2-40B4-BE49-F238E27FC236}">
                <a16:creationId xmlns:a16="http://schemas.microsoft.com/office/drawing/2014/main" id="{814A1E88-CFE6-AA72-AAD7-E273B0274F2E}"/>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11" name="s30-logo-10" descr="preencoded.png">
            <a:extLst>
              <a:ext uri="{FF2B5EF4-FFF2-40B4-BE49-F238E27FC236}">
                <a16:creationId xmlns:a16="http://schemas.microsoft.com/office/drawing/2014/main" id="{AB5E43BD-518D-65E7-89F0-5EA96D46D611}"/>
              </a:ext>
            </a:extLst>
          </p:cNvPr>
          <p:cNvPicPr>
            <a:picLocks noChangeAspect="1"/>
          </p:cNvPicPr>
          <p:nvPr/>
        </p:nvPicPr>
        <p:blipFill>
          <a:blip r:embed="rId3"/>
          <a:stretch>
            <a:fillRect/>
          </a:stretch>
        </p:blipFill>
        <p:spPr>
          <a:xfrm>
            <a:off x="853390" y="6465055"/>
            <a:ext cx="687800" cy="212455"/>
          </a:xfrm>
          <a:prstGeom prst="rect">
            <a:avLst/>
          </a:prstGeom>
        </p:spPr>
      </p:pic>
      <p:sp>
        <p:nvSpPr>
          <p:cNvPr id="12" name="s30-forma-11">
            <a:extLst>
              <a:ext uri="{FF2B5EF4-FFF2-40B4-BE49-F238E27FC236}">
                <a16:creationId xmlns:a16="http://schemas.microsoft.com/office/drawing/2014/main" id="{3054B3FF-116D-C599-9A5A-49EC58AD2A72}"/>
              </a:ext>
            </a:extLst>
          </p:cNvPr>
          <p:cNvSpPr/>
          <p:nvPr/>
        </p:nvSpPr>
        <p:spPr>
          <a:xfrm>
            <a:off x="1659380" y="6519865"/>
            <a:ext cx="2926878" cy="102835"/>
          </a:xfrm>
          <a:prstGeom prst="rect">
            <a:avLst/>
          </a:prstGeom>
          <a:ln/>
        </p:spPr>
        <p:txBody>
          <a:bodyPr/>
          <a:lstStyle/>
          <a:p>
            <a:endParaRPr lang="es-MX"/>
          </a:p>
        </p:txBody>
      </p:sp>
      <p:sp>
        <p:nvSpPr>
          <p:cNvPr id="13" name="s30-forma-12">
            <a:extLst>
              <a:ext uri="{FF2B5EF4-FFF2-40B4-BE49-F238E27FC236}">
                <a16:creationId xmlns:a16="http://schemas.microsoft.com/office/drawing/2014/main" id="{01389DA3-AF39-5BCE-A453-0D909E4DEB5F}"/>
              </a:ext>
            </a:extLst>
          </p:cNvPr>
          <p:cNvSpPr/>
          <p:nvPr/>
        </p:nvSpPr>
        <p:spPr>
          <a:xfrm>
            <a:off x="1659380" y="6519865"/>
            <a:ext cx="5713" cy="102835"/>
          </a:xfrm>
          <a:prstGeom prst="rect">
            <a:avLst/>
          </a:prstGeom>
          <a:solidFill>
            <a:srgbClr val="C6BFAE"/>
          </a:solidFill>
          <a:ln/>
        </p:spPr>
        <p:txBody>
          <a:bodyPr/>
          <a:lstStyle/>
          <a:p>
            <a:endParaRPr lang="es-MX"/>
          </a:p>
        </p:txBody>
      </p:sp>
      <p:sp>
        <p:nvSpPr>
          <p:cNvPr id="14" name="s30-texto-13">
            <a:extLst>
              <a:ext uri="{FF2B5EF4-FFF2-40B4-BE49-F238E27FC236}">
                <a16:creationId xmlns:a16="http://schemas.microsoft.com/office/drawing/2014/main" id="{AB9FE9A3-AD7A-DD83-0119-FC93D0F0ECA6}"/>
              </a:ext>
            </a:extLst>
          </p:cNvPr>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5" name="s30-texto-14">
            <a:extLst>
              <a:ext uri="{FF2B5EF4-FFF2-40B4-BE49-F238E27FC236}">
                <a16:creationId xmlns:a16="http://schemas.microsoft.com/office/drawing/2014/main" id="{03E2DCF1-F674-2B19-17F4-F80B4870E6D3}"/>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36</a:t>
            </a:r>
            <a:endParaRPr lang="en-US" sz="745" dirty="0"/>
          </a:p>
        </p:txBody>
      </p:sp>
      <p:sp>
        <p:nvSpPr>
          <p:cNvPr id="16" name="s30-forma-15">
            <a:extLst>
              <a:ext uri="{FF2B5EF4-FFF2-40B4-BE49-F238E27FC236}">
                <a16:creationId xmlns:a16="http://schemas.microsoft.com/office/drawing/2014/main" id="{9CB3EEC6-CFA5-3204-4A15-95CA0FE12AD8}"/>
              </a:ext>
            </a:extLst>
          </p:cNvPr>
          <p:cNvSpPr/>
          <p:nvPr/>
        </p:nvSpPr>
        <p:spPr>
          <a:xfrm>
            <a:off x="0" y="0"/>
            <a:ext cx="10159716"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2905028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331715"/>
            <a:ext cx="81411" cy="81411"/>
          </a:xfrm>
          <a:prstGeom prst="ellipse">
            <a:avLst/>
          </a:prstGeom>
          <a:solidFill>
            <a:srgbClr val="0033A0"/>
          </a:solidFill>
          <a:ln/>
        </p:spPr>
        <p:txBody>
          <a:bodyPr/>
          <a:lstStyle/>
          <a:p>
            <a:endParaRPr lang="es-MX"/>
          </a:p>
        </p:txBody>
      </p:sp>
      <p:sp>
        <p:nvSpPr>
          <p:cNvPr id="3" name="s25-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10 min</a:t>
            </a:r>
            <a:endParaRPr lang="en-US" sz="807" dirty="0"/>
          </a:p>
        </p:txBody>
      </p:sp>
      <p:sp>
        <p:nvSpPr>
          <p:cNvPr id="5" name="s25-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3.4</a:t>
            </a:r>
            <a:endParaRPr lang="en-US" sz="869" dirty="0"/>
          </a:p>
        </p:txBody>
      </p:sp>
      <p:sp>
        <p:nvSpPr>
          <p:cNvPr id="6" name="s25-forma-5"/>
          <p:cNvSpPr/>
          <p:nvPr/>
        </p:nvSpPr>
        <p:spPr>
          <a:xfrm>
            <a:off x="853390" y="4059138"/>
            <a:ext cx="722704" cy="22852"/>
          </a:xfrm>
          <a:prstGeom prst="rect">
            <a:avLst/>
          </a:prstGeom>
          <a:solidFill>
            <a:srgbClr val="0033A0"/>
          </a:solidFill>
          <a:ln/>
        </p:spPr>
        <p:txBody>
          <a:bodyPr/>
          <a:lstStyle/>
          <a:p>
            <a:endParaRPr lang="es-MX"/>
          </a:p>
        </p:txBody>
      </p:sp>
      <p:sp>
        <p:nvSpPr>
          <p:cNvPr id="7" name="s25-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Roles, permisos y contratos</a:t>
            </a:r>
            <a:endParaRPr lang="en-US" sz="4242" dirty="0"/>
          </a:p>
        </p:txBody>
      </p:sp>
      <p:sp>
        <p:nvSpPr>
          <p:cNvPr id="8" name="s25-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Cada agente toca solo lo suyo.</a:t>
            </a:r>
            <a:endParaRPr lang="en-US" sz="1676" dirty="0"/>
          </a:p>
        </p:txBody>
      </p:sp>
      <p:pic>
        <p:nvPicPr>
          <p:cNvPr id="9" name="s2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5-forma-9"/>
          <p:cNvSpPr/>
          <p:nvPr/>
        </p:nvSpPr>
        <p:spPr>
          <a:xfrm>
            <a:off x="1659380" y="6519865"/>
            <a:ext cx="2926878" cy="102835"/>
          </a:xfrm>
          <a:prstGeom prst="rect">
            <a:avLst/>
          </a:prstGeom>
          <a:ln/>
        </p:spPr>
        <p:txBody>
          <a:bodyPr/>
          <a:lstStyle/>
          <a:p>
            <a:endParaRPr lang="es-MX"/>
          </a:p>
        </p:txBody>
      </p:sp>
      <p:sp>
        <p:nvSpPr>
          <p:cNvPr id="11" name="s25-forma-10"/>
          <p:cNvSpPr/>
          <p:nvPr/>
        </p:nvSpPr>
        <p:spPr>
          <a:xfrm>
            <a:off x="1659380" y="6519865"/>
            <a:ext cx="5713" cy="102835"/>
          </a:xfrm>
          <a:prstGeom prst="rect">
            <a:avLst/>
          </a:prstGeom>
          <a:solidFill>
            <a:srgbClr val="C6BFAE"/>
          </a:solidFill>
          <a:ln/>
        </p:spPr>
        <p:txBody>
          <a:bodyPr/>
          <a:lstStyle/>
          <a:p>
            <a:endParaRPr lang="es-MX"/>
          </a:p>
        </p:txBody>
      </p:sp>
      <p:sp>
        <p:nvSpPr>
          <p:cNvPr id="12" name="s25-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36</a:t>
            </a:r>
            <a:endParaRPr lang="en-US" sz="745" dirty="0"/>
          </a:p>
        </p:txBody>
      </p:sp>
      <p:sp>
        <p:nvSpPr>
          <p:cNvPr id="14" name="s25-forma-13"/>
          <p:cNvSpPr/>
          <p:nvPr/>
        </p:nvSpPr>
        <p:spPr>
          <a:xfrm>
            <a:off x="0" y="0"/>
            <a:ext cx="8466415" cy="17139"/>
          </a:xfrm>
          <a:prstGeom prst="rect">
            <a:avLst/>
          </a:prstGeom>
          <a:solidFill>
            <a:srgbClr val="0033A0"/>
          </a:solidFill>
          <a:ln/>
        </p:spPr>
        <p:txBody>
          <a:bodyPr/>
          <a:lstStyle/>
          <a:p>
            <a:endParaRPr lang="es-MX"/>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10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3.3 · ROLES, PERMISOS Y CONTRATOS</a:t>
            </a:r>
            <a:endParaRPr lang="en-US" sz="900" dirty="0"/>
          </a:p>
        </p:txBody>
      </p:sp>
      <p:sp>
        <p:nvSpPr>
          <p:cNvPr id="7" name="s2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Cada agente toca solo lo suyo</a:t>
            </a:r>
            <a:endParaRPr lang="en-US" sz="2879" dirty="0"/>
          </a:p>
        </p:txBody>
      </p:sp>
      <p:sp>
        <p:nvSpPr>
          <p:cNvPr id="8" name="s26-forma-7"/>
          <p:cNvSpPr/>
          <p:nvPr/>
        </p:nvSpPr>
        <p:spPr>
          <a:xfrm>
            <a:off x="1342572" y="2144634"/>
            <a:ext cx="2091431" cy="226202"/>
          </a:xfrm>
          <a:prstGeom prst="rect">
            <a:avLst/>
          </a:prstGeom>
          <a:ln/>
        </p:spPr>
        <p:txBody>
          <a:bodyPr/>
          <a:lstStyle/>
          <a:p>
            <a:endParaRPr lang="es-MX"/>
          </a:p>
        </p:txBody>
      </p:sp>
      <p:sp>
        <p:nvSpPr>
          <p:cNvPr id="9" name="s26-forma-8"/>
          <p:cNvSpPr/>
          <p:nvPr/>
        </p:nvSpPr>
        <p:spPr>
          <a:xfrm>
            <a:off x="1342572" y="2365122"/>
            <a:ext cx="2091431" cy="5713"/>
          </a:xfrm>
          <a:prstGeom prst="rect">
            <a:avLst/>
          </a:prstGeom>
          <a:solidFill>
            <a:srgbClr val="0033A0"/>
          </a:solidFill>
          <a:ln/>
        </p:spPr>
        <p:txBody>
          <a:bodyPr/>
          <a:lstStyle/>
          <a:p>
            <a:endParaRPr lang="es-MX"/>
          </a:p>
        </p:txBody>
      </p:sp>
      <p:sp>
        <p:nvSpPr>
          <p:cNvPr id="10" name="s26-texto-9"/>
          <p:cNvSpPr txBox="1"/>
          <p:nvPr/>
        </p:nvSpPr>
        <p:spPr>
          <a:xfrm>
            <a:off x="1418538" y="2193463"/>
            <a:ext cx="2055850"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AGENTE</a:t>
            </a:r>
            <a:endParaRPr lang="en-US" sz="855" dirty="0"/>
          </a:p>
        </p:txBody>
      </p:sp>
      <p:sp>
        <p:nvSpPr>
          <p:cNvPr id="11" name="s26-forma-10"/>
          <p:cNvSpPr/>
          <p:nvPr/>
        </p:nvSpPr>
        <p:spPr>
          <a:xfrm>
            <a:off x="3434002" y="2144634"/>
            <a:ext cx="3232170" cy="226202"/>
          </a:xfrm>
          <a:prstGeom prst="rect">
            <a:avLst/>
          </a:prstGeom>
          <a:ln/>
        </p:spPr>
        <p:txBody>
          <a:bodyPr/>
          <a:lstStyle/>
          <a:p>
            <a:endParaRPr lang="es-MX"/>
          </a:p>
        </p:txBody>
      </p:sp>
      <p:sp>
        <p:nvSpPr>
          <p:cNvPr id="12" name="s26-forma-11"/>
          <p:cNvSpPr/>
          <p:nvPr/>
        </p:nvSpPr>
        <p:spPr>
          <a:xfrm>
            <a:off x="3434002" y="2365122"/>
            <a:ext cx="3232170" cy="5713"/>
          </a:xfrm>
          <a:prstGeom prst="rect">
            <a:avLst/>
          </a:prstGeom>
          <a:solidFill>
            <a:srgbClr val="0033A0"/>
          </a:solidFill>
          <a:ln/>
        </p:spPr>
        <p:txBody>
          <a:bodyPr/>
          <a:lstStyle/>
          <a:p>
            <a:endParaRPr lang="es-MX"/>
          </a:p>
        </p:txBody>
      </p:sp>
      <p:sp>
        <p:nvSpPr>
          <p:cNvPr id="13" name="s26-texto-12"/>
          <p:cNvSpPr txBox="1"/>
          <p:nvPr/>
        </p:nvSpPr>
        <p:spPr>
          <a:xfrm>
            <a:off x="3509968"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PUEDE ESCRIBIR</a:t>
            </a:r>
            <a:endParaRPr lang="en-US" sz="855" dirty="0"/>
          </a:p>
        </p:txBody>
      </p:sp>
      <p:sp>
        <p:nvSpPr>
          <p:cNvPr id="14" name="s26-forma-13"/>
          <p:cNvSpPr/>
          <p:nvPr/>
        </p:nvSpPr>
        <p:spPr>
          <a:xfrm>
            <a:off x="6666173" y="2144634"/>
            <a:ext cx="1901292" cy="226202"/>
          </a:xfrm>
          <a:prstGeom prst="rect">
            <a:avLst/>
          </a:prstGeom>
          <a:ln/>
        </p:spPr>
        <p:txBody>
          <a:bodyPr/>
          <a:lstStyle/>
          <a:p>
            <a:endParaRPr lang="es-MX"/>
          </a:p>
        </p:txBody>
      </p:sp>
      <p:sp>
        <p:nvSpPr>
          <p:cNvPr id="15" name="s26-forma-14"/>
          <p:cNvSpPr/>
          <p:nvPr/>
        </p:nvSpPr>
        <p:spPr>
          <a:xfrm>
            <a:off x="6666173" y="2365122"/>
            <a:ext cx="1901292" cy="5713"/>
          </a:xfrm>
          <a:prstGeom prst="rect">
            <a:avLst/>
          </a:prstGeom>
          <a:solidFill>
            <a:srgbClr val="0033A0"/>
          </a:solidFill>
          <a:ln/>
        </p:spPr>
        <p:txBody>
          <a:bodyPr/>
          <a:lstStyle/>
          <a:p>
            <a:endParaRPr lang="es-MX"/>
          </a:p>
        </p:txBody>
      </p:sp>
      <p:sp>
        <p:nvSpPr>
          <p:cNvPr id="16" name="s26-texto-15"/>
          <p:cNvSpPr txBox="1"/>
          <p:nvPr/>
        </p:nvSpPr>
        <p:spPr>
          <a:xfrm>
            <a:off x="6742139" y="2193463"/>
            <a:ext cx="185430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PUEDE EJECUTAR</a:t>
            </a:r>
            <a:endParaRPr lang="en-US" sz="855" dirty="0"/>
          </a:p>
        </p:txBody>
      </p:sp>
      <p:sp>
        <p:nvSpPr>
          <p:cNvPr id="17" name="s26-forma-16"/>
          <p:cNvSpPr/>
          <p:nvPr/>
        </p:nvSpPr>
        <p:spPr>
          <a:xfrm>
            <a:off x="8567465" y="2144634"/>
            <a:ext cx="2281658" cy="226202"/>
          </a:xfrm>
          <a:prstGeom prst="rect">
            <a:avLst/>
          </a:prstGeom>
          <a:ln/>
        </p:spPr>
        <p:txBody>
          <a:bodyPr/>
          <a:lstStyle/>
          <a:p>
            <a:endParaRPr lang="es-MX"/>
          </a:p>
        </p:txBody>
      </p:sp>
      <p:sp>
        <p:nvSpPr>
          <p:cNvPr id="18" name="s26-forma-17"/>
          <p:cNvSpPr/>
          <p:nvPr/>
        </p:nvSpPr>
        <p:spPr>
          <a:xfrm>
            <a:off x="8567465" y="2365122"/>
            <a:ext cx="2281658" cy="5713"/>
          </a:xfrm>
          <a:prstGeom prst="rect">
            <a:avLst/>
          </a:prstGeom>
          <a:solidFill>
            <a:srgbClr val="0033A0"/>
          </a:solidFill>
          <a:ln/>
        </p:spPr>
        <p:txBody>
          <a:bodyPr/>
          <a:lstStyle/>
          <a:p>
            <a:endParaRPr lang="es-MX"/>
          </a:p>
        </p:txBody>
      </p:sp>
      <p:sp>
        <p:nvSpPr>
          <p:cNvPr id="19" name="s26-texto-18"/>
          <p:cNvSpPr txBox="1"/>
          <p:nvPr/>
        </p:nvSpPr>
        <p:spPr>
          <a:xfrm>
            <a:off x="8643431" y="2193463"/>
            <a:ext cx="2257491"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ENTREGA</a:t>
            </a:r>
            <a:endParaRPr lang="en-US" sz="855" dirty="0"/>
          </a:p>
        </p:txBody>
      </p:sp>
      <p:sp>
        <p:nvSpPr>
          <p:cNvPr id="20" name="s26-forma-19"/>
          <p:cNvSpPr/>
          <p:nvPr/>
        </p:nvSpPr>
        <p:spPr>
          <a:xfrm>
            <a:off x="1342572" y="2370836"/>
            <a:ext cx="2091431" cy="316361"/>
          </a:xfrm>
          <a:prstGeom prst="rect">
            <a:avLst/>
          </a:prstGeom>
          <a:ln/>
        </p:spPr>
        <p:txBody>
          <a:bodyPr/>
          <a:lstStyle/>
          <a:p>
            <a:endParaRPr lang="es-MX"/>
          </a:p>
        </p:txBody>
      </p:sp>
      <p:sp>
        <p:nvSpPr>
          <p:cNvPr id="21" name="s26-forma-20"/>
          <p:cNvSpPr/>
          <p:nvPr/>
        </p:nvSpPr>
        <p:spPr>
          <a:xfrm>
            <a:off x="1342572" y="2681484"/>
            <a:ext cx="2091431" cy="5713"/>
          </a:xfrm>
          <a:prstGeom prst="rect">
            <a:avLst/>
          </a:prstGeom>
          <a:solidFill>
            <a:srgbClr val="DBD4C4"/>
          </a:solidFill>
          <a:ln/>
        </p:spPr>
        <p:txBody>
          <a:bodyPr/>
          <a:lstStyle/>
          <a:p>
            <a:endParaRPr lang="es-MX"/>
          </a:p>
        </p:txBody>
      </p:sp>
      <p:sp>
        <p:nvSpPr>
          <p:cNvPr id="22" name="s26-texto-21"/>
          <p:cNvSpPr txBox="1"/>
          <p:nvPr/>
        </p:nvSpPr>
        <p:spPr>
          <a:xfrm>
            <a:off x="1446478" y="2440464"/>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1 · 2</a:t>
            </a:r>
            <a:r>
              <a:rPr lang="en-US" sz="1170" dirty="0">
                <a:solidFill>
                  <a:srgbClr val="16181D"/>
                </a:solidFill>
                <a:latin typeface="Arial" pitchFamily="34" charset="0"/>
                <a:ea typeface="Arial" pitchFamily="34" charset="-122"/>
                <a:cs typeface="Arial" pitchFamily="34" charset="-120"/>
              </a:rPr>
              <a:t> Analista y diseñador</a:t>
            </a:r>
            <a:endParaRPr lang="en-US" sz="1170" dirty="0"/>
          </a:p>
        </p:txBody>
      </p:sp>
      <p:sp>
        <p:nvSpPr>
          <p:cNvPr id="23" name="s26-forma-22"/>
          <p:cNvSpPr/>
          <p:nvPr/>
        </p:nvSpPr>
        <p:spPr>
          <a:xfrm>
            <a:off x="3434002" y="2370836"/>
            <a:ext cx="3232170" cy="316361"/>
          </a:xfrm>
          <a:prstGeom prst="rect">
            <a:avLst/>
          </a:prstGeom>
          <a:ln/>
        </p:spPr>
        <p:txBody>
          <a:bodyPr/>
          <a:lstStyle/>
          <a:p>
            <a:endParaRPr lang="es-MX"/>
          </a:p>
        </p:txBody>
      </p:sp>
      <p:sp>
        <p:nvSpPr>
          <p:cNvPr id="24" name="s26-forma-23"/>
          <p:cNvSpPr/>
          <p:nvPr/>
        </p:nvSpPr>
        <p:spPr>
          <a:xfrm>
            <a:off x="3434002" y="2681484"/>
            <a:ext cx="3232170" cy="5713"/>
          </a:xfrm>
          <a:prstGeom prst="rect">
            <a:avLst/>
          </a:prstGeom>
          <a:solidFill>
            <a:srgbClr val="DBD4C4"/>
          </a:solidFill>
          <a:ln/>
        </p:spPr>
        <p:txBody>
          <a:bodyPr/>
          <a:lstStyle/>
          <a:p>
            <a:endParaRPr lang="es-MX"/>
          </a:p>
        </p:txBody>
      </p:sp>
      <p:sp>
        <p:nvSpPr>
          <p:cNvPr id="25" name="s26-texto-24"/>
          <p:cNvSpPr txBox="1"/>
          <p:nvPr/>
        </p:nvSpPr>
        <p:spPr>
          <a:xfrm>
            <a:off x="3537909" y="2440464"/>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salida/HU-xx/</a:t>
            </a:r>
            <a:endParaRPr lang="en-US" sz="1170" dirty="0"/>
          </a:p>
        </p:txBody>
      </p:sp>
      <p:sp>
        <p:nvSpPr>
          <p:cNvPr id="26" name="s26-forma-25"/>
          <p:cNvSpPr/>
          <p:nvPr/>
        </p:nvSpPr>
        <p:spPr>
          <a:xfrm>
            <a:off x="6666173" y="2370836"/>
            <a:ext cx="1901292" cy="316361"/>
          </a:xfrm>
          <a:prstGeom prst="rect">
            <a:avLst/>
          </a:prstGeom>
          <a:ln/>
        </p:spPr>
        <p:txBody>
          <a:bodyPr/>
          <a:lstStyle/>
          <a:p>
            <a:endParaRPr lang="es-MX"/>
          </a:p>
        </p:txBody>
      </p:sp>
      <p:sp>
        <p:nvSpPr>
          <p:cNvPr id="27" name="s26-forma-26"/>
          <p:cNvSpPr/>
          <p:nvPr/>
        </p:nvSpPr>
        <p:spPr>
          <a:xfrm>
            <a:off x="6666173" y="2681484"/>
            <a:ext cx="1901292" cy="5713"/>
          </a:xfrm>
          <a:prstGeom prst="rect">
            <a:avLst/>
          </a:prstGeom>
          <a:solidFill>
            <a:srgbClr val="DBD4C4"/>
          </a:solidFill>
          <a:ln/>
        </p:spPr>
        <p:txBody>
          <a:bodyPr/>
          <a:lstStyle/>
          <a:p>
            <a:endParaRPr lang="es-MX"/>
          </a:p>
        </p:txBody>
      </p:sp>
      <p:sp>
        <p:nvSpPr>
          <p:cNvPr id="28" name="s26-texto-27"/>
          <p:cNvSpPr txBox="1"/>
          <p:nvPr/>
        </p:nvSpPr>
        <p:spPr>
          <a:xfrm>
            <a:off x="6770079" y="2440464"/>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Nada</a:t>
            </a:r>
            <a:endParaRPr lang="en-US" sz="1170" dirty="0"/>
          </a:p>
        </p:txBody>
      </p:sp>
      <p:sp>
        <p:nvSpPr>
          <p:cNvPr id="29" name="s26-forma-28"/>
          <p:cNvSpPr/>
          <p:nvPr/>
        </p:nvSpPr>
        <p:spPr>
          <a:xfrm>
            <a:off x="8567465" y="2370836"/>
            <a:ext cx="2281658" cy="316361"/>
          </a:xfrm>
          <a:prstGeom prst="rect">
            <a:avLst/>
          </a:prstGeom>
          <a:ln/>
        </p:spPr>
        <p:txBody>
          <a:bodyPr/>
          <a:lstStyle/>
          <a:p>
            <a:endParaRPr lang="es-MX"/>
          </a:p>
        </p:txBody>
      </p:sp>
      <p:sp>
        <p:nvSpPr>
          <p:cNvPr id="30" name="s26-forma-29"/>
          <p:cNvSpPr/>
          <p:nvPr/>
        </p:nvSpPr>
        <p:spPr>
          <a:xfrm>
            <a:off x="8567465" y="2681484"/>
            <a:ext cx="2281658" cy="5713"/>
          </a:xfrm>
          <a:prstGeom prst="rect">
            <a:avLst/>
          </a:prstGeom>
          <a:solidFill>
            <a:srgbClr val="DBD4C4"/>
          </a:solidFill>
          <a:ln/>
        </p:spPr>
        <p:txBody>
          <a:bodyPr/>
          <a:lstStyle/>
          <a:p>
            <a:endParaRPr lang="es-MX"/>
          </a:p>
        </p:txBody>
      </p:sp>
      <p:sp>
        <p:nvSpPr>
          <p:cNvPr id="31" name="s26-texto-30"/>
          <p:cNvSpPr txBox="1"/>
          <p:nvPr/>
        </p:nvSpPr>
        <p:spPr>
          <a:xfrm>
            <a:off x="8671372" y="2440464"/>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.feature y .json</a:t>
            </a:r>
            <a:endParaRPr lang="en-US" sz="1170" dirty="0"/>
          </a:p>
        </p:txBody>
      </p:sp>
      <p:sp>
        <p:nvSpPr>
          <p:cNvPr id="32" name="s26-forma-31"/>
          <p:cNvSpPr/>
          <p:nvPr/>
        </p:nvSpPr>
        <p:spPr>
          <a:xfrm>
            <a:off x="1342572" y="2687197"/>
            <a:ext cx="2091431" cy="316361"/>
          </a:xfrm>
          <a:prstGeom prst="rect">
            <a:avLst/>
          </a:prstGeom>
          <a:ln/>
        </p:spPr>
        <p:txBody>
          <a:bodyPr/>
          <a:lstStyle/>
          <a:p>
            <a:endParaRPr lang="es-MX"/>
          </a:p>
        </p:txBody>
      </p:sp>
      <p:sp>
        <p:nvSpPr>
          <p:cNvPr id="33" name="s26-forma-32"/>
          <p:cNvSpPr/>
          <p:nvPr/>
        </p:nvSpPr>
        <p:spPr>
          <a:xfrm>
            <a:off x="1342572" y="2997845"/>
            <a:ext cx="2091431" cy="5713"/>
          </a:xfrm>
          <a:prstGeom prst="rect">
            <a:avLst/>
          </a:prstGeom>
          <a:solidFill>
            <a:srgbClr val="DBD4C4"/>
          </a:solidFill>
          <a:ln/>
        </p:spPr>
        <p:txBody>
          <a:bodyPr/>
          <a:lstStyle/>
          <a:p>
            <a:endParaRPr lang="es-MX"/>
          </a:p>
        </p:txBody>
      </p:sp>
      <p:sp>
        <p:nvSpPr>
          <p:cNvPr id="34" name="s26-texto-33"/>
          <p:cNvSpPr txBox="1"/>
          <p:nvPr/>
        </p:nvSpPr>
        <p:spPr>
          <a:xfrm>
            <a:off x="1446478" y="2756825"/>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3</a:t>
            </a:r>
            <a:r>
              <a:rPr lang="en-US" sz="1170" dirty="0">
                <a:solidFill>
                  <a:srgbClr val="16181D"/>
                </a:solidFill>
                <a:latin typeface="Arial" pitchFamily="34" charset="0"/>
                <a:ea typeface="Arial" pitchFamily="34" charset="-122"/>
                <a:cs typeface="Arial" pitchFamily="34" charset="-120"/>
              </a:rPr>
              <a:t> Desarrollador</a:t>
            </a:r>
            <a:endParaRPr lang="en-US" sz="1170" dirty="0"/>
          </a:p>
        </p:txBody>
      </p:sp>
      <p:sp>
        <p:nvSpPr>
          <p:cNvPr id="35" name="s26-forma-34"/>
          <p:cNvSpPr/>
          <p:nvPr/>
        </p:nvSpPr>
        <p:spPr>
          <a:xfrm>
            <a:off x="3434002" y="2687197"/>
            <a:ext cx="3232170" cy="316361"/>
          </a:xfrm>
          <a:prstGeom prst="rect">
            <a:avLst/>
          </a:prstGeom>
          <a:ln/>
        </p:spPr>
        <p:txBody>
          <a:bodyPr/>
          <a:lstStyle/>
          <a:p>
            <a:endParaRPr lang="es-MX"/>
          </a:p>
        </p:txBody>
      </p:sp>
      <p:sp>
        <p:nvSpPr>
          <p:cNvPr id="36" name="s26-forma-35"/>
          <p:cNvSpPr/>
          <p:nvPr/>
        </p:nvSpPr>
        <p:spPr>
          <a:xfrm>
            <a:off x="3434002" y="2997845"/>
            <a:ext cx="3232170" cy="5713"/>
          </a:xfrm>
          <a:prstGeom prst="rect">
            <a:avLst/>
          </a:prstGeom>
          <a:solidFill>
            <a:srgbClr val="DBD4C4"/>
          </a:solidFill>
          <a:ln/>
        </p:spPr>
        <p:txBody>
          <a:bodyPr/>
          <a:lstStyle/>
          <a:p>
            <a:endParaRPr lang="es-MX"/>
          </a:p>
        </p:txBody>
      </p:sp>
      <p:sp>
        <p:nvSpPr>
          <p:cNvPr id="37" name="s26-texto-36"/>
          <p:cNvSpPr txBox="1"/>
          <p:nvPr/>
        </p:nvSpPr>
        <p:spPr>
          <a:xfrm>
            <a:off x="3537909" y="2756825"/>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backend/*, frontend/*</a:t>
            </a:r>
            <a:endParaRPr lang="en-US" sz="1170" dirty="0"/>
          </a:p>
        </p:txBody>
      </p:sp>
      <p:sp>
        <p:nvSpPr>
          <p:cNvPr id="38" name="s26-forma-37"/>
          <p:cNvSpPr/>
          <p:nvPr/>
        </p:nvSpPr>
        <p:spPr>
          <a:xfrm>
            <a:off x="6666173" y="2687197"/>
            <a:ext cx="1901292" cy="316361"/>
          </a:xfrm>
          <a:prstGeom prst="rect">
            <a:avLst/>
          </a:prstGeom>
          <a:ln/>
        </p:spPr>
        <p:txBody>
          <a:bodyPr/>
          <a:lstStyle/>
          <a:p>
            <a:endParaRPr lang="es-MX"/>
          </a:p>
        </p:txBody>
      </p:sp>
      <p:sp>
        <p:nvSpPr>
          <p:cNvPr id="39" name="s26-forma-38"/>
          <p:cNvSpPr/>
          <p:nvPr/>
        </p:nvSpPr>
        <p:spPr>
          <a:xfrm>
            <a:off x="6666173" y="2997845"/>
            <a:ext cx="1901292" cy="5713"/>
          </a:xfrm>
          <a:prstGeom prst="rect">
            <a:avLst/>
          </a:prstGeom>
          <a:solidFill>
            <a:srgbClr val="DBD4C4"/>
          </a:solidFill>
          <a:ln/>
        </p:spPr>
        <p:txBody>
          <a:bodyPr/>
          <a:lstStyle/>
          <a:p>
            <a:endParaRPr lang="es-MX"/>
          </a:p>
        </p:txBody>
      </p:sp>
      <p:sp>
        <p:nvSpPr>
          <p:cNvPr id="40" name="s26-texto-39"/>
          <p:cNvSpPr txBox="1"/>
          <p:nvPr/>
        </p:nvSpPr>
        <p:spPr>
          <a:xfrm>
            <a:off x="6770079" y="2756825"/>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npm, python</a:t>
            </a:r>
            <a:endParaRPr lang="en-US" sz="1170" dirty="0"/>
          </a:p>
        </p:txBody>
      </p:sp>
      <p:sp>
        <p:nvSpPr>
          <p:cNvPr id="41" name="s26-forma-40"/>
          <p:cNvSpPr/>
          <p:nvPr/>
        </p:nvSpPr>
        <p:spPr>
          <a:xfrm>
            <a:off x="8567465" y="2687197"/>
            <a:ext cx="2281658" cy="316361"/>
          </a:xfrm>
          <a:prstGeom prst="rect">
            <a:avLst/>
          </a:prstGeom>
          <a:ln/>
        </p:spPr>
        <p:txBody>
          <a:bodyPr/>
          <a:lstStyle/>
          <a:p>
            <a:endParaRPr lang="es-MX"/>
          </a:p>
        </p:txBody>
      </p:sp>
      <p:sp>
        <p:nvSpPr>
          <p:cNvPr id="42" name="s26-forma-41"/>
          <p:cNvSpPr/>
          <p:nvPr/>
        </p:nvSpPr>
        <p:spPr>
          <a:xfrm>
            <a:off x="8567465" y="2997845"/>
            <a:ext cx="2281658" cy="5713"/>
          </a:xfrm>
          <a:prstGeom prst="rect">
            <a:avLst/>
          </a:prstGeom>
          <a:solidFill>
            <a:srgbClr val="DBD4C4"/>
          </a:solidFill>
          <a:ln/>
        </p:spPr>
        <p:txBody>
          <a:bodyPr/>
          <a:lstStyle/>
          <a:p>
            <a:endParaRPr lang="es-MX"/>
          </a:p>
        </p:txBody>
      </p:sp>
      <p:sp>
        <p:nvSpPr>
          <p:cNvPr id="43" name="s26-texto-42"/>
          <p:cNvSpPr txBox="1"/>
          <p:nvPr/>
        </p:nvSpPr>
        <p:spPr>
          <a:xfrm>
            <a:off x="8671372" y="2756825"/>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App que arranca</a:t>
            </a:r>
            <a:endParaRPr lang="en-US" sz="1170" dirty="0"/>
          </a:p>
        </p:txBody>
      </p:sp>
      <p:sp>
        <p:nvSpPr>
          <p:cNvPr id="44" name="s26-forma-43"/>
          <p:cNvSpPr/>
          <p:nvPr/>
        </p:nvSpPr>
        <p:spPr>
          <a:xfrm>
            <a:off x="1342572" y="3003558"/>
            <a:ext cx="9506551" cy="316361"/>
          </a:xfrm>
          <a:prstGeom prst="rect">
            <a:avLst/>
          </a:prstGeom>
          <a:solidFill>
            <a:srgbClr val="E2D3C2"/>
          </a:solidFill>
          <a:ln/>
        </p:spPr>
        <p:txBody>
          <a:bodyPr/>
          <a:lstStyle/>
          <a:p>
            <a:endParaRPr lang="es-MX"/>
          </a:p>
        </p:txBody>
      </p:sp>
      <p:sp>
        <p:nvSpPr>
          <p:cNvPr id="45" name="s26-forma-44"/>
          <p:cNvSpPr/>
          <p:nvPr/>
        </p:nvSpPr>
        <p:spPr>
          <a:xfrm>
            <a:off x="1342572" y="3003558"/>
            <a:ext cx="2091431" cy="316361"/>
          </a:xfrm>
          <a:prstGeom prst="rect">
            <a:avLst/>
          </a:prstGeom>
          <a:ln/>
        </p:spPr>
        <p:txBody>
          <a:bodyPr/>
          <a:lstStyle/>
          <a:p>
            <a:endParaRPr lang="es-MX"/>
          </a:p>
        </p:txBody>
      </p:sp>
      <p:sp>
        <p:nvSpPr>
          <p:cNvPr id="46" name="s26-forma-45"/>
          <p:cNvSpPr/>
          <p:nvPr/>
        </p:nvSpPr>
        <p:spPr>
          <a:xfrm>
            <a:off x="1342572" y="3314207"/>
            <a:ext cx="2091431" cy="5713"/>
          </a:xfrm>
          <a:prstGeom prst="rect">
            <a:avLst/>
          </a:prstGeom>
          <a:solidFill>
            <a:srgbClr val="DBD4C4"/>
          </a:solidFill>
          <a:ln/>
        </p:spPr>
        <p:txBody>
          <a:bodyPr/>
          <a:lstStyle/>
          <a:p>
            <a:endParaRPr lang="es-MX"/>
          </a:p>
        </p:txBody>
      </p:sp>
      <p:sp>
        <p:nvSpPr>
          <p:cNvPr id="47" name="s26-texto-46"/>
          <p:cNvSpPr txBox="1"/>
          <p:nvPr/>
        </p:nvSpPr>
        <p:spPr>
          <a:xfrm>
            <a:off x="1446478" y="3073186"/>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4</a:t>
            </a:r>
            <a:r>
              <a:rPr lang="en-US" sz="1170" dirty="0">
                <a:solidFill>
                  <a:srgbClr val="16181D"/>
                </a:solidFill>
                <a:latin typeface="Arial" pitchFamily="34" charset="0"/>
                <a:ea typeface="Arial" pitchFamily="34" charset="-122"/>
                <a:cs typeface="Arial" pitchFamily="34" charset="-120"/>
              </a:rPr>
              <a:t> Despliegue</a:t>
            </a:r>
            <a:endParaRPr lang="en-US" sz="1170" dirty="0"/>
          </a:p>
        </p:txBody>
      </p:sp>
      <p:sp>
        <p:nvSpPr>
          <p:cNvPr id="48" name="s26-forma-47"/>
          <p:cNvSpPr/>
          <p:nvPr/>
        </p:nvSpPr>
        <p:spPr>
          <a:xfrm>
            <a:off x="3434002" y="3003558"/>
            <a:ext cx="3232170" cy="316361"/>
          </a:xfrm>
          <a:prstGeom prst="rect">
            <a:avLst/>
          </a:prstGeom>
          <a:ln/>
        </p:spPr>
        <p:txBody>
          <a:bodyPr/>
          <a:lstStyle/>
          <a:p>
            <a:endParaRPr lang="es-MX"/>
          </a:p>
        </p:txBody>
      </p:sp>
      <p:sp>
        <p:nvSpPr>
          <p:cNvPr id="49" name="s26-forma-48"/>
          <p:cNvSpPr/>
          <p:nvPr/>
        </p:nvSpPr>
        <p:spPr>
          <a:xfrm>
            <a:off x="3434002" y="3314207"/>
            <a:ext cx="3232170" cy="5713"/>
          </a:xfrm>
          <a:prstGeom prst="rect">
            <a:avLst/>
          </a:prstGeom>
          <a:solidFill>
            <a:srgbClr val="DBD4C4"/>
          </a:solidFill>
          <a:ln/>
        </p:spPr>
        <p:txBody>
          <a:bodyPr/>
          <a:lstStyle/>
          <a:p>
            <a:endParaRPr lang="es-MX"/>
          </a:p>
        </p:txBody>
      </p:sp>
      <p:sp>
        <p:nvSpPr>
          <p:cNvPr id="50" name="s26-texto-49"/>
          <p:cNvSpPr txBox="1"/>
          <p:nvPr/>
        </p:nvSpPr>
        <p:spPr>
          <a:xfrm>
            <a:off x="3537909" y="3073186"/>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Dockerfiles y compose</a:t>
            </a:r>
            <a:endParaRPr lang="en-US" sz="1170" dirty="0"/>
          </a:p>
        </p:txBody>
      </p:sp>
      <p:sp>
        <p:nvSpPr>
          <p:cNvPr id="51" name="s26-forma-50"/>
          <p:cNvSpPr/>
          <p:nvPr/>
        </p:nvSpPr>
        <p:spPr>
          <a:xfrm>
            <a:off x="6666173" y="3003558"/>
            <a:ext cx="1901292" cy="316361"/>
          </a:xfrm>
          <a:prstGeom prst="rect">
            <a:avLst/>
          </a:prstGeom>
          <a:ln/>
        </p:spPr>
        <p:txBody>
          <a:bodyPr/>
          <a:lstStyle/>
          <a:p>
            <a:endParaRPr lang="es-MX"/>
          </a:p>
        </p:txBody>
      </p:sp>
      <p:sp>
        <p:nvSpPr>
          <p:cNvPr id="52" name="s26-forma-51"/>
          <p:cNvSpPr/>
          <p:nvPr/>
        </p:nvSpPr>
        <p:spPr>
          <a:xfrm>
            <a:off x="6666173" y="3314207"/>
            <a:ext cx="1901292" cy="5713"/>
          </a:xfrm>
          <a:prstGeom prst="rect">
            <a:avLst/>
          </a:prstGeom>
          <a:solidFill>
            <a:srgbClr val="DBD4C4"/>
          </a:solidFill>
          <a:ln/>
        </p:spPr>
        <p:txBody>
          <a:bodyPr/>
          <a:lstStyle/>
          <a:p>
            <a:endParaRPr lang="es-MX"/>
          </a:p>
        </p:txBody>
      </p:sp>
      <p:sp>
        <p:nvSpPr>
          <p:cNvPr id="53" name="s26-texto-52"/>
          <p:cNvSpPr txBox="1"/>
          <p:nvPr/>
        </p:nvSpPr>
        <p:spPr>
          <a:xfrm>
            <a:off x="6770079" y="3073186"/>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docker, curl</a:t>
            </a:r>
            <a:endParaRPr lang="en-US" sz="1170" dirty="0"/>
          </a:p>
        </p:txBody>
      </p:sp>
      <p:sp>
        <p:nvSpPr>
          <p:cNvPr id="54" name="s26-forma-53"/>
          <p:cNvSpPr/>
          <p:nvPr/>
        </p:nvSpPr>
        <p:spPr>
          <a:xfrm>
            <a:off x="8567465" y="3003558"/>
            <a:ext cx="2281658" cy="316361"/>
          </a:xfrm>
          <a:prstGeom prst="rect">
            <a:avLst/>
          </a:prstGeom>
          <a:ln/>
        </p:spPr>
        <p:txBody>
          <a:bodyPr/>
          <a:lstStyle/>
          <a:p>
            <a:endParaRPr lang="es-MX"/>
          </a:p>
        </p:txBody>
      </p:sp>
      <p:sp>
        <p:nvSpPr>
          <p:cNvPr id="55" name="s26-forma-54"/>
          <p:cNvSpPr/>
          <p:nvPr/>
        </p:nvSpPr>
        <p:spPr>
          <a:xfrm>
            <a:off x="8567465" y="3314207"/>
            <a:ext cx="2281658" cy="5713"/>
          </a:xfrm>
          <a:prstGeom prst="rect">
            <a:avLst/>
          </a:prstGeom>
          <a:solidFill>
            <a:srgbClr val="DBD4C4"/>
          </a:solidFill>
          <a:ln/>
        </p:spPr>
        <p:txBody>
          <a:bodyPr/>
          <a:lstStyle/>
          <a:p>
            <a:endParaRPr lang="es-MX"/>
          </a:p>
        </p:txBody>
      </p:sp>
      <p:sp>
        <p:nvSpPr>
          <p:cNvPr id="56" name="s26-texto-55"/>
          <p:cNvSpPr txBox="1"/>
          <p:nvPr/>
        </p:nvSpPr>
        <p:spPr>
          <a:xfrm>
            <a:off x="8671372" y="3073186"/>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Contenedores sanos</a:t>
            </a:r>
            <a:endParaRPr lang="en-US" sz="1170" dirty="0"/>
          </a:p>
        </p:txBody>
      </p:sp>
      <p:sp>
        <p:nvSpPr>
          <p:cNvPr id="57" name="s26-forma-56"/>
          <p:cNvSpPr/>
          <p:nvPr/>
        </p:nvSpPr>
        <p:spPr>
          <a:xfrm>
            <a:off x="1342572" y="3319920"/>
            <a:ext cx="9506551" cy="313505"/>
          </a:xfrm>
          <a:prstGeom prst="rect">
            <a:avLst/>
          </a:prstGeom>
          <a:solidFill>
            <a:srgbClr val="E2D3C2"/>
          </a:solidFill>
          <a:ln/>
        </p:spPr>
        <p:txBody>
          <a:bodyPr/>
          <a:lstStyle/>
          <a:p>
            <a:endParaRPr lang="es-MX"/>
          </a:p>
        </p:txBody>
      </p:sp>
      <p:sp>
        <p:nvSpPr>
          <p:cNvPr id="58" name="s26-texto-57"/>
          <p:cNvSpPr txBox="1"/>
          <p:nvPr/>
        </p:nvSpPr>
        <p:spPr>
          <a:xfrm>
            <a:off x="1446478" y="3389548"/>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5</a:t>
            </a:r>
            <a:r>
              <a:rPr lang="en-US" sz="1170" dirty="0">
                <a:solidFill>
                  <a:srgbClr val="16181D"/>
                </a:solidFill>
                <a:latin typeface="Arial" pitchFamily="34" charset="0"/>
                <a:ea typeface="Arial" pitchFamily="34" charset="-122"/>
                <a:cs typeface="Arial" pitchFamily="34" charset="-120"/>
              </a:rPr>
              <a:t> Automatizador</a:t>
            </a:r>
            <a:endParaRPr lang="en-US" sz="1170" dirty="0"/>
          </a:p>
        </p:txBody>
      </p:sp>
      <p:sp>
        <p:nvSpPr>
          <p:cNvPr id="59" name="s26-texto-58"/>
          <p:cNvSpPr txBox="1"/>
          <p:nvPr/>
        </p:nvSpPr>
        <p:spPr>
          <a:xfrm>
            <a:off x="3537909" y="3389548"/>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tests/*</a:t>
            </a:r>
            <a:endParaRPr lang="en-US" sz="1170" dirty="0"/>
          </a:p>
        </p:txBody>
      </p:sp>
      <p:sp>
        <p:nvSpPr>
          <p:cNvPr id="60" name="s26-texto-59"/>
          <p:cNvSpPr txBox="1"/>
          <p:nvPr/>
        </p:nvSpPr>
        <p:spPr>
          <a:xfrm>
            <a:off x="6770079" y="3389548"/>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python, pytest</a:t>
            </a:r>
            <a:endParaRPr lang="en-US" sz="1170" dirty="0"/>
          </a:p>
        </p:txBody>
      </p:sp>
      <p:sp>
        <p:nvSpPr>
          <p:cNvPr id="61" name="s26-texto-60"/>
          <p:cNvSpPr txBox="1"/>
          <p:nvPr/>
        </p:nvSpPr>
        <p:spPr>
          <a:xfrm>
            <a:off x="8671372" y="3389548"/>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 test por caso</a:t>
            </a:r>
            <a:endParaRPr lang="en-US" sz="1170" dirty="0"/>
          </a:p>
        </p:txBody>
      </p:sp>
      <p:sp>
        <p:nvSpPr>
          <p:cNvPr id="62" name="s26-forma-61"/>
          <p:cNvSpPr/>
          <p:nvPr/>
        </p:nvSpPr>
        <p:spPr>
          <a:xfrm>
            <a:off x="1342572" y="3907652"/>
            <a:ext cx="9506551" cy="331358"/>
          </a:xfrm>
          <a:prstGeom prst="rect">
            <a:avLst/>
          </a:prstGeom>
          <a:ln/>
        </p:spPr>
        <p:txBody>
          <a:bodyPr/>
          <a:lstStyle/>
          <a:p>
            <a:endParaRPr lang="es-MX"/>
          </a:p>
        </p:txBody>
      </p:sp>
      <p:sp>
        <p:nvSpPr>
          <p:cNvPr id="63" name="s26-forma-62"/>
          <p:cNvSpPr/>
          <p:nvPr/>
        </p:nvSpPr>
        <p:spPr>
          <a:xfrm>
            <a:off x="1342572" y="3907652"/>
            <a:ext cx="34278" cy="331358"/>
          </a:xfrm>
          <a:prstGeom prst="rect">
            <a:avLst/>
          </a:prstGeom>
          <a:solidFill>
            <a:srgbClr val="984514"/>
          </a:solidFill>
          <a:ln/>
        </p:spPr>
        <p:txBody>
          <a:bodyPr/>
          <a:lstStyle/>
          <a:p>
            <a:endParaRPr lang="es-MX"/>
          </a:p>
        </p:txBody>
      </p:sp>
      <p:sp>
        <p:nvSpPr>
          <p:cNvPr id="64" name="s26-texto-63"/>
          <p:cNvSpPr txBox="1"/>
          <p:nvPr/>
        </p:nvSpPr>
        <p:spPr>
          <a:xfrm>
            <a:off x="1559669" y="3976209"/>
            <a:ext cx="965303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Los permisos viven en </a:t>
            </a:r>
            <a:r>
              <a:rPr lang="en-US" sz="1350" b="1" dirty="0">
                <a:solidFill>
                  <a:srgbClr val="0033A0"/>
                </a:solidFill>
                <a:latin typeface="Arial" pitchFamily="34" charset="0"/>
                <a:ea typeface="Arial" pitchFamily="34" charset="-122"/>
                <a:cs typeface="Arial" pitchFamily="34" charset="-120"/>
              </a:rPr>
              <a:t>hooks</a:t>
            </a:r>
            <a:r>
              <a:rPr lang="en-US" sz="1350" dirty="0">
                <a:solidFill>
                  <a:srgbClr val="16181D"/>
                </a:solidFill>
                <a:latin typeface="Arial" pitchFamily="34" charset="0"/>
                <a:ea typeface="Arial" pitchFamily="34" charset="-122"/>
                <a:cs typeface="Arial" pitchFamily="34" charset="-120"/>
              </a:rPr>
              <a:t>, no en el prompt. Los archivos de salida/ son el contrato.</a:t>
            </a:r>
            <a:endParaRPr lang="en-US" sz="1350" dirty="0"/>
          </a:p>
        </p:txBody>
      </p:sp>
      <p:sp>
        <p:nvSpPr>
          <p:cNvPr id="65" name="s26-texto-6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Más allá de un disco compartido: MCP conecta agentes con herramientas (siguiente) y A2A, agentes entre sistemas</a:t>
            </a:r>
            <a:endParaRPr lang="en-US" sz="1080" dirty="0"/>
          </a:p>
        </p:txBody>
      </p:sp>
      <p:sp>
        <p:nvSpPr>
          <p:cNvPr id="66" name="s26-forma-65"/>
          <p:cNvSpPr/>
          <p:nvPr/>
        </p:nvSpPr>
        <p:spPr>
          <a:xfrm>
            <a:off x="853390" y="6411138"/>
            <a:ext cx="10484915" cy="5713"/>
          </a:xfrm>
          <a:prstGeom prst="rect">
            <a:avLst/>
          </a:prstGeom>
          <a:solidFill>
            <a:srgbClr val="DBD4C4"/>
          </a:solidFill>
          <a:ln/>
        </p:spPr>
        <p:txBody>
          <a:bodyPr/>
          <a:lstStyle/>
          <a:p>
            <a:endParaRPr lang="es-MX"/>
          </a:p>
        </p:txBody>
      </p:sp>
      <p:pic>
        <p:nvPicPr>
          <p:cNvPr id="67" name="s26-logo-66" descr="preencoded.png"/>
          <p:cNvPicPr>
            <a:picLocks noChangeAspect="1"/>
          </p:cNvPicPr>
          <p:nvPr/>
        </p:nvPicPr>
        <p:blipFill>
          <a:blip r:embed="rId3"/>
          <a:stretch>
            <a:fillRect/>
          </a:stretch>
        </p:blipFill>
        <p:spPr>
          <a:xfrm>
            <a:off x="853390" y="6465055"/>
            <a:ext cx="687800" cy="212455"/>
          </a:xfrm>
          <a:prstGeom prst="rect">
            <a:avLst/>
          </a:prstGeom>
        </p:spPr>
      </p:pic>
      <p:sp>
        <p:nvSpPr>
          <p:cNvPr id="68" name="s26-forma-67"/>
          <p:cNvSpPr/>
          <p:nvPr/>
        </p:nvSpPr>
        <p:spPr>
          <a:xfrm>
            <a:off x="1659380" y="6519865"/>
            <a:ext cx="2926878" cy="102835"/>
          </a:xfrm>
          <a:prstGeom prst="rect">
            <a:avLst/>
          </a:prstGeom>
          <a:ln/>
        </p:spPr>
        <p:txBody>
          <a:bodyPr/>
          <a:lstStyle/>
          <a:p>
            <a:endParaRPr lang="es-MX"/>
          </a:p>
        </p:txBody>
      </p:sp>
      <p:sp>
        <p:nvSpPr>
          <p:cNvPr id="69" name="s26-forma-68"/>
          <p:cNvSpPr/>
          <p:nvPr/>
        </p:nvSpPr>
        <p:spPr>
          <a:xfrm>
            <a:off x="1659380" y="6519865"/>
            <a:ext cx="5713" cy="102835"/>
          </a:xfrm>
          <a:prstGeom prst="rect">
            <a:avLst/>
          </a:prstGeom>
          <a:solidFill>
            <a:srgbClr val="C6BFAE"/>
          </a:solidFill>
          <a:ln/>
        </p:spPr>
        <p:txBody>
          <a:bodyPr/>
          <a:lstStyle/>
          <a:p>
            <a:endParaRPr lang="es-MX"/>
          </a:p>
        </p:txBody>
      </p:sp>
      <p:sp>
        <p:nvSpPr>
          <p:cNvPr id="70" name="s26-texto-6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71" name="s26-texto-7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36</a:t>
            </a:r>
            <a:endParaRPr lang="en-US" sz="745" dirty="0"/>
          </a:p>
        </p:txBody>
      </p:sp>
      <p:sp>
        <p:nvSpPr>
          <p:cNvPr id="72" name="s26-forma-71"/>
          <p:cNvSpPr/>
          <p:nvPr/>
        </p:nvSpPr>
        <p:spPr>
          <a:xfrm>
            <a:off x="0" y="0"/>
            <a:ext cx="8805093" cy="17139"/>
          </a:xfrm>
          <a:prstGeom prst="rect">
            <a:avLst/>
          </a:prstGeom>
          <a:solidFill>
            <a:srgbClr val="0033A0"/>
          </a:solidFill>
          <a:ln/>
        </p:spPr>
        <p:txBody>
          <a:bodyPr/>
          <a:lstStyle/>
          <a:p>
            <a:endParaRPr lang="es-MX"/>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331715"/>
            <a:ext cx="81411" cy="81411"/>
          </a:xfrm>
          <a:prstGeom prst="ellipse">
            <a:avLst/>
          </a:prstGeom>
          <a:solidFill>
            <a:srgbClr val="0033A0"/>
          </a:solidFill>
          <a:ln/>
        </p:spPr>
        <p:txBody>
          <a:bodyPr/>
          <a:lstStyle/>
          <a:p>
            <a:endParaRPr lang="es-MX"/>
          </a:p>
        </p:txBody>
      </p:sp>
      <p:sp>
        <p:nvSpPr>
          <p:cNvPr id="3" name="s27-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7-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5" name="s27-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3.5</a:t>
            </a:r>
            <a:endParaRPr lang="en-US" sz="869" dirty="0"/>
          </a:p>
        </p:txBody>
      </p:sp>
      <p:sp>
        <p:nvSpPr>
          <p:cNvPr id="6" name="s27-forma-5"/>
          <p:cNvSpPr/>
          <p:nvPr/>
        </p:nvSpPr>
        <p:spPr>
          <a:xfrm>
            <a:off x="853390" y="3768306"/>
            <a:ext cx="722704" cy="22852"/>
          </a:xfrm>
          <a:prstGeom prst="rect">
            <a:avLst/>
          </a:prstGeom>
          <a:solidFill>
            <a:srgbClr val="0033A0"/>
          </a:solidFill>
          <a:ln/>
        </p:spPr>
        <p:txBody>
          <a:bodyPr/>
          <a:lstStyle/>
          <a:p>
            <a:endParaRPr lang="es-MX"/>
          </a:p>
        </p:txBody>
      </p:sp>
      <p:sp>
        <p:nvSpPr>
          <p:cNvPr id="7" name="s27-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MCP</a:t>
            </a:r>
            <a:endParaRPr lang="en-US" sz="4242" dirty="0"/>
          </a:p>
        </p:txBody>
      </p:sp>
      <p:sp>
        <p:nvSpPr>
          <p:cNvPr id="8" name="s27-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Herramientas que cualquier agente descubre.</a:t>
            </a:r>
            <a:endParaRPr lang="en-US" sz="1676" dirty="0"/>
          </a:p>
        </p:txBody>
      </p:sp>
      <p:pic>
        <p:nvPicPr>
          <p:cNvPr id="9" name="s27-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7-forma-9"/>
          <p:cNvSpPr/>
          <p:nvPr/>
        </p:nvSpPr>
        <p:spPr>
          <a:xfrm>
            <a:off x="1659380" y="6519865"/>
            <a:ext cx="2926878" cy="102835"/>
          </a:xfrm>
          <a:prstGeom prst="rect">
            <a:avLst/>
          </a:prstGeom>
          <a:ln/>
        </p:spPr>
        <p:txBody>
          <a:bodyPr/>
          <a:lstStyle/>
          <a:p>
            <a:endParaRPr lang="es-MX"/>
          </a:p>
        </p:txBody>
      </p:sp>
      <p:sp>
        <p:nvSpPr>
          <p:cNvPr id="11" name="s27-forma-10"/>
          <p:cNvSpPr/>
          <p:nvPr/>
        </p:nvSpPr>
        <p:spPr>
          <a:xfrm>
            <a:off x="1659380" y="6519865"/>
            <a:ext cx="5713" cy="102835"/>
          </a:xfrm>
          <a:prstGeom prst="rect">
            <a:avLst/>
          </a:prstGeom>
          <a:solidFill>
            <a:srgbClr val="C6BFAE"/>
          </a:solidFill>
          <a:ln/>
        </p:spPr>
        <p:txBody>
          <a:bodyPr/>
          <a:lstStyle/>
          <a:p>
            <a:endParaRPr lang="es-MX"/>
          </a:p>
        </p:txBody>
      </p:sp>
      <p:sp>
        <p:nvSpPr>
          <p:cNvPr id="12" name="s27-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7-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36</a:t>
            </a:r>
            <a:endParaRPr lang="en-US" sz="745" dirty="0"/>
          </a:p>
        </p:txBody>
      </p:sp>
      <p:sp>
        <p:nvSpPr>
          <p:cNvPr id="14" name="s27-forma-13"/>
          <p:cNvSpPr/>
          <p:nvPr/>
        </p:nvSpPr>
        <p:spPr>
          <a:xfrm>
            <a:off x="0" y="0"/>
            <a:ext cx="9143771" cy="17139"/>
          </a:xfrm>
          <a:prstGeom prst="rect">
            <a:avLst/>
          </a:prstGeom>
          <a:solidFill>
            <a:srgbClr val="0033A0"/>
          </a:solidFill>
          <a:ln/>
        </p:spPr>
        <p:txBody>
          <a:bodyPr/>
          <a:lstStyle/>
          <a:p>
            <a:endParaRPr lang="es-MX"/>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MCP · EL PROBLEMA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MCP: un estándar entre agentes y recursos</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 · Model Context Protocol, Anthropic (2024)</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011680"/>
            <a:ext cx="10058400" cy="50292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011680"/>
            <a:ext cx="54864" cy="50292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011680"/>
            <a:ext cx="9692640" cy="502920"/>
          </a:xfrm>
          <a:prstGeom prst="rect">
            <a:avLst/>
          </a:prstGeom>
          <a:noFill/>
        </p:spPr>
        <p:txBody>
          <a:bodyPr wrap="square" lIns="0" tIns="0" rIns="0" bIns="0" anchor="ctr">
            <a:spAutoFit/>
          </a:bodyPr>
          <a:lstStyle/>
          <a:p>
            <a:pPr algn="l"/>
            <a:r>
              <a:rPr sz="1300" b="0" i="0">
                <a:solidFill>
                  <a:srgbClr val="16181D"/>
                </a:solidFill>
                <a:latin typeface="Georgia"/>
              </a:rPr>
              <a:t>MCP es un </a:t>
            </a:r>
            <a:r>
              <a:rPr sz="1300" b="1" i="0">
                <a:solidFill>
                  <a:srgbClr val="0033A0"/>
                </a:solidFill>
                <a:latin typeface="Georgia"/>
              </a:rPr>
              <a:t>idioma común</a:t>
            </a:r>
            <a:r>
              <a:rPr sz="1300" b="0" i="0">
                <a:solidFill>
                  <a:srgbClr val="16181D"/>
                </a:solidFill>
                <a:latin typeface="Georgia"/>
              </a:rPr>
              <a:t> entre agentes y recursos: cada recurso se publica una vez y cualquier agente lo puede usar, sin conectores a la medida.</a:t>
            </a:r>
          </a:p>
        </p:txBody>
      </p:sp>
      <p:sp>
        <p:nvSpPr>
          <p:cNvPr id="47" name="Rectangle 46"/>
          <p:cNvSpPr/>
          <p:nvPr/>
        </p:nvSpPr>
        <p:spPr>
          <a:xfrm>
            <a:off x="1344168" y="2606040"/>
            <a:ext cx="4892040" cy="384048"/>
          </a:xfrm>
          <a:prstGeom prst="rect">
            <a:avLst/>
          </a:prstGeom>
          <a:solidFill>
            <a:srgbClr val="F4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481328" y="2606040"/>
            <a:ext cx="4617720" cy="384048"/>
          </a:xfrm>
          <a:prstGeom prst="rect">
            <a:avLst/>
          </a:prstGeom>
          <a:noFill/>
        </p:spPr>
        <p:txBody>
          <a:bodyPr wrap="square" lIns="0" tIns="0" rIns="0" bIns="0" anchor="ctr">
            <a:spAutoFit/>
          </a:bodyPr>
          <a:lstStyle/>
          <a:p>
            <a:pPr algn="l"/>
            <a:r>
              <a:rPr sz="1100" b="1" i="0">
                <a:solidFill>
                  <a:srgbClr val="A32D2D"/>
                </a:solidFill>
                <a:latin typeface="Arial"/>
              </a:rPr>
              <a:t>Sin MCP</a:t>
            </a:r>
            <a:r>
              <a:rPr sz="900" b="0" i="0">
                <a:solidFill>
                  <a:srgbClr val="A32D2D"/>
                </a:solidFill>
                <a:latin typeface="Arial"/>
              </a:rPr>
              <a:t>   cada agente con cada recurso</a:t>
            </a:r>
          </a:p>
        </p:txBody>
      </p:sp>
      <p:sp>
        <p:nvSpPr>
          <p:cNvPr id="49" name="Rectangle 48"/>
          <p:cNvSpPr/>
          <p:nvPr/>
        </p:nvSpPr>
        <p:spPr>
          <a:xfrm>
            <a:off x="1344168" y="2606040"/>
            <a:ext cx="4892040" cy="2377440"/>
          </a:xfrm>
          <a:prstGeom prst="rect">
            <a:avLst/>
          </a:prstGeom>
          <a:noFill/>
          <a:ln w="13970">
            <a:solidFill>
              <a:srgbClr val="A32D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flipV="1">
            <a:off x="2715768" y="3236976"/>
            <a:ext cx="1920239" cy="8229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715768" y="3319272"/>
            <a:ext cx="1920239" cy="292608"/>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715768" y="3319272"/>
            <a:ext cx="1920239" cy="667512"/>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15768" y="3319272"/>
            <a:ext cx="1920239" cy="104241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2715768" y="3236976"/>
            <a:ext cx="1920239" cy="58521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2715768" y="3611880"/>
            <a:ext cx="1920239" cy="210312"/>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715768" y="3822192"/>
            <a:ext cx="1920239" cy="164592"/>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715768" y="3822192"/>
            <a:ext cx="1920239" cy="53949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2715768" y="3236976"/>
            <a:ext cx="1920239" cy="108813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715768" y="3611880"/>
            <a:ext cx="1920239" cy="713232"/>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715768" y="3986784"/>
            <a:ext cx="1920239" cy="338328"/>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715768" y="4325112"/>
            <a:ext cx="1920239" cy="36576"/>
          </a:xfrm>
          <a:prstGeom prst="line">
            <a:avLst/>
          </a:prstGeom>
          <a:ln w="11430">
            <a:solidFill>
              <a:srgbClr val="A32D2D"/>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1572768" y="317296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572768" y="3172968"/>
            <a:ext cx="1143000" cy="292608"/>
          </a:xfrm>
          <a:prstGeom prst="rect">
            <a:avLst/>
          </a:prstGeom>
          <a:noFill/>
        </p:spPr>
        <p:txBody>
          <a:bodyPr wrap="square" lIns="0" tIns="0" rIns="0" bIns="0" anchor="ctr">
            <a:spAutoFit/>
          </a:bodyPr>
          <a:lstStyle/>
          <a:p>
            <a:pPr algn="ctr"/>
            <a:r>
              <a:rPr sz="800" b="1" i="0">
                <a:solidFill>
                  <a:srgbClr val="0033A0"/>
                </a:solidFill>
                <a:latin typeface="Arial"/>
              </a:rPr>
              <a:t>Claude Code</a:t>
            </a:r>
          </a:p>
        </p:txBody>
      </p:sp>
      <p:sp>
        <p:nvSpPr>
          <p:cNvPr id="64" name="Rounded Rectangle 63"/>
          <p:cNvSpPr/>
          <p:nvPr/>
        </p:nvSpPr>
        <p:spPr>
          <a:xfrm>
            <a:off x="1572768" y="367588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1572768" y="3675888"/>
            <a:ext cx="1143000" cy="292608"/>
          </a:xfrm>
          <a:prstGeom prst="rect">
            <a:avLst/>
          </a:prstGeom>
          <a:noFill/>
        </p:spPr>
        <p:txBody>
          <a:bodyPr wrap="square" lIns="0" tIns="0" rIns="0" bIns="0" anchor="ctr">
            <a:spAutoFit/>
          </a:bodyPr>
          <a:lstStyle/>
          <a:p>
            <a:pPr algn="ctr"/>
            <a:r>
              <a:rPr sz="800" b="1" i="0">
                <a:solidFill>
                  <a:srgbClr val="0033A0"/>
                </a:solidFill>
                <a:latin typeface="Arial"/>
              </a:rPr>
              <a:t>Tu agente</a:t>
            </a:r>
          </a:p>
        </p:txBody>
      </p:sp>
      <p:sp>
        <p:nvSpPr>
          <p:cNvPr id="66" name="Rounded Rectangle 65"/>
          <p:cNvSpPr/>
          <p:nvPr/>
        </p:nvSpPr>
        <p:spPr>
          <a:xfrm>
            <a:off x="1572768" y="417880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572768" y="4178808"/>
            <a:ext cx="1143000" cy="292608"/>
          </a:xfrm>
          <a:prstGeom prst="rect">
            <a:avLst/>
          </a:prstGeom>
          <a:noFill/>
        </p:spPr>
        <p:txBody>
          <a:bodyPr wrap="square" lIns="0" tIns="0" rIns="0" bIns="0" anchor="ctr">
            <a:spAutoFit/>
          </a:bodyPr>
          <a:lstStyle/>
          <a:p>
            <a:pPr algn="ctr"/>
            <a:r>
              <a:rPr sz="800" b="1" i="0">
                <a:solidFill>
                  <a:srgbClr val="0033A0"/>
                </a:solidFill>
                <a:latin typeface="Arial"/>
              </a:rPr>
              <a:t>Otro agente</a:t>
            </a:r>
          </a:p>
        </p:txBody>
      </p:sp>
      <p:sp>
        <p:nvSpPr>
          <p:cNvPr id="68" name="Rectangle 67"/>
          <p:cNvSpPr/>
          <p:nvPr/>
        </p:nvSpPr>
        <p:spPr>
          <a:xfrm>
            <a:off x="4636007" y="3090672"/>
            <a:ext cx="1371600"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636007" y="3090672"/>
            <a:ext cx="1371600" cy="292608"/>
          </a:xfrm>
          <a:prstGeom prst="rect">
            <a:avLst/>
          </a:prstGeom>
          <a:noFill/>
        </p:spPr>
        <p:txBody>
          <a:bodyPr wrap="square" lIns="0" tIns="0" rIns="0" bIns="0" anchor="ctr">
            <a:spAutoFit/>
          </a:bodyPr>
          <a:lstStyle/>
          <a:p>
            <a:pPr algn="ctr"/>
            <a:r>
              <a:rPr sz="800" b="1" i="0">
                <a:solidFill>
                  <a:srgbClr val="16181D"/>
                </a:solidFill>
                <a:latin typeface="Arial"/>
              </a:rPr>
              <a:t>Base de datos</a:t>
            </a:r>
          </a:p>
        </p:txBody>
      </p:sp>
      <p:sp>
        <p:nvSpPr>
          <p:cNvPr id="70" name="Rectangle 69"/>
          <p:cNvSpPr/>
          <p:nvPr/>
        </p:nvSpPr>
        <p:spPr>
          <a:xfrm>
            <a:off x="4636007" y="3465576"/>
            <a:ext cx="1371600"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636007" y="3465576"/>
            <a:ext cx="1371600" cy="292608"/>
          </a:xfrm>
          <a:prstGeom prst="rect">
            <a:avLst/>
          </a:prstGeom>
          <a:noFill/>
        </p:spPr>
        <p:txBody>
          <a:bodyPr wrap="square" lIns="0" tIns="0" rIns="0" bIns="0" anchor="ctr">
            <a:spAutoFit/>
          </a:bodyPr>
          <a:lstStyle/>
          <a:p>
            <a:pPr algn="ctr"/>
            <a:r>
              <a:rPr sz="800" b="1" i="0">
                <a:solidFill>
                  <a:srgbClr val="16181D"/>
                </a:solidFill>
                <a:latin typeface="Arial"/>
              </a:rPr>
              <a:t>API externa</a:t>
            </a:r>
          </a:p>
        </p:txBody>
      </p:sp>
      <p:sp>
        <p:nvSpPr>
          <p:cNvPr id="72" name="Rectangle 71"/>
          <p:cNvSpPr/>
          <p:nvPr/>
        </p:nvSpPr>
        <p:spPr>
          <a:xfrm>
            <a:off x="4636007" y="3840480"/>
            <a:ext cx="1371600"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4636007" y="3840480"/>
            <a:ext cx="1371600" cy="292608"/>
          </a:xfrm>
          <a:prstGeom prst="rect">
            <a:avLst/>
          </a:prstGeom>
          <a:noFill/>
        </p:spPr>
        <p:txBody>
          <a:bodyPr wrap="square" lIns="0" tIns="0" rIns="0" bIns="0" anchor="ctr">
            <a:spAutoFit/>
          </a:bodyPr>
          <a:lstStyle/>
          <a:p>
            <a:pPr algn="ctr"/>
            <a:r>
              <a:rPr sz="800" b="1" i="0">
                <a:solidFill>
                  <a:srgbClr val="16181D"/>
                </a:solidFill>
                <a:latin typeface="Arial"/>
              </a:rPr>
              <a:t>Archivos</a:t>
            </a:r>
          </a:p>
        </p:txBody>
      </p:sp>
      <p:sp>
        <p:nvSpPr>
          <p:cNvPr id="74" name="Rectangle 73"/>
          <p:cNvSpPr/>
          <p:nvPr/>
        </p:nvSpPr>
        <p:spPr>
          <a:xfrm>
            <a:off x="4636007" y="4215383"/>
            <a:ext cx="1371600"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636007" y="4215383"/>
            <a:ext cx="1371600" cy="292608"/>
          </a:xfrm>
          <a:prstGeom prst="rect">
            <a:avLst/>
          </a:prstGeom>
          <a:noFill/>
        </p:spPr>
        <p:txBody>
          <a:bodyPr wrap="square" lIns="0" tIns="0" rIns="0" bIns="0" anchor="ctr">
            <a:spAutoFit/>
          </a:bodyPr>
          <a:lstStyle/>
          <a:p>
            <a:pPr algn="ctr"/>
            <a:r>
              <a:rPr sz="800" b="1" i="0">
                <a:solidFill>
                  <a:srgbClr val="16181D"/>
                </a:solidFill>
                <a:latin typeface="Arial"/>
              </a:rPr>
              <a:t>Base de conocimiento</a:t>
            </a:r>
          </a:p>
        </p:txBody>
      </p:sp>
      <p:sp>
        <p:nvSpPr>
          <p:cNvPr id="76" name="Rectangle 75"/>
          <p:cNvSpPr/>
          <p:nvPr/>
        </p:nvSpPr>
        <p:spPr>
          <a:xfrm>
            <a:off x="1572768" y="4599432"/>
            <a:ext cx="4434840" cy="292608"/>
          </a:xfrm>
          <a:prstGeom prst="rect">
            <a:avLst/>
          </a:prstGeom>
          <a:solidFill>
            <a:srgbClr val="F4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572768" y="4599432"/>
            <a:ext cx="4434840" cy="292608"/>
          </a:xfrm>
          <a:prstGeom prst="rect">
            <a:avLst/>
          </a:prstGeom>
          <a:noFill/>
        </p:spPr>
        <p:txBody>
          <a:bodyPr wrap="square" lIns="0" tIns="0" rIns="0" bIns="0" anchor="ctr">
            <a:spAutoFit/>
          </a:bodyPr>
          <a:lstStyle/>
          <a:p>
            <a:pPr algn="ctr"/>
            <a:r>
              <a:rPr sz="900" b="0" i="0">
                <a:solidFill>
                  <a:srgbClr val="A32D2D"/>
                </a:solidFill>
                <a:latin typeface="Arial"/>
              </a:rPr>
              <a:t>3 agentes × 4 recursos = </a:t>
            </a:r>
            <a:r>
              <a:rPr sz="900" b="1" i="0">
                <a:solidFill>
                  <a:srgbClr val="A32D2D"/>
                </a:solidFill>
                <a:latin typeface="Arial"/>
              </a:rPr>
              <a:t>12 conectores a la medida</a:t>
            </a:r>
          </a:p>
        </p:txBody>
      </p:sp>
      <p:sp>
        <p:nvSpPr>
          <p:cNvPr id="78" name="Rectangle 77"/>
          <p:cNvSpPr/>
          <p:nvPr/>
        </p:nvSpPr>
        <p:spPr>
          <a:xfrm>
            <a:off x="6510527" y="2606040"/>
            <a:ext cx="4892040" cy="384048"/>
          </a:xfrm>
          <a:prstGeom prst="rect">
            <a:avLst/>
          </a:prstGeom>
          <a:solidFill>
            <a:srgbClr val="DC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647688" y="2606040"/>
            <a:ext cx="4617720" cy="384048"/>
          </a:xfrm>
          <a:prstGeom prst="rect">
            <a:avLst/>
          </a:prstGeom>
          <a:noFill/>
        </p:spPr>
        <p:txBody>
          <a:bodyPr wrap="square" lIns="0" tIns="0" rIns="0" bIns="0" anchor="ctr">
            <a:spAutoFit/>
          </a:bodyPr>
          <a:lstStyle/>
          <a:p>
            <a:pPr algn="l"/>
            <a:r>
              <a:rPr sz="1100" b="1" i="0">
                <a:solidFill>
                  <a:srgbClr val="2E6B4F"/>
                </a:solidFill>
                <a:latin typeface="Arial"/>
              </a:rPr>
              <a:t>Con MCP</a:t>
            </a:r>
            <a:r>
              <a:rPr sz="900" b="0" i="0">
                <a:solidFill>
                  <a:srgbClr val="2E6B4F"/>
                </a:solidFill>
                <a:latin typeface="Arial"/>
              </a:rPr>
              <a:t>   un estándar en medio</a:t>
            </a:r>
          </a:p>
        </p:txBody>
      </p:sp>
      <p:sp>
        <p:nvSpPr>
          <p:cNvPr id="80" name="Rectangle 79"/>
          <p:cNvSpPr/>
          <p:nvPr/>
        </p:nvSpPr>
        <p:spPr>
          <a:xfrm>
            <a:off x="6510527" y="2606040"/>
            <a:ext cx="4892040" cy="2377440"/>
          </a:xfrm>
          <a:prstGeom prst="rect">
            <a:avLst/>
          </a:prstGeom>
          <a:noFill/>
          <a:ln w="1397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1" name="Connector 80"/>
          <p:cNvCxnSpPr/>
          <p:nvPr/>
        </p:nvCxnSpPr>
        <p:spPr>
          <a:xfrm>
            <a:off x="7836408" y="3319272"/>
            <a:ext cx="274319" cy="484632"/>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7836408" y="3803904"/>
            <a:ext cx="274319" cy="18288"/>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7836408" y="3803904"/>
            <a:ext cx="274319" cy="521208"/>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6693407" y="317296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6693407" y="3172968"/>
            <a:ext cx="1143000" cy="292608"/>
          </a:xfrm>
          <a:prstGeom prst="rect">
            <a:avLst/>
          </a:prstGeom>
          <a:noFill/>
        </p:spPr>
        <p:txBody>
          <a:bodyPr wrap="square" lIns="0" tIns="0" rIns="0" bIns="0" anchor="ctr">
            <a:spAutoFit/>
          </a:bodyPr>
          <a:lstStyle/>
          <a:p>
            <a:pPr algn="ctr"/>
            <a:r>
              <a:rPr sz="800" b="1" i="0">
                <a:solidFill>
                  <a:srgbClr val="0033A0"/>
                </a:solidFill>
                <a:latin typeface="Arial"/>
              </a:rPr>
              <a:t>Claude Code</a:t>
            </a:r>
          </a:p>
        </p:txBody>
      </p:sp>
      <p:sp>
        <p:nvSpPr>
          <p:cNvPr id="86" name="Rounded Rectangle 85"/>
          <p:cNvSpPr/>
          <p:nvPr/>
        </p:nvSpPr>
        <p:spPr>
          <a:xfrm>
            <a:off x="6693407" y="367588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693407" y="3675888"/>
            <a:ext cx="1143000" cy="292608"/>
          </a:xfrm>
          <a:prstGeom prst="rect">
            <a:avLst/>
          </a:prstGeom>
          <a:noFill/>
        </p:spPr>
        <p:txBody>
          <a:bodyPr wrap="square" lIns="0" tIns="0" rIns="0" bIns="0" anchor="ctr">
            <a:spAutoFit/>
          </a:bodyPr>
          <a:lstStyle/>
          <a:p>
            <a:pPr algn="ctr"/>
            <a:r>
              <a:rPr sz="800" b="1" i="0">
                <a:solidFill>
                  <a:srgbClr val="0033A0"/>
                </a:solidFill>
                <a:latin typeface="Arial"/>
              </a:rPr>
              <a:t>Tu agente</a:t>
            </a:r>
          </a:p>
        </p:txBody>
      </p:sp>
      <p:sp>
        <p:nvSpPr>
          <p:cNvPr id="88" name="Rounded Rectangle 87"/>
          <p:cNvSpPr/>
          <p:nvPr/>
        </p:nvSpPr>
        <p:spPr>
          <a:xfrm>
            <a:off x="6693407" y="4178808"/>
            <a:ext cx="1143000" cy="292608"/>
          </a:xfrm>
          <a:prstGeom prst="roundRect">
            <a:avLst>
              <a:gd name="adj" fmla="val 50000"/>
            </a:avLst>
          </a:prstGeom>
          <a:solidFill>
            <a:srgbClr val="DDE4F2"/>
          </a:solidFill>
          <a:ln w="1270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6693407" y="4178808"/>
            <a:ext cx="1143000" cy="292608"/>
          </a:xfrm>
          <a:prstGeom prst="rect">
            <a:avLst/>
          </a:prstGeom>
          <a:noFill/>
        </p:spPr>
        <p:txBody>
          <a:bodyPr wrap="square" lIns="0" tIns="0" rIns="0" bIns="0" anchor="ctr">
            <a:spAutoFit/>
          </a:bodyPr>
          <a:lstStyle/>
          <a:p>
            <a:pPr algn="ctr"/>
            <a:r>
              <a:rPr sz="800" b="1" i="0">
                <a:solidFill>
                  <a:srgbClr val="0033A0"/>
                </a:solidFill>
                <a:latin typeface="Arial"/>
              </a:rPr>
              <a:t>Otro agente</a:t>
            </a:r>
          </a:p>
        </p:txBody>
      </p:sp>
      <p:sp>
        <p:nvSpPr>
          <p:cNvPr id="90" name="Rounded Rectangle 89"/>
          <p:cNvSpPr/>
          <p:nvPr/>
        </p:nvSpPr>
        <p:spPr>
          <a:xfrm>
            <a:off x="8110727" y="3108960"/>
            <a:ext cx="777240" cy="1389888"/>
          </a:xfrm>
          <a:prstGeom prst="roundRect">
            <a:avLst>
              <a:gd name="adj" fmla="val 15000"/>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8110727" y="3108960"/>
            <a:ext cx="777240" cy="1389888"/>
          </a:xfrm>
          <a:prstGeom prst="rect">
            <a:avLst/>
          </a:prstGeom>
          <a:noFill/>
        </p:spPr>
        <p:txBody>
          <a:bodyPr wrap="square" lIns="0" tIns="0" rIns="0" bIns="0" anchor="ctr">
            <a:spAutoFit/>
          </a:bodyPr>
          <a:lstStyle/>
          <a:p>
            <a:pPr algn="ctr">
              <a:lnSpc>
                <a:spcPct val="100000"/>
              </a:lnSpc>
            </a:pPr>
            <a:r>
              <a:rPr sz="1300" b="1" i="0">
                <a:solidFill>
                  <a:srgbClr val="FBF8F0"/>
                </a:solidFill>
                <a:latin typeface="Georgia"/>
              </a:rPr>
              <a:t>MCP</a:t>
            </a:r>
          </a:p>
          <a:p>
            <a:pPr algn="ctr">
              <a:lnSpc>
                <a:spcPct val="100000"/>
              </a:lnSpc>
            </a:pPr>
            <a:r>
              <a:rPr sz="700" b="0" i="0">
                <a:solidFill>
                  <a:srgbClr val="FBF8F0"/>
                </a:solidFill>
                <a:latin typeface="Arial"/>
              </a:rPr>
              <a:t>idioma</a:t>
            </a:r>
          </a:p>
          <a:p>
            <a:pPr algn="ctr">
              <a:lnSpc>
                <a:spcPct val="100000"/>
              </a:lnSpc>
            </a:pPr>
            <a:r>
              <a:rPr sz="700" b="0" i="0">
                <a:solidFill>
                  <a:srgbClr val="FBF8F0"/>
                </a:solidFill>
                <a:latin typeface="Arial"/>
              </a:rPr>
              <a:t>común</a:t>
            </a:r>
          </a:p>
        </p:txBody>
      </p:sp>
      <p:cxnSp>
        <p:nvCxnSpPr>
          <p:cNvPr id="92" name="Connector 91"/>
          <p:cNvCxnSpPr/>
          <p:nvPr/>
        </p:nvCxnSpPr>
        <p:spPr>
          <a:xfrm>
            <a:off x="8887967" y="3236976"/>
            <a:ext cx="320041" cy="0"/>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sp>
        <p:nvSpPr>
          <p:cNvPr id="93" name="Rectangle 92"/>
          <p:cNvSpPr/>
          <p:nvPr/>
        </p:nvSpPr>
        <p:spPr>
          <a:xfrm>
            <a:off x="9208008" y="3108960"/>
            <a:ext cx="566928" cy="256032"/>
          </a:xfrm>
          <a:prstGeom prst="rect">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208008" y="3108960"/>
            <a:ext cx="566928" cy="256032"/>
          </a:xfrm>
          <a:prstGeom prst="rect">
            <a:avLst/>
          </a:prstGeom>
          <a:noFill/>
        </p:spPr>
        <p:txBody>
          <a:bodyPr wrap="square" lIns="0" tIns="0" rIns="0" bIns="0" anchor="ctr">
            <a:spAutoFit/>
          </a:bodyPr>
          <a:lstStyle/>
          <a:p>
            <a:pPr algn="ctr"/>
            <a:r>
              <a:rPr sz="680" b="1" i="0">
                <a:solidFill>
                  <a:srgbClr val="2E6B4F"/>
                </a:solidFill>
                <a:latin typeface="Arial"/>
              </a:rPr>
              <a:t>servidor</a:t>
            </a:r>
          </a:p>
        </p:txBody>
      </p:sp>
      <p:cxnSp>
        <p:nvCxnSpPr>
          <p:cNvPr id="95" name="Connector 94"/>
          <p:cNvCxnSpPr/>
          <p:nvPr/>
        </p:nvCxnSpPr>
        <p:spPr>
          <a:xfrm>
            <a:off x="9774936" y="3236976"/>
            <a:ext cx="54863" cy="0"/>
          </a:xfrm>
          <a:prstGeom prst="line">
            <a:avLst/>
          </a:prstGeom>
          <a:ln w="12700">
            <a:solidFill>
              <a:srgbClr val="2E6B4F"/>
            </a:solidFill>
          </a:ln>
        </p:spPr>
        <p:style>
          <a:lnRef idx="2">
            <a:schemeClr val="accent1"/>
          </a:lnRef>
          <a:fillRef idx="0">
            <a:schemeClr val="accent1"/>
          </a:fillRef>
          <a:effectRef idx="1">
            <a:schemeClr val="accent1"/>
          </a:effectRef>
          <a:fontRef idx="minor">
            <a:schemeClr val="tx1"/>
          </a:fontRef>
        </p:style>
      </p:cxnSp>
      <p:sp>
        <p:nvSpPr>
          <p:cNvPr id="96" name="Rectangle 95"/>
          <p:cNvSpPr/>
          <p:nvPr/>
        </p:nvSpPr>
        <p:spPr>
          <a:xfrm>
            <a:off x="9829799" y="3090672"/>
            <a:ext cx="1389888"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9829799" y="3090672"/>
            <a:ext cx="1389888" cy="292608"/>
          </a:xfrm>
          <a:prstGeom prst="rect">
            <a:avLst/>
          </a:prstGeom>
          <a:noFill/>
        </p:spPr>
        <p:txBody>
          <a:bodyPr wrap="square" lIns="0" tIns="0" rIns="0" bIns="0" anchor="ctr">
            <a:spAutoFit/>
          </a:bodyPr>
          <a:lstStyle/>
          <a:p>
            <a:pPr algn="ctr"/>
            <a:r>
              <a:rPr sz="800" b="1" i="0">
                <a:solidFill>
                  <a:srgbClr val="16181D"/>
                </a:solidFill>
                <a:latin typeface="Arial"/>
              </a:rPr>
              <a:t>Base de datos</a:t>
            </a:r>
          </a:p>
        </p:txBody>
      </p:sp>
      <p:cxnSp>
        <p:nvCxnSpPr>
          <p:cNvPr id="98" name="Connector 97"/>
          <p:cNvCxnSpPr/>
          <p:nvPr/>
        </p:nvCxnSpPr>
        <p:spPr>
          <a:xfrm>
            <a:off x="8887967" y="3611880"/>
            <a:ext cx="320041" cy="0"/>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9208008" y="3483864"/>
            <a:ext cx="566928" cy="256032"/>
          </a:xfrm>
          <a:prstGeom prst="rect">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208008" y="3483864"/>
            <a:ext cx="566928" cy="256032"/>
          </a:xfrm>
          <a:prstGeom prst="rect">
            <a:avLst/>
          </a:prstGeom>
          <a:noFill/>
        </p:spPr>
        <p:txBody>
          <a:bodyPr wrap="square" lIns="0" tIns="0" rIns="0" bIns="0" anchor="ctr">
            <a:spAutoFit/>
          </a:bodyPr>
          <a:lstStyle/>
          <a:p>
            <a:pPr algn="ctr"/>
            <a:r>
              <a:rPr sz="680" b="1" i="0">
                <a:solidFill>
                  <a:srgbClr val="2E6B4F"/>
                </a:solidFill>
                <a:latin typeface="Arial"/>
              </a:rPr>
              <a:t>servidor</a:t>
            </a:r>
          </a:p>
        </p:txBody>
      </p:sp>
      <p:cxnSp>
        <p:nvCxnSpPr>
          <p:cNvPr id="101" name="Connector 100"/>
          <p:cNvCxnSpPr/>
          <p:nvPr/>
        </p:nvCxnSpPr>
        <p:spPr>
          <a:xfrm>
            <a:off x="9774936" y="3611880"/>
            <a:ext cx="54863" cy="0"/>
          </a:xfrm>
          <a:prstGeom prst="line">
            <a:avLst/>
          </a:prstGeom>
          <a:ln w="12700">
            <a:solidFill>
              <a:srgbClr val="2E6B4F"/>
            </a:solidFill>
          </a:ln>
        </p:spPr>
        <p:style>
          <a:lnRef idx="2">
            <a:schemeClr val="accent1"/>
          </a:lnRef>
          <a:fillRef idx="0">
            <a:schemeClr val="accent1"/>
          </a:fillRef>
          <a:effectRef idx="1">
            <a:schemeClr val="accent1"/>
          </a:effectRef>
          <a:fontRef idx="minor">
            <a:schemeClr val="tx1"/>
          </a:fontRef>
        </p:style>
      </p:cxnSp>
      <p:sp>
        <p:nvSpPr>
          <p:cNvPr id="102" name="Rectangle 101"/>
          <p:cNvSpPr/>
          <p:nvPr/>
        </p:nvSpPr>
        <p:spPr>
          <a:xfrm>
            <a:off x="9829799" y="3465576"/>
            <a:ext cx="1389888"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9829799" y="3465576"/>
            <a:ext cx="1389888" cy="292608"/>
          </a:xfrm>
          <a:prstGeom prst="rect">
            <a:avLst/>
          </a:prstGeom>
          <a:noFill/>
        </p:spPr>
        <p:txBody>
          <a:bodyPr wrap="square" lIns="0" tIns="0" rIns="0" bIns="0" anchor="ctr">
            <a:spAutoFit/>
          </a:bodyPr>
          <a:lstStyle/>
          <a:p>
            <a:pPr algn="ctr"/>
            <a:r>
              <a:rPr sz="800" b="1" i="0">
                <a:solidFill>
                  <a:srgbClr val="16181D"/>
                </a:solidFill>
                <a:latin typeface="Arial"/>
              </a:rPr>
              <a:t>API externa</a:t>
            </a:r>
          </a:p>
        </p:txBody>
      </p:sp>
      <p:cxnSp>
        <p:nvCxnSpPr>
          <p:cNvPr id="104" name="Connector 103"/>
          <p:cNvCxnSpPr/>
          <p:nvPr/>
        </p:nvCxnSpPr>
        <p:spPr>
          <a:xfrm>
            <a:off x="8887967" y="3986784"/>
            <a:ext cx="320041" cy="0"/>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sp>
        <p:nvSpPr>
          <p:cNvPr id="105" name="Rectangle 104"/>
          <p:cNvSpPr/>
          <p:nvPr/>
        </p:nvSpPr>
        <p:spPr>
          <a:xfrm>
            <a:off x="9208008" y="3858768"/>
            <a:ext cx="566928" cy="256032"/>
          </a:xfrm>
          <a:prstGeom prst="rect">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9208008" y="3858768"/>
            <a:ext cx="566928" cy="256032"/>
          </a:xfrm>
          <a:prstGeom prst="rect">
            <a:avLst/>
          </a:prstGeom>
          <a:noFill/>
        </p:spPr>
        <p:txBody>
          <a:bodyPr wrap="square" lIns="0" tIns="0" rIns="0" bIns="0" anchor="ctr">
            <a:spAutoFit/>
          </a:bodyPr>
          <a:lstStyle/>
          <a:p>
            <a:pPr algn="ctr"/>
            <a:r>
              <a:rPr sz="680" b="1" i="0">
                <a:solidFill>
                  <a:srgbClr val="2E6B4F"/>
                </a:solidFill>
                <a:latin typeface="Arial"/>
              </a:rPr>
              <a:t>servidor</a:t>
            </a:r>
          </a:p>
        </p:txBody>
      </p:sp>
      <p:cxnSp>
        <p:nvCxnSpPr>
          <p:cNvPr id="107" name="Connector 106"/>
          <p:cNvCxnSpPr/>
          <p:nvPr/>
        </p:nvCxnSpPr>
        <p:spPr>
          <a:xfrm>
            <a:off x="9774936" y="3986784"/>
            <a:ext cx="54863" cy="0"/>
          </a:xfrm>
          <a:prstGeom prst="line">
            <a:avLst/>
          </a:prstGeom>
          <a:ln w="12700">
            <a:solidFill>
              <a:srgbClr val="2E6B4F"/>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9829799" y="3840480"/>
            <a:ext cx="1389888"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9829799" y="3840480"/>
            <a:ext cx="1389888" cy="292608"/>
          </a:xfrm>
          <a:prstGeom prst="rect">
            <a:avLst/>
          </a:prstGeom>
          <a:noFill/>
        </p:spPr>
        <p:txBody>
          <a:bodyPr wrap="square" lIns="0" tIns="0" rIns="0" bIns="0" anchor="ctr">
            <a:spAutoFit/>
          </a:bodyPr>
          <a:lstStyle/>
          <a:p>
            <a:pPr algn="ctr"/>
            <a:r>
              <a:rPr sz="800" b="1" i="0">
                <a:solidFill>
                  <a:srgbClr val="16181D"/>
                </a:solidFill>
                <a:latin typeface="Arial"/>
              </a:rPr>
              <a:t>Archivos</a:t>
            </a:r>
          </a:p>
        </p:txBody>
      </p:sp>
      <p:cxnSp>
        <p:nvCxnSpPr>
          <p:cNvPr id="110" name="Connector 109"/>
          <p:cNvCxnSpPr/>
          <p:nvPr/>
        </p:nvCxnSpPr>
        <p:spPr>
          <a:xfrm>
            <a:off x="8887967" y="4361688"/>
            <a:ext cx="320041" cy="0"/>
          </a:xfrm>
          <a:prstGeom prst="line">
            <a:avLst/>
          </a:prstGeom>
          <a:ln w="17780">
            <a:solidFill>
              <a:srgbClr val="2E6B4F"/>
            </a:solidFill>
          </a:ln>
        </p:spPr>
        <p:style>
          <a:lnRef idx="2">
            <a:schemeClr val="accent1"/>
          </a:lnRef>
          <a:fillRef idx="0">
            <a:schemeClr val="accent1"/>
          </a:fillRef>
          <a:effectRef idx="1">
            <a:schemeClr val="accent1"/>
          </a:effectRef>
          <a:fontRef idx="minor">
            <a:schemeClr val="tx1"/>
          </a:fontRef>
        </p:style>
      </p:cxnSp>
      <p:sp>
        <p:nvSpPr>
          <p:cNvPr id="111" name="Rectangle 110"/>
          <p:cNvSpPr/>
          <p:nvPr/>
        </p:nvSpPr>
        <p:spPr>
          <a:xfrm>
            <a:off x="9208008" y="4233671"/>
            <a:ext cx="566928" cy="256032"/>
          </a:xfrm>
          <a:prstGeom prst="rect">
            <a:avLst/>
          </a:prstGeom>
          <a:solidFill>
            <a:srgbClr val="DCEBE2"/>
          </a:solidFill>
          <a:ln w="11430">
            <a:solidFill>
              <a:srgbClr val="2E6B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208008" y="4233671"/>
            <a:ext cx="566928" cy="256032"/>
          </a:xfrm>
          <a:prstGeom prst="rect">
            <a:avLst/>
          </a:prstGeom>
          <a:noFill/>
        </p:spPr>
        <p:txBody>
          <a:bodyPr wrap="square" lIns="0" tIns="0" rIns="0" bIns="0" anchor="ctr">
            <a:spAutoFit/>
          </a:bodyPr>
          <a:lstStyle/>
          <a:p>
            <a:pPr algn="ctr"/>
            <a:r>
              <a:rPr sz="680" b="1" i="0">
                <a:solidFill>
                  <a:srgbClr val="2E6B4F"/>
                </a:solidFill>
                <a:latin typeface="Arial"/>
              </a:rPr>
              <a:t>servidor</a:t>
            </a:r>
          </a:p>
        </p:txBody>
      </p:sp>
      <p:cxnSp>
        <p:nvCxnSpPr>
          <p:cNvPr id="113" name="Connector 112"/>
          <p:cNvCxnSpPr/>
          <p:nvPr/>
        </p:nvCxnSpPr>
        <p:spPr>
          <a:xfrm>
            <a:off x="9774936" y="4361688"/>
            <a:ext cx="54863" cy="0"/>
          </a:xfrm>
          <a:prstGeom prst="line">
            <a:avLst/>
          </a:prstGeom>
          <a:ln w="12700">
            <a:solidFill>
              <a:srgbClr val="2E6B4F"/>
            </a:solidFill>
          </a:ln>
        </p:spPr>
        <p:style>
          <a:lnRef idx="2">
            <a:schemeClr val="accent1"/>
          </a:lnRef>
          <a:fillRef idx="0">
            <a:schemeClr val="accent1"/>
          </a:fillRef>
          <a:effectRef idx="1">
            <a:schemeClr val="accent1"/>
          </a:effectRef>
          <a:fontRef idx="minor">
            <a:schemeClr val="tx1"/>
          </a:fontRef>
        </p:style>
      </p:cxnSp>
      <p:sp>
        <p:nvSpPr>
          <p:cNvPr id="114" name="Rectangle 113"/>
          <p:cNvSpPr/>
          <p:nvPr/>
        </p:nvSpPr>
        <p:spPr>
          <a:xfrm>
            <a:off x="9829799" y="4215383"/>
            <a:ext cx="1389888" cy="292608"/>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9829799" y="4215383"/>
            <a:ext cx="1389888" cy="292608"/>
          </a:xfrm>
          <a:prstGeom prst="rect">
            <a:avLst/>
          </a:prstGeom>
          <a:noFill/>
        </p:spPr>
        <p:txBody>
          <a:bodyPr wrap="square" lIns="0" tIns="0" rIns="0" bIns="0" anchor="ctr">
            <a:spAutoFit/>
          </a:bodyPr>
          <a:lstStyle/>
          <a:p>
            <a:pPr algn="ctr"/>
            <a:r>
              <a:rPr sz="800" b="1" i="0">
                <a:solidFill>
                  <a:srgbClr val="16181D"/>
                </a:solidFill>
                <a:latin typeface="Arial"/>
              </a:rPr>
              <a:t>Base de conocimiento</a:t>
            </a:r>
          </a:p>
        </p:txBody>
      </p:sp>
      <p:sp>
        <p:nvSpPr>
          <p:cNvPr id="116" name="Rectangle 115"/>
          <p:cNvSpPr/>
          <p:nvPr/>
        </p:nvSpPr>
        <p:spPr>
          <a:xfrm>
            <a:off x="6739127" y="4599432"/>
            <a:ext cx="4434840" cy="292608"/>
          </a:xfrm>
          <a:prstGeom prst="rect">
            <a:avLst/>
          </a:prstGeom>
          <a:solidFill>
            <a:srgbClr val="DC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6739127" y="4599432"/>
            <a:ext cx="4434840" cy="292608"/>
          </a:xfrm>
          <a:prstGeom prst="rect">
            <a:avLst/>
          </a:prstGeom>
          <a:noFill/>
        </p:spPr>
        <p:txBody>
          <a:bodyPr wrap="square" lIns="0" tIns="0" rIns="0" bIns="0" anchor="ctr">
            <a:spAutoFit/>
          </a:bodyPr>
          <a:lstStyle/>
          <a:p>
            <a:pPr algn="ctr"/>
            <a:r>
              <a:rPr sz="900" b="0" i="0">
                <a:solidFill>
                  <a:srgbClr val="2E6B4F"/>
                </a:solidFill>
                <a:latin typeface="Arial"/>
              </a:rPr>
              <a:t>3 + 4 = </a:t>
            </a:r>
            <a:r>
              <a:rPr sz="900" b="1" i="0">
                <a:solidFill>
                  <a:srgbClr val="2E6B4F"/>
                </a:solidFill>
                <a:latin typeface="Arial"/>
              </a:rPr>
              <a:t>7 piezas, todas con el mismo protocolo</a:t>
            </a:r>
          </a:p>
        </p:txBody>
      </p:sp>
      <p:sp>
        <p:nvSpPr>
          <p:cNvPr id="118" name="Rectangle 117"/>
          <p:cNvSpPr/>
          <p:nvPr/>
        </p:nvSpPr>
        <p:spPr>
          <a:xfrm>
            <a:off x="1344168" y="5056632"/>
            <a:ext cx="4892040" cy="4114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1481328" y="5127720"/>
            <a:ext cx="4663440" cy="269304"/>
          </a:xfrm>
          <a:prstGeom prst="rect">
            <a:avLst/>
          </a:prstGeom>
          <a:noFill/>
        </p:spPr>
        <p:txBody>
          <a:bodyPr wrap="square" lIns="0" tIns="0" rIns="0" bIns="0" anchor="ctr">
            <a:spAutoFit/>
          </a:bodyPr>
          <a:lstStyle/>
          <a:p>
            <a:pPr algn="l"/>
            <a:r>
              <a:rPr lang="es-419" sz="900" b="1" i="0" dirty="0">
                <a:solidFill>
                  <a:srgbClr val="0033A0"/>
                </a:solidFill>
                <a:latin typeface="Arial"/>
              </a:rPr>
              <a:t>Cada </a:t>
            </a:r>
            <a:r>
              <a:rPr sz="850" b="0" i="0" dirty="0" err="1">
                <a:solidFill>
                  <a:srgbClr val="16181D"/>
                </a:solidFill>
                <a:latin typeface="Arial"/>
              </a:rPr>
              <a:t>agente</a:t>
            </a:r>
            <a:r>
              <a:rPr sz="850" b="0" i="0" dirty="0">
                <a:solidFill>
                  <a:srgbClr val="16181D"/>
                </a:solidFill>
                <a:latin typeface="Arial"/>
              </a:rPr>
              <a:t> </a:t>
            </a:r>
            <a:r>
              <a:rPr lang="es-419" sz="850" b="0" i="0" dirty="0">
                <a:solidFill>
                  <a:srgbClr val="16181D"/>
                </a:solidFill>
                <a:latin typeface="Arial"/>
              </a:rPr>
              <a:t>tendría que desarrollar un conector a la medida para cada recurso, esto implica programación: es mas caro de desarrollar y de mantener</a:t>
            </a:r>
            <a:endParaRPr sz="850" b="0" i="0" dirty="0">
              <a:solidFill>
                <a:srgbClr val="16181D"/>
              </a:solidFill>
              <a:latin typeface="Arial"/>
            </a:endParaRPr>
          </a:p>
        </p:txBody>
      </p:sp>
      <p:sp>
        <p:nvSpPr>
          <p:cNvPr id="120" name="Rectangle 119"/>
          <p:cNvSpPr/>
          <p:nvPr/>
        </p:nvSpPr>
        <p:spPr>
          <a:xfrm>
            <a:off x="6510527" y="5056632"/>
            <a:ext cx="4892040" cy="411480"/>
          </a:xfrm>
          <a:prstGeom prst="rect">
            <a:avLst/>
          </a:prstGeom>
          <a:solidFill>
            <a:srgbClr val="F3E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6647688" y="5056632"/>
            <a:ext cx="4663440" cy="411480"/>
          </a:xfrm>
          <a:prstGeom prst="rect">
            <a:avLst/>
          </a:prstGeom>
          <a:noFill/>
        </p:spPr>
        <p:txBody>
          <a:bodyPr wrap="square" lIns="0" tIns="0" rIns="0" bIns="0" anchor="ctr">
            <a:spAutoFit/>
          </a:bodyPr>
          <a:lstStyle/>
          <a:p>
            <a:pPr algn="l"/>
            <a:r>
              <a:rPr sz="900" b="1" i="0">
                <a:solidFill>
                  <a:srgbClr val="984514"/>
                </a:solidFill>
                <a:latin typeface="Arial"/>
              </a:rPr>
              <a:t>Como USB-C: </a:t>
            </a:r>
            <a:r>
              <a:rPr sz="850" b="0" i="0">
                <a:solidFill>
                  <a:srgbClr val="16181D"/>
                </a:solidFill>
                <a:latin typeface="Arial"/>
              </a:rPr>
              <a:t>el fabricante del teclado y el de la computadora no se conocen; basta con que los dos usen el mismo puerto.</a:t>
            </a:r>
          </a:p>
        </p:txBody>
      </p:sp>
      <p:sp>
        <p:nvSpPr>
          <p:cNvPr id="122" name="Rectangle 121"/>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ectangle 122"/>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Sin estándar, conectar es programar; con MCP, </a:t>
            </a:r>
            <a:r>
              <a:rPr sz="1100" b="0" i="0">
                <a:solidFill>
                  <a:srgbClr val="16181D"/>
                </a:solidFill>
                <a:latin typeface="Arial"/>
              </a:rPr>
              <a:t>conectar es configurar: el recurso se publica una vez y cualquier agente lo usa.</a:t>
            </a:r>
          </a:p>
        </p:txBody>
      </p:sp>
    </p:spTree>
    <p:extLst>
      <p:ext uri="{BB962C8B-B14F-4D97-AF65-F5344CB8AC3E}">
        <p14:creationId xmlns:p14="http://schemas.microsoft.com/office/powerpoint/2010/main" val="4119972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2B61D-CFF1-47CA-DB27-DCF20A97D290}"/>
            </a:ext>
          </a:extLst>
        </p:cNvPr>
        <p:cNvGrpSpPr/>
        <p:nvPr/>
      </p:nvGrpSpPr>
      <p:grpSpPr>
        <a:xfrm>
          <a:off x="0" y="0"/>
          <a:ext cx="0" cy="0"/>
          <a:chOff x="0" y="0"/>
          <a:chExt cx="0" cy="0"/>
        </a:xfrm>
      </p:grpSpPr>
      <p:sp>
        <p:nvSpPr>
          <p:cNvPr id="2" name="s16-forma-1">
            <a:extLst>
              <a:ext uri="{FF2B5EF4-FFF2-40B4-BE49-F238E27FC236}">
                <a16:creationId xmlns:a16="http://schemas.microsoft.com/office/drawing/2014/main" id="{D518D089-FD4C-70E0-484C-1C17E8AD710D}"/>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16-forma-2">
            <a:extLst>
              <a:ext uri="{FF2B5EF4-FFF2-40B4-BE49-F238E27FC236}">
                <a16:creationId xmlns:a16="http://schemas.microsoft.com/office/drawing/2014/main" id="{47BA47B2-8094-F7AB-3D6F-11BA53C0BED6}"/>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16-texto-3">
            <a:extLst>
              <a:ext uri="{FF2B5EF4-FFF2-40B4-BE49-F238E27FC236}">
                <a16:creationId xmlns:a16="http://schemas.microsoft.com/office/drawing/2014/main" id="{9B93F0EC-E57B-5DBD-1BA1-07F94B140749}"/>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a:extLst>
              <a:ext uri="{FF2B5EF4-FFF2-40B4-BE49-F238E27FC236}">
                <a16:creationId xmlns:a16="http://schemas.microsoft.com/office/drawing/2014/main" id="{77A7BC2B-B502-30A5-31DA-D52666D18911}"/>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5 min</a:t>
            </a:r>
            <a:endParaRPr lang="en-US" sz="807" dirty="0"/>
          </a:p>
        </p:txBody>
      </p:sp>
      <p:sp>
        <p:nvSpPr>
          <p:cNvPr id="6" name="s16-texto-5">
            <a:extLst>
              <a:ext uri="{FF2B5EF4-FFF2-40B4-BE49-F238E27FC236}">
                <a16:creationId xmlns:a16="http://schemas.microsoft.com/office/drawing/2014/main" id="{8E8E3F6A-CCE2-BF3B-D871-CB89D3821042}"/>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MCP · EL PROBLEMA</a:t>
            </a:r>
            <a:endParaRPr lang="en-US" sz="900" dirty="0"/>
          </a:p>
        </p:txBody>
      </p:sp>
      <p:sp>
        <p:nvSpPr>
          <p:cNvPr id="7" name="s16-texto-6">
            <a:extLst>
              <a:ext uri="{FF2B5EF4-FFF2-40B4-BE49-F238E27FC236}">
                <a16:creationId xmlns:a16="http://schemas.microsoft.com/office/drawing/2014/main" id="{FC77C83A-3210-8393-38E5-77C789D964BB}"/>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MCP: </a:t>
            </a:r>
            <a:r>
              <a:rPr lang="en-US" sz="2879" b="1" kern="0" spc="-29" dirty="0" err="1">
                <a:solidFill>
                  <a:srgbClr val="16181D"/>
                </a:solidFill>
                <a:latin typeface="Georgia" pitchFamily="34" charset="0"/>
                <a:ea typeface="Georgia" pitchFamily="34" charset="-122"/>
                <a:cs typeface="Georgia" pitchFamily="34" charset="-120"/>
              </a:rPr>
              <a:t>Protocolo</a:t>
            </a:r>
            <a:r>
              <a:rPr lang="en-US" sz="2879" b="1" kern="0" spc="-29" dirty="0">
                <a:solidFill>
                  <a:srgbClr val="16181D"/>
                </a:solidFill>
                <a:latin typeface="Georgia" pitchFamily="34" charset="0"/>
                <a:ea typeface="Georgia" pitchFamily="34" charset="-122"/>
                <a:cs typeface="Georgia" pitchFamily="34" charset="-120"/>
              </a:rPr>
              <a:t> </a:t>
            </a:r>
            <a:r>
              <a:rPr lang="en-US" sz="2879" b="1" kern="0" spc="-29" dirty="0" err="1">
                <a:solidFill>
                  <a:srgbClr val="16181D"/>
                </a:solidFill>
                <a:latin typeface="Georgia" pitchFamily="34" charset="0"/>
                <a:ea typeface="Georgia" pitchFamily="34" charset="-122"/>
                <a:cs typeface="Georgia" pitchFamily="34" charset="-120"/>
              </a:rPr>
              <a:t>estandarizado</a:t>
            </a:r>
            <a:endParaRPr lang="en-US" sz="2879" dirty="0"/>
          </a:p>
        </p:txBody>
      </p:sp>
      <p:sp>
        <p:nvSpPr>
          <p:cNvPr id="30" name="s16-texto-29">
            <a:extLst>
              <a:ext uri="{FF2B5EF4-FFF2-40B4-BE49-F238E27FC236}">
                <a16:creationId xmlns:a16="http://schemas.microsoft.com/office/drawing/2014/main" id="{9BA867A1-C54B-AB33-CA83-F026B8604C55}"/>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 · Model Context Protocol, Anthropic (2024)</a:t>
            </a:r>
            <a:endParaRPr lang="en-US" sz="1080" dirty="0"/>
          </a:p>
        </p:txBody>
      </p:sp>
      <p:sp>
        <p:nvSpPr>
          <p:cNvPr id="37" name="s16-forma-36">
            <a:extLst>
              <a:ext uri="{FF2B5EF4-FFF2-40B4-BE49-F238E27FC236}">
                <a16:creationId xmlns:a16="http://schemas.microsoft.com/office/drawing/2014/main" id="{8B38DD4E-4F22-7737-D2DC-E59CF48ADB83}"/>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a:extLst>
              <a:ext uri="{FF2B5EF4-FFF2-40B4-BE49-F238E27FC236}">
                <a16:creationId xmlns:a16="http://schemas.microsoft.com/office/drawing/2014/main" id="{1BEB8926-4318-1F14-FB01-B42E175C95B4}"/>
              </a:ext>
            </a:extLst>
          </p:cNvPr>
          <p:cNvPicPr>
            <a:picLocks noChangeAspect="1"/>
          </p:cNvPicPr>
          <p:nvPr/>
        </p:nvPicPr>
        <p:blipFill>
          <a:blip r:embed="rId3"/>
          <a:stretch>
            <a:fillRect/>
          </a:stretch>
        </p:blipFill>
        <p:spPr>
          <a:xfrm>
            <a:off x="853390" y="6465055"/>
            <a:ext cx="687800" cy="212455"/>
          </a:xfrm>
          <a:prstGeom prst="rect">
            <a:avLst/>
          </a:prstGeom>
        </p:spPr>
      </p:pic>
      <p:sp>
        <p:nvSpPr>
          <p:cNvPr id="39" name="s16-forma-38">
            <a:extLst>
              <a:ext uri="{FF2B5EF4-FFF2-40B4-BE49-F238E27FC236}">
                <a16:creationId xmlns:a16="http://schemas.microsoft.com/office/drawing/2014/main" id="{F0D4D346-99C5-432A-8C1F-2385B36F9EB6}"/>
              </a:ext>
            </a:extLst>
          </p:cNvPr>
          <p:cNvSpPr/>
          <p:nvPr/>
        </p:nvSpPr>
        <p:spPr>
          <a:xfrm>
            <a:off x="1659380" y="6519865"/>
            <a:ext cx="3057208" cy="102835"/>
          </a:xfrm>
          <a:prstGeom prst="rect">
            <a:avLst/>
          </a:prstGeom>
          <a:ln/>
        </p:spPr>
        <p:txBody>
          <a:bodyPr/>
          <a:lstStyle/>
          <a:p>
            <a:endParaRPr lang="es-MX"/>
          </a:p>
        </p:txBody>
      </p:sp>
      <p:sp>
        <p:nvSpPr>
          <p:cNvPr id="40" name="s16-forma-39">
            <a:extLst>
              <a:ext uri="{FF2B5EF4-FFF2-40B4-BE49-F238E27FC236}">
                <a16:creationId xmlns:a16="http://schemas.microsoft.com/office/drawing/2014/main" id="{56BC62E3-36A0-B716-05B1-070029BD5D49}"/>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1" name="s16-texto-40">
            <a:extLst>
              <a:ext uri="{FF2B5EF4-FFF2-40B4-BE49-F238E27FC236}">
                <a16:creationId xmlns:a16="http://schemas.microsoft.com/office/drawing/2014/main" id="{510E3BDC-73D3-4AAA-ED62-20434BB4C882}"/>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a:extLst>
              <a:ext uri="{FF2B5EF4-FFF2-40B4-BE49-F238E27FC236}">
                <a16:creationId xmlns:a16="http://schemas.microsoft.com/office/drawing/2014/main" id="{DC40F3FB-7848-2561-1D4D-9B9D3D404414}"/>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a:extLst>
              <a:ext uri="{FF2B5EF4-FFF2-40B4-BE49-F238E27FC236}">
                <a16:creationId xmlns:a16="http://schemas.microsoft.com/office/drawing/2014/main" id="{75CDE806-D47F-53E5-15D5-BFF0056C9A9B}"/>
              </a:ext>
            </a:extLst>
          </p:cNvPr>
          <p:cNvSpPr/>
          <p:nvPr/>
        </p:nvSpPr>
        <p:spPr>
          <a:xfrm>
            <a:off x="0" y="0"/>
            <a:ext cx="5573280" cy="17139"/>
          </a:xfrm>
          <a:prstGeom prst="rect">
            <a:avLst/>
          </a:prstGeom>
          <a:solidFill>
            <a:srgbClr val="0033A0"/>
          </a:solidFill>
          <a:ln/>
        </p:spPr>
        <p:txBody>
          <a:bodyPr/>
          <a:lstStyle/>
          <a:p>
            <a:endParaRPr lang="es-MX"/>
          </a:p>
        </p:txBody>
      </p:sp>
      <p:pic>
        <p:nvPicPr>
          <p:cNvPr id="8" name="Imagen 7">
            <a:extLst>
              <a:ext uri="{FF2B5EF4-FFF2-40B4-BE49-F238E27FC236}">
                <a16:creationId xmlns:a16="http://schemas.microsoft.com/office/drawing/2014/main" id="{D390805F-AB5D-92F7-9137-DE5A0898BA39}"/>
              </a:ext>
            </a:extLst>
          </p:cNvPr>
          <p:cNvPicPr>
            <a:picLocks noChangeAspect="1"/>
          </p:cNvPicPr>
          <p:nvPr/>
        </p:nvPicPr>
        <p:blipFill>
          <a:blip r:embed="rId4"/>
          <a:stretch>
            <a:fillRect/>
          </a:stretch>
        </p:blipFill>
        <p:spPr>
          <a:xfrm>
            <a:off x="1200242" y="1977794"/>
            <a:ext cx="10085125" cy="4065814"/>
          </a:xfrm>
          <a:prstGeom prst="rect">
            <a:avLst/>
          </a:prstGeom>
        </p:spPr>
      </p:pic>
    </p:spTree>
    <p:extLst>
      <p:ext uri="{BB962C8B-B14F-4D97-AF65-F5344CB8AC3E}">
        <p14:creationId xmlns:p14="http://schemas.microsoft.com/office/powerpoint/2010/main" val="10330413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033A0"/>
          </a:solidFill>
          <a:ln/>
        </p:spPr>
        <p:txBody>
          <a:bodyPr/>
          <a:lstStyle/>
          <a:p>
            <a:endParaRPr lang="es-MX"/>
          </a:p>
        </p:txBody>
      </p:sp>
      <p:sp>
        <p:nvSpPr>
          <p:cNvPr id="4" name="s2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6" name="s2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PROTOCOLOS · MCP</a:t>
            </a:r>
            <a:endParaRPr lang="en-US" sz="900" dirty="0"/>
          </a:p>
        </p:txBody>
      </p:sp>
      <p:sp>
        <p:nvSpPr>
          <p:cNvPr id="7" name="s28-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MCP: herramientas que cualquier agente descubre</a:t>
            </a:r>
            <a:endParaRPr lang="en-US" sz="2654" dirty="0"/>
          </a:p>
        </p:txBody>
      </p:sp>
      <p:sp>
        <p:nvSpPr>
          <p:cNvPr id="8" name="s28-forma-7"/>
          <p:cNvSpPr/>
          <p:nvPr/>
        </p:nvSpPr>
        <p:spPr>
          <a:xfrm>
            <a:off x="1342572" y="2285229"/>
            <a:ext cx="1485399" cy="571307"/>
          </a:xfrm>
          <a:prstGeom prst="rect">
            <a:avLst/>
          </a:prstGeom>
          <a:solidFill>
            <a:srgbClr val="E3DCCB"/>
          </a:solidFill>
          <a:ln w="5713">
            <a:solidFill>
              <a:srgbClr val="585E6F"/>
            </a:solidFill>
            <a:prstDash val="solid"/>
          </a:ln>
        </p:spPr>
        <p:txBody>
          <a:bodyPr/>
          <a:lstStyle/>
          <a:p>
            <a:endParaRPr lang="es-MX"/>
          </a:p>
        </p:txBody>
      </p:sp>
      <p:sp>
        <p:nvSpPr>
          <p:cNvPr id="9" name="s28-texto-8"/>
          <p:cNvSpPr txBox="1"/>
          <p:nvPr/>
        </p:nvSpPr>
        <p:spPr>
          <a:xfrm>
            <a:off x="1567025" y="2388064"/>
            <a:ext cx="103640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Claude Code</a:t>
            </a:r>
            <a:endParaRPr lang="en-US" sz="1260" dirty="0"/>
          </a:p>
        </p:txBody>
      </p:sp>
      <p:sp>
        <p:nvSpPr>
          <p:cNvPr id="10" name="s28-texto-9"/>
          <p:cNvSpPr txBox="1"/>
          <p:nvPr/>
        </p:nvSpPr>
        <p:spPr>
          <a:xfrm>
            <a:off x="1572135" y="2593735"/>
            <a:ext cx="102618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claude mcp add</a:t>
            </a:r>
            <a:endParaRPr lang="en-US" sz="1080" dirty="0"/>
          </a:p>
        </p:txBody>
      </p:sp>
      <p:sp>
        <p:nvSpPr>
          <p:cNvPr id="11" name="s28-forma-10"/>
          <p:cNvSpPr/>
          <p:nvPr/>
        </p:nvSpPr>
        <p:spPr>
          <a:xfrm>
            <a:off x="1342572" y="3199320"/>
            <a:ext cx="1485399" cy="571307"/>
          </a:xfrm>
          <a:prstGeom prst="rect">
            <a:avLst/>
          </a:prstGeom>
          <a:solidFill>
            <a:srgbClr val="E2D3C2"/>
          </a:solidFill>
          <a:ln w="5713">
            <a:solidFill>
              <a:srgbClr val="984514"/>
            </a:solidFill>
            <a:prstDash val="solid"/>
          </a:ln>
        </p:spPr>
        <p:txBody>
          <a:bodyPr/>
          <a:lstStyle/>
          <a:p>
            <a:endParaRPr lang="es-MX"/>
          </a:p>
        </p:txBody>
      </p:sp>
      <p:sp>
        <p:nvSpPr>
          <p:cNvPr id="12" name="s28-texto-11"/>
          <p:cNvSpPr txBox="1"/>
          <p:nvPr/>
        </p:nvSpPr>
        <p:spPr>
          <a:xfrm>
            <a:off x="1472684" y="3302155"/>
            <a:ext cx="122517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mcp_cliente.py</a:t>
            </a:r>
            <a:endParaRPr lang="en-US" sz="1260" dirty="0"/>
          </a:p>
        </p:txBody>
      </p:sp>
      <p:sp>
        <p:nvSpPr>
          <p:cNvPr id="13" name="s28-texto-12"/>
          <p:cNvSpPr txBox="1"/>
          <p:nvPr/>
        </p:nvSpPr>
        <p:spPr>
          <a:xfrm>
            <a:off x="1776498" y="3507826"/>
            <a:ext cx="61754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tu agente</a:t>
            </a:r>
            <a:endParaRPr lang="en-US" sz="1080" dirty="0"/>
          </a:p>
        </p:txBody>
      </p:sp>
      <p:sp>
        <p:nvSpPr>
          <p:cNvPr id="14" name="s28-forma-13"/>
          <p:cNvSpPr/>
          <p:nvPr/>
        </p:nvSpPr>
        <p:spPr>
          <a:xfrm>
            <a:off x="1342572" y="4113412"/>
            <a:ext cx="1485399" cy="571307"/>
          </a:xfrm>
          <a:prstGeom prst="rect">
            <a:avLst/>
          </a:prstGeom>
          <a:solidFill>
            <a:srgbClr val="E3DCCB"/>
          </a:solidFill>
          <a:ln w="5713">
            <a:solidFill>
              <a:srgbClr val="585E6F"/>
            </a:solidFill>
            <a:prstDash val="dash"/>
          </a:ln>
        </p:spPr>
        <p:txBody>
          <a:bodyPr/>
          <a:lstStyle/>
          <a:p>
            <a:endParaRPr lang="es-MX"/>
          </a:p>
        </p:txBody>
      </p:sp>
      <p:sp>
        <p:nvSpPr>
          <p:cNvPr id="15" name="s28-texto-14"/>
          <p:cNvSpPr txBox="1"/>
          <p:nvPr/>
        </p:nvSpPr>
        <p:spPr>
          <a:xfrm>
            <a:off x="1609416" y="4216247"/>
            <a:ext cx="95162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Otro agente</a:t>
            </a:r>
            <a:endParaRPr lang="en-US" sz="1260" dirty="0"/>
          </a:p>
        </p:txBody>
      </p:sp>
      <p:sp>
        <p:nvSpPr>
          <p:cNvPr id="16" name="s28-texto-15"/>
          <p:cNvSpPr txBox="1"/>
          <p:nvPr/>
        </p:nvSpPr>
        <p:spPr>
          <a:xfrm>
            <a:off x="1560115" y="4421918"/>
            <a:ext cx="105031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cualquier cliente</a:t>
            </a:r>
            <a:endParaRPr lang="en-US" sz="1080" dirty="0"/>
          </a:p>
        </p:txBody>
      </p:sp>
      <p:sp>
        <p:nvSpPr>
          <p:cNvPr id="17" name="s28-texto-16"/>
          <p:cNvSpPr txBox="1"/>
          <p:nvPr/>
        </p:nvSpPr>
        <p:spPr>
          <a:xfrm>
            <a:off x="3143332" y="3199320"/>
            <a:ext cx="968937"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MCP · stdio</a:t>
            </a:r>
            <a:endParaRPr lang="en-US" sz="1080" dirty="0"/>
          </a:p>
        </p:txBody>
      </p:sp>
      <p:sp>
        <p:nvSpPr>
          <p:cNvPr id="18" name="s28-forma-17"/>
          <p:cNvSpPr/>
          <p:nvPr/>
        </p:nvSpPr>
        <p:spPr>
          <a:xfrm>
            <a:off x="4084846" y="3027928"/>
            <a:ext cx="1599660" cy="914091"/>
          </a:xfrm>
          <a:prstGeom prst="rect">
            <a:avLst/>
          </a:prstGeom>
          <a:solidFill>
            <a:srgbClr val="DCE3F2"/>
          </a:solidFill>
          <a:ln w="5713">
            <a:solidFill>
              <a:srgbClr val="0033A0"/>
            </a:solidFill>
            <a:prstDash val="solid"/>
          </a:ln>
        </p:spPr>
        <p:txBody>
          <a:bodyPr/>
          <a:lstStyle/>
          <a:p>
            <a:endParaRPr lang="es-MX"/>
          </a:p>
        </p:txBody>
      </p:sp>
      <p:sp>
        <p:nvSpPr>
          <p:cNvPr id="19" name="s28-texto-18"/>
          <p:cNvSpPr txBox="1"/>
          <p:nvPr/>
        </p:nvSpPr>
        <p:spPr>
          <a:xfrm>
            <a:off x="4328676" y="3302155"/>
            <a:ext cx="111191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Servidor MCP</a:t>
            </a:r>
            <a:endParaRPr lang="en-US" sz="1260" dirty="0"/>
          </a:p>
        </p:txBody>
      </p:sp>
      <p:sp>
        <p:nvSpPr>
          <p:cNvPr id="20" name="s28-texto-19"/>
          <p:cNvSpPr txBox="1"/>
          <p:nvPr/>
        </p:nvSpPr>
        <p:spPr>
          <a:xfrm>
            <a:off x="4206045" y="3507826"/>
            <a:ext cx="135717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directorio-empleados</a:t>
            </a:r>
            <a:endParaRPr lang="en-US" sz="1080" dirty="0"/>
          </a:p>
        </p:txBody>
      </p:sp>
      <p:sp>
        <p:nvSpPr>
          <p:cNvPr id="21" name="s28-forma-20"/>
          <p:cNvSpPr/>
          <p:nvPr/>
        </p:nvSpPr>
        <p:spPr>
          <a:xfrm>
            <a:off x="6027291" y="3142189"/>
            <a:ext cx="799830" cy="685569"/>
          </a:xfrm>
          <a:prstGeom prst="rect">
            <a:avLst/>
          </a:prstGeom>
          <a:solidFill>
            <a:srgbClr val="E3DCCB"/>
          </a:solidFill>
          <a:ln w="5713">
            <a:solidFill>
              <a:srgbClr val="585E6F"/>
            </a:solidFill>
            <a:prstDash val="solid"/>
          </a:ln>
        </p:spPr>
        <p:txBody>
          <a:bodyPr/>
          <a:lstStyle/>
          <a:p>
            <a:endParaRPr lang="es-MX"/>
          </a:p>
        </p:txBody>
      </p:sp>
      <p:sp>
        <p:nvSpPr>
          <p:cNvPr id="22" name="s28-texto-21"/>
          <p:cNvSpPr txBox="1"/>
          <p:nvPr/>
        </p:nvSpPr>
        <p:spPr>
          <a:xfrm>
            <a:off x="6182079" y="3302155"/>
            <a:ext cx="49016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Datos</a:t>
            </a:r>
            <a:endParaRPr lang="en-US" sz="1260" dirty="0"/>
          </a:p>
        </p:txBody>
      </p:sp>
      <p:sp>
        <p:nvSpPr>
          <p:cNvPr id="23" name="s28-texto-22"/>
          <p:cNvSpPr txBox="1"/>
          <p:nvPr/>
        </p:nvSpPr>
        <p:spPr>
          <a:xfrm>
            <a:off x="6068978" y="3507826"/>
            <a:ext cx="7165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empleados</a:t>
            </a:r>
            <a:endParaRPr lang="en-US" sz="1080" dirty="0"/>
          </a:p>
        </p:txBody>
      </p:sp>
      <p:sp>
        <p:nvSpPr>
          <p:cNvPr id="24" name="s28-forma-23"/>
          <p:cNvSpPr/>
          <p:nvPr/>
        </p:nvSpPr>
        <p:spPr>
          <a:xfrm>
            <a:off x="4084846" y="4170542"/>
            <a:ext cx="2742274" cy="566665"/>
          </a:xfrm>
          <a:prstGeom prst="rect">
            <a:avLst/>
          </a:prstGeom>
          <a:solidFill>
            <a:srgbClr val="E3DCCB"/>
          </a:solidFill>
          <a:ln/>
        </p:spPr>
        <p:txBody>
          <a:bodyPr/>
          <a:lstStyle/>
          <a:p>
            <a:endParaRPr lang="es-MX"/>
          </a:p>
        </p:txBody>
      </p:sp>
      <p:sp>
        <p:nvSpPr>
          <p:cNvPr id="25" name="s28-texto-24"/>
          <p:cNvSpPr txBox="1"/>
          <p:nvPr/>
        </p:nvSpPr>
        <p:spPr>
          <a:xfrm>
            <a:off x="4221960" y="4279091"/>
            <a:ext cx="2616130"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1 · list_tools() → descubre</a:t>
            </a:r>
            <a:endParaRPr lang="en-US" sz="1080" dirty="0"/>
          </a:p>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2 · call_tool() → actúa</a:t>
            </a:r>
            <a:endParaRPr lang="en-US" sz="1080" dirty="0"/>
          </a:p>
        </p:txBody>
      </p:sp>
      <p:sp>
        <p:nvSpPr>
          <p:cNvPr id="26" name="s28-texto-25"/>
          <p:cNvSpPr txBox="1"/>
          <p:nvPr/>
        </p:nvSpPr>
        <p:spPr>
          <a:xfrm>
            <a:off x="1342572" y="5027503"/>
            <a:ext cx="5813622"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Una herramienta, muchos agentes: nadie importa el código del otro</a:t>
            </a:r>
            <a:endParaRPr lang="en-US" sz="1080" dirty="0"/>
          </a:p>
        </p:txBody>
      </p:sp>
      <p:sp>
        <p:nvSpPr>
          <p:cNvPr id="27" name="s28-texto-26"/>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8" name="s28-texto-27"/>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servidor publica herramientas con nombre, descripción y esquema; el cliente las descubre y las llama por el protocolo.</a:t>
            </a:r>
            <a:endParaRPr lang="en-US" sz="1260" dirty="0"/>
          </a:p>
        </p:txBody>
      </p:sp>
      <p:sp>
        <p:nvSpPr>
          <p:cNvPr id="29" name="s28-texto-28"/>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30" name="s28-texto-29"/>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Varios agentes o apps necesitan las mismas herramientas o datos de la empresa.</a:t>
            </a:r>
            <a:endParaRPr lang="en-US" sz="1260" dirty="0"/>
          </a:p>
        </p:txBody>
      </p:sp>
      <p:sp>
        <p:nvSpPr>
          <p:cNvPr id="31" name="s28-forma-30"/>
          <p:cNvSpPr/>
          <p:nvPr/>
        </p:nvSpPr>
        <p:spPr>
          <a:xfrm>
            <a:off x="7284167" y="4021645"/>
            <a:ext cx="3564957" cy="1122976"/>
          </a:xfrm>
          <a:prstGeom prst="rect">
            <a:avLst/>
          </a:prstGeom>
          <a:solidFill>
            <a:srgbClr val="E2D3C2"/>
          </a:solidFill>
          <a:ln/>
        </p:spPr>
        <p:txBody>
          <a:bodyPr/>
          <a:lstStyle/>
          <a:p>
            <a:endParaRPr lang="es-MX"/>
          </a:p>
        </p:txBody>
      </p:sp>
      <p:sp>
        <p:nvSpPr>
          <p:cNvPr id="32" name="s28-texto-31"/>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3" name="s28-texto-32"/>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 claude mcp add, los agentes 3 a 5 podrían consultar el directorio sin cambiar su código.</a:t>
            </a:r>
            <a:endParaRPr lang="en-US" sz="1260" dirty="0"/>
          </a:p>
        </p:txBody>
      </p:sp>
      <p:sp>
        <p:nvSpPr>
          <p:cNvPr id="34" name="s28-texto-33"/>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Conectar agentes con herramientas · A2A hace lo mismo entre agentes de distintos sistemas</a:t>
            </a:r>
            <a:endParaRPr lang="en-US" sz="1080" dirty="0"/>
          </a:p>
        </p:txBody>
      </p:sp>
      <p:sp>
        <p:nvSpPr>
          <p:cNvPr id="35" name="s28-linea-34-0"/>
          <p:cNvSpPr/>
          <p:nvPr/>
        </p:nvSpPr>
        <p:spPr>
          <a:xfrm>
            <a:off x="2827971" y="2570882"/>
            <a:ext cx="342784" cy="0"/>
          </a:xfrm>
          <a:prstGeom prst="line">
            <a:avLst/>
          </a:prstGeom>
          <a:noFill/>
          <a:ln w="17140">
            <a:solidFill>
              <a:srgbClr val="585E6F"/>
            </a:solidFill>
            <a:prstDash val="solid"/>
          </a:ln>
        </p:spPr>
        <p:txBody>
          <a:bodyPr/>
          <a:lstStyle/>
          <a:p>
            <a:endParaRPr lang="es-MX"/>
          </a:p>
        </p:txBody>
      </p:sp>
      <p:sp>
        <p:nvSpPr>
          <p:cNvPr id="36" name="s28-linea-35-0"/>
          <p:cNvSpPr/>
          <p:nvPr/>
        </p:nvSpPr>
        <p:spPr>
          <a:xfrm>
            <a:off x="2827971" y="3484974"/>
            <a:ext cx="342784" cy="0"/>
          </a:xfrm>
          <a:prstGeom prst="line">
            <a:avLst/>
          </a:prstGeom>
          <a:noFill/>
          <a:ln w="17140">
            <a:solidFill>
              <a:srgbClr val="585E6F"/>
            </a:solidFill>
            <a:prstDash val="solid"/>
          </a:ln>
        </p:spPr>
        <p:txBody>
          <a:bodyPr/>
          <a:lstStyle/>
          <a:p>
            <a:endParaRPr lang="es-MX"/>
          </a:p>
        </p:txBody>
      </p:sp>
      <p:sp>
        <p:nvSpPr>
          <p:cNvPr id="37" name="s28-linea-36-0"/>
          <p:cNvSpPr/>
          <p:nvPr/>
        </p:nvSpPr>
        <p:spPr>
          <a:xfrm>
            <a:off x="2827971" y="4399065"/>
            <a:ext cx="342784" cy="0"/>
          </a:xfrm>
          <a:prstGeom prst="line">
            <a:avLst/>
          </a:prstGeom>
          <a:noFill/>
          <a:ln w="17140">
            <a:solidFill>
              <a:srgbClr val="585E6F"/>
            </a:solidFill>
            <a:prstDash val="solid"/>
          </a:ln>
        </p:spPr>
        <p:txBody>
          <a:bodyPr/>
          <a:lstStyle/>
          <a:p>
            <a:endParaRPr lang="es-MX"/>
          </a:p>
        </p:txBody>
      </p:sp>
      <p:sp>
        <p:nvSpPr>
          <p:cNvPr id="38" name="s28-linea-37-0"/>
          <p:cNvSpPr/>
          <p:nvPr/>
        </p:nvSpPr>
        <p:spPr>
          <a:xfrm>
            <a:off x="3170755" y="2570882"/>
            <a:ext cx="0" cy="1828183"/>
          </a:xfrm>
          <a:prstGeom prst="line">
            <a:avLst/>
          </a:prstGeom>
          <a:noFill/>
          <a:ln w="17140">
            <a:solidFill>
              <a:srgbClr val="585E6F"/>
            </a:solidFill>
            <a:prstDash val="solid"/>
          </a:ln>
        </p:spPr>
        <p:txBody>
          <a:bodyPr/>
          <a:lstStyle/>
          <a:p>
            <a:endParaRPr lang="es-MX"/>
          </a:p>
        </p:txBody>
      </p:sp>
      <p:sp>
        <p:nvSpPr>
          <p:cNvPr id="39" name="s28-linea-38-0"/>
          <p:cNvSpPr/>
          <p:nvPr/>
        </p:nvSpPr>
        <p:spPr>
          <a:xfrm>
            <a:off x="3170755" y="3484974"/>
            <a:ext cx="914091" cy="0"/>
          </a:xfrm>
          <a:prstGeom prst="line">
            <a:avLst/>
          </a:prstGeom>
          <a:noFill/>
          <a:ln w="17140">
            <a:solidFill>
              <a:srgbClr val="0033A0"/>
            </a:solidFill>
            <a:prstDash val="solid"/>
            <a:headEnd type="triangle"/>
            <a:tailEnd type="triangle"/>
          </a:ln>
        </p:spPr>
        <p:txBody>
          <a:bodyPr/>
          <a:lstStyle/>
          <a:p>
            <a:endParaRPr lang="es-MX"/>
          </a:p>
        </p:txBody>
      </p:sp>
      <p:sp>
        <p:nvSpPr>
          <p:cNvPr id="40" name="s28-linea-39-0"/>
          <p:cNvSpPr/>
          <p:nvPr/>
        </p:nvSpPr>
        <p:spPr>
          <a:xfrm>
            <a:off x="5684506" y="3484974"/>
            <a:ext cx="342784" cy="0"/>
          </a:xfrm>
          <a:prstGeom prst="line">
            <a:avLst/>
          </a:prstGeom>
          <a:noFill/>
          <a:ln w="17140">
            <a:solidFill>
              <a:srgbClr val="585E6F"/>
            </a:solidFill>
            <a:prstDash val="solid"/>
            <a:tailEnd type="triangle"/>
          </a:ln>
        </p:spPr>
        <p:txBody>
          <a:bodyPr/>
          <a:lstStyle/>
          <a:p>
            <a:endParaRPr lang="es-MX"/>
          </a:p>
        </p:txBody>
      </p:sp>
      <p:sp>
        <p:nvSpPr>
          <p:cNvPr id="41" name="s28-forma-40"/>
          <p:cNvSpPr/>
          <p:nvPr/>
        </p:nvSpPr>
        <p:spPr>
          <a:xfrm>
            <a:off x="853390" y="6411138"/>
            <a:ext cx="10484915" cy="5713"/>
          </a:xfrm>
          <a:prstGeom prst="rect">
            <a:avLst/>
          </a:prstGeom>
          <a:solidFill>
            <a:srgbClr val="DBD4C4"/>
          </a:solidFill>
          <a:ln/>
        </p:spPr>
        <p:txBody>
          <a:bodyPr/>
          <a:lstStyle/>
          <a:p>
            <a:endParaRPr lang="es-MX"/>
          </a:p>
        </p:txBody>
      </p:sp>
      <p:pic>
        <p:nvPicPr>
          <p:cNvPr id="42" name="s28-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28-forma-42"/>
          <p:cNvSpPr/>
          <p:nvPr/>
        </p:nvSpPr>
        <p:spPr>
          <a:xfrm>
            <a:off x="1659380" y="6519865"/>
            <a:ext cx="2926878" cy="102835"/>
          </a:xfrm>
          <a:prstGeom prst="rect">
            <a:avLst/>
          </a:prstGeom>
          <a:ln/>
        </p:spPr>
        <p:txBody>
          <a:bodyPr/>
          <a:lstStyle/>
          <a:p>
            <a:endParaRPr lang="es-MX"/>
          </a:p>
        </p:txBody>
      </p:sp>
      <p:sp>
        <p:nvSpPr>
          <p:cNvPr id="44" name="s28-forma-43"/>
          <p:cNvSpPr/>
          <p:nvPr/>
        </p:nvSpPr>
        <p:spPr>
          <a:xfrm>
            <a:off x="1659380" y="6519865"/>
            <a:ext cx="5713" cy="102835"/>
          </a:xfrm>
          <a:prstGeom prst="rect">
            <a:avLst/>
          </a:prstGeom>
          <a:solidFill>
            <a:srgbClr val="C6BFAE"/>
          </a:solidFill>
          <a:ln/>
        </p:spPr>
        <p:txBody>
          <a:bodyPr/>
          <a:lstStyle/>
          <a:p>
            <a:endParaRPr lang="es-MX"/>
          </a:p>
        </p:txBody>
      </p:sp>
      <p:sp>
        <p:nvSpPr>
          <p:cNvPr id="45" name="s28-texto-44"/>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6" name="s28-texto-4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36</a:t>
            </a:r>
            <a:endParaRPr lang="en-US" sz="745" dirty="0"/>
          </a:p>
        </p:txBody>
      </p:sp>
      <p:sp>
        <p:nvSpPr>
          <p:cNvPr id="47" name="s28-forma-46"/>
          <p:cNvSpPr/>
          <p:nvPr/>
        </p:nvSpPr>
        <p:spPr>
          <a:xfrm>
            <a:off x="0" y="0"/>
            <a:ext cx="9482360"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520961"/>
            <a:ext cx="10484915" cy="5713"/>
          </a:xfrm>
          <a:prstGeom prst="rect">
            <a:avLst/>
          </a:prstGeom>
          <a:solidFill>
            <a:srgbClr val="C6BFAE"/>
          </a:solidFill>
          <a:ln/>
        </p:spPr>
        <p:txBody>
          <a:bodyPr/>
          <a:lstStyle/>
          <a:p>
            <a:endParaRPr lang="es-MX"/>
          </a:p>
        </p:txBody>
      </p:sp>
      <p:sp>
        <p:nvSpPr>
          <p:cNvPr id="3" name="s29-forma-2"/>
          <p:cNvSpPr/>
          <p:nvPr/>
        </p:nvSpPr>
        <p:spPr>
          <a:xfrm>
            <a:off x="853390" y="331715"/>
            <a:ext cx="81411" cy="81411"/>
          </a:xfrm>
          <a:prstGeom prst="ellipse">
            <a:avLst/>
          </a:prstGeom>
          <a:solidFill>
            <a:srgbClr val="0033A0"/>
          </a:solidFill>
          <a:ln/>
        </p:spPr>
        <p:txBody>
          <a:bodyPr/>
          <a:lstStyle/>
          <a:p>
            <a:endParaRPr lang="es-MX"/>
          </a:p>
        </p:txBody>
      </p:sp>
      <p:sp>
        <p:nvSpPr>
          <p:cNvPr id="4" name="s2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6" name="s2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PROTOCOLOS · EN CÓDIGO</a:t>
            </a:r>
            <a:endParaRPr lang="en-US" sz="900" dirty="0"/>
          </a:p>
        </p:txBody>
      </p:sp>
      <p:sp>
        <p:nvSpPr>
          <p:cNvPr id="7" name="s2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MCP en código: publicar y descubrir</a:t>
            </a:r>
            <a:endParaRPr lang="en-US" sz="2519" dirty="0"/>
          </a:p>
        </p:txBody>
      </p:sp>
      <p:sp>
        <p:nvSpPr>
          <p:cNvPr id="8" name="s29-forma-7"/>
          <p:cNvSpPr/>
          <p:nvPr/>
        </p:nvSpPr>
        <p:spPr>
          <a:xfrm>
            <a:off x="1342572" y="2205246"/>
            <a:ext cx="5941595" cy="3159329"/>
          </a:xfrm>
          <a:prstGeom prst="rect">
            <a:avLst/>
          </a:prstGeom>
          <a:solidFill>
            <a:srgbClr val="E8E2D5"/>
          </a:solidFill>
          <a:ln/>
        </p:spPr>
        <p:txBody>
          <a:bodyPr/>
          <a:lstStyle/>
          <a:p>
            <a:endParaRPr lang="es-MX"/>
          </a:p>
        </p:txBody>
      </p:sp>
      <p:sp>
        <p:nvSpPr>
          <p:cNvPr id="9" name="s29-forma-8"/>
          <p:cNvSpPr/>
          <p:nvPr/>
        </p:nvSpPr>
        <p:spPr>
          <a:xfrm>
            <a:off x="1342572" y="2205246"/>
            <a:ext cx="5941595" cy="5713"/>
          </a:xfrm>
          <a:prstGeom prst="rect">
            <a:avLst/>
          </a:prstGeom>
          <a:solidFill>
            <a:srgbClr val="DBD4C4"/>
          </a:solidFill>
          <a:ln/>
        </p:spPr>
        <p:txBody>
          <a:bodyPr/>
          <a:lstStyle/>
          <a:p>
            <a:endParaRPr lang="es-MX"/>
          </a:p>
        </p:txBody>
      </p:sp>
      <p:sp>
        <p:nvSpPr>
          <p:cNvPr id="10" name="s29-forma-9"/>
          <p:cNvSpPr/>
          <p:nvPr/>
        </p:nvSpPr>
        <p:spPr>
          <a:xfrm>
            <a:off x="1342572" y="5358861"/>
            <a:ext cx="5941595" cy="5713"/>
          </a:xfrm>
          <a:prstGeom prst="rect">
            <a:avLst/>
          </a:prstGeom>
          <a:solidFill>
            <a:srgbClr val="DBD4C4"/>
          </a:solidFill>
          <a:ln/>
        </p:spPr>
        <p:txBody>
          <a:bodyPr/>
          <a:lstStyle/>
          <a:p>
            <a:endParaRPr lang="es-MX"/>
          </a:p>
        </p:txBody>
      </p:sp>
      <p:sp>
        <p:nvSpPr>
          <p:cNvPr id="11" name="s29-forma-10"/>
          <p:cNvSpPr/>
          <p:nvPr/>
        </p:nvSpPr>
        <p:spPr>
          <a:xfrm>
            <a:off x="1342572" y="2205246"/>
            <a:ext cx="17139" cy="3159329"/>
          </a:xfrm>
          <a:prstGeom prst="rect">
            <a:avLst/>
          </a:prstGeom>
          <a:solidFill>
            <a:srgbClr val="C6BFAE"/>
          </a:solidFill>
          <a:ln/>
        </p:spPr>
        <p:txBody>
          <a:bodyPr/>
          <a:lstStyle/>
          <a:p>
            <a:endParaRPr lang="es-MX"/>
          </a:p>
        </p:txBody>
      </p:sp>
      <p:sp>
        <p:nvSpPr>
          <p:cNvPr id="12" name="s29-forma-11"/>
          <p:cNvSpPr/>
          <p:nvPr/>
        </p:nvSpPr>
        <p:spPr>
          <a:xfrm>
            <a:off x="7278453" y="2205246"/>
            <a:ext cx="5713" cy="3159329"/>
          </a:xfrm>
          <a:prstGeom prst="rect">
            <a:avLst/>
          </a:prstGeom>
          <a:solidFill>
            <a:srgbClr val="DBD4C4"/>
          </a:solidFill>
          <a:ln/>
        </p:spPr>
        <p:txBody>
          <a:bodyPr/>
          <a:lstStyle/>
          <a:p>
            <a:endParaRPr lang="es-MX"/>
          </a:p>
        </p:txBody>
      </p:sp>
      <p:sp>
        <p:nvSpPr>
          <p:cNvPr id="13" name="s2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585E6F"/>
                </a:solidFill>
                <a:latin typeface="Courier New" pitchFamily="34" charset="0"/>
                <a:ea typeface="Courier New" pitchFamily="34" charset="-122"/>
                <a:cs typeface="Courier New" pitchFamily="34" charset="-120"/>
              </a:rPr>
              <a:t># servidor · mcp_directorio.py</a:t>
            </a:r>
            <a:endParaRPr lang="en-US" sz="990" dirty="0"/>
          </a:p>
        </p:txBody>
      </p:sp>
      <p:sp>
        <p:nvSpPr>
          <p:cNvPr id="14" name="s2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 = </a:t>
            </a:r>
            <a:r>
              <a:rPr lang="en-US" sz="990" dirty="0">
                <a:solidFill>
                  <a:srgbClr val="0033A0"/>
                </a:solidFill>
                <a:latin typeface="Courier New" pitchFamily="34" charset="0"/>
                <a:ea typeface="Courier New" pitchFamily="34" charset="-122"/>
                <a:cs typeface="Courier New" pitchFamily="34" charset="-120"/>
              </a:rPr>
              <a:t>FastMCP</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"directorio-empleados"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9-forma-14"/>
          <p:cNvSpPr/>
          <p:nvPr/>
        </p:nvSpPr>
        <p:spPr>
          <a:xfrm>
            <a:off x="1451120" y="2747988"/>
            <a:ext cx="5735924" cy="188531"/>
          </a:xfrm>
          <a:prstGeom prst="rect">
            <a:avLst/>
          </a:prstGeom>
          <a:solidFill>
            <a:srgbClr val="DCE3F2"/>
          </a:solidFill>
          <a:ln/>
        </p:spPr>
        <p:txBody>
          <a:bodyPr/>
          <a:lstStyle/>
          <a:p>
            <a:endParaRPr lang="es-MX"/>
          </a:p>
        </p:txBody>
      </p:sp>
      <p:sp>
        <p:nvSpPr>
          <p:cNvPr id="16" name="s29-forma-15"/>
          <p:cNvSpPr/>
          <p:nvPr/>
        </p:nvSpPr>
        <p:spPr>
          <a:xfrm>
            <a:off x="1451120" y="2747988"/>
            <a:ext cx="22852" cy="188531"/>
          </a:xfrm>
          <a:prstGeom prst="rect">
            <a:avLst/>
          </a:prstGeom>
          <a:solidFill>
            <a:srgbClr val="AC321E"/>
          </a:solidFill>
          <a:ln/>
        </p:spPr>
        <p:txBody>
          <a:bodyPr/>
          <a:lstStyle/>
          <a:p>
            <a:endParaRPr lang="es-MX"/>
          </a:p>
        </p:txBody>
      </p:sp>
      <p:sp>
        <p:nvSpPr>
          <p:cNvPr id="17" name="s29-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@servidor.tool()                          </a:t>
            </a:r>
            <a:r>
              <a:rPr lang="en-US" sz="990" dirty="0">
                <a:solidFill>
                  <a:srgbClr val="585E6F"/>
                </a:solidFill>
                <a:latin typeface="Courier New" pitchFamily="34" charset="0"/>
                <a:ea typeface="Courier New" pitchFamily="34" charset="-122"/>
                <a:cs typeface="Courier New" pitchFamily="34" charset="-120"/>
              </a:rPr>
              <a:t># tipos + docstring = esquema</a:t>
            </a:r>
            <a:endParaRPr lang="en-US" sz="990" dirty="0"/>
          </a:p>
        </p:txBody>
      </p:sp>
      <p:sp>
        <p:nvSpPr>
          <p:cNvPr id="18" name="s29-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buscar_empleados(departamento: str) -&gt; str:</a:t>
            </a:r>
            <a:endParaRPr lang="en-US" sz="990" dirty="0"/>
          </a:p>
        </p:txBody>
      </p:sp>
      <p:sp>
        <p:nvSpPr>
          <p:cNvPr id="19" name="s29-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"""Empleados de un departamento. Ej.: 'Tecnología'."""</a:t>
            </a:r>
            <a:endParaRPr lang="en-US" sz="990" dirty="0"/>
          </a:p>
        </p:txBody>
      </p:sp>
      <p:sp>
        <p:nvSpPr>
          <p:cNvPr id="20" name="s29-texto-19"/>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21" name="s29-texto-20"/>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servidor.run()                            </a:t>
            </a:r>
            <a:r>
              <a:rPr lang="en-US" sz="990" dirty="0">
                <a:solidFill>
                  <a:srgbClr val="585E6F"/>
                </a:solidFill>
                <a:latin typeface="Courier New" pitchFamily="34" charset="0"/>
                <a:ea typeface="Courier New" pitchFamily="34" charset="-122"/>
                <a:cs typeface="Courier New" pitchFamily="34" charset="-120"/>
              </a:rPr>
              <a:t># stdio</a:t>
            </a:r>
            <a:endParaRPr lang="en-US" sz="990" dirty="0"/>
          </a:p>
        </p:txBody>
      </p:sp>
      <p:sp>
        <p:nvSpPr>
          <p:cNvPr id="22" name="s29-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585E6F"/>
                </a:solidFill>
                <a:latin typeface="Courier New" pitchFamily="34" charset="0"/>
                <a:ea typeface="Courier New" pitchFamily="34" charset="-122"/>
                <a:cs typeface="Courier New" pitchFamily="34" charset="-120"/>
              </a:rPr>
              <a:t># cliente · mcp_cliente.py (el bucle es el de react.py)</a:t>
            </a:r>
            <a:endParaRPr lang="en-US" sz="990" dirty="0"/>
          </a:p>
        </p:txBody>
      </p:sp>
      <p:sp>
        <p:nvSpPr>
          <p:cNvPr id="23" name="s29-texto-22"/>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async</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with</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ClientSession</a:t>
            </a:r>
            <a:r>
              <a:rPr lang="en-US" sz="990" dirty="0">
                <a:solidFill>
                  <a:srgbClr val="16181D"/>
                </a:solidFill>
                <a:latin typeface="Courier New" pitchFamily="34" charset="0"/>
                <a:ea typeface="Courier New" pitchFamily="34" charset="-122"/>
                <a:cs typeface="Courier New" pitchFamily="34" charset="-120"/>
              </a:rPr>
              <a:t>(lectura, escritura) as sesion:</a:t>
            </a:r>
            <a:endParaRPr lang="en-US" sz="990" dirty="0"/>
          </a:p>
        </p:txBody>
      </p:sp>
      <p:sp>
        <p:nvSpPr>
          <p:cNvPr id="24" name="s29-forma-23"/>
          <p:cNvSpPr/>
          <p:nvPr/>
        </p:nvSpPr>
        <p:spPr>
          <a:xfrm>
            <a:off x="1451120" y="4256238"/>
            <a:ext cx="5735924" cy="188531"/>
          </a:xfrm>
          <a:prstGeom prst="rect">
            <a:avLst/>
          </a:prstGeom>
          <a:solidFill>
            <a:srgbClr val="DCE3F2"/>
          </a:solidFill>
          <a:ln/>
        </p:spPr>
        <p:txBody>
          <a:bodyPr/>
          <a:lstStyle/>
          <a:p>
            <a:endParaRPr lang="es-MX"/>
          </a:p>
        </p:txBody>
      </p:sp>
      <p:sp>
        <p:nvSpPr>
          <p:cNvPr id="25" name="s29-forma-24"/>
          <p:cNvSpPr/>
          <p:nvPr/>
        </p:nvSpPr>
        <p:spPr>
          <a:xfrm>
            <a:off x="1451120" y="4256238"/>
            <a:ext cx="22852" cy="188531"/>
          </a:xfrm>
          <a:prstGeom prst="rect">
            <a:avLst/>
          </a:prstGeom>
          <a:solidFill>
            <a:srgbClr val="AC321E"/>
          </a:solidFill>
          <a:ln/>
        </p:spPr>
        <p:txBody>
          <a:bodyPr/>
          <a:lstStyle/>
          <a:p>
            <a:endParaRPr lang="es-MX"/>
          </a:p>
        </p:txBody>
      </p:sp>
      <p:sp>
        <p:nvSpPr>
          <p:cNvPr id="26" name="s29-texto-25"/>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lista = </a:t>
            </a:r>
            <a:r>
              <a:rPr lang="en-US" sz="990" dirty="0">
                <a:solidFill>
                  <a:srgbClr val="AC321E"/>
                </a:solidFill>
                <a:latin typeface="Courier New" pitchFamily="34" charset="0"/>
                <a:ea typeface="Courier New" pitchFamily="34" charset="-122"/>
                <a:cs typeface="Courier New" pitchFamily="34" charset="-120"/>
              </a:rPr>
              <a:t>await</a:t>
            </a:r>
            <a:r>
              <a:rPr lang="en-US" sz="990" dirty="0">
                <a:solidFill>
                  <a:srgbClr val="16181D"/>
                </a:solidFill>
                <a:latin typeface="Courier New" pitchFamily="34" charset="0"/>
                <a:ea typeface="Courier New" pitchFamily="34" charset="-122"/>
                <a:cs typeface="Courier New" pitchFamily="34" charset="-120"/>
              </a:rPr>
              <a:t> sesion.list_tools()             </a:t>
            </a:r>
            <a:r>
              <a:rPr lang="en-US" sz="990" dirty="0">
                <a:solidFill>
                  <a:srgbClr val="585E6F"/>
                </a:solidFill>
                <a:latin typeface="Courier New" pitchFamily="34" charset="0"/>
                <a:ea typeface="Courier New" pitchFamily="34" charset="-122"/>
                <a:cs typeface="Courier New" pitchFamily="34" charset="-120"/>
              </a:rPr>
              <a:t># DESCUBRIR</a:t>
            </a:r>
            <a:endParaRPr lang="en-US" sz="990" dirty="0"/>
          </a:p>
        </p:txBody>
      </p:sp>
      <p:sp>
        <p:nvSpPr>
          <p:cNvPr id="27" name="s29-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esquemas =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h.name, </a:t>
            </a:r>
            <a:r>
              <a:rPr lang="en-US" sz="990" dirty="0">
                <a:solidFill>
                  <a:srgbClr val="1B6A43"/>
                </a:solidFill>
                <a:latin typeface="Courier New" pitchFamily="34" charset="0"/>
                <a:ea typeface="Courier New" pitchFamily="34" charset="-122"/>
                <a:cs typeface="Courier New" pitchFamily="34" charset="-120"/>
              </a:rPr>
              <a:t>"description"</a:t>
            </a:r>
            <a:r>
              <a:rPr lang="en-US" sz="990" dirty="0">
                <a:solidFill>
                  <a:srgbClr val="16181D"/>
                </a:solidFill>
                <a:latin typeface="Courier New" pitchFamily="34" charset="0"/>
                <a:ea typeface="Courier New" pitchFamily="34" charset="-122"/>
                <a:cs typeface="Courier New" pitchFamily="34" charset="-120"/>
              </a:rPr>
              <a:t>: h.description,</a:t>
            </a:r>
            <a:endParaRPr lang="en-US" sz="990" dirty="0"/>
          </a:p>
        </p:txBody>
      </p:sp>
      <p:sp>
        <p:nvSpPr>
          <p:cNvPr id="28" name="s29-texto-27"/>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"input_schema"</a:t>
            </a:r>
            <a:r>
              <a:rPr lang="en-US" sz="990" dirty="0">
                <a:solidFill>
                  <a:srgbClr val="16181D"/>
                </a:solidFill>
                <a:latin typeface="Courier New" pitchFamily="34" charset="0"/>
                <a:ea typeface="Courier New" pitchFamily="34" charset="-122"/>
                <a:cs typeface="Courier New" pitchFamily="34" charset="-120"/>
              </a:rPr>
              <a:t>: h.inputSchema}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h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lista.tools]</a:t>
            </a:r>
            <a:endParaRPr lang="en-US" sz="990" dirty="0"/>
          </a:p>
        </p:txBody>
      </p:sp>
      <p:sp>
        <p:nvSpPr>
          <p:cNvPr id="29" name="s29-texto-28"/>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30" name="s29-forma-29"/>
          <p:cNvSpPr/>
          <p:nvPr/>
        </p:nvSpPr>
        <p:spPr>
          <a:xfrm>
            <a:off x="1451120" y="5010364"/>
            <a:ext cx="5735924" cy="188531"/>
          </a:xfrm>
          <a:prstGeom prst="rect">
            <a:avLst/>
          </a:prstGeom>
          <a:solidFill>
            <a:srgbClr val="DCE3F2"/>
          </a:solidFill>
          <a:ln/>
        </p:spPr>
        <p:txBody>
          <a:bodyPr/>
          <a:lstStyle/>
          <a:p>
            <a:endParaRPr lang="es-MX"/>
          </a:p>
        </p:txBody>
      </p:sp>
      <p:sp>
        <p:nvSpPr>
          <p:cNvPr id="31" name="s29-forma-30"/>
          <p:cNvSpPr/>
          <p:nvPr/>
        </p:nvSpPr>
        <p:spPr>
          <a:xfrm>
            <a:off x="1451120" y="5010364"/>
            <a:ext cx="22852" cy="188531"/>
          </a:xfrm>
          <a:prstGeom prst="rect">
            <a:avLst/>
          </a:prstGeom>
          <a:solidFill>
            <a:srgbClr val="AC321E"/>
          </a:solidFill>
          <a:ln/>
        </p:spPr>
        <p:txBody>
          <a:bodyPr/>
          <a:lstStyle/>
          <a:p>
            <a:endParaRPr lang="es-MX"/>
          </a:p>
        </p:txBody>
      </p:sp>
      <p:sp>
        <p:nvSpPr>
          <p:cNvPr id="32" name="s29-texto-31"/>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 = </a:t>
            </a:r>
            <a:r>
              <a:rPr lang="en-US" sz="990" dirty="0">
                <a:solidFill>
                  <a:srgbClr val="AC321E"/>
                </a:solidFill>
                <a:latin typeface="Courier New" pitchFamily="34" charset="0"/>
                <a:ea typeface="Courier New" pitchFamily="34" charset="-122"/>
                <a:cs typeface="Courier New" pitchFamily="34" charset="-120"/>
              </a:rPr>
              <a:t>await</a:t>
            </a:r>
            <a:r>
              <a:rPr lang="en-US" sz="990" dirty="0">
                <a:solidFill>
                  <a:srgbClr val="16181D"/>
                </a:solidFill>
                <a:latin typeface="Courier New" pitchFamily="34" charset="0"/>
                <a:ea typeface="Courier New" pitchFamily="34" charset="-122"/>
                <a:cs typeface="Courier New" pitchFamily="34" charset="-120"/>
              </a:rPr>
              <a:t> sesion.call_tool(b.name, b.input)   </a:t>
            </a:r>
            <a:r>
              <a:rPr lang="en-US" sz="990" dirty="0">
                <a:solidFill>
                  <a:srgbClr val="585E6F"/>
                </a:solidFill>
                <a:latin typeface="Courier New" pitchFamily="34" charset="0"/>
                <a:ea typeface="Courier New" pitchFamily="34" charset="-122"/>
                <a:cs typeface="Courier New" pitchFamily="34" charset="-120"/>
              </a:rPr>
              <a:t># ACTUAR</a:t>
            </a:r>
            <a:endParaRPr lang="en-US" sz="990" dirty="0"/>
          </a:p>
        </p:txBody>
      </p:sp>
      <p:sp>
        <p:nvSpPr>
          <p:cNvPr id="33" name="s29-texto-32"/>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4" name="s29-texto-33"/>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agente no tiene ni un esquema escrito a mano: </a:t>
            </a:r>
            <a:r>
              <a:rPr lang="en-US" sz="1170" b="1" dirty="0">
                <a:solidFill>
                  <a:srgbClr val="0033A0"/>
                </a:solidFill>
                <a:latin typeface="Arial" pitchFamily="34" charset="0"/>
                <a:ea typeface="Arial" pitchFamily="34" charset="-122"/>
                <a:cs typeface="Arial" pitchFamily="34" charset="-120"/>
              </a:rPr>
              <a:t>list_tools()</a:t>
            </a:r>
            <a:r>
              <a:rPr lang="en-US" sz="1170" dirty="0">
                <a:solidFill>
                  <a:srgbClr val="16181D"/>
                </a:solidFill>
                <a:latin typeface="Arial" pitchFamily="34" charset="0"/>
                <a:ea typeface="Arial" pitchFamily="34" charset="-122"/>
                <a:cs typeface="Arial" pitchFamily="34" charset="-120"/>
              </a:rPr>
              <a:t> los descubre y </a:t>
            </a:r>
            <a:r>
              <a:rPr lang="en-US" sz="1170" b="1" dirty="0">
                <a:solidFill>
                  <a:srgbClr val="0033A0"/>
                </a:solidFill>
                <a:latin typeface="Arial" pitchFamily="34" charset="0"/>
                <a:ea typeface="Arial" pitchFamily="34" charset="-122"/>
                <a:cs typeface="Arial" pitchFamily="34" charset="-120"/>
              </a:rPr>
              <a:t>call_tool()</a:t>
            </a:r>
            <a:r>
              <a:rPr lang="en-US" sz="1170" dirty="0">
                <a:solidFill>
                  <a:srgbClr val="16181D"/>
                </a:solidFill>
                <a:latin typeface="Arial" pitchFamily="34" charset="0"/>
                <a:ea typeface="Arial" pitchFamily="34" charset="-122"/>
                <a:cs typeface="Arial" pitchFamily="34" charset="-120"/>
              </a:rPr>
              <a:t> los ejecuta en el servidor.</a:t>
            </a:r>
            <a:endParaRPr lang="en-US" sz="1170" dirty="0"/>
          </a:p>
        </p:txBody>
      </p:sp>
      <p:sp>
        <p:nvSpPr>
          <p:cNvPr id="35" name="s29-texto-34"/>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6" name="s29-texto-35"/>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react.py: la misma herramienta, pero escrita dentro del agente; solo él podía usarla.</a:t>
            </a:r>
            <a:endParaRPr lang="en-US" sz="1170" dirty="0"/>
          </a:p>
        </p:txBody>
      </p:sp>
      <p:sp>
        <p:nvSpPr>
          <p:cNvPr id="37" name="s29-texto-36"/>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8" name="s29-forma-37"/>
          <p:cNvSpPr/>
          <p:nvPr/>
        </p:nvSpPr>
        <p:spPr>
          <a:xfrm>
            <a:off x="7558394" y="4084579"/>
            <a:ext cx="3290729" cy="592910"/>
          </a:xfrm>
          <a:prstGeom prst="rect">
            <a:avLst/>
          </a:prstGeom>
          <a:solidFill>
            <a:srgbClr val="E3DCCB"/>
          </a:solidFill>
          <a:ln/>
        </p:spPr>
        <p:txBody>
          <a:bodyPr/>
          <a:lstStyle/>
          <a:p>
            <a:endParaRPr lang="es-MX"/>
          </a:p>
        </p:txBody>
      </p:sp>
      <p:sp>
        <p:nvSpPr>
          <p:cNvPr id="39" name="s29-texto-38"/>
          <p:cNvSpPr txBox="1"/>
          <p:nvPr/>
        </p:nvSpPr>
        <p:spPr>
          <a:xfrm>
            <a:off x="7649803" y="4164562"/>
            <a:ext cx="3294386" cy="429552"/>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ejemplos.s3_topologias.mcp_cliente</a:t>
            </a:r>
            <a:endParaRPr lang="en-US" sz="855" dirty="0"/>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claude mcp add directorio -- python -m ejemplos.s3_topologias.mcp_directorio</a:t>
            </a:r>
            <a:endParaRPr lang="en-US" sz="855" dirty="0"/>
          </a:p>
        </p:txBody>
      </p:sp>
      <p:sp>
        <p:nvSpPr>
          <p:cNvPr id="40" name="s29-forma-39"/>
          <p:cNvSpPr/>
          <p:nvPr/>
        </p:nvSpPr>
        <p:spPr>
          <a:xfrm>
            <a:off x="7558394" y="4814602"/>
            <a:ext cx="3290729" cy="832859"/>
          </a:xfrm>
          <a:prstGeom prst="rect">
            <a:avLst/>
          </a:prstGeom>
          <a:solidFill>
            <a:srgbClr val="E2D3C2"/>
          </a:solidFill>
          <a:ln/>
        </p:spPr>
        <p:txBody>
          <a:bodyPr/>
          <a:lstStyle/>
          <a:p>
            <a:endParaRPr lang="es-MX"/>
          </a:p>
        </p:txBody>
      </p:sp>
      <p:sp>
        <p:nvSpPr>
          <p:cNvPr id="41" name="s29-texto-40"/>
          <p:cNvSpPr txBox="1"/>
          <p:nvPr/>
        </p:nvSpPr>
        <p:spPr>
          <a:xfrm>
            <a:off x="7695508" y="4928863"/>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2" name="s29-texto-41"/>
          <p:cNvSpPr txBox="1"/>
          <p:nvPr/>
        </p:nvSpPr>
        <p:spPr>
          <a:xfrm>
            <a:off x="7695508" y="5134534"/>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Claude Code hace list_tools y call_tool por ti en cuanto registras el servidor.</a:t>
            </a:r>
            <a:endParaRPr lang="en-US" sz="1170" dirty="0"/>
          </a:p>
        </p:txBody>
      </p:sp>
      <p:sp>
        <p:nvSpPr>
          <p:cNvPr id="43" name="s29-texto-4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ejemplos/s3_topologias/mcp_directorio.py y mcp_cliente.py · las líneas resaltadas son el patrón</a:t>
            </a:r>
            <a:endParaRPr lang="en-US" sz="1080" dirty="0"/>
          </a:p>
        </p:txBody>
      </p:sp>
      <p:sp>
        <p:nvSpPr>
          <p:cNvPr id="44" name="s29-forma-43"/>
          <p:cNvSpPr/>
          <p:nvPr/>
        </p:nvSpPr>
        <p:spPr>
          <a:xfrm>
            <a:off x="853390" y="6411138"/>
            <a:ext cx="10484915" cy="5713"/>
          </a:xfrm>
          <a:prstGeom prst="rect">
            <a:avLst/>
          </a:prstGeom>
          <a:solidFill>
            <a:srgbClr val="DBD4C4"/>
          </a:solidFill>
          <a:ln/>
        </p:spPr>
        <p:txBody>
          <a:bodyPr/>
          <a:lstStyle/>
          <a:p>
            <a:endParaRPr lang="es-MX"/>
          </a:p>
        </p:txBody>
      </p:sp>
      <p:pic>
        <p:nvPicPr>
          <p:cNvPr id="45" name="s29-logo-44" descr="preencoded.png"/>
          <p:cNvPicPr>
            <a:picLocks noChangeAspect="1"/>
          </p:cNvPicPr>
          <p:nvPr/>
        </p:nvPicPr>
        <p:blipFill>
          <a:blip r:embed="rId3"/>
          <a:stretch>
            <a:fillRect/>
          </a:stretch>
        </p:blipFill>
        <p:spPr>
          <a:xfrm>
            <a:off x="853390" y="6465055"/>
            <a:ext cx="687800" cy="212455"/>
          </a:xfrm>
          <a:prstGeom prst="rect">
            <a:avLst/>
          </a:prstGeom>
        </p:spPr>
      </p:pic>
      <p:sp>
        <p:nvSpPr>
          <p:cNvPr id="46" name="s29-forma-45"/>
          <p:cNvSpPr/>
          <p:nvPr/>
        </p:nvSpPr>
        <p:spPr>
          <a:xfrm>
            <a:off x="1659380" y="6519865"/>
            <a:ext cx="2926878" cy="102835"/>
          </a:xfrm>
          <a:prstGeom prst="rect">
            <a:avLst/>
          </a:prstGeom>
          <a:ln/>
        </p:spPr>
        <p:txBody>
          <a:bodyPr/>
          <a:lstStyle/>
          <a:p>
            <a:endParaRPr lang="es-MX"/>
          </a:p>
        </p:txBody>
      </p:sp>
      <p:sp>
        <p:nvSpPr>
          <p:cNvPr id="47" name="s29-forma-46"/>
          <p:cNvSpPr/>
          <p:nvPr/>
        </p:nvSpPr>
        <p:spPr>
          <a:xfrm>
            <a:off x="1659380" y="6519865"/>
            <a:ext cx="5713" cy="102835"/>
          </a:xfrm>
          <a:prstGeom prst="rect">
            <a:avLst/>
          </a:prstGeom>
          <a:solidFill>
            <a:srgbClr val="C6BFAE"/>
          </a:solidFill>
          <a:ln/>
        </p:spPr>
        <p:txBody>
          <a:bodyPr/>
          <a:lstStyle/>
          <a:p>
            <a:endParaRPr lang="es-MX"/>
          </a:p>
        </p:txBody>
      </p:sp>
      <p:sp>
        <p:nvSpPr>
          <p:cNvPr id="48" name="s29-texto-47"/>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9" name="s29-texto-4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36</a:t>
            </a:r>
            <a:endParaRPr lang="en-US" sz="745" dirty="0"/>
          </a:p>
        </p:txBody>
      </p:sp>
      <p:sp>
        <p:nvSpPr>
          <p:cNvPr id="50" name="s29-forma-49"/>
          <p:cNvSpPr/>
          <p:nvPr/>
        </p:nvSpPr>
        <p:spPr>
          <a:xfrm>
            <a:off x="0" y="0"/>
            <a:ext cx="9821038"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6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MCP · EL CICLO REACT</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ReAct con MCP: el mismo ciclo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 · ejemplos/s3_topologias/mcp_cliente.py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ounded Rectangle 43"/>
          <p:cNvSpPr/>
          <p:nvPr/>
        </p:nvSpPr>
        <p:spPr>
          <a:xfrm>
            <a:off x="5029200" y="2130552"/>
            <a:ext cx="1371600" cy="512064"/>
          </a:xfrm>
          <a:prstGeom prst="roundRect">
            <a:avLst>
              <a:gd name="adj" fmla="val 12000"/>
            </a:avLst>
          </a:prstGeom>
          <a:solidFill>
            <a:srgbClr val="F6E2D3"/>
          </a:solidFill>
          <a:ln w="1270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029200" y="2148840"/>
            <a:ext cx="1371600" cy="475488"/>
          </a:xfrm>
          <a:prstGeom prst="rect">
            <a:avLst/>
          </a:prstGeom>
          <a:noFill/>
        </p:spPr>
        <p:txBody>
          <a:bodyPr wrap="square" lIns="0" tIns="0" rIns="0" bIns="0" anchor="ctr">
            <a:spAutoFit/>
          </a:bodyPr>
          <a:lstStyle/>
          <a:p>
            <a:pPr algn="ctr">
              <a:lnSpc>
                <a:spcPct val="100000"/>
              </a:lnSpc>
            </a:pPr>
            <a:r>
              <a:rPr sz="850" b="1" i="0">
                <a:solidFill>
                  <a:srgbClr val="984514"/>
                </a:solidFill>
                <a:latin typeface="Arial"/>
              </a:rPr>
              <a:t>Descubrir</a:t>
            </a:r>
          </a:p>
          <a:p>
            <a:pPr algn="ctr">
              <a:lnSpc>
                <a:spcPct val="100000"/>
              </a:lnSpc>
            </a:pPr>
            <a:r>
              <a:rPr sz="660" b="0" i="0">
                <a:solidFill>
                  <a:srgbClr val="984514"/>
                </a:solidFill>
                <a:latin typeface="Arial"/>
              </a:rPr>
              <a:t>sesion.list_tools()</a:t>
            </a:r>
          </a:p>
        </p:txBody>
      </p:sp>
      <p:sp>
        <p:nvSpPr>
          <p:cNvPr id="46" name="Oval 45"/>
          <p:cNvSpPr/>
          <p:nvPr/>
        </p:nvSpPr>
        <p:spPr>
          <a:xfrm>
            <a:off x="6272784" y="2048256"/>
            <a:ext cx="219456" cy="21945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72784" y="2048256"/>
            <a:ext cx="219456" cy="219456"/>
          </a:xfrm>
          <a:prstGeom prst="rect">
            <a:avLst/>
          </a:prstGeom>
          <a:noFill/>
        </p:spPr>
        <p:txBody>
          <a:bodyPr wrap="square" lIns="0" tIns="0" rIns="0" bIns="0" anchor="ctr">
            <a:spAutoFit/>
          </a:bodyPr>
          <a:lstStyle/>
          <a:p>
            <a:pPr algn="ctr"/>
            <a:r>
              <a:rPr sz="800" b="1" i="0">
                <a:solidFill>
                  <a:srgbClr val="FBF8F0"/>
                </a:solidFill>
                <a:latin typeface="Arial"/>
              </a:rPr>
              <a:t>1</a:t>
            </a:r>
          </a:p>
        </p:txBody>
      </p:sp>
      <p:cxnSp>
        <p:nvCxnSpPr>
          <p:cNvPr id="48" name="Connector 47"/>
          <p:cNvCxnSpPr/>
          <p:nvPr/>
        </p:nvCxnSpPr>
        <p:spPr>
          <a:xfrm flipH="1">
            <a:off x="4727448" y="2386584"/>
            <a:ext cx="301752" cy="0"/>
          </a:xfrm>
          <a:prstGeom prst="line">
            <a:avLst/>
          </a:prstGeom>
          <a:ln w="1651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937760" y="2651760"/>
            <a:ext cx="1554480" cy="164592"/>
          </a:xfrm>
          <a:prstGeom prst="rect">
            <a:avLst/>
          </a:prstGeom>
          <a:noFill/>
        </p:spPr>
        <p:txBody>
          <a:bodyPr wrap="square" lIns="0" tIns="0" rIns="0" bIns="0" anchor="t">
            <a:spAutoFit/>
          </a:bodyPr>
          <a:lstStyle/>
          <a:p>
            <a:pPr algn="ctr"/>
            <a:r>
              <a:rPr sz="650" b="1" i="0">
                <a:solidFill>
                  <a:srgbClr val="984514"/>
                </a:solidFill>
                <a:latin typeface="Arial"/>
              </a:rPr>
              <a:t>fichas → tools=esquemas</a:t>
            </a:r>
          </a:p>
        </p:txBody>
      </p:sp>
      <p:sp>
        <p:nvSpPr>
          <p:cNvPr id="50" name="Rounded Rectangle 49"/>
          <p:cNvSpPr/>
          <p:nvPr/>
        </p:nvSpPr>
        <p:spPr>
          <a:xfrm>
            <a:off x="2880360" y="2148840"/>
            <a:ext cx="1828800" cy="475488"/>
          </a:xfrm>
          <a:prstGeom prst="roundRect">
            <a:avLst>
              <a:gd name="adj" fmla="val 12000"/>
            </a:avLst>
          </a:prstGeom>
          <a:solidFill>
            <a:srgbClr val="F3F0E8"/>
          </a:solidFill>
          <a:ln w="1270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880360" y="2167128"/>
            <a:ext cx="1828800" cy="438912"/>
          </a:xfrm>
          <a:prstGeom prst="rect">
            <a:avLst/>
          </a:prstGeom>
          <a:noFill/>
        </p:spPr>
        <p:txBody>
          <a:bodyPr wrap="square" lIns="0" tIns="0" rIns="0" bIns="0" anchor="ctr">
            <a:spAutoFit/>
          </a:bodyPr>
          <a:lstStyle/>
          <a:p>
            <a:pPr algn="ctr">
              <a:lnSpc>
                <a:spcPct val="100000"/>
              </a:lnSpc>
            </a:pPr>
            <a:r>
              <a:rPr sz="850" b="1" i="0">
                <a:solidFill>
                  <a:srgbClr val="16181D"/>
                </a:solidFill>
                <a:latin typeface="Arial"/>
              </a:rPr>
              <a:t>Llamada al modelo</a:t>
            </a:r>
          </a:p>
          <a:p>
            <a:pPr algn="ctr">
              <a:lnSpc>
                <a:spcPct val="100000"/>
              </a:lnSpc>
            </a:pPr>
            <a:r>
              <a:rPr sz="660" b="0" i="0">
                <a:solidFill>
                  <a:srgbClr val="16181D"/>
                </a:solidFill>
                <a:latin typeface="Arial"/>
              </a:rPr>
              <a:t>messages.create(tools=esquemas)</a:t>
            </a:r>
          </a:p>
        </p:txBody>
      </p:sp>
      <p:cxnSp>
        <p:nvCxnSpPr>
          <p:cNvPr id="52" name="Connector 51"/>
          <p:cNvCxnSpPr/>
          <p:nvPr/>
        </p:nvCxnSpPr>
        <p:spPr>
          <a:xfrm>
            <a:off x="3794760" y="2624328"/>
            <a:ext cx="0" cy="182880"/>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1783080" y="2816352"/>
            <a:ext cx="4023360" cy="713232"/>
          </a:xfrm>
          <a:prstGeom prst="roundRect">
            <a:avLst>
              <a:gd name="adj" fmla="val 1000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874519" y="2834640"/>
            <a:ext cx="2743200" cy="146304"/>
          </a:xfrm>
          <a:prstGeom prst="rect">
            <a:avLst/>
          </a:prstGeom>
          <a:noFill/>
        </p:spPr>
        <p:txBody>
          <a:bodyPr wrap="square" lIns="0" tIns="0" rIns="0" bIns="0" anchor="t">
            <a:spAutoFit/>
          </a:bodyPr>
          <a:lstStyle/>
          <a:p>
            <a:pPr algn="l"/>
            <a:r>
              <a:rPr sz="650" b="0" i="0">
                <a:solidFill>
                  <a:srgbClr val="585E6F"/>
                </a:solidFill>
                <a:latin typeface="Arial"/>
              </a:rPr>
              <a:t>resp.content: los bloques de la respuesta</a:t>
            </a:r>
          </a:p>
        </p:txBody>
      </p:sp>
      <p:sp>
        <p:nvSpPr>
          <p:cNvPr id="55" name="Rounded Rectangle 54"/>
          <p:cNvSpPr/>
          <p:nvPr/>
        </p:nvSpPr>
        <p:spPr>
          <a:xfrm>
            <a:off x="1901952" y="3017520"/>
            <a:ext cx="1188720" cy="411480"/>
          </a:xfrm>
          <a:prstGeom prst="roundRect">
            <a:avLst>
              <a:gd name="adj" fmla="val 12000"/>
            </a:avLst>
          </a:prstGeom>
          <a:solidFill>
            <a:srgbClr val="ECEAFB"/>
          </a:solidFill>
          <a:ln w="12700">
            <a:solidFill>
              <a:srgbClr val="4B3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901952" y="3035808"/>
            <a:ext cx="1188720" cy="374904"/>
          </a:xfrm>
          <a:prstGeom prst="rect">
            <a:avLst/>
          </a:prstGeom>
          <a:noFill/>
        </p:spPr>
        <p:txBody>
          <a:bodyPr wrap="square" lIns="0" tIns="0" rIns="0" bIns="0" anchor="ctr">
            <a:spAutoFit/>
          </a:bodyPr>
          <a:lstStyle/>
          <a:p>
            <a:pPr algn="ctr">
              <a:lnSpc>
                <a:spcPct val="100000"/>
              </a:lnSpc>
            </a:pPr>
            <a:r>
              <a:rPr sz="800" b="1" i="0">
                <a:solidFill>
                  <a:srgbClr val="4B3C9E"/>
                </a:solidFill>
                <a:latin typeface="Arial"/>
              </a:rPr>
              <a:t>thinking</a:t>
            </a:r>
          </a:p>
          <a:p>
            <a:pPr algn="ctr">
              <a:lnSpc>
                <a:spcPct val="100000"/>
              </a:lnSpc>
            </a:pPr>
            <a:r>
              <a:rPr sz="660" b="0" i="0">
                <a:solidFill>
                  <a:srgbClr val="4B3C9E"/>
                </a:solidFill>
                <a:latin typeface="Arial"/>
              </a:rPr>
              <a:t>Razona antes de actuar</a:t>
            </a:r>
          </a:p>
        </p:txBody>
      </p:sp>
      <p:sp>
        <p:nvSpPr>
          <p:cNvPr id="57" name="Rounded Rectangle 56"/>
          <p:cNvSpPr/>
          <p:nvPr/>
        </p:nvSpPr>
        <p:spPr>
          <a:xfrm>
            <a:off x="3200400" y="3017520"/>
            <a:ext cx="1188720" cy="411480"/>
          </a:xfrm>
          <a:prstGeom prst="roundRect">
            <a:avLst>
              <a:gd name="adj" fmla="val 12000"/>
            </a:avLst>
          </a:prstGeom>
          <a:solidFill>
            <a:srgbClr val="ECEAFB"/>
          </a:solidFill>
          <a:ln w="12700">
            <a:solidFill>
              <a:srgbClr val="4B3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200400" y="3035808"/>
            <a:ext cx="1188720" cy="374904"/>
          </a:xfrm>
          <a:prstGeom prst="rect">
            <a:avLst/>
          </a:prstGeom>
          <a:noFill/>
        </p:spPr>
        <p:txBody>
          <a:bodyPr wrap="square" lIns="0" tIns="0" rIns="0" bIns="0" anchor="ctr">
            <a:spAutoFit/>
          </a:bodyPr>
          <a:lstStyle/>
          <a:p>
            <a:pPr algn="ctr">
              <a:lnSpc>
                <a:spcPct val="100000"/>
              </a:lnSpc>
            </a:pPr>
            <a:r>
              <a:rPr sz="800" b="1" i="0">
                <a:solidFill>
                  <a:srgbClr val="4B3C9E"/>
                </a:solidFill>
                <a:latin typeface="Arial"/>
              </a:rPr>
              <a:t>text</a:t>
            </a:r>
          </a:p>
          <a:p>
            <a:pPr algn="ctr">
              <a:lnSpc>
                <a:spcPct val="100000"/>
              </a:lnSpc>
            </a:pPr>
            <a:r>
              <a:rPr sz="660" b="0" i="0">
                <a:solidFill>
                  <a:srgbClr val="4B3C9E"/>
                </a:solidFill>
                <a:latin typeface="Arial"/>
              </a:rPr>
              <a:t>Explica o responde</a:t>
            </a:r>
          </a:p>
        </p:txBody>
      </p:sp>
      <p:sp>
        <p:nvSpPr>
          <p:cNvPr id="59" name="Rounded Rectangle 58"/>
          <p:cNvSpPr/>
          <p:nvPr/>
        </p:nvSpPr>
        <p:spPr>
          <a:xfrm>
            <a:off x="4498848" y="3017520"/>
            <a:ext cx="1188720" cy="411480"/>
          </a:xfrm>
          <a:prstGeom prst="roundRect">
            <a:avLst>
              <a:gd name="adj" fmla="val 12000"/>
            </a:avLst>
          </a:prstGeom>
          <a:solidFill>
            <a:srgbClr val="ECEAFB"/>
          </a:solidFill>
          <a:ln w="12700">
            <a:solidFill>
              <a:srgbClr val="4B3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498848" y="3035808"/>
            <a:ext cx="1188720" cy="374904"/>
          </a:xfrm>
          <a:prstGeom prst="rect">
            <a:avLst/>
          </a:prstGeom>
          <a:noFill/>
        </p:spPr>
        <p:txBody>
          <a:bodyPr wrap="square" lIns="0" tIns="0" rIns="0" bIns="0" anchor="ctr">
            <a:spAutoFit/>
          </a:bodyPr>
          <a:lstStyle/>
          <a:p>
            <a:pPr algn="ctr">
              <a:lnSpc>
                <a:spcPct val="100000"/>
              </a:lnSpc>
            </a:pPr>
            <a:r>
              <a:rPr sz="800" b="1" i="0">
                <a:solidFill>
                  <a:srgbClr val="4B3C9E"/>
                </a:solidFill>
                <a:latin typeface="Arial"/>
              </a:rPr>
              <a:t>tool_use</a:t>
            </a:r>
          </a:p>
          <a:p>
            <a:pPr algn="ctr">
              <a:lnSpc>
                <a:spcPct val="100000"/>
              </a:lnSpc>
            </a:pPr>
            <a:r>
              <a:rPr sz="660" b="0" i="0">
                <a:solidFill>
                  <a:srgbClr val="4B3C9E"/>
                </a:solidFill>
                <a:latin typeface="Arial"/>
              </a:rPr>
              <a:t>Pide una herramienta</a:t>
            </a:r>
          </a:p>
        </p:txBody>
      </p:sp>
      <p:cxnSp>
        <p:nvCxnSpPr>
          <p:cNvPr id="61" name="Connector 60"/>
          <p:cNvCxnSpPr/>
          <p:nvPr/>
        </p:nvCxnSpPr>
        <p:spPr>
          <a:xfrm>
            <a:off x="3794760" y="3529584"/>
            <a:ext cx="0" cy="146303"/>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3154680" y="3685032"/>
            <a:ext cx="1280160" cy="329184"/>
          </a:xfrm>
          <a:prstGeom prst="roundRect">
            <a:avLst>
              <a:gd name="adj" fmla="val 12000"/>
            </a:avLst>
          </a:prstGeom>
          <a:solidFill>
            <a:srgbClr val="F3F0E8"/>
          </a:solidFill>
          <a:ln w="1270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3154680" y="3703320"/>
            <a:ext cx="1280160" cy="292608"/>
          </a:xfrm>
          <a:prstGeom prst="rect">
            <a:avLst/>
          </a:prstGeom>
          <a:noFill/>
        </p:spPr>
        <p:txBody>
          <a:bodyPr wrap="square" lIns="0" tIns="0" rIns="0" bIns="0" anchor="ctr">
            <a:spAutoFit/>
          </a:bodyPr>
          <a:lstStyle/>
          <a:p>
            <a:pPr algn="ctr">
              <a:lnSpc>
                <a:spcPct val="100000"/>
              </a:lnSpc>
            </a:pPr>
            <a:r>
              <a:rPr sz="850" b="1" i="0">
                <a:solidFill>
                  <a:srgbClr val="16181D"/>
                </a:solidFill>
                <a:latin typeface="Arial"/>
              </a:rPr>
              <a:t>¿stop_reason?</a:t>
            </a:r>
          </a:p>
          <a:p>
            <a:pPr algn="ctr">
              <a:lnSpc>
                <a:spcPct val="100000"/>
              </a:lnSpc>
            </a:pPr>
            <a:endParaRPr sz="850" b="1" i="0">
              <a:solidFill>
                <a:srgbClr val="16181D"/>
              </a:solidFill>
              <a:latin typeface="Arial"/>
            </a:endParaRPr>
          </a:p>
        </p:txBody>
      </p:sp>
      <p:cxnSp>
        <p:nvCxnSpPr>
          <p:cNvPr id="64" name="Connector 63"/>
          <p:cNvCxnSpPr/>
          <p:nvPr/>
        </p:nvCxnSpPr>
        <p:spPr>
          <a:xfrm>
            <a:off x="3794760" y="4014215"/>
            <a:ext cx="0" cy="118872"/>
          </a:xfrm>
          <a:prstGeom prst="line">
            <a:avLst/>
          </a:prstGeom>
          <a:ln w="1143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395728" y="4133087"/>
            <a:ext cx="2798064" cy="0"/>
          </a:xfrm>
          <a:prstGeom prst="line">
            <a:avLst/>
          </a:prstGeom>
          <a:ln w="1143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395728" y="4133087"/>
            <a:ext cx="0" cy="91441"/>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794760" y="4133087"/>
            <a:ext cx="0" cy="91441"/>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5193792" y="4133087"/>
            <a:ext cx="0" cy="91441"/>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1783080" y="4233672"/>
            <a:ext cx="1234440" cy="411480"/>
          </a:xfrm>
          <a:prstGeom prst="roundRect">
            <a:avLst>
              <a:gd name="adj" fmla="val 12000"/>
            </a:avLst>
          </a:prstGeom>
          <a:solidFill>
            <a:srgbClr val="F3F0E8"/>
          </a:solidFill>
          <a:ln w="1270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783080" y="4251959"/>
            <a:ext cx="1234440" cy="374904"/>
          </a:xfrm>
          <a:prstGeom prst="rect">
            <a:avLst/>
          </a:prstGeom>
          <a:noFill/>
        </p:spPr>
        <p:txBody>
          <a:bodyPr wrap="square" lIns="0" tIns="0" rIns="0" bIns="0" anchor="ctr">
            <a:spAutoFit/>
          </a:bodyPr>
          <a:lstStyle/>
          <a:p>
            <a:pPr algn="ctr">
              <a:lnSpc>
                <a:spcPct val="100000"/>
              </a:lnSpc>
            </a:pPr>
            <a:r>
              <a:rPr sz="800" b="1" i="0">
                <a:solidFill>
                  <a:srgbClr val="16181D"/>
                </a:solidFill>
                <a:latin typeface="Arial"/>
              </a:rPr>
              <a:t>end_turn</a:t>
            </a:r>
          </a:p>
          <a:p>
            <a:pPr algn="ctr">
              <a:lnSpc>
                <a:spcPct val="100000"/>
              </a:lnSpc>
            </a:pPr>
            <a:r>
              <a:rPr sz="660" b="0" i="0">
                <a:solidFill>
                  <a:srgbClr val="16181D"/>
                </a:solidFill>
                <a:latin typeface="Arial"/>
              </a:rPr>
              <a:t>Termina: return texto</a:t>
            </a:r>
          </a:p>
        </p:txBody>
      </p:sp>
      <p:sp>
        <p:nvSpPr>
          <p:cNvPr id="71" name="Rounded Rectangle 70"/>
          <p:cNvSpPr/>
          <p:nvPr/>
        </p:nvSpPr>
        <p:spPr>
          <a:xfrm>
            <a:off x="3154680" y="4233672"/>
            <a:ext cx="1280160" cy="411480"/>
          </a:xfrm>
          <a:prstGeom prst="roundRect">
            <a:avLst>
              <a:gd name="adj" fmla="val 12000"/>
            </a:avLst>
          </a:prstGeom>
          <a:solidFill>
            <a:srgbClr val="DFF1EA"/>
          </a:solidFill>
          <a:ln w="12700">
            <a:solidFill>
              <a:srgbClr val="1F7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154680" y="4251959"/>
            <a:ext cx="1280160" cy="374904"/>
          </a:xfrm>
          <a:prstGeom prst="rect">
            <a:avLst/>
          </a:prstGeom>
          <a:noFill/>
        </p:spPr>
        <p:txBody>
          <a:bodyPr wrap="square" lIns="0" tIns="0" rIns="0" bIns="0" anchor="ctr">
            <a:spAutoFit/>
          </a:bodyPr>
          <a:lstStyle/>
          <a:p>
            <a:pPr algn="ctr">
              <a:lnSpc>
                <a:spcPct val="100000"/>
              </a:lnSpc>
            </a:pPr>
            <a:r>
              <a:rPr sz="800" b="1" i="0">
                <a:solidFill>
                  <a:srgbClr val="1F7A5C"/>
                </a:solidFill>
                <a:latin typeface="Arial"/>
              </a:rPr>
              <a:t>tool_use</a:t>
            </a:r>
          </a:p>
          <a:p>
            <a:pPr algn="ctr">
              <a:lnSpc>
                <a:spcPct val="100000"/>
              </a:lnSpc>
            </a:pPr>
            <a:r>
              <a:rPr sz="660" b="0" i="0">
                <a:solidFill>
                  <a:srgbClr val="1F7A5C"/>
                </a:solidFill>
                <a:latin typeface="Arial"/>
              </a:rPr>
              <a:t>Tu código la pide…</a:t>
            </a:r>
          </a:p>
        </p:txBody>
      </p:sp>
      <p:sp>
        <p:nvSpPr>
          <p:cNvPr id="73" name="Rounded Rectangle 72"/>
          <p:cNvSpPr/>
          <p:nvPr/>
        </p:nvSpPr>
        <p:spPr>
          <a:xfrm>
            <a:off x="4572000" y="4233672"/>
            <a:ext cx="1234440" cy="411480"/>
          </a:xfrm>
          <a:prstGeom prst="roundRect">
            <a:avLst>
              <a:gd name="adj" fmla="val 12000"/>
            </a:avLst>
          </a:prstGeom>
          <a:solidFill>
            <a:srgbClr val="F3F0E8"/>
          </a:solidFill>
          <a:ln w="1270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572000" y="4251959"/>
            <a:ext cx="1234440" cy="374904"/>
          </a:xfrm>
          <a:prstGeom prst="rect">
            <a:avLst/>
          </a:prstGeom>
          <a:noFill/>
        </p:spPr>
        <p:txBody>
          <a:bodyPr wrap="square" lIns="0" tIns="0" rIns="0" bIns="0" anchor="ctr">
            <a:spAutoFit/>
          </a:bodyPr>
          <a:lstStyle/>
          <a:p>
            <a:pPr algn="ctr">
              <a:lnSpc>
                <a:spcPct val="100000"/>
              </a:lnSpc>
            </a:pPr>
            <a:r>
              <a:rPr sz="800" b="1" i="0">
                <a:solidFill>
                  <a:srgbClr val="16181D"/>
                </a:solidFill>
                <a:latin typeface="Arial"/>
              </a:rPr>
              <a:t>max_tokens</a:t>
            </a:r>
          </a:p>
          <a:p>
            <a:pPr algn="ctr">
              <a:lnSpc>
                <a:spcPct val="100000"/>
              </a:lnSpc>
            </a:pPr>
            <a:r>
              <a:rPr sz="660" b="0" i="0">
                <a:solidFill>
                  <a:srgbClr val="16181D"/>
                </a:solidFill>
                <a:latin typeface="Arial"/>
              </a:rPr>
              <a:t>Se cortó: lanza error</a:t>
            </a:r>
          </a:p>
        </p:txBody>
      </p:sp>
      <p:cxnSp>
        <p:nvCxnSpPr>
          <p:cNvPr id="75" name="Connector 74"/>
          <p:cNvCxnSpPr/>
          <p:nvPr/>
        </p:nvCxnSpPr>
        <p:spPr>
          <a:xfrm>
            <a:off x="3794760" y="4645152"/>
            <a:ext cx="0" cy="109728"/>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3063240" y="4764024"/>
            <a:ext cx="1463040" cy="429768"/>
          </a:xfrm>
          <a:prstGeom prst="roundRect">
            <a:avLst>
              <a:gd name="adj" fmla="val 12000"/>
            </a:avLst>
          </a:prstGeom>
          <a:solidFill>
            <a:srgbClr val="F6E2D3"/>
          </a:solidFill>
          <a:ln w="1270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063240" y="4782312"/>
            <a:ext cx="1463040" cy="393192"/>
          </a:xfrm>
          <a:prstGeom prst="rect">
            <a:avLst/>
          </a:prstGeom>
          <a:noFill/>
        </p:spPr>
        <p:txBody>
          <a:bodyPr wrap="square" lIns="0" tIns="0" rIns="0" bIns="0" anchor="ctr">
            <a:spAutoFit/>
          </a:bodyPr>
          <a:lstStyle/>
          <a:p>
            <a:pPr algn="ctr">
              <a:lnSpc>
                <a:spcPct val="100000"/>
              </a:lnSpc>
            </a:pPr>
            <a:r>
              <a:rPr sz="780" b="1" i="0">
                <a:solidFill>
                  <a:srgbClr val="984514"/>
                </a:solidFill>
                <a:latin typeface="Arial"/>
              </a:rPr>
              <a:t>call_tool(nombre, args)</a:t>
            </a:r>
          </a:p>
          <a:p>
            <a:pPr algn="ctr">
              <a:lnSpc>
                <a:spcPct val="100000"/>
              </a:lnSpc>
            </a:pPr>
            <a:r>
              <a:rPr sz="660" b="0" i="0">
                <a:solidFill>
                  <a:srgbClr val="984514"/>
                </a:solidFill>
                <a:latin typeface="Arial"/>
              </a:rPr>
              <a:t>…y se la pasa al servidor</a:t>
            </a:r>
          </a:p>
        </p:txBody>
      </p:sp>
      <p:sp>
        <p:nvSpPr>
          <p:cNvPr id="78" name="Oval 77"/>
          <p:cNvSpPr/>
          <p:nvPr/>
        </p:nvSpPr>
        <p:spPr>
          <a:xfrm>
            <a:off x="2971800" y="4663440"/>
            <a:ext cx="219456" cy="219456"/>
          </a:xfrm>
          <a:prstGeom prst="ellipse">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2971800" y="4663440"/>
            <a:ext cx="219456" cy="219456"/>
          </a:xfrm>
          <a:prstGeom prst="rect">
            <a:avLst/>
          </a:prstGeom>
          <a:noFill/>
        </p:spPr>
        <p:txBody>
          <a:bodyPr wrap="square" lIns="0" tIns="0" rIns="0" bIns="0" anchor="ctr">
            <a:spAutoFit/>
          </a:bodyPr>
          <a:lstStyle/>
          <a:p>
            <a:pPr algn="ctr"/>
            <a:r>
              <a:rPr sz="800" b="1" i="0">
                <a:solidFill>
                  <a:srgbClr val="FBF8F0"/>
                </a:solidFill>
                <a:latin typeface="Arial"/>
              </a:rPr>
              <a:t>2</a:t>
            </a:r>
          </a:p>
        </p:txBody>
      </p:sp>
      <p:cxnSp>
        <p:nvCxnSpPr>
          <p:cNvPr id="80" name="Connector 79"/>
          <p:cNvCxnSpPr/>
          <p:nvPr/>
        </p:nvCxnSpPr>
        <p:spPr>
          <a:xfrm>
            <a:off x="4526280" y="4919472"/>
            <a:ext cx="228600" cy="0"/>
          </a:xfrm>
          <a:prstGeom prst="line">
            <a:avLst/>
          </a:prstGeom>
          <a:ln w="1651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4773168" y="4727448"/>
            <a:ext cx="1143000" cy="621792"/>
          </a:xfrm>
          <a:prstGeom prst="roundRect">
            <a:avLst>
              <a:gd name="adj" fmla="val 12000"/>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73168" y="4745736"/>
            <a:ext cx="1143000" cy="585216"/>
          </a:xfrm>
          <a:prstGeom prst="rect">
            <a:avLst/>
          </a:prstGeom>
          <a:noFill/>
        </p:spPr>
        <p:txBody>
          <a:bodyPr wrap="square" lIns="0" tIns="0" rIns="0" bIns="0" anchor="ctr">
            <a:spAutoFit/>
          </a:bodyPr>
          <a:lstStyle/>
          <a:p>
            <a:pPr algn="ctr">
              <a:lnSpc>
                <a:spcPct val="100000"/>
              </a:lnSpc>
            </a:pPr>
            <a:r>
              <a:rPr sz="830" b="1" i="0">
                <a:solidFill>
                  <a:srgbClr val="FBF8F0"/>
                </a:solidFill>
                <a:latin typeface="Arial"/>
              </a:rPr>
              <a:t>Servidor MCP</a:t>
            </a:r>
          </a:p>
          <a:p>
            <a:pPr algn="ctr">
              <a:lnSpc>
                <a:spcPct val="100000"/>
              </a:lnSpc>
            </a:pPr>
            <a:r>
              <a:rPr sz="660" b="0" i="0">
                <a:solidFill>
                  <a:srgbClr val="FBF8F0"/>
                </a:solidFill>
                <a:latin typeface="Arial"/>
              </a:rPr>
              <a:t>ejecuta la función</a:t>
            </a:r>
          </a:p>
          <a:p>
            <a:pPr algn="ctr">
              <a:lnSpc>
                <a:spcPct val="100000"/>
              </a:lnSpc>
            </a:pPr>
            <a:r>
              <a:rPr sz="630" b="0" i="0">
                <a:solidFill>
                  <a:srgbClr val="FBF8F0"/>
                </a:solidFill>
                <a:latin typeface="Arial"/>
              </a:rPr>
              <a:t>BD · API · archivos</a:t>
            </a:r>
          </a:p>
        </p:txBody>
      </p:sp>
      <p:cxnSp>
        <p:nvCxnSpPr>
          <p:cNvPr id="83" name="Connector 82"/>
          <p:cNvCxnSpPr/>
          <p:nvPr/>
        </p:nvCxnSpPr>
        <p:spPr>
          <a:xfrm>
            <a:off x="5349240" y="5349240"/>
            <a:ext cx="0" cy="246888"/>
          </a:xfrm>
          <a:prstGeom prst="line">
            <a:avLst/>
          </a:prstGeom>
          <a:ln w="1143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4526280" y="5596128"/>
            <a:ext cx="822960" cy="0"/>
          </a:xfrm>
          <a:prstGeom prst="line">
            <a:avLst/>
          </a:prstGeom>
          <a:ln w="1270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4572000" y="5394960"/>
            <a:ext cx="777240" cy="164592"/>
          </a:xfrm>
          <a:prstGeom prst="rect">
            <a:avLst/>
          </a:prstGeom>
          <a:noFill/>
        </p:spPr>
        <p:txBody>
          <a:bodyPr wrap="square" lIns="0" tIns="0" rIns="0" bIns="0" anchor="t">
            <a:spAutoFit/>
          </a:bodyPr>
          <a:lstStyle/>
          <a:p>
            <a:pPr algn="ctr"/>
            <a:r>
              <a:rPr sz="630" b="1" i="0">
                <a:solidFill>
                  <a:srgbClr val="984514"/>
                </a:solidFill>
                <a:latin typeface="Arial"/>
              </a:rPr>
              <a:t>resultado</a:t>
            </a:r>
          </a:p>
        </p:txBody>
      </p:sp>
      <p:sp>
        <p:nvSpPr>
          <p:cNvPr id="86" name="Rounded Rectangle 85"/>
          <p:cNvSpPr/>
          <p:nvPr/>
        </p:nvSpPr>
        <p:spPr>
          <a:xfrm>
            <a:off x="3063240" y="5394960"/>
            <a:ext cx="1463040" cy="429768"/>
          </a:xfrm>
          <a:prstGeom prst="roundRect">
            <a:avLst>
              <a:gd name="adj" fmla="val 12000"/>
            </a:avLst>
          </a:prstGeom>
          <a:solidFill>
            <a:srgbClr val="DFF1EA"/>
          </a:solidFill>
          <a:ln w="12700">
            <a:solidFill>
              <a:srgbClr val="1F7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3063240" y="5413248"/>
            <a:ext cx="1463040" cy="393192"/>
          </a:xfrm>
          <a:prstGeom prst="rect">
            <a:avLst/>
          </a:prstGeom>
          <a:noFill/>
        </p:spPr>
        <p:txBody>
          <a:bodyPr wrap="square" lIns="0" tIns="0" rIns="0" bIns="0" anchor="ctr">
            <a:spAutoFit/>
          </a:bodyPr>
          <a:lstStyle/>
          <a:p>
            <a:pPr algn="ctr">
              <a:lnSpc>
                <a:spcPct val="100000"/>
              </a:lnSpc>
            </a:pPr>
            <a:r>
              <a:rPr sz="800" b="1" i="0">
                <a:solidFill>
                  <a:srgbClr val="1F7A5C"/>
                </a:solidFill>
                <a:latin typeface="Arial"/>
              </a:rPr>
              <a:t>tool_result</a:t>
            </a:r>
          </a:p>
          <a:p>
            <a:pPr algn="ctr">
              <a:lnSpc>
                <a:spcPct val="100000"/>
              </a:lnSpc>
            </a:pPr>
            <a:r>
              <a:rPr sz="660" b="0" i="0">
                <a:solidFill>
                  <a:srgbClr val="1F7A5C"/>
                </a:solidFill>
                <a:latin typeface="Arial"/>
              </a:rPr>
              <a:t>rol user · is_error si falló</a:t>
            </a:r>
          </a:p>
        </p:txBody>
      </p:sp>
      <p:cxnSp>
        <p:nvCxnSpPr>
          <p:cNvPr id="88" name="Connector 87"/>
          <p:cNvCxnSpPr/>
          <p:nvPr/>
        </p:nvCxnSpPr>
        <p:spPr>
          <a:xfrm>
            <a:off x="3794760" y="5193792"/>
            <a:ext cx="0" cy="201168"/>
          </a:xfrm>
          <a:prstGeom prst="line">
            <a:avLst/>
          </a:prstGeom>
          <a:ln w="762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554480" y="5605272"/>
            <a:ext cx="1508760" cy="0"/>
          </a:xfrm>
          <a:prstGeom prst="line">
            <a:avLst/>
          </a:prstGeom>
          <a:ln w="1143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554480" y="2386584"/>
            <a:ext cx="0" cy="3218688"/>
          </a:xfrm>
          <a:prstGeom prst="line">
            <a:avLst/>
          </a:prstGeom>
          <a:ln w="1143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554480" y="2386584"/>
            <a:ext cx="1325880" cy="0"/>
          </a:xfrm>
          <a:prstGeom prst="line">
            <a:avLst/>
          </a:prstGeom>
          <a:ln w="11430">
            <a:solidFill>
              <a:srgbClr val="555555"/>
            </a:solidFill>
            <a:tailEnd type="triangle" w="sm" len="sm"/>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600200" y="5641848"/>
            <a:ext cx="1463040" cy="164592"/>
          </a:xfrm>
          <a:prstGeom prst="rect">
            <a:avLst/>
          </a:prstGeom>
          <a:noFill/>
        </p:spPr>
        <p:txBody>
          <a:bodyPr wrap="square" lIns="0" tIns="0" rIns="0" bIns="0" anchor="t">
            <a:spAutoFit/>
          </a:bodyPr>
          <a:lstStyle/>
          <a:p>
            <a:pPr algn="l"/>
            <a:r>
              <a:rPr sz="630" b="0" i="1">
                <a:solidFill>
                  <a:srgbClr val="585E6F"/>
                </a:solidFill>
                <a:latin typeface="Arial"/>
              </a:rPr>
              <a:t>siguiente vuelta del bucle</a:t>
            </a:r>
          </a:p>
        </p:txBody>
      </p:sp>
      <p:sp>
        <p:nvSpPr>
          <p:cNvPr id="93" name="Rectangle 92"/>
          <p:cNvSpPr/>
          <p:nvPr/>
        </p:nvSpPr>
        <p:spPr>
          <a:xfrm>
            <a:off x="1783080" y="5943600"/>
            <a:ext cx="128016" cy="128016"/>
          </a:xfrm>
          <a:prstGeom prst="rect">
            <a:avLst/>
          </a:prstGeom>
          <a:solidFill>
            <a:srgbClr val="ECEAFB"/>
          </a:solidFill>
          <a:ln w="10160">
            <a:solidFill>
              <a:srgbClr val="4B3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1965960" y="5916168"/>
            <a:ext cx="1280160" cy="182880"/>
          </a:xfrm>
          <a:prstGeom prst="rect">
            <a:avLst/>
          </a:prstGeom>
          <a:noFill/>
        </p:spPr>
        <p:txBody>
          <a:bodyPr wrap="square" lIns="0" tIns="0" rIns="0" bIns="0" anchor="t">
            <a:spAutoFit/>
          </a:bodyPr>
          <a:lstStyle/>
          <a:p>
            <a:pPr algn="l"/>
            <a:r>
              <a:rPr sz="700" b="0" i="0">
                <a:solidFill>
                  <a:srgbClr val="585E6F"/>
                </a:solidFill>
                <a:latin typeface="Arial"/>
              </a:rPr>
              <a:t>Lo genera el modelo</a:t>
            </a:r>
          </a:p>
        </p:txBody>
      </p:sp>
      <p:sp>
        <p:nvSpPr>
          <p:cNvPr id="95" name="Rectangle 94"/>
          <p:cNvSpPr/>
          <p:nvPr/>
        </p:nvSpPr>
        <p:spPr>
          <a:xfrm>
            <a:off x="3246120" y="5943600"/>
            <a:ext cx="128016" cy="128016"/>
          </a:xfrm>
          <a:prstGeom prst="rect">
            <a:avLst/>
          </a:prstGeom>
          <a:solidFill>
            <a:srgbClr val="DFF1EA"/>
          </a:solidFill>
          <a:ln w="10160">
            <a:solidFill>
              <a:srgbClr val="1F7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3429000" y="5916168"/>
            <a:ext cx="1280160" cy="182880"/>
          </a:xfrm>
          <a:prstGeom prst="rect">
            <a:avLst/>
          </a:prstGeom>
          <a:noFill/>
        </p:spPr>
        <p:txBody>
          <a:bodyPr wrap="square" lIns="0" tIns="0" rIns="0" bIns="0" anchor="t">
            <a:spAutoFit/>
          </a:bodyPr>
          <a:lstStyle/>
          <a:p>
            <a:pPr algn="l"/>
            <a:r>
              <a:rPr sz="700" b="0" i="0">
                <a:solidFill>
                  <a:srgbClr val="585E6F"/>
                </a:solidFill>
                <a:latin typeface="Arial"/>
              </a:rPr>
              <a:t>Lo hace tu código</a:t>
            </a:r>
          </a:p>
        </p:txBody>
      </p:sp>
      <p:sp>
        <p:nvSpPr>
          <p:cNvPr id="97" name="Rectangle 96"/>
          <p:cNvSpPr/>
          <p:nvPr/>
        </p:nvSpPr>
        <p:spPr>
          <a:xfrm>
            <a:off x="4709160" y="5943600"/>
            <a:ext cx="128016" cy="128016"/>
          </a:xfrm>
          <a:prstGeom prst="rect">
            <a:avLst/>
          </a:prstGeom>
          <a:solidFill>
            <a:srgbClr val="F6E2D3"/>
          </a:solidFill>
          <a:ln w="1016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4892040" y="5916168"/>
            <a:ext cx="1280160" cy="182880"/>
          </a:xfrm>
          <a:prstGeom prst="rect">
            <a:avLst/>
          </a:prstGeom>
          <a:noFill/>
        </p:spPr>
        <p:txBody>
          <a:bodyPr wrap="square" lIns="0" tIns="0" rIns="0" bIns="0" anchor="t">
            <a:spAutoFit/>
          </a:bodyPr>
          <a:lstStyle/>
          <a:p>
            <a:pPr algn="l"/>
            <a:r>
              <a:rPr sz="700" b="0" i="0">
                <a:solidFill>
                  <a:srgbClr val="585E6F"/>
                </a:solidFill>
                <a:latin typeface="Arial"/>
              </a:rPr>
              <a:t>Lo agrega MCP</a:t>
            </a:r>
          </a:p>
        </p:txBody>
      </p:sp>
      <p:sp>
        <p:nvSpPr>
          <p:cNvPr id="99" name="TextBox 98"/>
          <p:cNvSpPr txBox="1"/>
          <p:nvPr/>
        </p:nvSpPr>
        <p:spPr>
          <a:xfrm>
            <a:off x="6903720" y="2103120"/>
            <a:ext cx="4480560" cy="164592"/>
          </a:xfrm>
          <a:prstGeom prst="rect">
            <a:avLst/>
          </a:prstGeom>
          <a:noFill/>
        </p:spPr>
        <p:txBody>
          <a:bodyPr wrap="square" lIns="0" tIns="0" rIns="0" bIns="0" anchor="t">
            <a:spAutoFit/>
          </a:bodyPr>
          <a:lstStyle/>
          <a:p>
            <a:pPr algn="l"/>
            <a:r>
              <a:rPr sz="900" b="1" i="0">
                <a:solidFill>
                  <a:srgbClr val="0033A0"/>
                </a:solidFill>
                <a:latin typeface="Courier New"/>
              </a:rPr>
              <a:t>CÓMO FUNCIONA</a:t>
            </a:r>
          </a:p>
        </p:txBody>
      </p:sp>
      <p:sp>
        <p:nvSpPr>
          <p:cNvPr id="100" name="TextBox 99"/>
          <p:cNvSpPr txBox="1"/>
          <p:nvPr/>
        </p:nvSpPr>
        <p:spPr>
          <a:xfrm>
            <a:off x="6903720" y="2322576"/>
            <a:ext cx="4480560" cy="640080"/>
          </a:xfrm>
          <a:prstGeom prst="rect">
            <a:avLst/>
          </a:prstGeom>
          <a:noFill/>
        </p:spPr>
        <p:txBody>
          <a:bodyPr wrap="square" lIns="0" tIns="0" rIns="0" bIns="0" anchor="t">
            <a:spAutoFit/>
          </a:bodyPr>
          <a:lstStyle/>
          <a:p>
            <a:pPr algn="l">
              <a:lnSpc>
                <a:spcPct val="110000"/>
              </a:lnSpc>
            </a:pPr>
            <a:r>
              <a:rPr sz="1000" b="0" i="0">
                <a:solidFill>
                  <a:srgbClr val="16181D"/>
                </a:solidFill>
                <a:latin typeface="Arial"/>
              </a:rPr>
              <a:t>Igual que en la sesión 1: cada llamada al modelo regresa bloques (</a:t>
            </a:r>
            <a:r>
              <a:rPr sz="1000" b="1" i="0">
                <a:solidFill>
                  <a:srgbClr val="4B3C9E"/>
                </a:solidFill>
                <a:latin typeface="Arial"/>
              </a:rPr>
              <a:t>thinking</a:t>
            </a:r>
            <a:r>
              <a:rPr sz="1000" b="0" i="0">
                <a:solidFill>
                  <a:srgbClr val="16181D"/>
                </a:solidFill>
                <a:latin typeface="Arial"/>
              </a:rPr>
              <a:t>, </a:t>
            </a:r>
            <a:r>
              <a:rPr sz="1000" b="1" i="0">
                <a:solidFill>
                  <a:srgbClr val="4B3C9E"/>
                </a:solidFill>
                <a:latin typeface="Arial"/>
              </a:rPr>
              <a:t>text</a:t>
            </a:r>
            <a:r>
              <a:rPr sz="1000" b="0" i="0">
                <a:solidFill>
                  <a:srgbClr val="16181D"/>
                </a:solidFill>
                <a:latin typeface="Arial"/>
              </a:rPr>
              <a:t>, </a:t>
            </a:r>
            <a:r>
              <a:rPr sz="1000" b="1" i="0">
                <a:solidFill>
                  <a:srgbClr val="4B3C9E"/>
                </a:solidFill>
                <a:latin typeface="Arial"/>
              </a:rPr>
              <a:t>tool_use</a:t>
            </a:r>
            <a:r>
              <a:rPr sz="1000" b="0" i="0">
                <a:solidFill>
                  <a:srgbClr val="16181D"/>
                </a:solidFill>
                <a:latin typeface="Arial"/>
              </a:rPr>
              <a:t>) y el </a:t>
            </a:r>
            <a:r>
              <a:rPr sz="1000" b="1" i="0">
                <a:solidFill>
                  <a:srgbClr val="16181D"/>
                </a:solidFill>
                <a:latin typeface="Arial"/>
              </a:rPr>
              <a:t>stop_reason</a:t>
            </a:r>
            <a:r>
              <a:rPr sz="1000" b="0" i="0">
                <a:solidFill>
                  <a:srgbClr val="16181D"/>
                </a:solidFill>
                <a:latin typeface="Arial"/>
              </a:rPr>
              <a:t> decide qué sigue.</a:t>
            </a:r>
          </a:p>
        </p:txBody>
      </p:sp>
      <p:sp>
        <p:nvSpPr>
          <p:cNvPr id="101" name="TextBox 100"/>
          <p:cNvSpPr txBox="1"/>
          <p:nvPr/>
        </p:nvSpPr>
        <p:spPr>
          <a:xfrm>
            <a:off x="6903720" y="3035808"/>
            <a:ext cx="4480560" cy="164592"/>
          </a:xfrm>
          <a:prstGeom prst="rect">
            <a:avLst/>
          </a:prstGeom>
          <a:noFill/>
        </p:spPr>
        <p:txBody>
          <a:bodyPr wrap="square" lIns="0" tIns="0" rIns="0" bIns="0" anchor="t">
            <a:spAutoFit/>
          </a:bodyPr>
          <a:lstStyle/>
          <a:p>
            <a:pPr algn="l"/>
            <a:r>
              <a:rPr sz="900" b="1" i="0">
                <a:solidFill>
                  <a:srgbClr val="0033A0"/>
                </a:solidFill>
                <a:latin typeface="Courier New"/>
              </a:rPr>
              <a:t>QUÉ AGREGA MCP</a:t>
            </a:r>
          </a:p>
        </p:txBody>
      </p:sp>
      <p:sp>
        <p:nvSpPr>
          <p:cNvPr id="102" name="TextBox 101"/>
          <p:cNvSpPr txBox="1"/>
          <p:nvPr/>
        </p:nvSpPr>
        <p:spPr>
          <a:xfrm>
            <a:off x="6903720" y="3255263"/>
            <a:ext cx="4480560" cy="1097280"/>
          </a:xfrm>
          <a:prstGeom prst="rect">
            <a:avLst/>
          </a:prstGeom>
          <a:noFill/>
        </p:spPr>
        <p:txBody>
          <a:bodyPr wrap="square" lIns="0" tIns="0" rIns="0" bIns="0" anchor="t">
            <a:spAutoFit/>
          </a:bodyPr>
          <a:lstStyle/>
          <a:p>
            <a:pPr algn="l">
              <a:lnSpc>
                <a:spcPct val="110000"/>
              </a:lnSpc>
            </a:pPr>
            <a:r>
              <a:rPr sz="1000" b="1" i="0">
                <a:solidFill>
                  <a:srgbClr val="984514"/>
                </a:solidFill>
                <a:latin typeface="Arial"/>
              </a:rPr>
              <a:t>1 </a:t>
            </a:r>
            <a:r>
              <a:rPr sz="1000" b="0" i="0">
                <a:solidFill>
                  <a:srgbClr val="16181D"/>
                </a:solidFill>
                <a:latin typeface="Arial"/>
              </a:rPr>
              <a:t>Antes de empezar, el agente </a:t>
            </a:r>
            <a:r>
              <a:rPr sz="1000" b="1" i="0">
                <a:solidFill>
                  <a:srgbClr val="16181D"/>
                </a:solidFill>
                <a:latin typeface="Arial"/>
              </a:rPr>
              <a:t>descubre</a:t>
            </a:r>
            <a:r>
              <a:rPr sz="1000" b="0" i="0">
                <a:solidFill>
                  <a:srgbClr val="16181D"/>
                </a:solidFill>
                <a:latin typeface="Arial"/>
              </a:rPr>
              <a:t> las herramientas con list_tools(): no están escritas a mano.</a:t>
            </a:r>
          </a:p>
          <a:p>
            <a:pPr algn="l">
              <a:lnSpc>
                <a:spcPct val="110000"/>
              </a:lnSpc>
            </a:pPr>
            <a:r>
              <a:rPr sz="1000" b="1" i="0">
                <a:solidFill>
                  <a:srgbClr val="984514"/>
                </a:solidFill>
                <a:latin typeface="Arial"/>
              </a:rPr>
              <a:t>2 </a:t>
            </a:r>
            <a:r>
              <a:rPr sz="1000" b="0" i="0">
                <a:solidFill>
                  <a:srgbClr val="16181D"/>
                </a:solidFill>
                <a:latin typeface="Arial"/>
              </a:rPr>
              <a:t>Cuando el modelo pide una, tu código no la ejecuta: se la pasa al </a:t>
            </a:r>
            <a:r>
              <a:rPr sz="1000" b="1" i="0">
                <a:solidFill>
                  <a:srgbClr val="16181D"/>
                </a:solidFill>
                <a:latin typeface="Arial"/>
              </a:rPr>
              <a:t>servidor</a:t>
            </a:r>
            <a:r>
              <a:rPr sz="1000" b="0" i="0">
                <a:solidFill>
                  <a:srgbClr val="16181D"/>
                </a:solidFill>
                <a:latin typeface="Arial"/>
              </a:rPr>
              <a:t> con call_tool().</a:t>
            </a:r>
          </a:p>
        </p:txBody>
      </p:sp>
      <p:sp>
        <p:nvSpPr>
          <p:cNvPr id="103" name="TextBox 102"/>
          <p:cNvSpPr txBox="1"/>
          <p:nvPr/>
        </p:nvSpPr>
        <p:spPr>
          <a:xfrm>
            <a:off x="6903720" y="4343400"/>
            <a:ext cx="4480560" cy="164592"/>
          </a:xfrm>
          <a:prstGeom prst="rect">
            <a:avLst/>
          </a:prstGeom>
          <a:noFill/>
        </p:spPr>
        <p:txBody>
          <a:bodyPr wrap="square" lIns="0" tIns="0" rIns="0" bIns="0" anchor="t">
            <a:spAutoFit/>
          </a:bodyPr>
          <a:lstStyle/>
          <a:p>
            <a:pPr algn="l"/>
            <a:r>
              <a:rPr sz="900" b="1" i="0">
                <a:solidFill>
                  <a:srgbClr val="0033A0"/>
                </a:solidFill>
                <a:latin typeface="Courier New"/>
              </a:rPr>
              <a:t>CONCEPTO CLAVE</a:t>
            </a:r>
          </a:p>
        </p:txBody>
      </p:sp>
      <p:sp>
        <p:nvSpPr>
          <p:cNvPr id="104" name="TextBox 103"/>
          <p:cNvSpPr txBox="1"/>
          <p:nvPr/>
        </p:nvSpPr>
        <p:spPr>
          <a:xfrm>
            <a:off x="6903720" y="4562856"/>
            <a:ext cx="4480560" cy="457200"/>
          </a:xfrm>
          <a:prstGeom prst="rect">
            <a:avLst/>
          </a:prstGeom>
          <a:noFill/>
        </p:spPr>
        <p:txBody>
          <a:bodyPr wrap="square" lIns="0" tIns="0" rIns="0" bIns="0" anchor="t">
            <a:spAutoFit/>
          </a:bodyPr>
          <a:lstStyle/>
          <a:p>
            <a:pPr algn="l">
              <a:lnSpc>
                <a:spcPct val="110000"/>
              </a:lnSpc>
            </a:pPr>
            <a:r>
              <a:rPr sz="1000" b="0" i="0">
                <a:solidFill>
                  <a:srgbClr val="16181D"/>
                </a:solidFill>
                <a:latin typeface="Arial"/>
              </a:rPr>
              <a:t>MCP no cambia cómo razona el agente: cambia </a:t>
            </a:r>
            <a:r>
              <a:rPr sz="1000" b="1" i="0">
                <a:solidFill>
                  <a:srgbClr val="16181D"/>
                </a:solidFill>
                <a:latin typeface="Arial"/>
              </a:rPr>
              <a:t>de dónde salen</a:t>
            </a:r>
            <a:r>
              <a:rPr sz="1000" b="0" i="0">
                <a:solidFill>
                  <a:srgbClr val="16181D"/>
                </a:solidFill>
                <a:latin typeface="Arial"/>
              </a:rPr>
              <a:t> las herramientas y </a:t>
            </a:r>
            <a:r>
              <a:rPr sz="1000" b="1" i="0">
                <a:solidFill>
                  <a:srgbClr val="16181D"/>
                </a:solidFill>
                <a:latin typeface="Arial"/>
              </a:rPr>
              <a:t>quién las ejecuta</a:t>
            </a:r>
            <a:r>
              <a:rPr sz="1000" b="0" i="0">
                <a:solidFill>
                  <a:srgbClr val="16181D"/>
                </a:solidFill>
                <a:latin typeface="Arial"/>
              </a:rPr>
              <a:t>.</a:t>
            </a:r>
          </a:p>
        </p:txBody>
      </p:sp>
      <p:sp>
        <p:nvSpPr>
          <p:cNvPr id="105" name="Rectangle 104"/>
          <p:cNvSpPr/>
          <p:nvPr/>
        </p:nvSpPr>
        <p:spPr>
          <a:xfrm>
            <a:off x="6839712" y="5138928"/>
            <a:ext cx="4480560" cy="822960"/>
          </a:xfrm>
          <a:prstGeom prst="rect">
            <a:avLst/>
          </a:prstGeom>
          <a:solidFill>
            <a:srgbClr val="E3D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976872" y="5193792"/>
            <a:ext cx="4297680" cy="164592"/>
          </a:xfrm>
          <a:prstGeom prst="rect">
            <a:avLst/>
          </a:prstGeom>
          <a:noFill/>
        </p:spPr>
        <p:txBody>
          <a:bodyPr wrap="square" lIns="0" tIns="0" rIns="0" bIns="0" anchor="t">
            <a:spAutoFit/>
          </a:bodyPr>
          <a:lstStyle/>
          <a:p>
            <a:pPr algn="l"/>
            <a:r>
              <a:rPr sz="900" b="1" i="0">
                <a:solidFill>
                  <a:srgbClr val="0033A0"/>
                </a:solidFill>
                <a:latin typeface="Courier New"/>
              </a:rPr>
              <a:t>EJEMPLO EN EL REPO</a:t>
            </a:r>
          </a:p>
        </p:txBody>
      </p:sp>
      <p:sp>
        <p:nvSpPr>
          <p:cNvPr id="107" name="TextBox 106"/>
          <p:cNvSpPr txBox="1"/>
          <p:nvPr/>
        </p:nvSpPr>
        <p:spPr>
          <a:xfrm>
            <a:off x="6976872" y="5413248"/>
            <a:ext cx="4297680" cy="502920"/>
          </a:xfrm>
          <a:prstGeom prst="rect">
            <a:avLst/>
          </a:prstGeom>
          <a:noFill/>
        </p:spPr>
        <p:txBody>
          <a:bodyPr wrap="square" lIns="0" tIns="0" rIns="0" bIns="0" anchor="t">
            <a:spAutoFit/>
          </a:bodyPr>
          <a:lstStyle/>
          <a:p>
            <a:pPr algn="l">
              <a:lnSpc>
                <a:spcPct val="105000"/>
              </a:lnSpc>
            </a:pPr>
            <a:r>
              <a:rPr sz="950" b="1" i="0">
                <a:solidFill>
                  <a:srgbClr val="16181D"/>
                </a:solidFill>
                <a:latin typeface="Courier New"/>
              </a:rPr>
              <a:t>mcp_cliente.py</a:t>
            </a:r>
            <a:r>
              <a:rPr sz="950" b="0" i="0">
                <a:solidFill>
                  <a:srgbClr val="16181D"/>
                </a:solidFill>
                <a:latin typeface="Arial"/>
              </a:rPr>
              <a:t> es react.py con estos dos cambios; </a:t>
            </a:r>
            <a:r>
              <a:rPr sz="950" b="1" i="0">
                <a:solidFill>
                  <a:srgbClr val="16181D"/>
                </a:solidFill>
                <a:latin typeface="Courier New"/>
              </a:rPr>
              <a:t>claude mcp add</a:t>
            </a:r>
            <a:r>
              <a:rPr sz="950" b="0" i="0">
                <a:solidFill>
                  <a:srgbClr val="16181D"/>
                </a:solidFill>
                <a:latin typeface="Arial"/>
              </a:rPr>
              <a:t> hace lo mismo en Claude Code.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solidFill>
          <a:srgbClr val="EDE8DC"/>
        </a:solidFill>
        <a:effectLst/>
      </p:bgPr>
    </p:bg>
    <p:spTree>
      <p:nvGrpSpPr>
        <p:cNvPr id="1" name=""/>
        <p:cNvGrpSpPr/>
        <p:nvPr/>
      </p:nvGrpSpPr>
      <p:grpSpPr>
        <a:xfrm>
          <a:off x="0" y="0"/>
          <a:ext cx="0" cy="0"/>
          <a:chOff x="0" y="0"/>
          <a:chExt cx="0" cy="0"/>
        </a:xfrm>
      </p:grpSpPr>
      <p:sp>
        <p:nvSpPr>
          <p:cNvPr id="2" name="s30-forma-1"/>
          <p:cNvSpPr/>
          <p:nvPr/>
        </p:nvSpPr>
        <p:spPr>
          <a:xfrm>
            <a:off x="853390" y="520961"/>
            <a:ext cx="10484915" cy="5713"/>
          </a:xfrm>
          <a:prstGeom prst="rect">
            <a:avLst/>
          </a:prstGeom>
          <a:solidFill>
            <a:srgbClr val="C6BFAE"/>
          </a:solidFill>
          <a:ln/>
        </p:spPr>
        <p:txBody>
          <a:bodyPr/>
          <a:lstStyle/>
          <a:p>
            <a:endParaRPr lang="es-MX"/>
          </a:p>
        </p:txBody>
      </p:sp>
      <p:sp>
        <p:nvSpPr>
          <p:cNvPr id="3" name="s30-forma-2"/>
          <p:cNvSpPr/>
          <p:nvPr/>
        </p:nvSpPr>
        <p:spPr>
          <a:xfrm>
            <a:off x="853390" y="331715"/>
            <a:ext cx="81411" cy="81411"/>
          </a:xfrm>
          <a:prstGeom prst="ellipse">
            <a:avLst/>
          </a:prstGeom>
          <a:solidFill>
            <a:srgbClr val="0E6871"/>
          </a:solidFill>
          <a:ln/>
        </p:spPr>
        <p:txBody>
          <a:bodyPr/>
          <a:lstStyle/>
          <a:p>
            <a:endParaRPr lang="es-MX"/>
          </a:p>
        </p:txBody>
      </p:sp>
      <p:sp>
        <p:nvSpPr>
          <p:cNvPr id="4" name="s30-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3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30-forma-5"/>
          <p:cNvSpPr/>
          <p:nvPr/>
        </p:nvSpPr>
        <p:spPr>
          <a:xfrm>
            <a:off x="5885535" y="2400561"/>
            <a:ext cx="420446" cy="17139"/>
          </a:xfrm>
          <a:prstGeom prst="rect">
            <a:avLst/>
          </a:prstGeom>
          <a:solidFill>
            <a:srgbClr val="0033A0"/>
          </a:solidFill>
          <a:ln/>
        </p:spPr>
        <p:txBody>
          <a:bodyPr/>
          <a:lstStyle/>
          <a:p>
            <a:endParaRPr lang="es-MX"/>
          </a:p>
        </p:txBody>
      </p:sp>
      <p:sp>
        <p:nvSpPr>
          <p:cNvPr id="7" name="s30-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30-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05:00</a:t>
            </a:r>
            <a:endParaRPr lang="en-US" sz="5691" dirty="0"/>
          </a:p>
        </p:txBody>
      </p:sp>
      <p:sp>
        <p:nvSpPr>
          <p:cNvPr id="9" name="s30-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3: dos agentes en paralelo.</a:t>
            </a:r>
            <a:endParaRPr lang="en-US" sz="1242" dirty="0"/>
          </a:p>
        </p:txBody>
      </p:sp>
      <p:sp>
        <p:nvSpPr>
          <p:cNvPr id="10" name="s30-forma-9"/>
          <p:cNvSpPr/>
          <p:nvPr/>
        </p:nvSpPr>
        <p:spPr>
          <a:xfrm>
            <a:off x="853390" y="6411138"/>
            <a:ext cx="10484915" cy="5713"/>
          </a:xfrm>
          <a:prstGeom prst="rect">
            <a:avLst/>
          </a:prstGeom>
          <a:solidFill>
            <a:srgbClr val="DBD4C4"/>
          </a:solidFill>
          <a:ln/>
        </p:spPr>
        <p:txBody>
          <a:bodyPr/>
          <a:lstStyle/>
          <a:p>
            <a:endParaRPr lang="es-MX"/>
          </a:p>
        </p:txBody>
      </p:sp>
      <p:pic>
        <p:nvPicPr>
          <p:cNvPr id="11" name="s30-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30-forma-11"/>
          <p:cNvSpPr/>
          <p:nvPr/>
        </p:nvSpPr>
        <p:spPr>
          <a:xfrm>
            <a:off x="1659380" y="6519865"/>
            <a:ext cx="2926878" cy="102835"/>
          </a:xfrm>
          <a:prstGeom prst="rect">
            <a:avLst/>
          </a:prstGeom>
          <a:ln/>
        </p:spPr>
        <p:txBody>
          <a:bodyPr/>
          <a:lstStyle/>
          <a:p>
            <a:endParaRPr lang="es-MX"/>
          </a:p>
        </p:txBody>
      </p:sp>
      <p:sp>
        <p:nvSpPr>
          <p:cNvPr id="13" name="s30-forma-12"/>
          <p:cNvSpPr/>
          <p:nvPr/>
        </p:nvSpPr>
        <p:spPr>
          <a:xfrm>
            <a:off x="1659380" y="6519865"/>
            <a:ext cx="5713" cy="102835"/>
          </a:xfrm>
          <a:prstGeom prst="rect">
            <a:avLst/>
          </a:prstGeom>
          <a:solidFill>
            <a:srgbClr val="C6BFAE"/>
          </a:solidFill>
          <a:ln/>
        </p:spPr>
        <p:txBody>
          <a:bodyPr/>
          <a:lstStyle/>
          <a:p>
            <a:endParaRPr lang="es-MX"/>
          </a:p>
        </p:txBody>
      </p:sp>
      <p:sp>
        <p:nvSpPr>
          <p:cNvPr id="14" name="s30-texto-1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5" name="s30-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36</a:t>
            </a:r>
            <a:endParaRPr lang="en-US" sz="745" dirty="0"/>
          </a:p>
        </p:txBody>
      </p:sp>
      <p:sp>
        <p:nvSpPr>
          <p:cNvPr id="16" name="s30-forma-15"/>
          <p:cNvSpPr/>
          <p:nvPr/>
        </p:nvSpPr>
        <p:spPr>
          <a:xfrm>
            <a:off x="0" y="0"/>
            <a:ext cx="10159716"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331715"/>
            <a:ext cx="81411" cy="81411"/>
          </a:xfrm>
          <a:prstGeom prst="ellipse">
            <a:avLst/>
          </a:prstGeom>
          <a:solidFill>
            <a:srgbClr val="1B6A43"/>
          </a:solidFill>
          <a:ln/>
        </p:spPr>
        <p:txBody>
          <a:bodyPr/>
          <a:lstStyle/>
          <a:p>
            <a:endParaRPr lang="es-MX"/>
          </a:p>
        </p:txBody>
      </p:sp>
      <p:sp>
        <p:nvSpPr>
          <p:cNvPr id="3" name="s31-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1-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5" name="s31-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3A</a:t>
            </a:r>
            <a:endParaRPr lang="en-US" sz="869" dirty="0"/>
          </a:p>
        </p:txBody>
      </p:sp>
      <p:sp>
        <p:nvSpPr>
          <p:cNvPr id="6" name="s31-forma-5"/>
          <p:cNvSpPr/>
          <p:nvPr/>
        </p:nvSpPr>
        <p:spPr>
          <a:xfrm>
            <a:off x="853390" y="3768306"/>
            <a:ext cx="722704" cy="22852"/>
          </a:xfrm>
          <a:prstGeom prst="rect">
            <a:avLst/>
          </a:prstGeom>
          <a:solidFill>
            <a:srgbClr val="0033A0"/>
          </a:solidFill>
          <a:ln/>
        </p:spPr>
        <p:txBody>
          <a:bodyPr/>
          <a:lstStyle/>
          <a:p>
            <a:endParaRPr lang="es-MX"/>
          </a:p>
        </p:txBody>
      </p:sp>
      <p:sp>
        <p:nvSpPr>
          <p:cNvPr id="7" name="s31-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Leer los agentes 4 y 5</a:t>
            </a:r>
            <a:endParaRPr lang="en-US" sz="4242" dirty="0"/>
          </a:p>
        </p:txBody>
      </p:sp>
      <p:sp>
        <p:nvSpPr>
          <p:cNvPr id="8" name="s31-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Instrucciones, permisos y la rama paralela de flujo_s3.</a:t>
            </a:r>
            <a:endParaRPr lang="en-US" sz="1676" dirty="0"/>
          </a:p>
        </p:txBody>
      </p:sp>
      <p:pic>
        <p:nvPicPr>
          <p:cNvPr id="9" name="s31-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1-forma-9"/>
          <p:cNvSpPr/>
          <p:nvPr/>
        </p:nvSpPr>
        <p:spPr>
          <a:xfrm>
            <a:off x="1659380" y="6519865"/>
            <a:ext cx="2926878" cy="102835"/>
          </a:xfrm>
          <a:prstGeom prst="rect">
            <a:avLst/>
          </a:prstGeom>
          <a:ln/>
        </p:spPr>
        <p:txBody>
          <a:bodyPr/>
          <a:lstStyle/>
          <a:p>
            <a:endParaRPr lang="es-MX"/>
          </a:p>
        </p:txBody>
      </p:sp>
      <p:sp>
        <p:nvSpPr>
          <p:cNvPr id="11" name="s31-forma-10"/>
          <p:cNvSpPr/>
          <p:nvPr/>
        </p:nvSpPr>
        <p:spPr>
          <a:xfrm>
            <a:off x="1659380" y="6519865"/>
            <a:ext cx="5713" cy="102835"/>
          </a:xfrm>
          <a:prstGeom prst="rect">
            <a:avLst/>
          </a:prstGeom>
          <a:solidFill>
            <a:srgbClr val="C6BFAE"/>
          </a:solidFill>
          <a:ln/>
        </p:spPr>
        <p:txBody>
          <a:bodyPr/>
          <a:lstStyle/>
          <a:p>
            <a:endParaRPr lang="es-MX"/>
          </a:p>
        </p:txBody>
      </p:sp>
      <p:sp>
        <p:nvSpPr>
          <p:cNvPr id="12" name="s31-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1-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36</a:t>
            </a:r>
            <a:endParaRPr lang="en-US" sz="745" dirty="0"/>
          </a:p>
        </p:txBody>
      </p:sp>
      <p:sp>
        <p:nvSpPr>
          <p:cNvPr id="14" name="s31-forma-13"/>
          <p:cNvSpPr/>
          <p:nvPr/>
        </p:nvSpPr>
        <p:spPr>
          <a:xfrm>
            <a:off x="0" y="0"/>
            <a:ext cx="10498394" cy="17139"/>
          </a:xfrm>
          <a:prstGeom prst="rect">
            <a:avLst/>
          </a:prstGeom>
          <a:solidFill>
            <a:srgbClr val="0033A0"/>
          </a:solidFill>
          <a:ln/>
        </p:spPr>
        <p:txBody>
          <a:bodyPr/>
          <a:lstStyle/>
          <a:p>
            <a:endParaRPr lang="es-MX"/>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520961"/>
            <a:ext cx="10484915" cy="5713"/>
          </a:xfrm>
          <a:prstGeom prst="rect">
            <a:avLst/>
          </a:prstGeom>
          <a:solidFill>
            <a:srgbClr val="C6BFAE"/>
          </a:solidFill>
          <a:ln/>
        </p:spPr>
        <p:txBody>
          <a:bodyPr/>
          <a:lstStyle/>
          <a:p>
            <a:endParaRPr lang="es-MX"/>
          </a:p>
        </p:txBody>
      </p:sp>
      <p:sp>
        <p:nvSpPr>
          <p:cNvPr id="3" name="s32-forma-2"/>
          <p:cNvSpPr/>
          <p:nvPr/>
        </p:nvSpPr>
        <p:spPr>
          <a:xfrm>
            <a:off x="853390" y="331715"/>
            <a:ext cx="81411" cy="81411"/>
          </a:xfrm>
          <a:prstGeom prst="ellipse">
            <a:avLst/>
          </a:prstGeom>
          <a:solidFill>
            <a:srgbClr val="1B6A43"/>
          </a:solidFill>
          <a:ln/>
        </p:spPr>
        <p:txBody>
          <a:bodyPr/>
          <a:lstStyle/>
          <a:p>
            <a:endParaRPr lang="es-MX"/>
          </a:p>
        </p:txBody>
      </p:sp>
      <p:sp>
        <p:nvSpPr>
          <p:cNvPr id="4" name="s32-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3 · FLUJOS/FLUJO_S3.PY</a:t>
            </a:r>
            <a:endParaRPr lang="en-US" sz="900" dirty="0"/>
          </a:p>
        </p:txBody>
      </p:sp>
      <p:sp>
        <p:nvSpPr>
          <p:cNvPr id="7" name="s32-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Dos agentes en paralelo, una unión</a:t>
            </a:r>
            <a:endParaRPr lang="en-US" sz="2879" dirty="0"/>
          </a:p>
        </p:txBody>
      </p:sp>
      <p:sp>
        <p:nvSpPr>
          <p:cNvPr id="8" name="s32-forma-7"/>
          <p:cNvSpPr/>
          <p:nvPr/>
        </p:nvSpPr>
        <p:spPr>
          <a:xfrm>
            <a:off x="1342572" y="3199320"/>
            <a:ext cx="1599660" cy="685569"/>
          </a:xfrm>
          <a:prstGeom prst="rect">
            <a:avLst/>
          </a:prstGeom>
          <a:solidFill>
            <a:srgbClr val="DCE3F2"/>
          </a:solidFill>
          <a:ln w="5713">
            <a:solidFill>
              <a:srgbClr val="0033A0"/>
            </a:solidFill>
            <a:prstDash val="solid"/>
          </a:ln>
        </p:spPr>
        <p:txBody>
          <a:bodyPr/>
          <a:lstStyle/>
          <a:p>
            <a:endParaRPr lang="es-MX"/>
          </a:p>
        </p:txBody>
      </p:sp>
      <p:sp>
        <p:nvSpPr>
          <p:cNvPr id="9" name="s32-texto-8"/>
          <p:cNvSpPr txBox="1"/>
          <p:nvPr/>
        </p:nvSpPr>
        <p:spPr>
          <a:xfrm>
            <a:off x="1803813" y="3359286"/>
            <a:ext cx="67717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Verificar</a:t>
            </a:r>
            <a:endParaRPr lang="en-US" sz="1260" dirty="0"/>
          </a:p>
        </p:txBody>
      </p:sp>
      <p:sp>
        <p:nvSpPr>
          <p:cNvPr id="10" name="s32-texto-9"/>
          <p:cNvSpPr txBox="1"/>
          <p:nvPr/>
        </p:nvSpPr>
        <p:spPr>
          <a:xfrm>
            <a:off x="1564730" y="3564957"/>
            <a:ext cx="11553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app de HU-02 OK</a:t>
            </a:r>
            <a:endParaRPr lang="en-US" sz="1080" dirty="0"/>
          </a:p>
        </p:txBody>
      </p:sp>
      <p:sp>
        <p:nvSpPr>
          <p:cNvPr id="11" name="s32-forma-10"/>
          <p:cNvSpPr/>
          <p:nvPr/>
        </p:nvSpPr>
        <p:spPr>
          <a:xfrm>
            <a:off x="3856323" y="2399490"/>
            <a:ext cx="2285229" cy="799830"/>
          </a:xfrm>
          <a:prstGeom prst="rect">
            <a:avLst/>
          </a:prstGeom>
          <a:solidFill>
            <a:srgbClr val="E2D3C2"/>
          </a:solidFill>
          <a:ln w="5713">
            <a:solidFill>
              <a:srgbClr val="984514"/>
            </a:solidFill>
            <a:prstDash val="solid"/>
          </a:ln>
        </p:spPr>
        <p:txBody>
          <a:bodyPr/>
          <a:lstStyle/>
          <a:p>
            <a:endParaRPr lang="es-MX"/>
          </a:p>
        </p:txBody>
      </p:sp>
      <p:sp>
        <p:nvSpPr>
          <p:cNvPr id="12" name="s32-texto-11"/>
          <p:cNvSpPr txBox="1"/>
          <p:nvPr/>
        </p:nvSpPr>
        <p:spPr>
          <a:xfrm>
            <a:off x="4424105" y="2528034"/>
            <a:ext cx="11496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4 · Despliegue</a:t>
            </a:r>
            <a:endParaRPr lang="en-US" sz="1260" dirty="0"/>
          </a:p>
        </p:txBody>
      </p:sp>
      <p:sp>
        <p:nvSpPr>
          <p:cNvPr id="13" name="s32-texto-12"/>
          <p:cNvSpPr txBox="1"/>
          <p:nvPr/>
        </p:nvSpPr>
        <p:spPr>
          <a:xfrm>
            <a:off x="4304123" y="2733705"/>
            <a:ext cx="13896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Docker · 8000 y 8080</a:t>
            </a:r>
            <a:endParaRPr lang="en-US" sz="1080" dirty="0"/>
          </a:p>
        </p:txBody>
      </p:sp>
      <p:sp>
        <p:nvSpPr>
          <p:cNvPr id="14" name="s32-texto-13"/>
          <p:cNvSpPr txBox="1"/>
          <p:nvPr/>
        </p:nvSpPr>
        <p:spPr>
          <a:xfrm>
            <a:off x="4126708" y="2916523"/>
            <a:ext cx="17443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Courier New" pitchFamily="34" charset="0"/>
                <a:ea typeface="Courier New" pitchFamily="34" charset="-122"/>
                <a:cs typeface="Courier New" pitchFamily="34" charset="-120"/>
              </a:rPr>
              <a:t>escribe: Dockerfiles</a:t>
            </a:r>
            <a:endParaRPr lang="en-US" sz="1080" dirty="0"/>
          </a:p>
        </p:txBody>
      </p:sp>
      <p:sp>
        <p:nvSpPr>
          <p:cNvPr id="15" name="s32-forma-14"/>
          <p:cNvSpPr/>
          <p:nvPr/>
        </p:nvSpPr>
        <p:spPr>
          <a:xfrm>
            <a:off x="3856323" y="3884889"/>
            <a:ext cx="2285229" cy="799830"/>
          </a:xfrm>
          <a:prstGeom prst="rect">
            <a:avLst/>
          </a:prstGeom>
          <a:solidFill>
            <a:srgbClr val="E2D3C2"/>
          </a:solidFill>
          <a:ln w="5713">
            <a:solidFill>
              <a:srgbClr val="984514"/>
            </a:solidFill>
            <a:prstDash val="solid"/>
          </a:ln>
        </p:spPr>
        <p:txBody>
          <a:bodyPr/>
          <a:lstStyle/>
          <a:p>
            <a:endParaRPr lang="es-MX"/>
          </a:p>
        </p:txBody>
      </p:sp>
      <p:sp>
        <p:nvSpPr>
          <p:cNvPr id="16" name="s32-texto-15"/>
          <p:cNvSpPr txBox="1"/>
          <p:nvPr/>
        </p:nvSpPr>
        <p:spPr>
          <a:xfrm>
            <a:off x="4286053" y="4013433"/>
            <a:ext cx="14256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5 · Automatizador</a:t>
            </a:r>
            <a:endParaRPr lang="en-US" sz="1260" dirty="0"/>
          </a:p>
        </p:txBody>
      </p:sp>
      <p:sp>
        <p:nvSpPr>
          <p:cNvPr id="17" name="s32-texto-16"/>
          <p:cNvSpPr txBox="1"/>
          <p:nvPr/>
        </p:nvSpPr>
        <p:spPr>
          <a:xfrm>
            <a:off x="4387012" y="4219104"/>
            <a:ext cx="122385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Playwright</a:t>
            </a:r>
            <a:endParaRPr lang="en-US" sz="1080" dirty="0"/>
          </a:p>
        </p:txBody>
      </p:sp>
      <p:sp>
        <p:nvSpPr>
          <p:cNvPr id="18" name="s32-texto-17"/>
          <p:cNvSpPr txBox="1"/>
          <p:nvPr/>
        </p:nvSpPr>
        <p:spPr>
          <a:xfrm>
            <a:off x="4344719" y="4401922"/>
            <a:ext cx="13083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Courier New" pitchFamily="34" charset="0"/>
                <a:ea typeface="Courier New" pitchFamily="34" charset="-122"/>
                <a:cs typeface="Courier New" pitchFamily="34" charset="-120"/>
              </a:rPr>
              <a:t>escribe: tests/</a:t>
            </a:r>
            <a:endParaRPr lang="en-US" sz="1080" dirty="0"/>
          </a:p>
        </p:txBody>
      </p:sp>
      <p:sp>
        <p:nvSpPr>
          <p:cNvPr id="19" name="s32-forma-18"/>
          <p:cNvSpPr/>
          <p:nvPr/>
        </p:nvSpPr>
        <p:spPr>
          <a:xfrm>
            <a:off x="7055644" y="3199320"/>
            <a:ext cx="1599660" cy="685569"/>
          </a:xfrm>
          <a:prstGeom prst="rect">
            <a:avLst/>
          </a:prstGeom>
          <a:solidFill>
            <a:srgbClr val="EDE8DC"/>
          </a:solidFill>
          <a:ln w="5713">
            <a:solidFill>
              <a:srgbClr val="585E6F"/>
            </a:solidFill>
            <a:prstDash val="solid"/>
          </a:ln>
        </p:spPr>
        <p:txBody>
          <a:bodyPr/>
          <a:lstStyle/>
          <a:p>
            <a:endParaRPr lang="es-MX"/>
          </a:p>
        </p:txBody>
      </p:sp>
      <p:sp>
        <p:nvSpPr>
          <p:cNvPr id="20" name="s32-texto-19"/>
          <p:cNvSpPr txBox="1"/>
          <p:nvPr/>
        </p:nvSpPr>
        <p:spPr>
          <a:xfrm>
            <a:off x="7641501" y="3359286"/>
            <a:ext cx="42785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Listo</a:t>
            </a:r>
            <a:endParaRPr lang="en-US" sz="1260" dirty="0"/>
          </a:p>
        </p:txBody>
      </p:sp>
      <p:sp>
        <p:nvSpPr>
          <p:cNvPr id="21" name="s32-texto-20"/>
          <p:cNvSpPr txBox="1"/>
          <p:nvPr/>
        </p:nvSpPr>
        <p:spPr>
          <a:xfrm>
            <a:off x="7334294" y="3564957"/>
            <a:ext cx="10422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espera a ambos</a:t>
            </a:r>
            <a:endParaRPr lang="en-US" sz="1080" dirty="0"/>
          </a:p>
        </p:txBody>
      </p:sp>
      <p:sp>
        <p:nvSpPr>
          <p:cNvPr id="22" name="s32-forma-21"/>
          <p:cNvSpPr/>
          <p:nvPr/>
        </p:nvSpPr>
        <p:spPr>
          <a:xfrm>
            <a:off x="9112350" y="3199320"/>
            <a:ext cx="1736774" cy="685569"/>
          </a:xfrm>
          <a:prstGeom prst="rect">
            <a:avLst/>
          </a:prstGeom>
          <a:solidFill>
            <a:srgbClr val="E3DCCB"/>
          </a:solidFill>
          <a:ln w="5713">
            <a:solidFill>
              <a:srgbClr val="585E6F"/>
            </a:solidFill>
            <a:prstDash val="dash"/>
          </a:ln>
        </p:spPr>
        <p:txBody>
          <a:bodyPr/>
          <a:lstStyle/>
          <a:p>
            <a:endParaRPr lang="es-MX"/>
          </a:p>
        </p:txBody>
      </p:sp>
      <p:sp>
        <p:nvSpPr>
          <p:cNvPr id="23" name="s32-texto-22"/>
          <p:cNvSpPr txBox="1"/>
          <p:nvPr/>
        </p:nvSpPr>
        <p:spPr>
          <a:xfrm>
            <a:off x="9462301" y="3359286"/>
            <a:ext cx="10367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Pruebas E2E</a:t>
            </a:r>
            <a:endParaRPr lang="en-US" sz="1260" dirty="0"/>
          </a:p>
        </p:txBody>
      </p:sp>
      <p:sp>
        <p:nvSpPr>
          <p:cNvPr id="24" name="s32-texto-23"/>
          <p:cNvSpPr txBox="1"/>
          <p:nvPr/>
        </p:nvSpPr>
        <p:spPr>
          <a:xfrm>
            <a:off x="9702492" y="3564957"/>
            <a:ext cx="55640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sesión 4</a:t>
            </a:r>
            <a:endParaRPr lang="en-US" sz="1080" dirty="0"/>
          </a:p>
        </p:txBody>
      </p:sp>
      <p:sp>
        <p:nvSpPr>
          <p:cNvPr id="25" name="s32-forma-24"/>
          <p:cNvSpPr/>
          <p:nvPr/>
        </p:nvSpPr>
        <p:spPr>
          <a:xfrm>
            <a:off x="1342572" y="4970372"/>
            <a:ext cx="4593310" cy="374742"/>
          </a:xfrm>
          <a:prstGeom prst="rect">
            <a:avLst/>
          </a:prstGeom>
          <a:solidFill>
            <a:srgbClr val="EDE8DC"/>
          </a:solidFill>
          <a:ln/>
        </p:spPr>
        <p:txBody>
          <a:bodyPr/>
          <a:lstStyle/>
          <a:p>
            <a:endParaRPr lang="es-MX"/>
          </a:p>
        </p:txBody>
      </p:sp>
      <p:sp>
        <p:nvSpPr>
          <p:cNvPr id="26" name="s32-texto-25"/>
          <p:cNvSpPr txBox="1"/>
          <p:nvPr/>
        </p:nvSpPr>
        <p:spPr>
          <a:xfrm>
            <a:off x="1479686" y="5078921"/>
            <a:ext cx="457822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Ramas en paralelo: la ruta devuelve una lista de nodos</a:t>
            </a:r>
            <a:endParaRPr lang="en-US" sz="1080" dirty="0"/>
          </a:p>
        </p:txBody>
      </p:sp>
      <p:sp>
        <p:nvSpPr>
          <p:cNvPr id="27" name="s32-forma-26"/>
          <p:cNvSpPr/>
          <p:nvPr/>
        </p:nvSpPr>
        <p:spPr>
          <a:xfrm>
            <a:off x="6255814" y="4970372"/>
            <a:ext cx="4593310" cy="374742"/>
          </a:xfrm>
          <a:prstGeom prst="rect">
            <a:avLst/>
          </a:prstGeom>
          <a:solidFill>
            <a:srgbClr val="EDE8DC"/>
          </a:solidFill>
          <a:ln/>
        </p:spPr>
        <p:txBody>
          <a:bodyPr/>
          <a:lstStyle/>
          <a:p>
            <a:endParaRPr lang="es-MX"/>
          </a:p>
        </p:txBody>
      </p:sp>
      <p:sp>
        <p:nvSpPr>
          <p:cNvPr id="28" name="s32-texto-27"/>
          <p:cNvSpPr txBox="1"/>
          <p:nvPr/>
        </p:nvSpPr>
        <p:spPr>
          <a:xfrm>
            <a:off x="6392927" y="5078921"/>
            <a:ext cx="457822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Unión: add_edge(["desplegar", "automatizar"], "listo")</a:t>
            </a:r>
            <a:endParaRPr lang="en-US" sz="1080" dirty="0"/>
          </a:p>
        </p:txBody>
      </p:sp>
      <p:sp>
        <p:nvSpPr>
          <p:cNvPr id="29" name="s32-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python -m flujos.flujo_s3 historias/HU-02-consultar-directorio.md</a:t>
            </a:r>
            <a:endParaRPr lang="en-US" sz="1080" dirty="0"/>
          </a:p>
        </p:txBody>
      </p:sp>
      <p:sp>
        <p:nvSpPr>
          <p:cNvPr id="30" name="s32-linea-29-0"/>
          <p:cNvSpPr/>
          <p:nvPr/>
        </p:nvSpPr>
        <p:spPr>
          <a:xfrm>
            <a:off x="2942232" y="3542105"/>
            <a:ext cx="457046" cy="0"/>
          </a:xfrm>
          <a:prstGeom prst="line">
            <a:avLst/>
          </a:prstGeom>
          <a:noFill/>
          <a:ln w="17140">
            <a:solidFill>
              <a:srgbClr val="585E6F"/>
            </a:solidFill>
            <a:prstDash val="solid"/>
          </a:ln>
        </p:spPr>
        <p:txBody>
          <a:bodyPr/>
          <a:lstStyle/>
          <a:p>
            <a:endParaRPr lang="es-MX"/>
          </a:p>
        </p:txBody>
      </p:sp>
      <p:sp>
        <p:nvSpPr>
          <p:cNvPr id="31" name="s32-linea-29-1"/>
          <p:cNvSpPr/>
          <p:nvPr/>
        </p:nvSpPr>
        <p:spPr>
          <a:xfrm flipV="1">
            <a:off x="3399278" y="2799405"/>
            <a:ext cx="0" cy="742699"/>
          </a:xfrm>
          <a:prstGeom prst="line">
            <a:avLst/>
          </a:prstGeom>
          <a:noFill/>
          <a:ln w="17140">
            <a:solidFill>
              <a:srgbClr val="585E6F"/>
            </a:solidFill>
            <a:prstDash val="solid"/>
          </a:ln>
        </p:spPr>
        <p:txBody>
          <a:bodyPr/>
          <a:lstStyle/>
          <a:p>
            <a:endParaRPr lang="es-MX"/>
          </a:p>
        </p:txBody>
      </p:sp>
      <p:sp>
        <p:nvSpPr>
          <p:cNvPr id="32" name="s32-linea-29-2"/>
          <p:cNvSpPr/>
          <p:nvPr/>
        </p:nvSpPr>
        <p:spPr>
          <a:xfrm>
            <a:off x="3399278" y="2799405"/>
            <a:ext cx="457046" cy="0"/>
          </a:xfrm>
          <a:prstGeom prst="line">
            <a:avLst/>
          </a:prstGeom>
          <a:noFill/>
          <a:ln w="17140">
            <a:solidFill>
              <a:srgbClr val="585E6F"/>
            </a:solidFill>
            <a:prstDash val="solid"/>
            <a:tailEnd type="triangle"/>
          </a:ln>
        </p:spPr>
        <p:txBody>
          <a:bodyPr/>
          <a:lstStyle/>
          <a:p>
            <a:endParaRPr lang="es-MX"/>
          </a:p>
        </p:txBody>
      </p:sp>
      <p:sp>
        <p:nvSpPr>
          <p:cNvPr id="33" name="s32-linea-30-0"/>
          <p:cNvSpPr/>
          <p:nvPr/>
        </p:nvSpPr>
        <p:spPr>
          <a:xfrm>
            <a:off x="2942232" y="3542105"/>
            <a:ext cx="457046" cy="0"/>
          </a:xfrm>
          <a:prstGeom prst="line">
            <a:avLst/>
          </a:prstGeom>
          <a:noFill/>
          <a:ln w="17140">
            <a:solidFill>
              <a:srgbClr val="585E6F"/>
            </a:solidFill>
            <a:prstDash val="solid"/>
          </a:ln>
        </p:spPr>
        <p:txBody>
          <a:bodyPr/>
          <a:lstStyle/>
          <a:p>
            <a:endParaRPr lang="es-MX"/>
          </a:p>
        </p:txBody>
      </p:sp>
      <p:sp>
        <p:nvSpPr>
          <p:cNvPr id="34" name="s32-linea-30-1"/>
          <p:cNvSpPr/>
          <p:nvPr/>
        </p:nvSpPr>
        <p:spPr>
          <a:xfrm>
            <a:off x="3399278" y="3542105"/>
            <a:ext cx="0" cy="742699"/>
          </a:xfrm>
          <a:prstGeom prst="line">
            <a:avLst/>
          </a:prstGeom>
          <a:noFill/>
          <a:ln w="17140">
            <a:solidFill>
              <a:srgbClr val="585E6F"/>
            </a:solidFill>
            <a:prstDash val="solid"/>
          </a:ln>
        </p:spPr>
        <p:txBody>
          <a:bodyPr/>
          <a:lstStyle/>
          <a:p>
            <a:endParaRPr lang="es-MX"/>
          </a:p>
        </p:txBody>
      </p:sp>
      <p:sp>
        <p:nvSpPr>
          <p:cNvPr id="35" name="s32-linea-30-2"/>
          <p:cNvSpPr/>
          <p:nvPr/>
        </p:nvSpPr>
        <p:spPr>
          <a:xfrm>
            <a:off x="3399278" y="4284804"/>
            <a:ext cx="457046" cy="0"/>
          </a:xfrm>
          <a:prstGeom prst="line">
            <a:avLst/>
          </a:prstGeom>
          <a:noFill/>
          <a:ln w="17140">
            <a:solidFill>
              <a:srgbClr val="585E6F"/>
            </a:solidFill>
            <a:prstDash val="solid"/>
            <a:tailEnd type="triangle"/>
          </a:ln>
        </p:spPr>
        <p:txBody>
          <a:bodyPr/>
          <a:lstStyle/>
          <a:p>
            <a:endParaRPr lang="es-MX"/>
          </a:p>
        </p:txBody>
      </p:sp>
      <p:sp>
        <p:nvSpPr>
          <p:cNvPr id="36" name="s32-linea-31-0"/>
          <p:cNvSpPr/>
          <p:nvPr/>
        </p:nvSpPr>
        <p:spPr>
          <a:xfrm>
            <a:off x="6141552" y="2799405"/>
            <a:ext cx="457046" cy="0"/>
          </a:xfrm>
          <a:prstGeom prst="line">
            <a:avLst/>
          </a:prstGeom>
          <a:noFill/>
          <a:ln w="17140">
            <a:solidFill>
              <a:srgbClr val="585E6F"/>
            </a:solidFill>
            <a:prstDash val="solid"/>
          </a:ln>
        </p:spPr>
        <p:txBody>
          <a:bodyPr/>
          <a:lstStyle/>
          <a:p>
            <a:endParaRPr lang="es-MX"/>
          </a:p>
        </p:txBody>
      </p:sp>
      <p:sp>
        <p:nvSpPr>
          <p:cNvPr id="37" name="s32-linea-31-1"/>
          <p:cNvSpPr/>
          <p:nvPr/>
        </p:nvSpPr>
        <p:spPr>
          <a:xfrm>
            <a:off x="6598598" y="2799405"/>
            <a:ext cx="0" cy="628438"/>
          </a:xfrm>
          <a:prstGeom prst="line">
            <a:avLst/>
          </a:prstGeom>
          <a:noFill/>
          <a:ln w="17140">
            <a:solidFill>
              <a:srgbClr val="585E6F"/>
            </a:solidFill>
            <a:prstDash val="solid"/>
          </a:ln>
        </p:spPr>
        <p:txBody>
          <a:bodyPr/>
          <a:lstStyle/>
          <a:p>
            <a:endParaRPr lang="es-MX"/>
          </a:p>
        </p:txBody>
      </p:sp>
      <p:sp>
        <p:nvSpPr>
          <p:cNvPr id="38" name="s32-linea-31-2"/>
          <p:cNvSpPr/>
          <p:nvPr/>
        </p:nvSpPr>
        <p:spPr>
          <a:xfrm>
            <a:off x="6598598" y="3427843"/>
            <a:ext cx="457046" cy="0"/>
          </a:xfrm>
          <a:prstGeom prst="line">
            <a:avLst/>
          </a:prstGeom>
          <a:noFill/>
          <a:ln w="17140">
            <a:solidFill>
              <a:srgbClr val="585E6F"/>
            </a:solidFill>
            <a:prstDash val="solid"/>
            <a:tailEnd type="triangle"/>
          </a:ln>
        </p:spPr>
        <p:txBody>
          <a:bodyPr/>
          <a:lstStyle/>
          <a:p>
            <a:endParaRPr lang="es-MX"/>
          </a:p>
        </p:txBody>
      </p:sp>
      <p:sp>
        <p:nvSpPr>
          <p:cNvPr id="39" name="s32-linea-32-0"/>
          <p:cNvSpPr/>
          <p:nvPr/>
        </p:nvSpPr>
        <p:spPr>
          <a:xfrm>
            <a:off x="6141552" y="4284804"/>
            <a:ext cx="457046" cy="0"/>
          </a:xfrm>
          <a:prstGeom prst="line">
            <a:avLst/>
          </a:prstGeom>
          <a:noFill/>
          <a:ln w="17140">
            <a:solidFill>
              <a:srgbClr val="585E6F"/>
            </a:solidFill>
            <a:prstDash val="solid"/>
          </a:ln>
        </p:spPr>
        <p:txBody>
          <a:bodyPr/>
          <a:lstStyle/>
          <a:p>
            <a:endParaRPr lang="es-MX"/>
          </a:p>
        </p:txBody>
      </p:sp>
      <p:sp>
        <p:nvSpPr>
          <p:cNvPr id="40" name="s32-linea-32-1"/>
          <p:cNvSpPr/>
          <p:nvPr/>
        </p:nvSpPr>
        <p:spPr>
          <a:xfrm flipV="1">
            <a:off x="6598598" y="3656366"/>
            <a:ext cx="0" cy="628438"/>
          </a:xfrm>
          <a:prstGeom prst="line">
            <a:avLst/>
          </a:prstGeom>
          <a:noFill/>
          <a:ln w="17140">
            <a:solidFill>
              <a:srgbClr val="585E6F"/>
            </a:solidFill>
            <a:prstDash val="solid"/>
          </a:ln>
        </p:spPr>
        <p:txBody>
          <a:bodyPr/>
          <a:lstStyle/>
          <a:p>
            <a:endParaRPr lang="es-MX"/>
          </a:p>
        </p:txBody>
      </p:sp>
      <p:sp>
        <p:nvSpPr>
          <p:cNvPr id="41" name="s32-linea-32-2"/>
          <p:cNvSpPr/>
          <p:nvPr/>
        </p:nvSpPr>
        <p:spPr>
          <a:xfrm>
            <a:off x="6598598" y="3656366"/>
            <a:ext cx="457046" cy="0"/>
          </a:xfrm>
          <a:prstGeom prst="line">
            <a:avLst/>
          </a:prstGeom>
          <a:noFill/>
          <a:ln w="17140">
            <a:solidFill>
              <a:srgbClr val="585E6F"/>
            </a:solidFill>
            <a:prstDash val="solid"/>
            <a:tailEnd type="triangle"/>
          </a:ln>
        </p:spPr>
        <p:txBody>
          <a:bodyPr/>
          <a:lstStyle/>
          <a:p>
            <a:endParaRPr lang="es-MX"/>
          </a:p>
        </p:txBody>
      </p:sp>
      <p:sp>
        <p:nvSpPr>
          <p:cNvPr id="42" name="s32-linea-33-0"/>
          <p:cNvSpPr/>
          <p:nvPr/>
        </p:nvSpPr>
        <p:spPr>
          <a:xfrm>
            <a:off x="8655304" y="3542105"/>
            <a:ext cx="457046" cy="0"/>
          </a:xfrm>
          <a:prstGeom prst="line">
            <a:avLst/>
          </a:prstGeom>
          <a:noFill/>
          <a:ln w="17140">
            <a:solidFill>
              <a:srgbClr val="585E6F"/>
            </a:solidFill>
            <a:prstDash val="dash"/>
            <a:tailEnd type="triangle"/>
          </a:ln>
        </p:spPr>
        <p:txBody>
          <a:bodyPr/>
          <a:lstStyle/>
          <a:p>
            <a:endParaRPr lang="es-MX"/>
          </a:p>
        </p:txBody>
      </p:sp>
      <p:sp>
        <p:nvSpPr>
          <p:cNvPr id="43" name="s32-forma-34"/>
          <p:cNvSpPr/>
          <p:nvPr/>
        </p:nvSpPr>
        <p:spPr>
          <a:xfrm>
            <a:off x="853390" y="6411138"/>
            <a:ext cx="10484915" cy="5713"/>
          </a:xfrm>
          <a:prstGeom prst="rect">
            <a:avLst/>
          </a:prstGeom>
          <a:solidFill>
            <a:srgbClr val="DBD4C4"/>
          </a:solidFill>
          <a:ln/>
        </p:spPr>
        <p:txBody>
          <a:bodyPr/>
          <a:lstStyle/>
          <a:p>
            <a:endParaRPr lang="es-MX"/>
          </a:p>
        </p:txBody>
      </p:sp>
      <p:pic>
        <p:nvPicPr>
          <p:cNvPr id="44" name="s32-logo-35"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32-forma-36"/>
          <p:cNvSpPr/>
          <p:nvPr/>
        </p:nvSpPr>
        <p:spPr>
          <a:xfrm>
            <a:off x="1659380" y="6519865"/>
            <a:ext cx="2926878" cy="102835"/>
          </a:xfrm>
          <a:prstGeom prst="rect">
            <a:avLst/>
          </a:prstGeom>
          <a:ln/>
        </p:spPr>
        <p:txBody>
          <a:bodyPr/>
          <a:lstStyle/>
          <a:p>
            <a:endParaRPr lang="es-MX"/>
          </a:p>
        </p:txBody>
      </p:sp>
      <p:sp>
        <p:nvSpPr>
          <p:cNvPr id="46" name="s32-forma-37"/>
          <p:cNvSpPr/>
          <p:nvPr/>
        </p:nvSpPr>
        <p:spPr>
          <a:xfrm>
            <a:off x="1659380" y="6519865"/>
            <a:ext cx="5713" cy="102835"/>
          </a:xfrm>
          <a:prstGeom prst="rect">
            <a:avLst/>
          </a:prstGeom>
          <a:solidFill>
            <a:srgbClr val="C6BFAE"/>
          </a:solidFill>
          <a:ln/>
        </p:spPr>
        <p:txBody>
          <a:bodyPr/>
          <a:lstStyle/>
          <a:p>
            <a:endParaRPr lang="es-MX"/>
          </a:p>
        </p:txBody>
      </p:sp>
      <p:sp>
        <p:nvSpPr>
          <p:cNvPr id="47" name="s32-texto-38"/>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8" name="s32-texto-3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36</a:t>
            </a:r>
            <a:endParaRPr lang="en-US" sz="745" dirty="0"/>
          </a:p>
        </p:txBody>
      </p:sp>
      <p:sp>
        <p:nvSpPr>
          <p:cNvPr id="49" name="s32-forma-40"/>
          <p:cNvSpPr/>
          <p:nvPr/>
        </p:nvSpPr>
        <p:spPr>
          <a:xfrm>
            <a:off x="0" y="0"/>
            <a:ext cx="10836983" cy="17139"/>
          </a:xfrm>
          <a:prstGeom prst="rect">
            <a:avLst/>
          </a:prstGeom>
          <a:solidFill>
            <a:srgbClr val="0033A0"/>
          </a:solidFill>
          <a:ln/>
        </p:spPr>
        <p:txBody>
          <a:bodyPr/>
          <a:lstStyle/>
          <a:p>
            <a:endParaRPr lang="es-MX"/>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331715"/>
            <a:ext cx="81411" cy="81411"/>
          </a:xfrm>
          <a:prstGeom prst="ellipse">
            <a:avLst/>
          </a:prstGeom>
          <a:solidFill>
            <a:srgbClr val="1B6A43"/>
          </a:solidFill>
          <a:ln/>
        </p:spPr>
        <p:txBody>
          <a:bodyPr/>
          <a:lstStyle/>
          <a:p>
            <a:endParaRPr lang="es-MX"/>
          </a:p>
        </p:txBody>
      </p:sp>
      <p:sp>
        <p:nvSpPr>
          <p:cNvPr id="3" name="s33-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30 min</a:t>
            </a:r>
            <a:endParaRPr lang="en-US" sz="807" dirty="0"/>
          </a:p>
        </p:txBody>
      </p:sp>
      <p:sp>
        <p:nvSpPr>
          <p:cNvPr id="5" name="s3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3B</a:t>
            </a:r>
            <a:endParaRPr lang="en-US" sz="869" dirty="0"/>
          </a:p>
        </p:txBody>
      </p:sp>
      <p:sp>
        <p:nvSpPr>
          <p:cNvPr id="6" name="s33-forma-5"/>
          <p:cNvSpPr/>
          <p:nvPr/>
        </p:nvSpPr>
        <p:spPr>
          <a:xfrm>
            <a:off x="853390" y="3768306"/>
            <a:ext cx="722704" cy="22852"/>
          </a:xfrm>
          <a:prstGeom prst="rect">
            <a:avLst/>
          </a:prstGeom>
          <a:solidFill>
            <a:srgbClr val="0033A0"/>
          </a:solidFill>
          <a:ln/>
        </p:spPr>
        <p:txBody>
          <a:bodyPr/>
          <a:lstStyle/>
          <a:p>
            <a:endParaRPr lang="es-MX"/>
          </a:p>
        </p:txBody>
      </p:sp>
      <p:sp>
        <p:nvSpPr>
          <p:cNvPr id="7" name="s3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Ejecutar con HU-02</a:t>
            </a:r>
            <a:endParaRPr lang="en-US" sz="4242" dirty="0"/>
          </a:p>
        </p:txBody>
      </p:sp>
      <p:sp>
        <p:nvSpPr>
          <p:cNvPr id="8" name="s3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La fábrica extiende la app y la despliega.</a:t>
            </a:r>
            <a:endParaRPr lang="en-US" sz="1676" dirty="0"/>
          </a:p>
        </p:txBody>
      </p:sp>
      <p:pic>
        <p:nvPicPr>
          <p:cNvPr id="9" name="s3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3-forma-9"/>
          <p:cNvSpPr/>
          <p:nvPr/>
        </p:nvSpPr>
        <p:spPr>
          <a:xfrm>
            <a:off x="1659380" y="6519865"/>
            <a:ext cx="2926878" cy="102835"/>
          </a:xfrm>
          <a:prstGeom prst="rect">
            <a:avLst/>
          </a:prstGeom>
          <a:ln/>
        </p:spPr>
        <p:txBody>
          <a:bodyPr/>
          <a:lstStyle/>
          <a:p>
            <a:endParaRPr lang="es-MX"/>
          </a:p>
        </p:txBody>
      </p:sp>
      <p:sp>
        <p:nvSpPr>
          <p:cNvPr id="11" name="s33-forma-10"/>
          <p:cNvSpPr/>
          <p:nvPr/>
        </p:nvSpPr>
        <p:spPr>
          <a:xfrm>
            <a:off x="1659380" y="6519865"/>
            <a:ext cx="5713" cy="102835"/>
          </a:xfrm>
          <a:prstGeom prst="rect">
            <a:avLst/>
          </a:prstGeom>
          <a:solidFill>
            <a:srgbClr val="C6BFAE"/>
          </a:solidFill>
          <a:ln/>
        </p:spPr>
        <p:txBody>
          <a:bodyPr/>
          <a:lstStyle/>
          <a:p>
            <a:endParaRPr lang="es-MX"/>
          </a:p>
        </p:txBody>
      </p:sp>
      <p:sp>
        <p:nvSpPr>
          <p:cNvPr id="12" name="s3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36</a:t>
            </a:r>
            <a:endParaRPr lang="en-US" sz="745" dirty="0"/>
          </a:p>
        </p:txBody>
      </p:sp>
      <p:sp>
        <p:nvSpPr>
          <p:cNvPr id="14" name="s33-forma-13"/>
          <p:cNvSpPr/>
          <p:nvPr/>
        </p:nvSpPr>
        <p:spPr>
          <a:xfrm>
            <a:off x="0" y="0"/>
            <a:ext cx="11175661" cy="17139"/>
          </a:xfrm>
          <a:prstGeom prst="rect">
            <a:avLst/>
          </a:prstGeom>
          <a:solidFill>
            <a:srgbClr val="0033A0"/>
          </a:solidFill>
          <a:ln/>
        </p:spPr>
        <p:txBody>
          <a:bodyPr/>
          <a:lstStyle/>
          <a:p>
            <a:endParaRPr lang="es-MX"/>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520961"/>
            <a:ext cx="10484915" cy="5713"/>
          </a:xfrm>
          <a:prstGeom prst="rect">
            <a:avLst/>
          </a:prstGeom>
          <a:solidFill>
            <a:srgbClr val="C6BFAE"/>
          </a:solidFill>
          <a:ln/>
        </p:spPr>
        <p:txBody>
          <a:bodyPr/>
          <a:lstStyle/>
          <a:p>
            <a:endParaRPr lang="es-MX"/>
          </a:p>
        </p:txBody>
      </p:sp>
      <p:sp>
        <p:nvSpPr>
          <p:cNvPr id="3" name="s34-forma-2"/>
          <p:cNvSpPr/>
          <p:nvPr/>
        </p:nvSpPr>
        <p:spPr>
          <a:xfrm>
            <a:off x="853390" y="331715"/>
            <a:ext cx="81411" cy="81411"/>
          </a:xfrm>
          <a:prstGeom prst="ellipse">
            <a:avLst/>
          </a:prstGeom>
          <a:solidFill>
            <a:srgbClr val="1B6A43"/>
          </a:solidFill>
          <a:ln/>
        </p:spPr>
        <p:txBody>
          <a:bodyPr/>
          <a:lstStyle/>
          <a:p>
            <a:endParaRPr lang="es-MX"/>
          </a:p>
        </p:txBody>
      </p:sp>
      <p:sp>
        <p:nvSpPr>
          <p:cNvPr id="4" name="s34-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30 min</a:t>
            </a:r>
            <a:endParaRPr lang="en-US" sz="807" dirty="0"/>
          </a:p>
        </p:txBody>
      </p:sp>
      <p:sp>
        <p:nvSpPr>
          <p:cNvPr id="6" name="s3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3 · 65 MIN · INDIVIDUAL</a:t>
            </a:r>
            <a:endParaRPr lang="en-US" sz="900" dirty="0"/>
          </a:p>
        </p:txBody>
      </p:sp>
      <p:sp>
        <p:nvSpPr>
          <p:cNvPr id="7" name="s3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Desplegar, probar e inspeccionar</a:t>
            </a:r>
            <a:endParaRPr lang="en-US" sz="2879" dirty="0"/>
          </a:p>
        </p:txBody>
      </p:sp>
      <p:sp>
        <p:nvSpPr>
          <p:cNvPr id="8" name="s34-forma-7"/>
          <p:cNvSpPr/>
          <p:nvPr/>
        </p:nvSpPr>
        <p:spPr>
          <a:xfrm>
            <a:off x="1342572" y="2144634"/>
            <a:ext cx="5713072" cy="2319507"/>
          </a:xfrm>
          <a:prstGeom prst="rect">
            <a:avLst/>
          </a:prstGeom>
          <a:solidFill>
            <a:srgbClr val="E8E2D5"/>
          </a:solidFill>
          <a:ln/>
        </p:spPr>
        <p:txBody>
          <a:bodyPr/>
          <a:lstStyle/>
          <a:p>
            <a:endParaRPr lang="es-MX"/>
          </a:p>
        </p:txBody>
      </p:sp>
      <p:sp>
        <p:nvSpPr>
          <p:cNvPr id="9" name="s34-forma-8"/>
          <p:cNvSpPr/>
          <p:nvPr/>
        </p:nvSpPr>
        <p:spPr>
          <a:xfrm>
            <a:off x="1342572" y="2144634"/>
            <a:ext cx="5713072" cy="5713"/>
          </a:xfrm>
          <a:prstGeom prst="rect">
            <a:avLst/>
          </a:prstGeom>
          <a:solidFill>
            <a:srgbClr val="DBD4C4"/>
          </a:solidFill>
          <a:ln/>
        </p:spPr>
        <p:txBody>
          <a:bodyPr/>
          <a:lstStyle/>
          <a:p>
            <a:endParaRPr lang="es-MX"/>
          </a:p>
        </p:txBody>
      </p:sp>
      <p:sp>
        <p:nvSpPr>
          <p:cNvPr id="10" name="s34-forma-9"/>
          <p:cNvSpPr/>
          <p:nvPr/>
        </p:nvSpPr>
        <p:spPr>
          <a:xfrm>
            <a:off x="1342572" y="4458428"/>
            <a:ext cx="5713072" cy="5713"/>
          </a:xfrm>
          <a:prstGeom prst="rect">
            <a:avLst/>
          </a:prstGeom>
          <a:solidFill>
            <a:srgbClr val="DBD4C4"/>
          </a:solidFill>
          <a:ln/>
        </p:spPr>
        <p:txBody>
          <a:bodyPr/>
          <a:lstStyle/>
          <a:p>
            <a:endParaRPr lang="es-MX"/>
          </a:p>
        </p:txBody>
      </p:sp>
      <p:sp>
        <p:nvSpPr>
          <p:cNvPr id="11" name="s34-forma-10"/>
          <p:cNvSpPr/>
          <p:nvPr/>
        </p:nvSpPr>
        <p:spPr>
          <a:xfrm>
            <a:off x="1342572" y="2144634"/>
            <a:ext cx="17139" cy="2319507"/>
          </a:xfrm>
          <a:prstGeom prst="rect">
            <a:avLst/>
          </a:prstGeom>
          <a:solidFill>
            <a:srgbClr val="C6BFAE"/>
          </a:solidFill>
          <a:ln/>
        </p:spPr>
        <p:txBody>
          <a:bodyPr/>
          <a:lstStyle/>
          <a:p>
            <a:endParaRPr lang="es-MX"/>
          </a:p>
        </p:txBody>
      </p:sp>
      <p:sp>
        <p:nvSpPr>
          <p:cNvPr id="12" name="s34-forma-11"/>
          <p:cNvSpPr/>
          <p:nvPr/>
        </p:nvSpPr>
        <p:spPr>
          <a:xfrm>
            <a:off x="7049931" y="2144634"/>
            <a:ext cx="5713" cy="2319507"/>
          </a:xfrm>
          <a:prstGeom prst="rect">
            <a:avLst/>
          </a:prstGeom>
          <a:solidFill>
            <a:srgbClr val="DBD4C4"/>
          </a:solidFill>
          <a:ln/>
        </p:spPr>
        <p:txBody>
          <a:bodyPr/>
          <a:lstStyle/>
          <a:p>
            <a:endParaRPr lang="es-MX"/>
          </a:p>
        </p:txBody>
      </p:sp>
      <p:sp>
        <p:nvSpPr>
          <p:cNvPr id="13" name="s34-texto-12"/>
          <p:cNvSpPr txBox="1"/>
          <p:nvPr/>
        </p:nvSpPr>
        <p:spPr>
          <a:xfrm>
            <a:off x="1588234" y="2401722"/>
            <a:ext cx="5547164" cy="1799618"/>
          </a:xfrm>
          <a:prstGeom prst="rect">
            <a:avLst/>
          </a:prstGeom>
          <a:noFill/>
          <a:ln/>
        </p:spPr>
        <p:txBody>
          <a:bodyPr wrap="square" lIns="0" tIns="0" rIns="0" bIns="0" rtlCol="0" anchor="t"/>
          <a:lstStyle/>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3B · ejecutar con HU-02 (30 min)</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flujos.flujo_s3 \</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historias/HU-02-consultar-directorio.md</a:t>
            </a:r>
            <a:endParaRPr lang="en-US" sz="1080" dirty="0"/>
          </a:p>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3C · inspeccionar (25 min)</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docker compose ps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pytest tests/api -q</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pytest tests/e2e -q --headed</a:t>
            </a:r>
            <a:endParaRPr lang="en-US" sz="1080" dirty="0"/>
          </a:p>
        </p:txBody>
      </p:sp>
      <p:sp>
        <p:nvSpPr>
          <p:cNvPr id="14" name="s34-texto-13"/>
          <p:cNvSpPr txBox="1"/>
          <p:nvPr/>
        </p:nvSpPr>
        <p:spPr>
          <a:xfrm>
            <a:off x="7329871" y="2167486"/>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3A · 10 min:</a:t>
            </a:r>
            <a:r>
              <a:rPr lang="en-US" sz="1260" dirty="0">
                <a:solidFill>
                  <a:srgbClr val="16181D"/>
                </a:solidFill>
                <a:latin typeface="Arial" pitchFamily="34" charset="0"/>
                <a:ea typeface="Arial" pitchFamily="34" charset="-122"/>
                <a:cs typeface="Arial" pitchFamily="34" charset="-120"/>
              </a:rPr>
              <a:t> lee los agentes 4 y 5 y la rama paralela.</a:t>
            </a:r>
            <a:endParaRPr lang="en-US" sz="1260" dirty="0"/>
          </a:p>
        </p:txBody>
      </p:sp>
      <p:sp>
        <p:nvSpPr>
          <p:cNvPr id="15" name="s34-texto-14"/>
          <p:cNvSpPr txBox="1"/>
          <p:nvPr/>
        </p:nvSpPr>
        <p:spPr>
          <a:xfrm>
            <a:off x="7329871" y="2752362"/>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Control:</a:t>
            </a:r>
            <a:r>
              <a:rPr lang="en-US" sz="1260" dirty="0">
                <a:solidFill>
                  <a:srgbClr val="16181D"/>
                </a:solidFill>
                <a:latin typeface="Arial" pitchFamily="34" charset="0"/>
                <a:ea typeface="Arial" pitchFamily="34" charset="-122"/>
                <a:cs typeface="Arial" pitchFamily="34" charset="-120"/>
              </a:rPr>
              <a:t> bitácora con «Despliegue: OK» y «Pruebas: OK».</a:t>
            </a:r>
            <a:endParaRPr lang="en-US" sz="1260" dirty="0"/>
          </a:p>
        </p:txBody>
      </p:sp>
      <p:sp>
        <p:nvSpPr>
          <p:cNvPr id="16" name="s34-texto-15"/>
          <p:cNvSpPr txBox="1"/>
          <p:nvPr/>
        </p:nvSpPr>
        <p:spPr>
          <a:xfrm>
            <a:off x="7329871" y="3337237"/>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Compara</a:t>
            </a:r>
            <a:r>
              <a:rPr lang="en-US" sz="1260" dirty="0">
                <a:solidFill>
                  <a:srgbClr val="16181D"/>
                </a:solidFill>
                <a:latin typeface="Arial" pitchFamily="34" charset="0"/>
                <a:ea typeface="Arial" pitchFamily="34" charset="-122"/>
                <a:cs typeface="Arial" pitchFamily="34" charset="-120"/>
              </a:rPr>
              <a:t> las pruebas con tu tabla manual de la sesión 2.</a:t>
            </a:r>
            <a:endParaRPr lang="en-US" sz="1260" dirty="0"/>
          </a:p>
        </p:txBody>
      </p:sp>
      <p:sp>
        <p:nvSpPr>
          <p:cNvPr id="17" name="s34-texto-16"/>
          <p:cNvSpPr txBox="1"/>
          <p:nvPr/>
        </p:nvSpPr>
        <p:spPr>
          <a:xfrm>
            <a:off x="7329871" y="3922113"/>
            <a:ext cx="3730407" cy="177105"/>
          </a:xfrm>
          <a:prstGeom prst="rect">
            <a:avLst/>
          </a:prstGeom>
          <a:noFill/>
          <a:ln/>
        </p:spPr>
        <p:txBody>
          <a:bodyPr wrap="non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Busca</a:t>
            </a:r>
            <a:r>
              <a:rPr lang="en-US" sz="1260" dirty="0">
                <a:solidFill>
                  <a:srgbClr val="984514"/>
                </a:solidFill>
                <a:latin typeface="Arial" pitchFamily="34" charset="0"/>
                <a:ea typeface="Arial" pitchFamily="34" charset="-122"/>
                <a:cs typeface="Arial" pitchFamily="34" charset="-120"/>
              </a:rPr>
              <a:t> en auditoria.jsonl un intento fuera de rol.</a:t>
            </a:r>
            <a:endParaRPr lang="en-US" sz="1260" dirty="0"/>
          </a:p>
        </p:txBody>
      </p:sp>
      <p:sp>
        <p:nvSpPr>
          <p:cNvPr id="18" name="s34-texto-1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Cierre 15 min: quiz · commit con Docker, tests/, salida/HU-02/ y notas_s3.md</a:t>
            </a:r>
            <a:endParaRPr lang="en-US" sz="1080" dirty="0"/>
          </a:p>
        </p:txBody>
      </p:sp>
      <p:sp>
        <p:nvSpPr>
          <p:cNvPr id="19" name="s34-forma-18"/>
          <p:cNvSpPr/>
          <p:nvPr/>
        </p:nvSpPr>
        <p:spPr>
          <a:xfrm>
            <a:off x="853390" y="6411138"/>
            <a:ext cx="10484915" cy="5713"/>
          </a:xfrm>
          <a:prstGeom prst="rect">
            <a:avLst/>
          </a:prstGeom>
          <a:solidFill>
            <a:srgbClr val="DBD4C4"/>
          </a:solidFill>
          <a:ln/>
        </p:spPr>
        <p:txBody>
          <a:bodyPr/>
          <a:lstStyle/>
          <a:p>
            <a:endParaRPr lang="es-MX"/>
          </a:p>
        </p:txBody>
      </p:sp>
      <p:pic>
        <p:nvPicPr>
          <p:cNvPr id="20" name="s34-logo-19" descr="preencoded.png"/>
          <p:cNvPicPr>
            <a:picLocks noChangeAspect="1"/>
          </p:cNvPicPr>
          <p:nvPr/>
        </p:nvPicPr>
        <p:blipFill>
          <a:blip r:embed="rId3"/>
          <a:stretch>
            <a:fillRect/>
          </a:stretch>
        </p:blipFill>
        <p:spPr>
          <a:xfrm>
            <a:off x="853390" y="6465055"/>
            <a:ext cx="687800" cy="212455"/>
          </a:xfrm>
          <a:prstGeom prst="rect">
            <a:avLst/>
          </a:prstGeom>
        </p:spPr>
      </p:pic>
      <p:sp>
        <p:nvSpPr>
          <p:cNvPr id="21" name="s34-forma-20"/>
          <p:cNvSpPr/>
          <p:nvPr/>
        </p:nvSpPr>
        <p:spPr>
          <a:xfrm>
            <a:off x="1659380" y="6519865"/>
            <a:ext cx="2926878" cy="102835"/>
          </a:xfrm>
          <a:prstGeom prst="rect">
            <a:avLst/>
          </a:prstGeom>
          <a:ln/>
        </p:spPr>
        <p:txBody>
          <a:bodyPr/>
          <a:lstStyle/>
          <a:p>
            <a:endParaRPr lang="es-MX"/>
          </a:p>
        </p:txBody>
      </p:sp>
      <p:sp>
        <p:nvSpPr>
          <p:cNvPr id="22" name="s34-forma-21"/>
          <p:cNvSpPr/>
          <p:nvPr/>
        </p:nvSpPr>
        <p:spPr>
          <a:xfrm>
            <a:off x="1659380" y="6519865"/>
            <a:ext cx="5713" cy="102835"/>
          </a:xfrm>
          <a:prstGeom prst="rect">
            <a:avLst/>
          </a:prstGeom>
          <a:solidFill>
            <a:srgbClr val="C6BFAE"/>
          </a:solidFill>
          <a:ln/>
        </p:spPr>
        <p:txBody>
          <a:bodyPr/>
          <a:lstStyle/>
          <a:p>
            <a:endParaRPr lang="es-MX"/>
          </a:p>
        </p:txBody>
      </p:sp>
      <p:sp>
        <p:nvSpPr>
          <p:cNvPr id="23" name="s34-texto-2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24" name="s34-texto-2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36</a:t>
            </a:r>
            <a:endParaRPr lang="en-US" sz="745" dirty="0"/>
          </a:p>
        </p:txBody>
      </p:sp>
      <p:sp>
        <p:nvSpPr>
          <p:cNvPr id="25" name="s34-forma-24"/>
          <p:cNvSpPr/>
          <p:nvPr/>
        </p:nvSpPr>
        <p:spPr>
          <a:xfrm>
            <a:off x="0" y="0"/>
            <a:ext cx="11514339" cy="17139"/>
          </a:xfrm>
          <a:prstGeom prst="rect">
            <a:avLst/>
          </a:prstGeom>
          <a:solidFill>
            <a:srgbClr val="0033A0"/>
          </a:solidFill>
          <a:ln/>
        </p:spPr>
        <p:txBody>
          <a:bodyPr/>
          <a:lstStyle/>
          <a:p>
            <a:endParaRPr lang="es-MX"/>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5">
    <p:bg>
      <p:bgPr>
        <a:solidFill>
          <a:srgbClr val="EDE8DC"/>
        </a:solidFill>
        <a:effectLst/>
      </p:bgPr>
    </p:bg>
    <p:spTree>
      <p:nvGrpSpPr>
        <p:cNvPr id="1" name=""/>
        <p:cNvGrpSpPr/>
        <p:nvPr/>
      </p:nvGrpSpPr>
      <p:grpSpPr>
        <a:xfrm>
          <a:off x="0" y="0"/>
          <a:ext cx="0" cy="0"/>
          <a:chOff x="0" y="0"/>
          <a:chExt cx="0" cy="0"/>
        </a:xfrm>
      </p:grpSpPr>
      <p:sp>
        <p:nvSpPr>
          <p:cNvPr id="2" name="s35-forma-1"/>
          <p:cNvSpPr/>
          <p:nvPr/>
        </p:nvSpPr>
        <p:spPr>
          <a:xfrm>
            <a:off x="853390" y="331715"/>
            <a:ext cx="81411" cy="81411"/>
          </a:xfrm>
          <a:prstGeom prst="ellipse">
            <a:avLst/>
          </a:prstGeom>
          <a:solidFill>
            <a:srgbClr val="1B6A43"/>
          </a:solidFill>
          <a:ln/>
        </p:spPr>
        <p:txBody>
          <a:bodyPr/>
          <a:lstStyle/>
          <a:p>
            <a:endParaRPr lang="es-MX"/>
          </a:p>
        </p:txBody>
      </p:sp>
      <p:sp>
        <p:nvSpPr>
          <p:cNvPr id="3" name="s35-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2:00 · 15 min</a:t>
            </a:r>
            <a:endParaRPr lang="en-US" sz="807" dirty="0"/>
          </a:p>
        </p:txBody>
      </p:sp>
      <p:sp>
        <p:nvSpPr>
          <p:cNvPr id="5" name="s35-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3C</a:t>
            </a:r>
            <a:endParaRPr lang="en-US" sz="869" dirty="0"/>
          </a:p>
        </p:txBody>
      </p:sp>
      <p:sp>
        <p:nvSpPr>
          <p:cNvPr id="6" name="s35-forma-5"/>
          <p:cNvSpPr/>
          <p:nvPr/>
        </p:nvSpPr>
        <p:spPr>
          <a:xfrm>
            <a:off x="853390" y="3768306"/>
            <a:ext cx="722704" cy="22852"/>
          </a:xfrm>
          <a:prstGeom prst="rect">
            <a:avLst/>
          </a:prstGeom>
          <a:solidFill>
            <a:srgbClr val="0033A0"/>
          </a:solidFill>
          <a:ln/>
        </p:spPr>
        <p:txBody>
          <a:bodyPr/>
          <a:lstStyle/>
          <a:p>
            <a:endParaRPr lang="es-MX"/>
          </a:p>
        </p:txBody>
      </p:sp>
      <p:sp>
        <p:nvSpPr>
          <p:cNvPr id="7" name="s35-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Inspeccionar</a:t>
            </a:r>
            <a:endParaRPr lang="en-US" sz="4242" dirty="0"/>
          </a:p>
        </p:txBody>
      </p:sp>
      <p:sp>
        <p:nvSpPr>
          <p:cNvPr id="8" name="s35-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Contenedores, pruebas y auditoría por agente.</a:t>
            </a:r>
            <a:endParaRPr lang="en-US" sz="1676" dirty="0"/>
          </a:p>
        </p:txBody>
      </p:sp>
      <p:pic>
        <p:nvPicPr>
          <p:cNvPr id="9" name="s3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5-forma-9"/>
          <p:cNvSpPr/>
          <p:nvPr/>
        </p:nvSpPr>
        <p:spPr>
          <a:xfrm>
            <a:off x="1659380" y="6519865"/>
            <a:ext cx="2926878" cy="102835"/>
          </a:xfrm>
          <a:prstGeom prst="rect">
            <a:avLst/>
          </a:prstGeom>
          <a:ln/>
        </p:spPr>
        <p:txBody>
          <a:bodyPr/>
          <a:lstStyle/>
          <a:p>
            <a:endParaRPr lang="es-MX"/>
          </a:p>
        </p:txBody>
      </p:sp>
      <p:sp>
        <p:nvSpPr>
          <p:cNvPr id="11" name="s35-forma-10"/>
          <p:cNvSpPr/>
          <p:nvPr/>
        </p:nvSpPr>
        <p:spPr>
          <a:xfrm>
            <a:off x="1659380" y="6519865"/>
            <a:ext cx="5713" cy="102835"/>
          </a:xfrm>
          <a:prstGeom prst="rect">
            <a:avLst/>
          </a:prstGeom>
          <a:solidFill>
            <a:srgbClr val="C6BFAE"/>
          </a:solidFill>
          <a:ln/>
        </p:spPr>
        <p:txBody>
          <a:bodyPr/>
          <a:lstStyle/>
          <a:p>
            <a:endParaRPr lang="es-MX"/>
          </a:p>
        </p:txBody>
      </p:sp>
      <p:sp>
        <p:nvSpPr>
          <p:cNvPr id="12" name="s35-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36</a:t>
            </a:r>
            <a:endParaRPr lang="en-US" sz="745" dirty="0"/>
          </a:p>
        </p:txBody>
      </p:sp>
      <p:sp>
        <p:nvSpPr>
          <p:cNvPr id="14" name="s35-forma-13"/>
          <p:cNvSpPr/>
          <p:nvPr/>
        </p:nvSpPr>
        <p:spPr>
          <a:xfrm>
            <a:off x="0" y="0"/>
            <a:ext cx="11853017" cy="17139"/>
          </a:xfrm>
          <a:prstGeom prst="rect">
            <a:avLst/>
          </a:prstGeom>
          <a:solidFill>
            <a:srgbClr val="0033A0"/>
          </a:solidFill>
          <a:ln/>
        </p:spPr>
        <p:txBody>
          <a:bodyPr/>
          <a:lstStyle/>
          <a:p>
            <a:endParaRPr lang="es-MX"/>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6">
    <p:bg>
      <p:bgPr>
        <a:solidFill>
          <a:srgbClr val="EDE8DC"/>
        </a:solidFill>
        <a:effectLst/>
      </p:bgPr>
    </p:bg>
    <p:spTree>
      <p:nvGrpSpPr>
        <p:cNvPr id="1" name=""/>
        <p:cNvGrpSpPr/>
        <p:nvPr/>
      </p:nvGrpSpPr>
      <p:grpSpPr>
        <a:xfrm>
          <a:off x="0" y="0"/>
          <a:ext cx="0" cy="0"/>
          <a:chOff x="0" y="0"/>
          <a:chExt cx="0" cy="0"/>
        </a:xfrm>
      </p:grpSpPr>
      <p:sp>
        <p:nvSpPr>
          <p:cNvPr id="2" name="s36-forma-1"/>
          <p:cNvSpPr/>
          <p:nvPr/>
        </p:nvSpPr>
        <p:spPr>
          <a:xfrm>
            <a:off x="853390" y="331715"/>
            <a:ext cx="81411" cy="81411"/>
          </a:xfrm>
          <a:prstGeom prst="ellipse">
            <a:avLst/>
          </a:prstGeom>
          <a:solidFill>
            <a:srgbClr val="7C560C"/>
          </a:solidFill>
          <a:ln/>
        </p:spPr>
        <p:txBody>
          <a:bodyPr/>
          <a:lstStyle/>
          <a:p>
            <a:endParaRPr lang="es-MX"/>
          </a:p>
        </p:txBody>
      </p:sp>
      <p:sp>
        <p:nvSpPr>
          <p:cNvPr id="3" name="s36-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6-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6-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6-forma-5"/>
          <p:cNvSpPr/>
          <p:nvPr/>
        </p:nvSpPr>
        <p:spPr>
          <a:xfrm>
            <a:off x="853390" y="4059138"/>
            <a:ext cx="722704" cy="22852"/>
          </a:xfrm>
          <a:prstGeom prst="rect">
            <a:avLst/>
          </a:prstGeom>
          <a:solidFill>
            <a:srgbClr val="0033A0"/>
          </a:solidFill>
          <a:ln/>
        </p:spPr>
        <p:txBody>
          <a:bodyPr/>
          <a:lstStyle/>
          <a:p>
            <a:endParaRPr lang="es-MX"/>
          </a:p>
        </p:txBody>
      </p:sp>
      <p:sp>
        <p:nvSpPr>
          <p:cNvPr id="7" name="s36-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 y entrega</a:t>
            </a:r>
            <a:endParaRPr lang="en-US" sz="4242" dirty="0"/>
          </a:p>
        </p:txBody>
      </p:sp>
      <p:sp>
        <p:nvSpPr>
          <p:cNvPr id="8" name="s36-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docker-compose.yml, app/tests/ y notas_s3.md en un commit.</a:t>
            </a:r>
            <a:endParaRPr lang="en-US" sz="1676" dirty="0"/>
          </a:p>
        </p:txBody>
      </p:sp>
      <p:pic>
        <p:nvPicPr>
          <p:cNvPr id="9" name="s36-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6-forma-9"/>
          <p:cNvSpPr/>
          <p:nvPr/>
        </p:nvSpPr>
        <p:spPr>
          <a:xfrm>
            <a:off x="1659380" y="6519865"/>
            <a:ext cx="2926878" cy="102835"/>
          </a:xfrm>
          <a:prstGeom prst="rect">
            <a:avLst/>
          </a:prstGeom>
          <a:ln/>
        </p:spPr>
        <p:txBody>
          <a:bodyPr/>
          <a:lstStyle/>
          <a:p>
            <a:endParaRPr lang="es-MX"/>
          </a:p>
        </p:txBody>
      </p:sp>
      <p:sp>
        <p:nvSpPr>
          <p:cNvPr id="11" name="s36-forma-10"/>
          <p:cNvSpPr/>
          <p:nvPr/>
        </p:nvSpPr>
        <p:spPr>
          <a:xfrm>
            <a:off x="1659380" y="6519865"/>
            <a:ext cx="5713" cy="102835"/>
          </a:xfrm>
          <a:prstGeom prst="rect">
            <a:avLst/>
          </a:prstGeom>
          <a:solidFill>
            <a:srgbClr val="C6BFAE"/>
          </a:solidFill>
          <a:ln/>
        </p:spPr>
        <p:txBody>
          <a:bodyPr/>
          <a:lstStyle/>
          <a:p>
            <a:endParaRPr lang="es-MX"/>
          </a:p>
        </p:txBody>
      </p:sp>
      <p:sp>
        <p:nvSpPr>
          <p:cNvPr id="12" name="s36-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6-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36 / 36</a:t>
            </a:r>
            <a:endParaRPr lang="en-US" sz="745" dirty="0"/>
          </a:p>
        </p:txBody>
      </p:sp>
      <p:sp>
        <p:nvSpPr>
          <p:cNvPr id="14" name="s36-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1536</TotalTime>
  <Words>10898</Words>
  <Application>Microsoft Macintosh PowerPoint</Application>
  <PresentationFormat>Panorámica</PresentationFormat>
  <Paragraphs>1008</Paragraphs>
  <Slides>44</Slides>
  <Notes>44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44</vt:i4>
      </vt:variant>
    </vt:vector>
  </HeadingPairs>
  <TitlesOfParts>
    <vt:vector size="48" baseType="lpstr">
      <vt:lpstr>Arial</vt:lpstr>
      <vt:lpstr>Courier New</vt:lpstr>
      <vt:lpstr>Georgia</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3 · Sistemas multi-agente</dc:title>
  <dc:subject>PptxGenJS Presentation</dc:subject>
  <dc:creator>Tecnológico de Monterrey · Next-Gen Coding</dc:creator>
  <cp:lastModifiedBy>Ricardo Carlos Ivison Mata</cp:lastModifiedBy>
  <cp:revision>15</cp:revision>
  <dcterms:created xsi:type="dcterms:W3CDTF">2026-10-15T02:23:11Z</dcterms:created>
  <dcterms:modified xsi:type="dcterms:W3CDTF">2026-10-26T01:00:40Z</dcterms:modified>
</cp:coreProperties>
</file>