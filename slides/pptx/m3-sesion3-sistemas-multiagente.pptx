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Idea central: varios agentes se justifican cuando la tarea se divide en especialidades con contextos, herramientas o permisos distintos. Verifica que Docker Desktop corre y que los puertos 8000 y 8080 están libres.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falló en la tabla manual es justo lo que las pruebas automáticas de hoy deben atrapar.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0:00 revisión del entregable; 0:10 topologías en código; 0:35 qué arquitectura elijo, con ejercicio de clasificación; 0:50 roles, permisos y contratos; 1:00 descanso; 1:10 Lab 3A; 1:20 Lab 3B con HU-02; 1:50 Lab 3C inspeccionar; 2:15 cierre. Objetivo 4 del módulo; los agentes 4 y 5 en paralelo son donde se aplica. Verifiquen antes que Docker Desktop corre en las máquinas y que los puertos 8000 y 8080 están libres.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topologías usan la misma pieza de LangGraph, Command; la diferencia está en qué nodos la usan.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minutos. Empezar con un agente y buenas herramientas; dividir solo cuando los datos lo pidan. Cada agente relee contexto, así que el costo en tokens se multiplica. En la fábrica, el argumento principal es de permisos: quien escribe las pruebas no debe poder cambiar el código para que pasen, y quien despliega no debe tocar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minutos. Dibujar cada topología en el pizarrón. La fábrica usa la más controlable: un orquestador cuyo orden fija el código. Eso facilita depurar y auditar. En la sesión 4 aparece un supervisor, el triage, que sí decide con un modelo a quién delegar. Jerárquica y traspasos se mencionan como alternativas: un traspaso tendría sentido, por ejemplo, si el desarrollador pudiera pasarle el control directamente al automatizador. La carpeta salida/ funciona como una pizarra de solo lectura: cada agente deja ahí su artefacto y los siguientes lo leen.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Pasamos de flujos a sistemas con varios agentes. Primero, por qué varios: un solo agente con muchas herramientas e instrucciones elige peor y llena su contexto. La topología más común es el supervisor: un agente central que recibe la tarea, delega en especialistas y decide el siguiente paso con cada resultado. Los especialistas no se hablan entre sí. Ventaja: control y trazabilidad en un solo lugar. Riesgo: el supervisor es cuello de botella y punto único de falla, y su contexto crece con cada resultado. Pregunta: el grafo de LangGraph de la fábrica, ¿es un supervisor? Sí, uno determinista, escrito en código en lugar de un modelo que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Supervisor: la topología más común y la que recomendamos para empezar. Un agente central recibe la tarea, decide a quién delegar, recibe el resultado y decide el siguiente paso. Los agentes especialistas no se hablan entre sí. Ventaja: es fácil saber quién hizo qué y poner límites en un solo lugar. Riesgo: todo pasa por el supervisor, así que su contexto crece y es un punto único de falla. Matiz importante: el grafo de LangGraph de las sesiones 2 a 4 también es un supervisor, solo que determinista, escrito en código. En el ejercicio con el Agent SDK, el supervisor es un modelo que razona y delega en subagentes.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Command: un nodo puede actualizar el estado y decidir el siguiente nodo en el mismo return, sin arista condicional. Señalar la asimetría: el supervisor tiene Command; los especialistas, un add_edge fijo. Esa asimetría es la topología. Preguntar: ¿en qué se parece al flujo_s4.py? En que hay un centro que decide; la diferencia es que allí decide código determinista y aquí un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Cuando un supervisor tiene demasiados agentes a su cargo, se agrega un nivel: un director que habla con líderes, y cada líder con un equipo pequeño. Funciona como una organización: el director no necesita ver cada archivo, solo el resumen del líder. Eso mantiene los contextos pequeños. El precio es el teléfono descompuesto: cada nivel resume y puede perder un detalle importante, además de sumar latencia y costo. En la fábrica aparece sin diseñarla: nuestro flujo delega en Claude Code, que a su vez puede lanzar subagentes. Pregunta: ¿qué detalle podría perderse si el líder resume «la app está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Jerárquica: cuando un supervisor tiene demasiados agentes a su cargo, se agrega un nivel intermedio. El director habla con líderes, y cada líder con su equipo. Funciona como una organización: cada nivel solo ve lo que necesita, lo que mantiene los contextos pequeños. El precio es latencia, costo y teléfono descompuesto: cada nivel resume y puede perder detalle. En la fábrica aparece sin que la diseñemos: nuestro flujo delega en Claude Code, y Claude Code a su vez puede lanzar sus propios subagentes. Recomendación: no empiecen con una jerarquía; llegan a ella cuando un supervisor ya no alcanza.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salida, la sangría muestra los niveles: director, líder, miembros. Señalar que el líder borra el detalle y sube solo un resumen: así cada nivel mantiene su contexto pequeño, pero también es donde se pierde información. Dibujar el grafo con draw_mermaid(xray=True) para ver los subgrafos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 supervisor.py con red.py: misma pieza, distinta distribución del poder de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En los traspasos, o handoffs, no hay un centro. Hay un agente activo que conversa; cuando decide que otro debe seguir, llama a una herramienta de traspaso, como transferir_a_altas con un motivo, y el control pasa con toda la conversación. Es la topología típica de atención a clientes: recepción, ventas, soporte. Ventaja: cada agente tiene un prompt corto y no hay vueltas innecesarias al centro. Riesgo: el orden lo deciden los modelos, así que el control puede rebotar entre dos agentes. Pregunta: ¿cómo evitarían un rebote infinito entre altas y directorio? Con un límite de traspasos.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Traspasos, o handoffs: no hay supervisor. Hay un agente activo que atiende, y cuando decide que otro debe seguir, llama a una herramienta de traspaso, por ejemplo transferir_a con el agente y el motivo. El historial completo viaja con el control. Es la topología típica de atención a clientes: recepción, ventas, soporte. Ventaja: cada agente tiene un prompt corto. Riesgo: el orden lo deciden los modelos, así que puede haber rebotes, por ejemplo el diseñador regresa al analista y el analista al diseñador. En la fábrica las etapas son las mismas, pero preferimos que el grafo fije el orden para que sea predecible.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ejemplo es una recepción de RR. HH.: una pregunta de alta termina con el agente de altas y una de consulta con el de directorio. La herramienta de traspaso no hace nada por sí misma; su valor es que el modelo la elige, y el nodo la traduce en Command. Comparar con el supervisor: aquí no hay centro, el control salta de agente en agente. Por eso el límite MAX_TRASPASOS evita que dos agentes se pasen la conversación sin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La red, también llamada enjambre o swarm, quita toda estructura: cualquier agente puede pasarle el trabajo a cualquier otro. Es la más flexible porque el flujo surge de las decisiones de los agentes. También es la más difícil de predecir, depurar y detener: dos agentes pueden pasarse el trabajo sin fin. Los canales crecen rápido: con 4 agentes hay 6, con 10 hay 45. Sirve para exploración abierta o simulaciones; para la fábrica, con pasos conocidos, no la usamos. Pregunta: en la traza, ¿cuándo habría terminado sin el límite de turnos?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también llamada enjambre o swarm: todos los agentes pueden hablar con todos. Es la más flexible, porque el flujo emerge de las decisiones de los agentes. También es la más difícil de depurar, de predecir en costo y de detener: pueden aparecer ciclos donde dos agentes se pasan el trabajo sin fin. Los canales crecen rápido: con n agentes hay n por n menos uno entre dos; con 4 son 6, con 10 son 45. Para la fábrica no la usamos, porque conocemos los pasos. Es útil en exploración abierta o simulaciones. Si la usan, límite de turnos y de presupuesto obligatorios.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dos o tres veces: el recorrido cambia en cada ejecución. Eso es lo flexible y también lo difícil de depurar. Mostrar el contador de turnos al final. Ejercicio: subir MAX_TURNOS a 30 y ver cuánto cuesta; muchas veces los agentes no deciden terminar solos. Conclusión: misma pieza de código que el supervisor, distinta distribución del poder de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La pizarra, o blackboard, es una idea de los años ochenta, del sistema Hearsay-II de reconocimiento de voz. Los agentes no se mandan mensajes: leen y escriben en un espacio común. Un controlador mira qué hay en la pizarra y activa al agente cuya entrada ya está lista; por ejemplo, el diseñador cuando aparecen los criterios. Ventaja: los agentes están desacoplados; para agregar uno nuevo solo se dice qué lee y qué escribe. Riesgo: dos agentes pueden escribir el mismo campo; hay que definir dueños. En la fábrica ya existe: el estado de LangGraph y la carpeta salida/HU-xx son pizarras. Pregunta: ¿qué agente escribe cada archivo de salida/HU-xx?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Pizarra, o blackboard: los agentes no se mandan mensajes; leen y escriben en un espacio compartido. Cada uno actúa cuando aparece algo que le toca, por ejemplo el diseñador cuando ya hay criterios. Ventaja: los agentes están desacoplados; puedes agregar uno nuevo sin cambiar a los demás. Riesgo: dos agentes pueden escribir lo mismo y pisarse, así que hay que definir quién escribe cada campo. En la fábrica la usamos sin nombrarla: el estado de LangGraph es la pizarra, con reductores para los campos que escriben varios nodos, y la carpeta salida/HU-xx es una pizarra en disco. Esto también es seguridad: el hook confinar_escritura decide quién escribe dónde.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archivo, la tabla está desordenada a propósito: el orden de ejecución sale de las dependencias, no del orden en el código. La salida muestra en cada vuelta qué hay en la pizarra y quién puede trabajar. Ejercicio: agregar un agente «revisor» que lee casos y endpoint y escribe «revision»; basta una línea en la tabla. Enlace con seguridad: que cada agente escriba solo su campo es lo mismo que confinar_escritura hace con carpetas.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4 del módulo. Se califica la justificación, no la etiqueta.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4 del módulo. Después de ver cada topología por separado, esta diapositiva las junta en una decisión de tres preguntas, en orden. Primera: si los pasos se conocen de antemano, basta un workflow con los patrones de flujo de la sesión 2, donde decide el código. Segunda: casi siempre un solo agente con buenas herramientas alcanza; varios agentes se justifican cuando las partes necesitan contextos, herramientas o permisos que no deben mezclarse, o cuando hay trabajo en paralelo. Tercera: quién debe decidir el siguiente paso, y esa respuesta elige la topología. Ejercicio de clase, en parejas: clasificar cuatro casos. Dudas de empleados sobre políticas: un agente con una herramienta de búsqueda. Procesar facturas: un workflow encadenado con compuertas. Mesa de ayuda de Recursos Humanos con altas, vacaciones y nómina: traspasos o supervisor, según quién deba controlar el orden. La fábrica: un workflow orquestado por código, que es un supervisor determinista, con agentes dentro de algunos nodos. Se califica la justificación, no la etiqueta.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razón principal para tener varios agentes en la fábrica es separar permisos.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minutos. La razón principal para tener varios agentes en la fábrica es separar permisos: el automatizador escribe solo en tests/, así que no puede hacer pasar una prueba cambiando la aplicación; el agente de despliegue solo toca archivos de Docker. Esos límites se aplican con hooks PreToolUse en seguridad/hooks.py, que niegan la escritura antes de que ocurra. El contrato entre agentes son los artefactos: el automatizador recibe casos_prueba.json y debe dejar un test por cada id de caso; la verificación lo comprueba. Si los agentes no compartieran disco, los estándares serían MCP para herramientas y A2A para comunicar agentes de distintos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con mcp_cliente.py y con Claude Code (claude mcp add). Al terminar, claude mcp remove directorio.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Model Context Protocol, es un estándar abierto para conectar agentes con herramientas y datos. Sin él, cada agente escribe sus propios esquemas y conectores: con M agentes y N sistemas son M por N integraciones. Con MCP, cada sistema publica un servidor una vez y cualquier cliente lo usa. El servidor publica herramientas, recursos y prompts; en clase usamos solo herramientas. El cliente hace dos cosas: list_tools para descubrir qué hay, con su descripción y esquema, y call_tool para ejecutarla. Lo importante para el curso: MCP no cambia el bucle del agente, cambia de dónde salen las herramientas. A2A, Agent2Agent, es el estándar hermano para que un agente le delegue una tarea a otro agente de otro sistema; aquí solo lo mencionamos. Puente a la sesión 4: la descripción de la herramienta entra al contexto del modelo, así que un servidor MCP de terceros es código y texto que no escribimos. Es la cadena de suministro de ASI04: revisar, fijar versiones y publicar lo mínimo, de solo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Diez minutos. Primero ejecutar mcp_cliente.py: la primera línea dice qué herramientas descubrió, y en la pregunta sobre EMP-0099 el servidor responde con un error que regresa al modelo con is_error, igual que en react.py. Después, con el .venv activado, registrar el mismo servidor en Claude Code con claude mcp add, revisar claude mcp list, que debe decir Connected, abrir claude y preguntar quién es el empleado activo más antiguo de Tecnología: Claude Code pide permiso para usar la herramienta del servidor directorio. Señalar que el servidor no cambió: dos clientes distintos, cero líneas de integración. Al terminar, claude mcp remove directorio. El registro es local, no se guarda en el repo, para que los agentes de la fábrica no lo carguen.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Quédate en la sala los primeros 2 minutos: ahí llegan las dudas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¿por qué el automatizador puede trabajar al mismo tiempo que el despliegue?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flujo de la sesión 2 se le agregan dos agentes que trabajan al mismo tiempo. Cuando la verificación aprueba la app, la función de ruta devuelve una lista con dos nodos, y LangGraph los ejecuta en paralelo. El automatizador puede trabajar sin la app corriendo porque solo necesita los casos de prueba y los data-testid de las convenciones. Cada rama termina en una verificación sin LLM: el despliegue comprueba que responden la API, el front-end y el proxy; las pruebas, que se recolectan y que cada caso tiene su test. El nodo listo espera a ambas ramas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Aprobar el plan solo si extiende el código de HU-01 sin romperlo.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3A: leer agentes/despliegue.py y agentes/automatizador.py, sus listas ESCRITURA y PROGRAMAS, y la función despues_de_verificar de flujo_s3. Pregunta: ¿por qué el automatizador puede trabajar al mismo tiempo que el despliegue? Porque solo necesita los casos y los data-testid. 3B: aprobar el plan solo si dice que extiende el código de HU-01 sin romperlo. 3C: comprobar contenedores, correr las pruebas de API y las E2E viendo el navegador, y comparar con la tabla manual. Errores frecuentes: Docker cerrado, puerto ocupado, 502 por nginx mal configurado (el agente 4 lo corrige), falta el navegador de Playwright.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Comparar las pruebas con la tabla manual de la sesión 2 y buscar en auditoria.jsonl un intento fuera de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que conectan: ¿qué topología es tu fábrica? ¿Qué denegación encontraste en la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1-forma-1"/>
          <p:cNvSpPr/>
          <p:nvPr/>
        </p:nvSpPr>
        <p:spPr>
          <a:xfrm>
            <a:off x="853390" y="331715"/>
            <a:ext cx="81411" cy="81411"/>
          </a:xfrm>
          <a:prstGeom prst="ellipse">
            <a:avLst/>
          </a:prstGeom>
          <a:solidFill>
            <a:srgbClr val="E8ECF5"/>
          </a:solidFill>
          <a:ln/>
        </p:spPr>
      </p:sp>
      <p:sp>
        <p:nvSpPr>
          <p:cNvPr id="3" name="s1-texto-2"/>
          <p:cNvSpPr txBox="1"/>
          <p:nvPr/>
        </p:nvSpPr>
        <p:spPr>
          <a:xfrm>
            <a:off x="1007018" y="315290"/>
            <a:ext cx="774478"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E8ECF5"/>
                </a:solidFill>
                <a:latin typeface="Courier New" pitchFamily="34" charset="0"/>
                <a:ea typeface="Courier New" pitchFamily="34" charset="-122"/>
                <a:cs typeface="Courier New" pitchFamily="34" charset="-120"/>
              </a:rPr>
              <a:t>INTRODUCE</a:t>
            </a:r>
            <a:endParaRPr lang="en-US" sz="807" dirty="0"/>
          </a:p>
        </p:txBody>
      </p:sp>
      <p:sp>
        <p:nvSpPr>
          <p:cNvPr id="4" name="s1-texto-3"/>
          <p:cNvSpPr txBox="1"/>
          <p:nvPr/>
        </p:nvSpPr>
        <p:spPr>
          <a:xfrm>
            <a:off x="10262105" y="315290"/>
            <a:ext cx="1140772"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96A2B8"/>
                </a:solidFill>
                <a:latin typeface="Courier New" pitchFamily="34" charset="0"/>
                <a:ea typeface="Courier New" pitchFamily="34" charset="-122"/>
                <a:cs typeface="Courier New" pitchFamily="34" charset="-120"/>
              </a:rPr>
              <a:t>0:00 · Apertura</a:t>
            </a:r>
            <a:endParaRPr lang="en-US" sz="807" dirty="0"/>
          </a:p>
        </p:txBody>
      </p:sp>
      <p:sp>
        <p:nvSpPr>
          <p:cNvPr id="5" name="s1-texto-4"/>
          <p:cNvSpPr txBox="1"/>
          <p:nvPr/>
        </p:nvSpPr>
        <p:spPr>
          <a:xfrm>
            <a:off x="853390" y="2142313"/>
            <a:ext cx="7204103" cy="217097"/>
          </a:xfrm>
          <a:prstGeom prst="rect">
            <a:avLst/>
          </a:prstGeom>
          <a:noFill/>
          <a:ln/>
        </p:spPr>
        <p:txBody>
          <a:bodyPr wrap="none" lIns="0" tIns="0" rIns="0" bIns="0" rtlCol="0" anchor="t"/>
          <a:lstStyle/>
          <a:p>
            <a:pPr algn="l" indent="0" marL="0">
              <a:lnSpc>
                <a:spcPts val="2483"/>
              </a:lnSpc>
              <a:buNone/>
            </a:pPr>
            <a:r>
              <a:rPr lang="en-US" sz="1552" spc="16" kern="0" dirty="0">
                <a:solidFill>
                  <a:srgbClr val="DDE4F2"/>
                </a:solidFill>
                <a:latin typeface="Arial" pitchFamily="34" charset="0"/>
                <a:ea typeface="Arial" pitchFamily="34" charset="-122"/>
                <a:cs typeface="Arial" pitchFamily="34" charset="-120"/>
              </a:rPr>
              <a:t>Certificado</a:t>
            </a:r>
            <a:endParaRPr lang="en-US" sz="1552" dirty="0"/>
          </a:p>
        </p:txBody>
      </p:sp>
      <p:sp>
        <p:nvSpPr>
          <p:cNvPr id="6" name="s1-forma-5"/>
          <p:cNvSpPr/>
          <p:nvPr/>
        </p:nvSpPr>
        <p:spPr>
          <a:xfrm>
            <a:off x="853390" y="3410525"/>
            <a:ext cx="446691" cy="17139"/>
          </a:xfrm>
          <a:prstGeom prst="rect">
            <a:avLst/>
          </a:prstGeom>
          <a:solidFill>
            <a:srgbClr val="FFFFFF"/>
          </a:solidFill>
          <a:ln/>
        </p:spPr>
      </p:sp>
      <p:sp>
        <p:nvSpPr>
          <p:cNvPr id="7" name="s1-texto-6"/>
          <p:cNvSpPr txBox="1"/>
          <p:nvPr/>
        </p:nvSpPr>
        <p:spPr>
          <a:xfrm>
            <a:off x="853390" y="2463584"/>
            <a:ext cx="6197033" cy="743413"/>
          </a:xfrm>
          <a:prstGeom prst="rect">
            <a:avLst/>
          </a:prstGeom>
          <a:noFill/>
          <a:ln/>
        </p:spPr>
        <p:txBody>
          <a:bodyPr wrap="square" lIns="0" tIns="0" rIns="0" bIns="0" rtlCol="0" anchor="t"/>
          <a:lstStyle/>
          <a:p>
            <a:pPr algn="l" indent="0" marL="0">
              <a:lnSpc>
                <a:spcPts val="2975"/>
              </a:lnSpc>
              <a:buNone/>
            </a:pPr>
            <a:r>
              <a:rPr lang="en-US" sz="2587" b="1" spc="-52" kern="0" dirty="0">
                <a:solidFill>
                  <a:srgbClr val="FFFFFF"/>
                </a:solidFill>
                <a:latin typeface="Arial" pitchFamily="34" charset="0"/>
                <a:ea typeface="Arial" pitchFamily="34" charset="-122"/>
                <a:cs typeface="Arial" pitchFamily="34" charset="-120"/>
              </a:rPr>
              <a:t>Next-Gen Coding: Desarrollo de Software con IA Generativa (Virtual)</a:t>
            </a:r>
            <a:endParaRPr lang="en-US" sz="2587" dirty="0"/>
          </a:p>
        </p:txBody>
      </p:sp>
      <p:sp>
        <p:nvSpPr>
          <p:cNvPr id="8" name="s1-texto-7"/>
          <p:cNvSpPr txBox="1"/>
          <p:nvPr/>
        </p:nvSpPr>
        <p:spPr>
          <a:xfrm>
            <a:off x="853390" y="3611554"/>
            <a:ext cx="11114010" cy="331358"/>
          </a:xfrm>
          <a:prstGeom prst="rect">
            <a:avLst/>
          </a:prstGeom>
          <a:noFill/>
          <a:ln/>
        </p:spPr>
        <p:txBody>
          <a:bodyPr wrap="none" lIns="0" tIns="0" rIns="0" bIns="0" rtlCol="0" anchor="t"/>
          <a:lstStyle/>
          <a:p>
            <a:pPr algn="l" indent="0" marL="0">
              <a:lnSpc>
                <a:spcPts val="2669"/>
              </a:lnSpc>
              <a:buNone/>
            </a:pPr>
            <a:r>
              <a:rPr lang="en-US" sz="2225" b="1" spc="-33" kern="0" dirty="0">
                <a:solidFill>
                  <a:srgbClr val="FFFFFF"/>
                </a:solidFill>
                <a:latin typeface="Georgia" pitchFamily="34" charset="0"/>
                <a:ea typeface="Georgia" pitchFamily="34" charset="-122"/>
                <a:cs typeface="Georgia" pitchFamily="34" charset="-120"/>
              </a:rPr>
              <a:t>Sistemas multi-agente</a:t>
            </a:r>
            <a:endParaRPr lang="en-US" sz="2225" dirty="0"/>
          </a:p>
        </p:txBody>
      </p:sp>
      <p:sp>
        <p:nvSpPr>
          <p:cNvPr id="9" name="s1-texto-8"/>
          <p:cNvSpPr txBox="1"/>
          <p:nvPr/>
        </p:nvSpPr>
        <p:spPr>
          <a:xfrm>
            <a:off x="853390" y="4022806"/>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7FA8F0"/>
                </a:solidFill>
                <a:latin typeface="Courier New" pitchFamily="34" charset="0"/>
                <a:ea typeface="Courier New" pitchFamily="34" charset="-122"/>
                <a:cs typeface="Courier New" pitchFamily="34" charset="-120"/>
              </a:rPr>
              <a:t>MÓDULO 3 · CONSTRUCCIÓN DE SISTEMAS AGÉNTICOS</a:t>
            </a:r>
            <a:endParaRPr lang="en-US" sz="869" dirty="0"/>
          </a:p>
        </p:txBody>
      </p:sp>
      <p:sp>
        <p:nvSpPr>
          <p:cNvPr id="10" name="s1-texto-9"/>
          <p:cNvSpPr txBox="1"/>
          <p:nvPr/>
        </p:nvSpPr>
        <p:spPr>
          <a:xfrm>
            <a:off x="853390" y="4300961"/>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96A2B8"/>
                </a:solidFill>
                <a:latin typeface="Arial" pitchFamily="34" charset="0"/>
                <a:ea typeface="Arial" pitchFamily="34" charset="-122"/>
                <a:cs typeface="Arial" pitchFamily="34" charset="-120"/>
              </a:rPr>
              <a:t>Sesión 3 · 2 h 30 min · Nivel profesional</a:t>
            </a:r>
            <a:endParaRPr lang="en-US" sz="1676" dirty="0"/>
          </a:p>
        </p:txBody>
      </p:sp>
      <p:sp>
        <p:nvSpPr>
          <p:cNvPr id="11" name="s1-texto-10"/>
          <p:cNvSpPr txBox="1"/>
          <p:nvPr/>
        </p:nvSpPr>
        <p:spPr>
          <a:xfrm>
            <a:off x="853390" y="4609646"/>
            <a:ext cx="5761958" cy="177105"/>
          </a:xfrm>
          <a:prstGeom prst="rect">
            <a:avLst/>
          </a:prstGeom>
          <a:noFill/>
          <a:ln/>
        </p:spPr>
        <p:txBody>
          <a:bodyPr wrap="none" lIns="0" tIns="0" rIns="0" bIns="0" rtlCol="0" anchor="t"/>
          <a:lstStyle/>
          <a:p>
            <a:pPr algn="l" indent="0" marL="0">
              <a:lnSpc>
                <a:spcPts val="1987"/>
              </a:lnSpc>
              <a:buNone/>
            </a:pPr>
            <a:r>
              <a:rPr lang="en-US" sz="1242" dirty="0">
                <a:solidFill>
                  <a:srgbClr val="96A2B8"/>
                </a:solidFill>
                <a:latin typeface="Arial" pitchFamily="34" charset="0"/>
                <a:ea typeface="Arial" pitchFamily="34" charset="-122"/>
                <a:cs typeface="Arial" pitchFamily="34" charset="-120"/>
              </a:rPr>
              <a:t>Dividir el trabajo solo cuando las especialidades lo justifican.</a:t>
            </a:r>
            <a:endParaRPr lang="en-US" sz="1242" dirty="0"/>
          </a:p>
        </p:txBody>
      </p:sp>
      <p:pic>
        <p:nvPicPr>
          <p:cNvPr id="12" name="s1-logo-11" descr="preencoded.png">    </p:cNvPr>
          <p:cNvPicPr>
            <a:picLocks noChangeAspect="1"/>
          </p:cNvPicPr>
          <p:nvPr/>
        </p:nvPicPr>
        <p:blipFill>
          <a:blip r:embed="rId2"/>
          <a:stretch>
            <a:fillRect/>
          </a:stretch>
        </p:blipFill>
        <p:spPr>
          <a:xfrm>
            <a:off x="853390" y="6465055"/>
            <a:ext cx="687800" cy="212455"/>
          </a:xfrm>
          <a:prstGeom prst="rect">
            <a:avLst/>
          </a:prstGeom>
        </p:spPr>
      </p:pic>
      <p:sp>
        <p:nvSpPr>
          <p:cNvPr id="13" name="s1-forma-12"/>
          <p:cNvSpPr/>
          <p:nvPr/>
        </p:nvSpPr>
        <p:spPr>
          <a:xfrm>
            <a:off x="1659380" y="6519865"/>
            <a:ext cx="2926878" cy="102835"/>
          </a:xfrm>
          <a:prstGeom prst="rect">
            <a:avLst/>
          </a:prstGeom>
          <a:ln/>
        </p:spPr>
      </p:sp>
      <p:sp>
        <p:nvSpPr>
          <p:cNvPr id="14" name="s1-forma-13"/>
          <p:cNvSpPr/>
          <p:nvPr/>
        </p:nvSpPr>
        <p:spPr>
          <a:xfrm>
            <a:off x="1659380" y="6519865"/>
            <a:ext cx="5713" cy="102835"/>
          </a:xfrm>
          <a:prstGeom prst="rect">
            <a:avLst/>
          </a:prstGeom>
          <a:solidFill>
            <a:srgbClr val="2A3550"/>
          </a:solidFill>
          <a:ln/>
        </p:spPr>
      </p:sp>
      <p:sp>
        <p:nvSpPr>
          <p:cNvPr id="15" name="s1-texto-14"/>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96A2B8"/>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6" name="s1-texto-15"/>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96A2B8"/>
                </a:solidFill>
                <a:latin typeface="Courier New" pitchFamily="34" charset="0"/>
                <a:ea typeface="Courier New" pitchFamily="34" charset="-122"/>
                <a:cs typeface="Courier New" pitchFamily="34" charset="-120"/>
              </a:rPr>
              <a:t>1 / 36</a:t>
            </a:r>
            <a:endParaRPr lang="en-US" sz="745" dirty="0"/>
          </a:p>
        </p:txBody>
      </p:sp>
      <p:sp>
        <p:nvSpPr>
          <p:cNvPr id="17" name="s1-forma-16"/>
          <p:cNvSpPr/>
          <p:nvPr/>
        </p:nvSpPr>
        <p:spPr>
          <a:xfrm>
            <a:off x="0" y="0"/>
            <a:ext cx="338589" cy="17139"/>
          </a:xfrm>
          <a:prstGeom prst="rect">
            <a:avLst/>
          </a:prstGeom>
          <a:solidFill>
            <a:srgbClr val="7FA8F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8DC"/>
        </a:solidFill>
      </p:bgPr>
    </p:bg>
    <p:spTree>
      <p:nvGrpSpPr>
        <p:cNvPr id="1" name=""/>
        <p:cNvGrpSpPr/>
        <p:nvPr/>
      </p:nvGrpSpPr>
      <p:grpSpPr>
        <a:xfrm>
          <a:off x="0" y="0"/>
          <a:ext cx="0" cy="0"/>
          <a:chOff x="0" y="0"/>
          <a:chExt cx="0" cy="0"/>
        </a:xfrm>
      </p:grpSpPr>
      <p:sp>
        <p:nvSpPr>
          <p:cNvPr id="2" name="s2-forma-1"/>
          <p:cNvSpPr/>
          <p:nvPr/>
        </p:nvSpPr>
        <p:spPr>
          <a:xfrm>
            <a:off x="853390" y="331715"/>
            <a:ext cx="81411" cy="81411"/>
          </a:xfrm>
          <a:prstGeom prst="ellipse">
            <a:avLst/>
          </a:prstGeom>
          <a:solidFill>
            <a:srgbClr val="7C560C"/>
          </a:solidFill>
          <a:ln/>
        </p:spPr>
      </p:sp>
      <p:sp>
        <p:nvSpPr>
          <p:cNvPr id="3" name="s2-texto-2"/>
          <p:cNvSpPr txBox="1"/>
          <p:nvPr/>
        </p:nvSpPr>
        <p:spPr>
          <a:xfrm>
            <a:off x="1007018" y="315290"/>
            <a:ext cx="612548"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2-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5" name="s2-texto-4"/>
          <p:cNvSpPr txBox="1"/>
          <p:nvPr/>
        </p:nvSpPr>
        <p:spPr>
          <a:xfrm>
            <a:off x="853390" y="267987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BLOQUE 3.0</a:t>
            </a:r>
            <a:endParaRPr lang="en-US" sz="869" dirty="0"/>
          </a:p>
        </p:txBody>
      </p:sp>
      <p:sp>
        <p:nvSpPr>
          <p:cNvPr id="6" name="s2-forma-5"/>
          <p:cNvSpPr/>
          <p:nvPr/>
        </p:nvSpPr>
        <p:spPr>
          <a:xfrm>
            <a:off x="853390" y="3768306"/>
            <a:ext cx="722704" cy="22852"/>
          </a:xfrm>
          <a:prstGeom prst="rect">
            <a:avLst/>
          </a:prstGeom>
          <a:solidFill>
            <a:srgbClr val="0033A0"/>
          </a:solidFill>
          <a:ln/>
        </p:spPr>
      </p:sp>
      <p:sp>
        <p:nvSpPr>
          <p:cNvPr id="7" name="s2-texto-6"/>
          <p:cNvSpPr txBox="1"/>
          <p:nvPr/>
        </p:nvSpPr>
        <p:spPr>
          <a:xfrm>
            <a:off x="853390" y="2960889"/>
            <a:ext cx="7149222" cy="634151"/>
          </a:xfrm>
          <a:prstGeom prst="rect">
            <a:avLst/>
          </a:prstGeom>
          <a:noFill/>
          <a:ln/>
        </p:spPr>
        <p:txBody>
          <a:bodyPr wrap="non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Revisión del entregable 2</a:t>
            </a:r>
            <a:endParaRPr lang="en-US" sz="4242" dirty="0"/>
          </a:p>
        </p:txBody>
      </p:sp>
      <p:sp>
        <p:nvSpPr>
          <p:cNvPr id="8" name="s2-texto-7"/>
          <p:cNvSpPr txBox="1"/>
          <p:nvPr/>
        </p:nvSpPr>
        <p:spPr>
          <a:xfrm>
            <a:off x="853390" y="3969960"/>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La tabla de criterios cumplidos: ¿qué falló y por qué?</a:t>
            </a:r>
            <a:endParaRPr lang="en-US" sz="1676" dirty="0"/>
          </a:p>
        </p:txBody>
      </p:sp>
      <p:pic>
        <p:nvPicPr>
          <p:cNvPr id="9" name="s2-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2-forma-9"/>
          <p:cNvSpPr/>
          <p:nvPr/>
        </p:nvSpPr>
        <p:spPr>
          <a:xfrm>
            <a:off x="1659380" y="6519865"/>
            <a:ext cx="2926878" cy="102835"/>
          </a:xfrm>
          <a:prstGeom prst="rect">
            <a:avLst/>
          </a:prstGeom>
          <a:ln/>
        </p:spPr>
      </p:sp>
      <p:sp>
        <p:nvSpPr>
          <p:cNvPr id="11" name="s2-forma-10"/>
          <p:cNvSpPr/>
          <p:nvPr/>
        </p:nvSpPr>
        <p:spPr>
          <a:xfrm>
            <a:off x="1659380" y="6519865"/>
            <a:ext cx="5713" cy="102835"/>
          </a:xfrm>
          <a:prstGeom prst="rect">
            <a:avLst/>
          </a:prstGeom>
          <a:solidFill>
            <a:srgbClr val="C6BFAE"/>
          </a:solidFill>
          <a:ln/>
        </p:spPr>
      </p:sp>
      <p:sp>
        <p:nvSpPr>
          <p:cNvPr id="12" name="s2-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2-texto-12"/>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 / 36</a:t>
            </a:r>
            <a:endParaRPr lang="en-US" sz="745" dirty="0"/>
          </a:p>
        </p:txBody>
      </p:sp>
      <p:sp>
        <p:nvSpPr>
          <p:cNvPr id="14" name="s2-forma-13"/>
          <p:cNvSpPr/>
          <p:nvPr/>
        </p:nvSpPr>
        <p:spPr>
          <a:xfrm>
            <a:off x="0" y="0"/>
            <a:ext cx="677267" cy="17139"/>
          </a:xfrm>
          <a:prstGeom prst="rect">
            <a:avLst/>
          </a:prstGeom>
          <a:solidFill>
            <a:srgbClr val="0033A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8DC"/>
        </a:solidFill>
      </p:bgPr>
    </p:bg>
    <p:spTree>
      <p:nvGrpSpPr>
        <p:cNvPr id="1" name=""/>
        <p:cNvGrpSpPr/>
        <p:nvPr/>
      </p:nvGrpSpPr>
      <p:grpSpPr>
        <a:xfrm>
          <a:off x="0" y="0"/>
          <a:ext cx="0" cy="0"/>
          <a:chOff x="0" y="0"/>
          <a:chExt cx="0" cy="0"/>
        </a:xfrm>
      </p:grpSpPr>
      <p:sp>
        <p:nvSpPr>
          <p:cNvPr id="2" name="s3-forma-1"/>
          <p:cNvSpPr/>
          <p:nvPr/>
        </p:nvSpPr>
        <p:spPr>
          <a:xfrm>
            <a:off x="853390" y="520961"/>
            <a:ext cx="10484915" cy="5713"/>
          </a:xfrm>
          <a:prstGeom prst="rect">
            <a:avLst/>
          </a:prstGeom>
          <a:solidFill>
            <a:srgbClr val="C6BFAE"/>
          </a:solidFill>
          <a:ln/>
        </p:spPr>
      </p:sp>
      <p:sp>
        <p:nvSpPr>
          <p:cNvPr id="3" name="s3-forma-2"/>
          <p:cNvSpPr/>
          <p:nvPr/>
        </p:nvSpPr>
        <p:spPr>
          <a:xfrm>
            <a:off x="853390" y="331715"/>
            <a:ext cx="81411" cy="81411"/>
          </a:xfrm>
          <a:prstGeom prst="ellipse">
            <a:avLst/>
          </a:prstGeom>
          <a:solidFill>
            <a:srgbClr val="7C560C"/>
          </a:solidFill>
          <a:ln/>
        </p:spPr>
      </p:sp>
      <p:sp>
        <p:nvSpPr>
          <p:cNvPr id="4" name="s3-texto-3"/>
          <p:cNvSpPr txBox="1"/>
          <p:nvPr/>
        </p:nvSpPr>
        <p:spPr>
          <a:xfrm>
            <a:off x="1007018" y="315290"/>
            <a:ext cx="612548"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5" name="s3-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3-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SESIÓN 3 · OBJETIVO</a:t>
            </a:r>
            <a:endParaRPr lang="en-US" sz="900" dirty="0"/>
          </a:p>
        </p:txBody>
      </p:sp>
      <p:sp>
        <p:nvSpPr>
          <p:cNvPr id="7" name="s3-texto-6"/>
          <p:cNvSpPr txBox="1"/>
          <p:nvPr/>
        </p:nvSpPr>
        <p:spPr>
          <a:xfrm>
            <a:off x="1342572" y="1462546"/>
            <a:ext cx="10076945" cy="279941"/>
          </a:xfrm>
          <a:prstGeom prst="rect">
            <a:avLst/>
          </a:prstGeom>
          <a:noFill/>
          <a:ln/>
        </p:spPr>
        <p:txBody>
          <a:bodyPr wrap="none" lIns="0" tIns="0" rIns="0" bIns="0" rtlCol="0" anchor="t"/>
          <a:lstStyle/>
          <a:p>
            <a:pPr algn="l" indent="0" marL="0">
              <a:lnSpc>
                <a:spcPts val="2173"/>
              </a:lnSpc>
              <a:buNone/>
            </a:pPr>
            <a:r>
              <a:rPr lang="en-US" sz="1889" b="1" spc="-19" kern="0" dirty="0">
                <a:solidFill>
                  <a:srgbClr val="16181D"/>
                </a:solidFill>
                <a:latin typeface="Georgia" pitchFamily="34" charset="0"/>
                <a:ea typeface="Georgia" pitchFamily="34" charset="-122"/>
                <a:cs typeface="Georgia" pitchFamily="34" charset="-120"/>
              </a:rPr>
              <a:t>Entender las arquitecturas multi-agente y cuándo conviene cada una</a:t>
            </a:r>
            <a:endParaRPr lang="en-US" sz="1889" dirty="0"/>
          </a:p>
        </p:txBody>
      </p:sp>
      <p:sp>
        <p:nvSpPr>
          <p:cNvPr id="8" name="s3-forma-7"/>
          <p:cNvSpPr/>
          <p:nvPr/>
        </p:nvSpPr>
        <p:spPr>
          <a:xfrm>
            <a:off x="1342572" y="2018410"/>
            <a:ext cx="3035516" cy="2217386"/>
          </a:xfrm>
          <a:prstGeom prst="rect">
            <a:avLst/>
          </a:prstGeom>
          <a:solidFill>
            <a:srgbClr val="E2D3C2"/>
          </a:solidFill>
          <a:ln/>
        </p:spPr>
      </p:sp>
      <p:sp>
        <p:nvSpPr>
          <p:cNvPr id="9" name="s3-texto-8"/>
          <p:cNvSpPr txBox="1"/>
          <p:nvPr/>
        </p:nvSpPr>
        <p:spPr>
          <a:xfrm>
            <a:off x="1571095" y="2246933"/>
            <a:ext cx="2733178"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APRENDES</a:t>
            </a:r>
            <a:endParaRPr lang="en-US" sz="900" dirty="0"/>
          </a:p>
        </p:txBody>
      </p:sp>
      <p:sp>
        <p:nvSpPr>
          <p:cNvPr id="10" name="s3-texto-9"/>
          <p:cNvSpPr txBox="1"/>
          <p:nvPr/>
        </p:nvSpPr>
        <p:spPr>
          <a:xfrm>
            <a:off x="1571095" y="2492595"/>
            <a:ext cx="2733178" cy="177105"/>
          </a:xfrm>
          <a:prstGeom prst="rect">
            <a:avLst/>
          </a:prstGeom>
          <a:noFill/>
          <a:ln/>
        </p:spPr>
        <p:txBody>
          <a:bodyPr wrap="non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Cinco topologías en código</a:t>
            </a:r>
            <a:endParaRPr lang="en-US" sz="1260" dirty="0"/>
          </a:p>
        </p:txBody>
      </p:sp>
      <p:sp>
        <p:nvSpPr>
          <p:cNvPr id="11" name="s3-texto-10"/>
          <p:cNvSpPr txBox="1"/>
          <p:nvPr/>
        </p:nvSpPr>
        <p:spPr>
          <a:xfrm>
            <a:off x="1571095" y="2807886"/>
            <a:ext cx="2733178"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Cuándo conviene un agente, varios o ninguno</a:t>
            </a:r>
            <a:endParaRPr lang="en-US" sz="1260" dirty="0"/>
          </a:p>
        </p:txBody>
      </p:sp>
      <p:sp>
        <p:nvSpPr>
          <p:cNvPr id="12" name="s3-texto-11"/>
          <p:cNvSpPr txBox="1"/>
          <p:nvPr/>
        </p:nvSpPr>
        <p:spPr>
          <a:xfrm>
            <a:off x="1571095" y="3347057"/>
            <a:ext cx="2733178"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Roles, permisos y contratos entre agentes</a:t>
            </a:r>
            <a:endParaRPr lang="en-US" sz="1260" dirty="0"/>
          </a:p>
        </p:txBody>
      </p:sp>
      <p:sp>
        <p:nvSpPr>
          <p:cNvPr id="13" name="s3-forma-12"/>
          <p:cNvSpPr/>
          <p:nvPr/>
        </p:nvSpPr>
        <p:spPr>
          <a:xfrm>
            <a:off x="4560906" y="2018410"/>
            <a:ext cx="3046942" cy="2217386"/>
          </a:xfrm>
          <a:prstGeom prst="rect">
            <a:avLst/>
          </a:prstGeom>
          <a:solidFill>
            <a:srgbClr val="E3DCCB"/>
          </a:solidFill>
          <a:ln w="5713">
            <a:solidFill>
              <a:srgbClr val="C6BFAE"/>
            </a:solidFill>
            <a:prstDash val="solid"/>
          </a:ln>
        </p:spPr>
      </p:sp>
      <p:sp>
        <p:nvSpPr>
          <p:cNvPr id="14" name="s3-texto-13"/>
          <p:cNvSpPr txBox="1"/>
          <p:nvPr/>
        </p:nvSpPr>
        <p:spPr>
          <a:xfrm>
            <a:off x="4795142" y="2252646"/>
            <a:ext cx="2733178"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APLICAS EN TU FÁBRICA</a:t>
            </a:r>
            <a:endParaRPr lang="en-US" sz="900" dirty="0"/>
          </a:p>
        </p:txBody>
      </p:sp>
      <p:sp>
        <p:nvSpPr>
          <p:cNvPr id="15" name="s3-texto-14"/>
          <p:cNvSpPr txBox="1"/>
          <p:nvPr/>
        </p:nvSpPr>
        <p:spPr>
          <a:xfrm>
            <a:off x="4795142" y="2498308"/>
            <a:ext cx="2733178" cy="400986"/>
          </a:xfrm>
          <a:prstGeom prst="rect">
            <a:avLst/>
          </a:prstGeom>
          <a:noFill/>
          <a:ln/>
        </p:spPr>
        <p:txBody>
          <a:bodyPr wrap="square" lIns="0" tIns="0" rIns="0" bIns="0" rtlCol="0" anchor="t"/>
          <a:lstStyle/>
          <a:p>
            <a:pPr algn="l" indent="0" marL="0">
              <a:lnSpc>
                <a:spcPts val="1763"/>
              </a:lnSpc>
              <a:buNone/>
            </a:pPr>
            <a:r>
              <a:rPr lang="en-US" sz="1260" b="1" dirty="0">
                <a:solidFill>
                  <a:srgbClr val="0033A0"/>
                </a:solidFill>
                <a:latin typeface="Arial" pitchFamily="34" charset="0"/>
                <a:ea typeface="Arial" pitchFamily="34" charset="-122"/>
                <a:cs typeface="Arial" pitchFamily="34" charset="-120"/>
              </a:rPr>
              <a:t>Agente 4 · Despliegue</a:t>
            </a:r>
            <a:pPr algn="l" indent="0" marL="0">
              <a:lnSpc>
                <a:spcPts val="1763"/>
              </a:lnSpc>
              <a:buNone/>
            </a:pPr>
            <a:r>
              <a:rPr lang="en-US" sz="1260" dirty="0">
                <a:solidFill>
                  <a:srgbClr val="16181D"/>
                </a:solidFill>
                <a:latin typeface="Arial" pitchFamily="34" charset="0"/>
                <a:ea typeface="Arial" pitchFamily="34" charset="-122"/>
                <a:cs typeface="Arial" pitchFamily="34" charset="-120"/>
              </a:rPr>
              <a:t> con Docker Compose</a:t>
            </a:r>
            <a:endParaRPr lang="en-US" sz="1260" dirty="0"/>
          </a:p>
        </p:txBody>
      </p:sp>
      <p:sp>
        <p:nvSpPr>
          <p:cNvPr id="16" name="s3-texto-15"/>
          <p:cNvSpPr txBox="1"/>
          <p:nvPr/>
        </p:nvSpPr>
        <p:spPr>
          <a:xfrm>
            <a:off x="4795142" y="3037480"/>
            <a:ext cx="2733178" cy="400986"/>
          </a:xfrm>
          <a:prstGeom prst="rect">
            <a:avLst/>
          </a:prstGeom>
          <a:noFill/>
          <a:ln/>
        </p:spPr>
        <p:txBody>
          <a:bodyPr wrap="square" lIns="0" tIns="0" rIns="0" bIns="0" rtlCol="0" anchor="t"/>
          <a:lstStyle/>
          <a:p>
            <a:pPr algn="l" indent="0" marL="0">
              <a:lnSpc>
                <a:spcPts val="1763"/>
              </a:lnSpc>
              <a:buNone/>
            </a:pPr>
            <a:r>
              <a:rPr lang="en-US" sz="1260" b="1" dirty="0">
                <a:solidFill>
                  <a:srgbClr val="0033A0"/>
                </a:solidFill>
                <a:latin typeface="Arial" pitchFamily="34" charset="0"/>
                <a:ea typeface="Arial" pitchFamily="34" charset="-122"/>
                <a:cs typeface="Arial" pitchFamily="34" charset="-120"/>
              </a:rPr>
              <a:t>Agente 5 · Automatizador</a:t>
            </a:r>
            <a:pPr algn="l" indent="0" marL="0">
              <a:lnSpc>
                <a:spcPts val="1763"/>
              </a:lnSpc>
              <a:buNone/>
            </a:pPr>
            <a:r>
              <a:rPr lang="en-US" sz="1260" dirty="0">
                <a:solidFill>
                  <a:srgbClr val="16181D"/>
                </a:solidFill>
                <a:latin typeface="Arial" pitchFamily="34" charset="0"/>
                <a:ea typeface="Arial" pitchFamily="34" charset="-122"/>
                <a:cs typeface="Arial" pitchFamily="34" charset="-120"/>
              </a:rPr>
              <a:t> con pytest y Playwright</a:t>
            </a:r>
            <a:endParaRPr lang="en-US" sz="1260" dirty="0"/>
          </a:p>
        </p:txBody>
      </p:sp>
      <p:sp>
        <p:nvSpPr>
          <p:cNvPr id="17" name="s3-texto-16"/>
          <p:cNvSpPr txBox="1"/>
          <p:nvPr/>
        </p:nvSpPr>
        <p:spPr>
          <a:xfrm>
            <a:off x="4795142" y="3576651"/>
            <a:ext cx="2733178"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El flujo </a:t>
            </a:r>
            <a:pPr algn="l" indent="0" marL="0">
              <a:lnSpc>
                <a:spcPts val="1763"/>
              </a:lnSpc>
              <a:buNone/>
            </a:pPr>
            <a:r>
              <a:rPr lang="en-US" sz="1260" b="1" dirty="0">
                <a:solidFill>
                  <a:srgbClr val="0033A0"/>
                </a:solidFill>
                <a:latin typeface="Arial" pitchFamily="34" charset="0"/>
                <a:ea typeface="Arial" pitchFamily="34" charset="-122"/>
                <a:cs typeface="Arial" pitchFamily="34" charset="-120"/>
              </a:rPr>
              <a:t>flujo_s3</a:t>
            </a:r>
            <a:pPr algn="l" indent="0" marL="0">
              <a:lnSpc>
                <a:spcPts val="1763"/>
              </a:lnSpc>
              <a:buNone/>
            </a:pPr>
            <a:r>
              <a:rPr lang="en-US" sz="1260" dirty="0">
                <a:solidFill>
                  <a:srgbClr val="16181D"/>
                </a:solidFill>
                <a:latin typeface="Arial" pitchFamily="34" charset="0"/>
                <a:ea typeface="Arial" pitchFamily="34" charset="-122"/>
                <a:cs typeface="Arial" pitchFamily="34" charset="-120"/>
              </a:rPr>
              <a:t> con dos ramas en paralelo</a:t>
            </a:r>
            <a:endParaRPr lang="en-US" sz="1260" dirty="0"/>
          </a:p>
        </p:txBody>
      </p:sp>
      <p:sp>
        <p:nvSpPr>
          <p:cNvPr id="18" name="s3-forma-17"/>
          <p:cNvSpPr/>
          <p:nvPr/>
        </p:nvSpPr>
        <p:spPr>
          <a:xfrm>
            <a:off x="7790666" y="2018410"/>
            <a:ext cx="3058368" cy="2217386"/>
          </a:xfrm>
          <a:prstGeom prst="rect">
            <a:avLst/>
          </a:prstGeom>
          <a:solidFill>
            <a:srgbClr val="E8E2D5"/>
          </a:solidFill>
          <a:ln/>
        </p:spPr>
      </p:sp>
      <p:sp>
        <p:nvSpPr>
          <p:cNvPr id="19" name="s3-forma-18"/>
          <p:cNvSpPr/>
          <p:nvPr/>
        </p:nvSpPr>
        <p:spPr>
          <a:xfrm>
            <a:off x="7790666" y="2018410"/>
            <a:ext cx="3058368" cy="5713"/>
          </a:xfrm>
          <a:prstGeom prst="rect">
            <a:avLst/>
          </a:prstGeom>
          <a:solidFill>
            <a:srgbClr val="DBD4C4"/>
          </a:solidFill>
          <a:ln/>
        </p:spPr>
      </p:sp>
      <p:sp>
        <p:nvSpPr>
          <p:cNvPr id="20" name="s3-forma-19"/>
          <p:cNvSpPr/>
          <p:nvPr/>
        </p:nvSpPr>
        <p:spPr>
          <a:xfrm>
            <a:off x="7790666" y="4230083"/>
            <a:ext cx="3058368" cy="5713"/>
          </a:xfrm>
          <a:prstGeom prst="rect">
            <a:avLst/>
          </a:prstGeom>
          <a:solidFill>
            <a:srgbClr val="DBD4C4"/>
          </a:solidFill>
          <a:ln/>
        </p:spPr>
      </p:sp>
      <p:sp>
        <p:nvSpPr>
          <p:cNvPr id="21" name="s3-forma-20"/>
          <p:cNvSpPr/>
          <p:nvPr/>
        </p:nvSpPr>
        <p:spPr>
          <a:xfrm>
            <a:off x="7790666" y="2018410"/>
            <a:ext cx="17139" cy="2217386"/>
          </a:xfrm>
          <a:prstGeom prst="rect">
            <a:avLst/>
          </a:prstGeom>
          <a:solidFill>
            <a:srgbClr val="C6BFAE"/>
          </a:solidFill>
          <a:ln/>
        </p:spPr>
      </p:sp>
      <p:sp>
        <p:nvSpPr>
          <p:cNvPr id="22" name="s3-forma-21"/>
          <p:cNvSpPr/>
          <p:nvPr/>
        </p:nvSpPr>
        <p:spPr>
          <a:xfrm>
            <a:off x="10843321" y="2018410"/>
            <a:ext cx="5713" cy="2217386"/>
          </a:xfrm>
          <a:prstGeom prst="rect">
            <a:avLst/>
          </a:prstGeom>
          <a:solidFill>
            <a:srgbClr val="DBD4C4"/>
          </a:solidFill>
          <a:ln/>
        </p:spPr>
      </p:sp>
      <p:sp>
        <p:nvSpPr>
          <p:cNvPr id="23" name="s3-texto-22"/>
          <p:cNvSpPr txBox="1"/>
          <p:nvPr/>
        </p:nvSpPr>
        <p:spPr>
          <a:xfrm>
            <a:off x="8036328" y="2252646"/>
            <a:ext cx="2733178"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ENTREGAS HOY</a:t>
            </a:r>
            <a:endParaRPr lang="en-US" sz="900" dirty="0"/>
          </a:p>
        </p:txBody>
      </p:sp>
      <p:sp>
        <p:nvSpPr>
          <p:cNvPr id="24" name="s3-texto-23"/>
          <p:cNvSpPr txBox="1"/>
          <p:nvPr/>
        </p:nvSpPr>
        <p:spPr>
          <a:xfrm>
            <a:off x="8036328" y="2498308"/>
            <a:ext cx="2733178" cy="519890"/>
          </a:xfrm>
          <a:prstGeom prst="rect">
            <a:avLst/>
          </a:prstGeom>
          <a:noFill/>
          <a:ln/>
        </p:spPr>
        <p:txBody>
          <a:bodyPr wrap="squar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app/docker-compose.yml</a:t>
            </a:r>
            <a:endParaRPr lang="en-US" sz="990" dirty="0"/>
          </a:p>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app/tests/api/ app/tests/e2e/</a:t>
            </a:r>
            <a:endParaRPr lang="en-US" sz="990" dirty="0"/>
          </a:p>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salida/HU-02/notas_s3.md</a:t>
            </a:r>
            <a:endParaRPr lang="en-US" sz="990" dirty="0"/>
          </a:p>
        </p:txBody>
      </p:sp>
      <p:sp>
        <p:nvSpPr>
          <p:cNvPr id="25" name="s3-texto-24"/>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Sistemas multi-agente · 2 h 30 min</a:t>
            </a:r>
            <a:endParaRPr lang="en-US" sz="1080" dirty="0"/>
          </a:p>
        </p:txBody>
      </p:sp>
      <p:sp>
        <p:nvSpPr>
          <p:cNvPr id="26" name="s3-forma-25"/>
          <p:cNvSpPr/>
          <p:nvPr/>
        </p:nvSpPr>
        <p:spPr>
          <a:xfrm>
            <a:off x="853390" y="6411138"/>
            <a:ext cx="10484915" cy="5713"/>
          </a:xfrm>
          <a:prstGeom prst="rect">
            <a:avLst/>
          </a:prstGeom>
          <a:solidFill>
            <a:srgbClr val="DBD4C4"/>
          </a:solidFill>
          <a:ln/>
        </p:spPr>
      </p:sp>
      <p:pic>
        <p:nvPicPr>
          <p:cNvPr id="27" name="s3-logo-26"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28" name="s3-forma-27"/>
          <p:cNvSpPr/>
          <p:nvPr/>
        </p:nvSpPr>
        <p:spPr>
          <a:xfrm>
            <a:off x="1659380" y="6519865"/>
            <a:ext cx="2926878" cy="102835"/>
          </a:xfrm>
          <a:prstGeom prst="rect">
            <a:avLst/>
          </a:prstGeom>
          <a:ln/>
        </p:spPr>
      </p:sp>
      <p:sp>
        <p:nvSpPr>
          <p:cNvPr id="29" name="s3-forma-28"/>
          <p:cNvSpPr/>
          <p:nvPr/>
        </p:nvSpPr>
        <p:spPr>
          <a:xfrm>
            <a:off x="1659380" y="6519865"/>
            <a:ext cx="5713" cy="102835"/>
          </a:xfrm>
          <a:prstGeom prst="rect">
            <a:avLst/>
          </a:prstGeom>
          <a:solidFill>
            <a:srgbClr val="C6BFAE"/>
          </a:solidFill>
          <a:ln/>
        </p:spPr>
      </p:sp>
      <p:sp>
        <p:nvSpPr>
          <p:cNvPr id="30" name="s3-texto-29"/>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1" name="s3-texto-30"/>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3 / 36</a:t>
            </a:r>
            <a:endParaRPr lang="en-US" sz="745" dirty="0"/>
          </a:p>
        </p:txBody>
      </p:sp>
      <p:sp>
        <p:nvSpPr>
          <p:cNvPr id="32" name="s3-forma-31"/>
          <p:cNvSpPr/>
          <p:nvPr/>
        </p:nvSpPr>
        <p:spPr>
          <a:xfrm>
            <a:off x="0" y="0"/>
            <a:ext cx="1015945" cy="17139"/>
          </a:xfrm>
          <a:prstGeom prst="rect">
            <a:avLst/>
          </a:prstGeom>
          <a:solidFill>
            <a:srgbClr val="0033A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8DC"/>
        </a:solidFill>
      </p:bgPr>
    </p:bg>
    <p:spTree>
      <p:nvGrpSpPr>
        <p:cNvPr id="1" name=""/>
        <p:cNvGrpSpPr/>
        <p:nvPr/>
      </p:nvGrpSpPr>
      <p:grpSpPr>
        <a:xfrm>
          <a:off x="0" y="0"/>
          <a:ext cx="0" cy="0"/>
          <a:chOff x="0" y="0"/>
          <a:chExt cx="0" cy="0"/>
        </a:xfrm>
      </p:grpSpPr>
      <p:sp>
        <p:nvSpPr>
          <p:cNvPr id="2" name="s4-forma-1"/>
          <p:cNvSpPr/>
          <p:nvPr/>
        </p:nvSpPr>
        <p:spPr>
          <a:xfrm>
            <a:off x="853390" y="331715"/>
            <a:ext cx="81411" cy="81411"/>
          </a:xfrm>
          <a:prstGeom prst="ellipse">
            <a:avLst/>
          </a:prstGeom>
          <a:solidFill>
            <a:srgbClr val="0033A0"/>
          </a:solidFill>
          <a:ln/>
        </p:spPr>
      </p:sp>
      <p:sp>
        <p:nvSpPr>
          <p:cNvPr id="3" name="s4-texto-2"/>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4-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5" name="s4-texto-4"/>
          <p:cNvSpPr txBox="1"/>
          <p:nvPr/>
        </p:nvSpPr>
        <p:spPr>
          <a:xfrm>
            <a:off x="853390" y="267987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BLOQUE 3.1</a:t>
            </a:r>
            <a:endParaRPr lang="en-US" sz="869" dirty="0"/>
          </a:p>
        </p:txBody>
      </p:sp>
      <p:sp>
        <p:nvSpPr>
          <p:cNvPr id="6" name="s4-forma-5"/>
          <p:cNvSpPr/>
          <p:nvPr/>
        </p:nvSpPr>
        <p:spPr>
          <a:xfrm>
            <a:off x="853390" y="3768306"/>
            <a:ext cx="722704" cy="22852"/>
          </a:xfrm>
          <a:prstGeom prst="rect">
            <a:avLst/>
          </a:prstGeom>
          <a:solidFill>
            <a:srgbClr val="0033A0"/>
          </a:solidFill>
          <a:ln/>
        </p:spPr>
      </p:sp>
      <p:sp>
        <p:nvSpPr>
          <p:cNvPr id="7" name="s4-texto-6"/>
          <p:cNvSpPr txBox="1"/>
          <p:nvPr/>
        </p:nvSpPr>
        <p:spPr>
          <a:xfrm>
            <a:off x="853390" y="2960889"/>
            <a:ext cx="7149222" cy="634151"/>
          </a:xfrm>
          <a:prstGeom prst="rect">
            <a:avLst/>
          </a:prstGeom>
          <a:noFill/>
          <a:ln/>
        </p:spPr>
        <p:txBody>
          <a:bodyPr wrap="non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Topologías · 1</a:t>
            </a:r>
            <a:endParaRPr lang="en-US" sz="4242" dirty="0"/>
          </a:p>
        </p:txBody>
      </p:sp>
      <p:sp>
        <p:nvSpPr>
          <p:cNvPr id="8" name="s4-texto-7"/>
          <p:cNvSpPr txBox="1"/>
          <p:nvPr/>
        </p:nvSpPr>
        <p:spPr>
          <a:xfrm>
            <a:off x="853390" y="3969960"/>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Cuándo usar varios agentes, supervisor y jerárquica.</a:t>
            </a:r>
            <a:endParaRPr lang="en-US" sz="1676" dirty="0"/>
          </a:p>
        </p:txBody>
      </p:sp>
      <p:pic>
        <p:nvPicPr>
          <p:cNvPr id="9" name="s4-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4-forma-9"/>
          <p:cNvSpPr/>
          <p:nvPr/>
        </p:nvSpPr>
        <p:spPr>
          <a:xfrm>
            <a:off x="1659380" y="6519865"/>
            <a:ext cx="2926878" cy="102835"/>
          </a:xfrm>
          <a:prstGeom prst="rect">
            <a:avLst/>
          </a:prstGeom>
          <a:ln/>
        </p:spPr>
      </p:sp>
      <p:sp>
        <p:nvSpPr>
          <p:cNvPr id="11" name="s4-forma-10"/>
          <p:cNvSpPr/>
          <p:nvPr/>
        </p:nvSpPr>
        <p:spPr>
          <a:xfrm>
            <a:off x="1659380" y="6519865"/>
            <a:ext cx="5713" cy="102835"/>
          </a:xfrm>
          <a:prstGeom prst="rect">
            <a:avLst/>
          </a:prstGeom>
          <a:solidFill>
            <a:srgbClr val="C6BFAE"/>
          </a:solidFill>
          <a:ln/>
        </p:spPr>
      </p:sp>
      <p:sp>
        <p:nvSpPr>
          <p:cNvPr id="12" name="s4-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4-texto-12"/>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4 / 36</a:t>
            </a:r>
            <a:endParaRPr lang="en-US" sz="745" dirty="0"/>
          </a:p>
        </p:txBody>
      </p:sp>
      <p:sp>
        <p:nvSpPr>
          <p:cNvPr id="14" name="s4-forma-13"/>
          <p:cNvSpPr/>
          <p:nvPr/>
        </p:nvSpPr>
        <p:spPr>
          <a:xfrm>
            <a:off x="0" y="0"/>
            <a:ext cx="1354623" cy="17139"/>
          </a:xfrm>
          <a:prstGeom prst="rect">
            <a:avLst/>
          </a:prstGeom>
          <a:solidFill>
            <a:srgbClr val="0033A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8DC"/>
        </a:solidFill>
      </p:bgPr>
    </p:bg>
    <p:spTree>
      <p:nvGrpSpPr>
        <p:cNvPr id="1" name=""/>
        <p:cNvGrpSpPr/>
        <p:nvPr/>
      </p:nvGrpSpPr>
      <p:grpSpPr>
        <a:xfrm>
          <a:off x="0" y="0"/>
          <a:ext cx="0" cy="0"/>
          <a:chOff x="0" y="0"/>
          <a:chExt cx="0" cy="0"/>
        </a:xfrm>
      </p:grpSpPr>
      <p:sp>
        <p:nvSpPr>
          <p:cNvPr id="2" name="s5-forma-1"/>
          <p:cNvSpPr/>
          <p:nvPr/>
        </p:nvSpPr>
        <p:spPr>
          <a:xfrm>
            <a:off x="853390" y="520961"/>
            <a:ext cx="10484915" cy="5713"/>
          </a:xfrm>
          <a:prstGeom prst="rect">
            <a:avLst/>
          </a:prstGeom>
          <a:solidFill>
            <a:srgbClr val="C6BFAE"/>
          </a:solidFill>
          <a:ln/>
        </p:spPr>
      </p:sp>
      <p:sp>
        <p:nvSpPr>
          <p:cNvPr id="3" name="s5-forma-2"/>
          <p:cNvSpPr/>
          <p:nvPr/>
        </p:nvSpPr>
        <p:spPr>
          <a:xfrm>
            <a:off x="853390" y="331715"/>
            <a:ext cx="81411" cy="81411"/>
          </a:xfrm>
          <a:prstGeom prst="ellipse">
            <a:avLst/>
          </a:prstGeom>
          <a:solidFill>
            <a:srgbClr val="0033A0"/>
          </a:solidFill>
          <a:ln/>
        </p:spPr>
      </p:sp>
      <p:sp>
        <p:nvSpPr>
          <p:cNvPr id="4" name="s5-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5-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5-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3.1 · CUÁNDO SÍ Y CUÁNDO NO</a:t>
            </a:r>
            <a:endParaRPr lang="en-US" sz="900" dirty="0"/>
          </a:p>
        </p:txBody>
      </p:sp>
      <p:sp>
        <p:nvSpPr>
          <p:cNvPr id="7" name="s5-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Más agentes no es mejor por defecto</a:t>
            </a:r>
            <a:endParaRPr lang="en-US" sz="2879" dirty="0"/>
          </a:p>
        </p:txBody>
      </p:sp>
      <p:sp>
        <p:nvSpPr>
          <p:cNvPr id="8" name="s5-forma-7"/>
          <p:cNvSpPr/>
          <p:nvPr/>
        </p:nvSpPr>
        <p:spPr>
          <a:xfrm>
            <a:off x="1342572" y="2144634"/>
            <a:ext cx="4661867" cy="2096608"/>
          </a:xfrm>
          <a:prstGeom prst="rect">
            <a:avLst/>
          </a:prstGeom>
          <a:solidFill>
            <a:srgbClr val="E3DCCB"/>
          </a:solidFill>
          <a:ln w="5713">
            <a:solidFill>
              <a:srgbClr val="C6BFAE"/>
            </a:solidFill>
            <a:prstDash val="solid"/>
          </a:ln>
        </p:spPr>
      </p:sp>
      <p:pic>
        <p:nvPicPr>
          <p:cNvPr id="9" name="s5-icono-8" descr="preencoded.png">    </p:cNvPr>
          <p:cNvPicPr>
            <a:picLocks noChangeAspect="1"/>
          </p:cNvPicPr>
          <p:nvPr/>
        </p:nvPicPr>
        <p:blipFill>
          <a:blip r:embed="rId1"/>
          <a:stretch>
            <a:fillRect/>
          </a:stretch>
        </p:blipFill>
        <p:spPr>
          <a:xfrm>
            <a:off x="1576808" y="2378870"/>
            <a:ext cx="274227" cy="274227"/>
          </a:xfrm>
          <a:prstGeom prst="rect">
            <a:avLst/>
          </a:prstGeom>
        </p:spPr>
      </p:pic>
      <p:sp>
        <p:nvSpPr>
          <p:cNvPr id="10" name="s5-texto-9"/>
          <p:cNvSpPr txBox="1"/>
          <p:nvPr/>
        </p:nvSpPr>
        <p:spPr>
          <a:xfrm>
            <a:off x="1942444" y="2378870"/>
            <a:ext cx="1673498" cy="268514"/>
          </a:xfrm>
          <a:prstGeom prst="rect">
            <a:avLst/>
          </a:prstGeom>
          <a:noFill/>
          <a:ln/>
        </p:spPr>
        <p:txBody>
          <a:bodyPr wrap="none" lIns="0" tIns="0" rIns="0" bIns="0" rtlCol="0" anchor="t"/>
          <a:lstStyle/>
          <a:p>
            <a:pPr algn="l" indent="0" marL="0">
              <a:lnSpc>
                <a:spcPts val="2159"/>
              </a:lnSpc>
              <a:buNone/>
            </a:pPr>
            <a:r>
              <a:rPr lang="en-US" sz="1799" b="1" spc="-18" kern="0" dirty="0">
                <a:solidFill>
                  <a:srgbClr val="16181D"/>
                </a:solidFill>
                <a:latin typeface="Georgia" pitchFamily="34" charset="0"/>
                <a:ea typeface="Georgia" pitchFamily="34" charset="-122"/>
                <a:cs typeface="Georgia" pitchFamily="34" charset="-120"/>
              </a:rPr>
              <a:t>SÍ CONVIENE</a:t>
            </a:r>
            <a:endParaRPr lang="en-US" sz="1799" dirty="0"/>
          </a:p>
        </p:txBody>
      </p:sp>
      <p:sp>
        <p:nvSpPr>
          <p:cNvPr id="11" name="s5-forma-10"/>
          <p:cNvSpPr/>
          <p:nvPr/>
        </p:nvSpPr>
        <p:spPr>
          <a:xfrm>
            <a:off x="1576808" y="2922504"/>
            <a:ext cx="95962" cy="5713"/>
          </a:xfrm>
          <a:prstGeom prst="rect">
            <a:avLst/>
          </a:prstGeom>
          <a:solidFill>
            <a:srgbClr val="0033A0"/>
          </a:solidFill>
          <a:ln/>
        </p:spPr>
      </p:sp>
      <p:sp>
        <p:nvSpPr>
          <p:cNvPr id="12" name="s5-texto-11"/>
          <p:cNvSpPr txBox="1"/>
          <p:nvPr/>
        </p:nvSpPr>
        <p:spPr>
          <a:xfrm>
            <a:off x="1800689" y="2851894"/>
            <a:ext cx="4207685" cy="177105"/>
          </a:xfrm>
          <a:prstGeom prst="rect">
            <a:avLst/>
          </a:prstGeom>
          <a:noFill/>
          <a:ln/>
        </p:spPr>
        <p:txBody>
          <a:bodyPr wrap="none" lIns="0" tIns="0" rIns="0" bIns="0" rtlCol="0" anchor="t"/>
          <a:lstStyle/>
          <a:p>
            <a:pPr algn="l" indent="0" marL="0">
              <a:lnSpc>
                <a:spcPts val="1889"/>
              </a:lnSpc>
              <a:buNone/>
            </a:pPr>
            <a:r>
              <a:rPr lang="en-US" sz="1260" dirty="0">
                <a:solidFill>
                  <a:srgbClr val="585E6F"/>
                </a:solidFill>
                <a:latin typeface="Arial" pitchFamily="34" charset="0"/>
                <a:ea typeface="Arial" pitchFamily="34" charset="-122"/>
                <a:cs typeface="Arial" pitchFamily="34" charset="-120"/>
              </a:rPr>
              <a:t>Subtareas paralelizables</a:t>
            </a:r>
            <a:endParaRPr lang="en-US" sz="1260" dirty="0"/>
          </a:p>
        </p:txBody>
      </p:sp>
      <p:sp>
        <p:nvSpPr>
          <p:cNvPr id="13" name="s5-forma-12"/>
          <p:cNvSpPr/>
          <p:nvPr/>
        </p:nvSpPr>
        <p:spPr>
          <a:xfrm>
            <a:off x="1576808" y="3218423"/>
            <a:ext cx="95962" cy="5713"/>
          </a:xfrm>
          <a:prstGeom prst="rect">
            <a:avLst/>
          </a:prstGeom>
          <a:solidFill>
            <a:srgbClr val="0033A0"/>
          </a:solidFill>
          <a:ln/>
        </p:spPr>
      </p:sp>
      <p:sp>
        <p:nvSpPr>
          <p:cNvPr id="14" name="s5-texto-13"/>
          <p:cNvSpPr txBox="1"/>
          <p:nvPr/>
        </p:nvSpPr>
        <p:spPr>
          <a:xfrm>
            <a:off x="1800689" y="3147813"/>
            <a:ext cx="4207685" cy="177105"/>
          </a:xfrm>
          <a:prstGeom prst="rect">
            <a:avLst/>
          </a:prstGeom>
          <a:noFill/>
          <a:ln/>
        </p:spPr>
        <p:txBody>
          <a:bodyPr wrap="none" lIns="0" tIns="0" rIns="0" bIns="0" rtlCol="0" anchor="t"/>
          <a:lstStyle/>
          <a:p>
            <a:pPr algn="l" indent="0" marL="0">
              <a:lnSpc>
                <a:spcPts val="1889"/>
              </a:lnSpc>
              <a:buNone/>
            </a:pPr>
            <a:r>
              <a:rPr lang="en-US" sz="1260" dirty="0">
                <a:solidFill>
                  <a:srgbClr val="585E6F"/>
                </a:solidFill>
                <a:latin typeface="Arial" pitchFamily="34" charset="0"/>
                <a:ea typeface="Arial" pitchFamily="34" charset="-122"/>
                <a:cs typeface="Arial" pitchFamily="34" charset="-120"/>
              </a:rPr>
              <a:t>Contextos que no caben juntos</a:t>
            </a:r>
            <a:endParaRPr lang="en-US" sz="1260" dirty="0"/>
          </a:p>
        </p:txBody>
      </p:sp>
      <p:sp>
        <p:nvSpPr>
          <p:cNvPr id="15" name="s5-forma-14"/>
          <p:cNvSpPr/>
          <p:nvPr/>
        </p:nvSpPr>
        <p:spPr>
          <a:xfrm>
            <a:off x="1576808" y="3514343"/>
            <a:ext cx="95962" cy="5713"/>
          </a:xfrm>
          <a:prstGeom prst="rect">
            <a:avLst/>
          </a:prstGeom>
          <a:solidFill>
            <a:srgbClr val="0033A0"/>
          </a:solidFill>
          <a:ln/>
        </p:spPr>
      </p:sp>
      <p:sp>
        <p:nvSpPr>
          <p:cNvPr id="16" name="s5-texto-15"/>
          <p:cNvSpPr txBox="1"/>
          <p:nvPr/>
        </p:nvSpPr>
        <p:spPr>
          <a:xfrm>
            <a:off x="1800689" y="3443733"/>
            <a:ext cx="4207685" cy="177105"/>
          </a:xfrm>
          <a:prstGeom prst="rect">
            <a:avLst/>
          </a:prstGeom>
          <a:noFill/>
          <a:ln/>
        </p:spPr>
        <p:txBody>
          <a:bodyPr wrap="none" lIns="0" tIns="0" rIns="0" bIns="0" rtlCol="0" anchor="t"/>
          <a:lstStyle/>
          <a:p>
            <a:pPr algn="l" indent="0" marL="0">
              <a:lnSpc>
                <a:spcPts val="1889"/>
              </a:lnSpc>
              <a:buNone/>
            </a:pPr>
            <a:r>
              <a:rPr lang="en-US" sz="1260" dirty="0">
                <a:solidFill>
                  <a:srgbClr val="585E6F"/>
                </a:solidFill>
                <a:latin typeface="Arial" pitchFamily="34" charset="0"/>
                <a:ea typeface="Arial" pitchFamily="34" charset="-122"/>
                <a:cs typeface="Arial" pitchFamily="34" charset="-120"/>
              </a:rPr>
              <a:t>Herramientas o permisos que conviene aislar</a:t>
            </a:r>
            <a:endParaRPr lang="en-US" sz="1260" dirty="0"/>
          </a:p>
        </p:txBody>
      </p:sp>
      <p:sp>
        <p:nvSpPr>
          <p:cNvPr id="17" name="s5-forma-16"/>
          <p:cNvSpPr/>
          <p:nvPr/>
        </p:nvSpPr>
        <p:spPr>
          <a:xfrm>
            <a:off x="1576808" y="3810262"/>
            <a:ext cx="95962" cy="5713"/>
          </a:xfrm>
          <a:prstGeom prst="rect">
            <a:avLst/>
          </a:prstGeom>
          <a:solidFill>
            <a:srgbClr val="0033A0"/>
          </a:solidFill>
          <a:ln/>
        </p:spPr>
      </p:sp>
      <p:sp>
        <p:nvSpPr>
          <p:cNvPr id="18" name="s5-texto-17"/>
          <p:cNvSpPr txBox="1"/>
          <p:nvPr/>
        </p:nvSpPr>
        <p:spPr>
          <a:xfrm>
            <a:off x="1800689" y="3739652"/>
            <a:ext cx="4207685" cy="177105"/>
          </a:xfrm>
          <a:prstGeom prst="rect">
            <a:avLst/>
          </a:prstGeom>
          <a:noFill/>
          <a:ln/>
        </p:spPr>
        <p:txBody>
          <a:bodyPr wrap="none" lIns="0" tIns="0" rIns="0" bIns="0" rtlCol="0" anchor="t"/>
          <a:lstStyle/>
          <a:p>
            <a:pPr algn="l" indent="0" marL="0">
              <a:lnSpc>
                <a:spcPts val="1889"/>
              </a:lnSpc>
              <a:buNone/>
            </a:pPr>
            <a:r>
              <a:rPr lang="en-US" sz="1260" dirty="0">
                <a:solidFill>
                  <a:srgbClr val="585E6F"/>
                </a:solidFill>
                <a:latin typeface="Arial" pitchFamily="34" charset="0"/>
                <a:ea typeface="Arial" pitchFamily="34" charset="-122"/>
                <a:cs typeface="Arial" pitchFamily="34" charset="-120"/>
              </a:rPr>
              <a:t>Equipos distintos mantienen cada agente</a:t>
            </a:r>
            <a:endParaRPr lang="en-US" sz="1260" dirty="0"/>
          </a:p>
        </p:txBody>
      </p:sp>
      <p:sp>
        <p:nvSpPr>
          <p:cNvPr id="19" name="s5-forma-18"/>
          <p:cNvSpPr/>
          <p:nvPr/>
        </p:nvSpPr>
        <p:spPr>
          <a:xfrm>
            <a:off x="6187257" y="2144634"/>
            <a:ext cx="4661867" cy="2096608"/>
          </a:xfrm>
          <a:prstGeom prst="rect">
            <a:avLst/>
          </a:prstGeom>
          <a:solidFill>
            <a:srgbClr val="E3DCCB"/>
          </a:solidFill>
          <a:ln w="5713">
            <a:solidFill>
              <a:srgbClr val="C6BFAE"/>
            </a:solidFill>
            <a:prstDash val="solid"/>
          </a:ln>
        </p:spPr>
      </p:sp>
      <p:pic>
        <p:nvPicPr>
          <p:cNvPr id="20" name="s5-icono-19" descr="preencoded.png">    </p:cNvPr>
          <p:cNvPicPr>
            <a:picLocks noChangeAspect="1"/>
          </p:cNvPicPr>
          <p:nvPr/>
        </p:nvPicPr>
        <p:blipFill>
          <a:blip r:embed="rId2"/>
          <a:stretch>
            <a:fillRect/>
          </a:stretch>
        </p:blipFill>
        <p:spPr>
          <a:xfrm>
            <a:off x="6421493" y="2378870"/>
            <a:ext cx="274227" cy="274227"/>
          </a:xfrm>
          <a:prstGeom prst="rect">
            <a:avLst/>
          </a:prstGeom>
        </p:spPr>
      </p:pic>
      <p:sp>
        <p:nvSpPr>
          <p:cNvPr id="21" name="s5-texto-20"/>
          <p:cNvSpPr txBox="1"/>
          <p:nvPr/>
        </p:nvSpPr>
        <p:spPr>
          <a:xfrm>
            <a:off x="6787129" y="2378870"/>
            <a:ext cx="1803131" cy="268514"/>
          </a:xfrm>
          <a:prstGeom prst="rect">
            <a:avLst/>
          </a:prstGeom>
          <a:noFill/>
          <a:ln/>
        </p:spPr>
        <p:txBody>
          <a:bodyPr wrap="none" lIns="0" tIns="0" rIns="0" bIns="0" rtlCol="0" anchor="t"/>
          <a:lstStyle/>
          <a:p>
            <a:pPr algn="l" indent="0" marL="0">
              <a:lnSpc>
                <a:spcPts val="2159"/>
              </a:lnSpc>
              <a:buNone/>
            </a:pPr>
            <a:r>
              <a:rPr lang="en-US" sz="1799" b="1" spc="-18" kern="0" dirty="0">
                <a:solidFill>
                  <a:srgbClr val="16181D"/>
                </a:solidFill>
                <a:latin typeface="Georgia" pitchFamily="34" charset="0"/>
                <a:ea typeface="Georgia" pitchFamily="34" charset="-122"/>
                <a:cs typeface="Georgia" pitchFamily="34" charset="-120"/>
              </a:rPr>
              <a:t>NO CONVIENE</a:t>
            </a:r>
            <a:endParaRPr lang="en-US" sz="1799" dirty="0"/>
          </a:p>
        </p:txBody>
      </p:sp>
      <p:sp>
        <p:nvSpPr>
          <p:cNvPr id="22" name="s5-forma-21"/>
          <p:cNvSpPr/>
          <p:nvPr/>
        </p:nvSpPr>
        <p:spPr>
          <a:xfrm>
            <a:off x="6421493" y="2922504"/>
            <a:ext cx="95962" cy="5713"/>
          </a:xfrm>
          <a:prstGeom prst="rect">
            <a:avLst/>
          </a:prstGeom>
          <a:solidFill>
            <a:srgbClr val="0033A0"/>
          </a:solidFill>
          <a:ln/>
        </p:spPr>
      </p:sp>
      <p:sp>
        <p:nvSpPr>
          <p:cNvPr id="23" name="s5-texto-22"/>
          <p:cNvSpPr txBox="1"/>
          <p:nvPr/>
        </p:nvSpPr>
        <p:spPr>
          <a:xfrm>
            <a:off x="6645374" y="2851894"/>
            <a:ext cx="4207685" cy="177105"/>
          </a:xfrm>
          <a:prstGeom prst="rect">
            <a:avLst/>
          </a:prstGeom>
          <a:noFill/>
          <a:ln/>
        </p:spPr>
        <p:txBody>
          <a:bodyPr wrap="none" lIns="0" tIns="0" rIns="0" bIns="0" rtlCol="0" anchor="t"/>
          <a:lstStyle/>
          <a:p>
            <a:pPr algn="l" indent="0" marL="0">
              <a:lnSpc>
                <a:spcPts val="1889"/>
              </a:lnSpc>
              <a:buNone/>
            </a:pPr>
            <a:r>
              <a:rPr lang="en-US" sz="1260" dirty="0">
                <a:solidFill>
                  <a:srgbClr val="585E6F"/>
                </a:solidFill>
                <a:latin typeface="Arial" pitchFamily="34" charset="0"/>
                <a:ea typeface="Arial" pitchFamily="34" charset="-122"/>
                <a:cs typeface="Arial" pitchFamily="34" charset="-120"/>
              </a:rPr>
              <a:t>Tareas secuenciales y cortas</a:t>
            </a:r>
            <a:endParaRPr lang="en-US" sz="1260" dirty="0"/>
          </a:p>
        </p:txBody>
      </p:sp>
      <p:sp>
        <p:nvSpPr>
          <p:cNvPr id="24" name="s5-forma-23"/>
          <p:cNvSpPr/>
          <p:nvPr/>
        </p:nvSpPr>
        <p:spPr>
          <a:xfrm>
            <a:off x="6421493" y="3218423"/>
            <a:ext cx="95962" cy="5713"/>
          </a:xfrm>
          <a:prstGeom prst="rect">
            <a:avLst/>
          </a:prstGeom>
          <a:solidFill>
            <a:srgbClr val="0033A0"/>
          </a:solidFill>
          <a:ln/>
        </p:spPr>
      </p:sp>
      <p:sp>
        <p:nvSpPr>
          <p:cNvPr id="25" name="s5-texto-24"/>
          <p:cNvSpPr txBox="1"/>
          <p:nvPr/>
        </p:nvSpPr>
        <p:spPr>
          <a:xfrm>
            <a:off x="6645374" y="3147813"/>
            <a:ext cx="4207685" cy="177105"/>
          </a:xfrm>
          <a:prstGeom prst="rect">
            <a:avLst/>
          </a:prstGeom>
          <a:noFill/>
          <a:ln/>
        </p:spPr>
        <p:txBody>
          <a:bodyPr wrap="none" lIns="0" tIns="0" rIns="0" bIns="0" rtlCol="0" anchor="t"/>
          <a:lstStyle/>
          <a:p>
            <a:pPr algn="l" indent="0" marL="0">
              <a:lnSpc>
                <a:spcPts val="1889"/>
              </a:lnSpc>
              <a:buNone/>
            </a:pPr>
            <a:r>
              <a:rPr lang="en-US" sz="1260" dirty="0">
                <a:solidFill>
                  <a:srgbClr val="585E6F"/>
                </a:solidFill>
                <a:latin typeface="Arial" pitchFamily="34" charset="0"/>
                <a:ea typeface="Arial" pitchFamily="34" charset="-122"/>
                <a:cs typeface="Arial" pitchFamily="34" charset="-120"/>
              </a:rPr>
              <a:t>La coordinación cuesta más que el trabajo</a:t>
            </a:r>
            <a:endParaRPr lang="en-US" sz="1260" dirty="0"/>
          </a:p>
        </p:txBody>
      </p:sp>
      <p:sp>
        <p:nvSpPr>
          <p:cNvPr id="26" name="s5-forma-25"/>
          <p:cNvSpPr/>
          <p:nvPr/>
        </p:nvSpPr>
        <p:spPr>
          <a:xfrm>
            <a:off x="6421493" y="3514343"/>
            <a:ext cx="95962" cy="5713"/>
          </a:xfrm>
          <a:prstGeom prst="rect">
            <a:avLst/>
          </a:prstGeom>
          <a:solidFill>
            <a:srgbClr val="0033A0"/>
          </a:solidFill>
          <a:ln/>
        </p:spPr>
      </p:sp>
      <p:sp>
        <p:nvSpPr>
          <p:cNvPr id="27" name="s5-texto-26"/>
          <p:cNvSpPr txBox="1"/>
          <p:nvPr/>
        </p:nvSpPr>
        <p:spPr>
          <a:xfrm>
            <a:off x="6645374" y="3443733"/>
            <a:ext cx="4207685" cy="177105"/>
          </a:xfrm>
          <a:prstGeom prst="rect">
            <a:avLst/>
          </a:prstGeom>
          <a:noFill/>
          <a:ln/>
        </p:spPr>
        <p:txBody>
          <a:bodyPr wrap="none" lIns="0" tIns="0" rIns="0" bIns="0" rtlCol="0" anchor="t"/>
          <a:lstStyle/>
          <a:p>
            <a:pPr algn="l" indent="0" marL="0">
              <a:lnSpc>
                <a:spcPts val="1889"/>
              </a:lnSpc>
              <a:buNone/>
            </a:pPr>
            <a:r>
              <a:rPr lang="en-US" sz="1260" dirty="0">
                <a:solidFill>
                  <a:srgbClr val="585E6F"/>
                </a:solidFill>
                <a:latin typeface="Arial" pitchFamily="34" charset="0"/>
                <a:ea typeface="Arial" pitchFamily="34" charset="-122"/>
                <a:cs typeface="Arial" pitchFamily="34" charset="-120"/>
              </a:rPr>
              <a:t>No hay forma de evaluar el resultado</a:t>
            </a:r>
            <a:endParaRPr lang="en-US" sz="1260" dirty="0"/>
          </a:p>
        </p:txBody>
      </p:sp>
      <p:sp>
        <p:nvSpPr>
          <p:cNvPr id="28" name="s5-forma-27"/>
          <p:cNvSpPr/>
          <p:nvPr/>
        </p:nvSpPr>
        <p:spPr>
          <a:xfrm>
            <a:off x="1342572" y="4515469"/>
            <a:ext cx="9506551" cy="331358"/>
          </a:xfrm>
          <a:prstGeom prst="rect">
            <a:avLst/>
          </a:prstGeom>
          <a:ln/>
        </p:spPr>
      </p:sp>
      <p:sp>
        <p:nvSpPr>
          <p:cNvPr id="29" name="s5-forma-28"/>
          <p:cNvSpPr/>
          <p:nvPr/>
        </p:nvSpPr>
        <p:spPr>
          <a:xfrm>
            <a:off x="1342572" y="4515469"/>
            <a:ext cx="34278" cy="331358"/>
          </a:xfrm>
          <a:prstGeom prst="rect">
            <a:avLst/>
          </a:prstGeom>
          <a:solidFill>
            <a:srgbClr val="984514"/>
          </a:solidFill>
          <a:ln/>
        </p:spPr>
      </p:sp>
      <p:sp>
        <p:nvSpPr>
          <p:cNvPr id="30" name="s5-texto-29"/>
          <p:cNvSpPr txBox="1"/>
          <p:nvPr/>
        </p:nvSpPr>
        <p:spPr>
          <a:xfrm>
            <a:off x="1559669" y="4584026"/>
            <a:ext cx="9653035" cy="188531"/>
          </a:xfrm>
          <a:prstGeom prst="rect">
            <a:avLst/>
          </a:prstGeom>
          <a:noFill/>
          <a:ln/>
        </p:spPr>
        <p:txBody>
          <a:bodyPr wrap="none" lIns="0" tIns="0" rIns="0" bIns="0" rtlCol="0" anchor="t"/>
          <a:lstStyle/>
          <a:p>
            <a:pPr algn="l" indent="0" marL="0">
              <a:lnSpc>
                <a:spcPts val="1889"/>
              </a:lnSpc>
              <a:buNone/>
            </a:pPr>
            <a:r>
              <a:rPr lang="en-US" sz="1350" b="1" dirty="0">
                <a:solidFill>
                  <a:srgbClr val="0033A0"/>
                </a:solidFill>
                <a:latin typeface="Arial" pitchFamily="34" charset="0"/>
                <a:ea typeface="Arial" pitchFamily="34" charset="-122"/>
                <a:cs typeface="Arial" pitchFamily="34" charset="-120"/>
              </a:rPr>
              <a:t>Costos:</a:t>
            </a:r>
            <a:pPr algn="l" indent="0" marL="0">
              <a:lnSpc>
                <a:spcPts val="1889"/>
              </a:lnSpc>
              <a:buNone/>
            </a:pPr>
            <a:r>
              <a:rPr lang="en-US" sz="1350" dirty="0">
                <a:solidFill>
                  <a:srgbClr val="16181D"/>
                </a:solidFill>
                <a:latin typeface="Arial" pitchFamily="34" charset="0"/>
                <a:ea typeface="Arial" pitchFamily="34" charset="-122"/>
                <a:cs typeface="Arial" pitchFamily="34" charset="-120"/>
              </a:rPr>
              <a:t> más tokens, más latencia y errores que se propagan entre agentes.</a:t>
            </a:r>
            <a:endParaRPr lang="en-US" sz="1350" dirty="0"/>
          </a:p>
        </p:txBody>
      </p:sp>
      <p:sp>
        <p:nvSpPr>
          <p:cNvPr id="31" name="s5-texto-30"/>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Sistemas multi-agente</a:t>
            </a:r>
            <a:endParaRPr lang="en-US" sz="1080" dirty="0"/>
          </a:p>
        </p:txBody>
      </p:sp>
      <p:sp>
        <p:nvSpPr>
          <p:cNvPr id="32" name="s5-forma-31"/>
          <p:cNvSpPr/>
          <p:nvPr/>
        </p:nvSpPr>
        <p:spPr>
          <a:xfrm>
            <a:off x="853390" y="6411138"/>
            <a:ext cx="10484915" cy="5713"/>
          </a:xfrm>
          <a:prstGeom prst="rect">
            <a:avLst/>
          </a:prstGeom>
          <a:solidFill>
            <a:srgbClr val="DBD4C4"/>
          </a:solidFill>
          <a:ln/>
        </p:spPr>
      </p:sp>
      <p:pic>
        <p:nvPicPr>
          <p:cNvPr id="33" name="s5-logo-32" descr="preencoded.png">    </p:cNvPr>
          <p:cNvPicPr>
            <a:picLocks noChangeAspect="1"/>
          </p:cNvPicPr>
          <p:nvPr/>
        </p:nvPicPr>
        <p:blipFill>
          <a:blip r:embed="rId3"/>
          <a:stretch>
            <a:fillRect/>
          </a:stretch>
        </p:blipFill>
        <p:spPr>
          <a:xfrm>
            <a:off x="853390" y="6465055"/>
            <a:ext cx="687800" cy="212455"/>
          </a:xfrm>
          <a:prstGeom prst="rect">
            <a:avLst/>
          </a:prstGeom>
        </p:spPr>
      </p:pic>
      <p:sp>
        <p:nvSpPr>
          <p:cNvPr id="34" name="s5-forma-33"/>
          <p:cNvSpPr/>
          <p:nvPr/>
        </p:nvSpPr>
        <p:spPr>
          <a:xfrm>
            <a:off x="1659380" y="6519865"/>
            <a:ext cx="2926878" cy="102835"/>
          </a:xfrm>
          <a:prstGeom prst="rect">
            <a:avLst/>
          </a:prstGeom>
          <a:ln/>
        </p:spPr>
      </p:sp>
      <p:sp>
        <p:nvSpPr>
          <p:cNvPr id="35" name="s5-forma-34"/>
          <p:cNvSpPr/>
          <p:nvPr/>
        </p:nvSpPr>
        <p:spPr>
          <a:xfrm>
            <a:off x="1659380" y="6519865"/>
            <a:ext cx="5713" cy="102835"/>
          </a:xfrm>
          <a:prstGeom prst="rect">
            <a:avLst/>
          </a:prstGeom>
          <a:solidFill>
            <a:srgbClr val="C6BFAE"/>
          </a:solidFill>
          <a:ln/>
        </p:spPr>
      </p:sp>
      <p:sp>
        <p:nvSpPr>
          <p:cNvPr id="36" name="s5-texto-35"/>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7" name="s5-texto-36"/>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5 / 36</a:t>
            </a:r>
            <a:endParaRPr lang="en-US" sz="745" dirty="0"/>
          </a:p>
        </p:txBody>
      </p:sp>
      <p:sp>
        <p:nvSpPr>
          <p:cNvPr id="38" name="s5-forma-37"/>
          <p:cNvSpPr/>
          <p:nvPr/>
        </p:nvSpPr>
        <p:spPr>
          <a:xfrm>
            <a:off x="0" y="0"/>
            <a:ext cx="1693212" cy="17139"/>
          </a:xfrm>
          <a:prstGeom prst="rect">
            <a:avLst/>
          </a:prstGeom>
          <a:solidFill>
            <a:srgbClr val="0033A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8DC"/>
        </a:solidFill>
      </p:bgPr>
    </p:bg>
    <p:spTree>
      <p:nvGrpSpPr>
        <p:cNvPr id="1" name=""/>
        <p:cNvGrpSpPr/>
        <p:nvPr/>
      </p:nvGrpSpPr>
      <p:grpSpPr>
        <a:xfrm>
          <a:off x="0" y="0"/>
          <a:ext cx="0" cy="0"/>
          <a:chOff x="0" y="0"/>
          <a:chExt cx="0" cy="0"/>
        </a:xfrm>
      </p:grpSpPr>
      <p:sp>
        <p:nvSpPr>
          <p:cNvPr id="2" name="s6-forma-1"/>
          <p:cNvSpPr/>
          <p:nvPr/>
        </p:nvSpPr>
        <p:spPr>
          <a:xfrm>
            <a:off x="853390" y="520961"/>
            <a:ext cx="10484915" cy="5713"/>
          </a:xfrm>
          <a:prstGeom prst="rect">
            <a:avLst/>
          </a:prstGeom>
          <a:solidFill>
            <a:srgbClr val="C6BFAE"/>
          </a:solidFill>
          <a:ln/>
        </p:spPr>
      </p:sp>
      <p:sp>
        <p:nvSpPr>
          <p:cNvPr id="3" name="s6-forma-2"/>
          <p:cNvSpPr/>
          <p:nvPr/>
        </p:nvSpPr>
        <p:spPr>
          <a:xfrm>
            <a:off x="853390" y="331715"/>
            <a:ext cx="81411" cy="81411"/>
          </a:xfrm>
          <a:prstGeom prst="ellipse">
            <a:avLst/>
          </a:prstGeom>
          <a:solidFill>
            <a:srgbClr val="0033A0"/>
          </a:solidFill>
          <a:ln/>
        </p:spPr>
      </p:sp>
      <p:sp>
        <p:nvSpPr>
          <p:cNvPr id="4" name="s6-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6-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6-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3.2 · TOPOLOGÍAS</a:t>
            </a:r>
            <a:endParaRPr lang="en-US" sz="900" dirty="0"/>
          </a:p>
        </p:txBody>
      </p:sp>
      <p:sp>
        <p:nvSpPr>
          <p:cNvPr id="7" name="s6-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Quién decide define la topología</a:t>
            </a:r>
            <a:endParaRPr lang="en-US" sz="2879" dirty="0"/>
          </a:p>
        </p:txBody>
      </p:sp>
      <p:sp>
        <p:nvSpPr>
          <p:cNvPr id="8" name="s6-forma-7"/>
          <p:cNvSpPr/>
          <p:nvPr/>
        </p:nvSpPr>
        <p:spPr>
          <a:xfrm>
            <a:off x="1342572" y="2144634"/>
            <a:ext cx="2471618" cy="226202"/>
          </a:xfrm>
          <a:prstGeom prst="rect">
            <a:avLst/>
          </a:prstGeom>
          <a:ln/>
        </p:spPr>
      </p:sp>
      <p:sp>
        <p:nvSpPr>
          <p:cNvPr id="9" name="s6-forma-8"/>
          <p:cNvSpPr/>
          <p:nvPr/>
        </p:nvSpPr>
        <p:spPr>
          <a:xfrm>
            <a:off x="1342572" y="2365122"/>
            <a:ext cx="2471618" cy="5713"/>
          </a:xfrm>
          <a:prstGeom prst="rect">
            <a:avLst/>
          </a:prstGeom>
          <a:solidFill>
            <a:srgbClr val="0033A0"/>
          </a:solidFill>
          <a:ln/>
        </p:spPr>
      </p:sp>
      <p:sp>
        <p:nvSpPr>
          <p:cNvPr id="10" name="s6-texto-9"/>
          <p:cNvSpPr txBox="1"/>
          <p:nvPr/>
        </p:nvSpPr>
        <p:spPr>
          <a:xfrm>
            <a:off x="1418538" y="2193463"/>
            <a:ext cx="2458848"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TOPOLOGÍA</a:t>
            </a:r>
            <a:endParaRPr lang="en-US" sz="855" dirty="0"/>
          </a:p>
        </p:txBody>
      </p:sp>
      <p:sp>
        <p:nvSpPr>
          <p:cNvPr id="11" name="s6-forma-10"/>
          <p:cNvSpPr/>
          <p:nvPr/>
        </p:nvSpPr>
        <p:spPr>
          <a:xfrm>
            <a:off x="3814190" y="2144634"/>
            <a:ext cx="3042032" cy="226202"/>
          </a:xfrm>
          <a:prstGeom prst="rect">
            <a:avLst/>
          </a:prstGeom>
          <a:ln/>
        </p:spPr>
      </p:sp>
      <p:sp>
        <p:nvSpPr>
          <p:cNvPr id="12" name="s6-forma-11"/>
          <p:cNvSpPr/>
          <p:nvPr/>
        </p:nvSpPr>
        <p:spPr>
          <a:xfrm>
            <a:off x="3814190" y="2365122"/>
            <a:ext cx="3042032" cy="5713"/>
          </a:xfrm>
          <a:prstGeom prst="rect">
            <a:avLst/>
          </a:prstGeom>
          <a:solidFill>
            <a:srgbClr val="0033A0"/>
          </a:solidFill>
          <a:ln/>
        </p:spPr>
      </p:sp>
      <p:sp>
        <p:nvSpPr>
          <p:cNvPr id="13" name="s6-texto-12"/>
          <p:cNvSpPr txBox="1"/>
          <p:nvPr/>
        </p:nvSpPr>
        <p:spPr>
          <a:xfrm>
            <a:off x="3890156" y="2193463"/>
            <a:ext cx="3063487"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QUIÉN DECIDE</a:t>
            </a:r>
            <a:endParaRPr lang="en-US" sz="855" dirty="0"/>
          </a:p>
        </p:txBody>
      </p:sp>
      <p:sp>
        <p:nvSpPr>
          <p:cNvPr id="14" name="s6-forma-13"/>
          <p:cNvSpPr/>
          <p:nvPr/>
        </p:nvSpPr>
        <p:spPr>
          <a:xfrm>
            <a:off x="6856222" y="2144634"/>
            <a:ext cx="3992902" cy="226202"/>
          </a:xfrm>
          <a:prstGeom prst="rect">
            <a:avLst/>
          </a:prstGeom>
          <a:ln/>
        </p:spPr>
      </p:sp>
      <p:sp>
        <p:nvSpPr>
          <p:cNvPr id="15" name="s6-forma-14"/>
          <p:cNvSpPr/>
          <p:nvPr/>
        </p:nvSpPr>
        <p:spPr>
          <a:xfrm>
            <a:off x="6856222" y="2365122"/>
            <a:ext cx="3992902" cy="5713"/>
          </a:xfrm>
          <a:prstGeom prst="rect">
            <a:avLst/>
          </a:prstGeom>
          <a:solidFill>
            <a:srgbClr val="0033A0"/>
          </a:solidFill>
          <a:ln/>
        </p:spPr>
      </p:sp>
      <p:sp>
        <p:nvSpPr>
          <p:cNvPr id="16" name="s6-texto-15"/>
          <p:cNvSpPr txBox="1"/>
          <p:nvPr/>
        </p:nvSpPr>
        <p:spPr>
          <a:xfrm>
            <a:off x="6932188" y="2193463"/>
            <a:ext cx="4071409"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EN TU FÁBRICA</a:t>
            </a:r>
            <a:endParaRPr lang="en-US" sz="855" dirty="0"/>
          </a:p>
        </p:txBody>
      </p:sp>
      <p:sp>
        <p:nvSpPr>
          <p:cNvPr id="17" name="s6-forma-16"/>
          <p:cNvSpPr/>
          <p:nvPr/>
        </p:nvSpPr>
        <p:spPr>
          <a:xfrm>
            <a:off x="1342572" y="2370836"/>
            <a:ext cx="9506551" cy="316361"/>
          </a:xfrm>
          <a:prstGeom prst="rect">
            <a:avLst/>
          </a:prstGeom>
          <a:solidFill>
            <a:srgbClr val="E2D3C2"/>
          </a:solidFill>
          <a:ln/>
        </p:spPr>
      </p:sp>
      <p:sp>
        <p:nvSpPr>
          <p:cNvPr id="18" name="s6-forma-17"/>
          <p:cNvSpPr/>
          <p:nvPr/>
        </p:nvSpPr>
        <p:spPr>
          <a:xfrm>
            <a:off x="1342572" y="2370836"/>
            <a:ext cx="2471618" cy="316361"/>
          </a:xfrm>
          <a:prstGeom prst="rect">
            <a:avLst/>
          </a:prstGeom>
          <a:ln/>
        </p:spPr>
      </p:sp>
      <p:sp>
        <p:nvSpPr>
          <p:cNvPr id="19" name="s6-forma-18"/>
          <p:cNvSpPr/>
          <p:nvPr/>
        </p:nvSpPr>
        <p:spPr>
          <a:xfrm>
            <a:off x="1342572" y="2681484"/>
            <a:ext cx="2471618" cy="5713"/>
          </a:xfrm>
          <a:prstGeom prst="rect">
            <a:avLst/>
          </a:prstGeom>
          <a:solidFill>
            <a:srgbClr val="DBD4C4"/>
          </a:solidFill>
          <a:ln/>
        </p:spPr>
      </p:sp>
      <p:sp>
        <p:nvSpPr>
          <p:cNvPr id="20" name="s6-texto-19"/>
          <p:cNvSpPr txBox="1"/>
          <p:nvPr/>
        </p:nvSpPr>
        <p:spPr>
          <a:xfrm>
            <a:off x="1446478" y="2440464"/>
            <a:ext cx="2399557"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Orquestador con flujo fijo</a:t>
            </a:r>
            <a:endParaRPr lang="en-US" sz="1170" dirty="0"/>
          </a:p>
        </p:txBody>
      </p:sp>
      <p:sp>
        <p:nvSpPr>
          <p:cNvPr id="21" name="s6-forma-20"/>
          <p:cNvSpPr/>
          <p:nvPr/>
        </p:nvSpPr>
        <p:spPr>
          <a:xfrm>
            <a:off x="3814190" y="2370836"/>
            <a:ext cx="3042032" cy="316361"/>
          </a:xfrm>
          <a:prstGeom prst="rect">
            <a:avLst/>
          </a:prstGeom>
          <a:ln/>
        </p:spPr>
      </p:sp>
      <p:sp>
        <p:nvSpPr>
          <p:cNvPr id="22" name="s6-forma-21"/>
          <p:cNvSpPr/>
          <p:nvPr/>
        </p:nvSpPr>
        <p:spPr>
          <a:xfrm>
            <a:off x="3814190" y="2681484"/>
            <a:ext cx="3042032" cy="5713"/>
          </a:xfrm>
          <a:prstGeom prst="rect">
            <a:avLst/>
          </a:prstGeom>
          <a:solidFill>
            <a:srgbClr val="DBD4C4"/>
          </a:solidFill>
          <a:ln/>
        </p:spPr>
      </p:sp>
      <p:sp>
        <p:nvSpPr>
          <p:cNvPr id="23" name="s6-texto-22"/>
          <p:cNvSpPr txBox="1"/>
          <p:nvPr/>
        </p:nvSpPr>
        <p:spPr>
          <a:xfrm>
            <a:off x="3918096" y="2440464"/>
            <a:ext cx="3004197"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El grafo decide el orden</a:t>
            </a:r>
            <a:endParaRPr lang="en-US" sz="1170" dirty="0"/>
          </a:p>
        </p:txBody>
      </p:sp>
      <p:sp>
        <p:nvSpPr>
          <p:cNvPr id="24" name="s6-forma-23"/>
          <p:cNvSpPr/>
          <p:nvPr/>
        </p:nvSpPr>
        <p:spPr>
          <a:xfrm>
            <a:off x="6856222" y="2370836"/>
            <a:ext cx="3992902" cy="316361"/>
          </a:xfrm>
          <a:prstGeom prst="rect">
            <a:avLst/>
          </a:prstGeom>
          <a:ln/>
        </p:spPr>
      </p:sp>
      <p:sp>
        <p:nvSpPr>
          <p:cNvPr id="25" name="s6-forma-24"/>
          <p:cNvSpPr/>
          <p:nvPr/>
        </p:nvSpPr>
        <p:spPr>
          <a:xfrm>
            <a:off x="6856222" y="2681484"/>
            <a:ext cx="3992902" cy="5713"/>
          </a:xfrm>
          <a:prstGeom prst="rect">
            <a:avLst/>
          </a:prstGeom>
          <a:solidFill>
            <a:srgbClr val="DBD4C4"/>
          </a:solidFill>
          <a:ln/>
        </p:spPr>
      </p:sp>
      <p:sp>
        <p:nvSpPr>
          <p:cNvPr id="26" name="s6-texto-25"/>
          <p:cNvSpPr txBox="1"/>
          <p:nvPr/>
        </p:nvSpPr>
        <p:spPr>
          <a:xfrm>
            <a:off x="6960128" y="2440464"/>
            <a:ext cx="4012118"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Sesiones 2 y 3: LangGraph</a:t>
            </a:r>
            <a:endParaRPr lang="en-US" sz="1170" dirty="0"/>
          </a:p>
        </p:txBody>
      </p:sp>
      <p:sp>
        <p:nvSpPr>
          <p:cNvPr id="27" name="s6-forma-26"/>
          <p:cNvSpPr/>
          <p:nvPr/>
        </p:nvSpPr>
        <p:spPr>
          <a:xfrm>
            <a:off x="1342572" y="2687197"/>
            <a:ext cx="2471618" cy="316361"/>
          </a:xfrm>
          <a:prstGeom prst="rect">
            <a:avLst/>
          </a:prstGeom>
          <a:ln/>
        </p:spPr>
      </p:sp>
      <p:sp>
        <p:nvSpPr>
          <p:cNvPr id="28" name="s6-forma-27"/>
          <p:cNvSpPr/>
          <p:nvPr/>
        </p:nvSpPr>
        <p:spPr>
          <a:xfrm>
            <a:off x="1342572" y="2997845"/>
            <a:ext cx="2471618" cy="5713"/>
          </a:xfrm>
          <a:prstGeom prst="rect">
            <a:avLst/>
          </a:prstGeom>
          <a:solidFill>
            <a:srgbClr val="DBD4C4"/>
          </a:solidFill>
          <a:ln/>
        </p:spPr>
      </p:sp>
      <p:sp>
        <p:nvSpPr>
          <p:cNvPr id="29" name="s6-texto-28"/>
          <p:cNvSpPr txBox="1"/>
          <p:nvPr/>
        </p:nvSpPr>
        <p:spPr>
          <a:xfrm>
            <a:off x="1446478" y="2756825"/>
            <a:ext cx="2399557"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Supervisor</a:t>
            </a:r>
            <a:endParaRPr lang="en-US" sz="1170" dirty="0"/>
          </a:p>
        </p:txBody>
      </p:sp>
      <p:sp>
        <p:nvSpPr>
          <p:cNvPr id="30" name="s6-forma-29"/>
          <p:cNvSpPr/>
          <p:nvPr/>
        </p:nvSpPr>
        <p:spPr>
          <a:xfrm>
            <a:off x="3814190" y="2687197"/>
            <a:ext cx="3042032" cy="316361"/>
          </a:xfrm>
          <a:prstGeom prst="rect">
            <a:avLst/>
          </a:prstGeom>
          <a:ln/>
        </p:spPr>
      </p:sp>
      <p:sp>
        <p:nvSpPr>
          <p:cNvPr id="31" name="s6-forma-30"/>
          <p:cNvSpPr/>
          <p:nvPr/>
        </p:nvSpPr>
        <p:spPr>
          <a:xfrm>
            <a:off x="3814190" y="2997845"/>
            <a:ext cx="3042032" cy="5713"/>
          </a:xfrm>
          <a:prstGeom prst="rect">
            <a:avLst/>
          </a:prstGeom>
          <a:solidFill>
            <a:srgbClr val="DBD4C4"/>
          </a:solidFill>
          <a:ln/>
        </p:spPr>
      </p:sp>
      <p:sp>
        <p:nvSpPr>
          <p:cNvPr id="32" name="s6-texto-31"/>
          <p:cNvSpPr txBox="1"/>
          <p:nvPr/>
        </p:nvSpPr>
        <p:spPr>
          <a:xfrm>
            <a:off x="3918096" y="2756825"/>
            <a:ext cx="3004197"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Un agente elige a quién delegar</a:t>
            </a:r>
            <a:endParaRPr lang="en-US" sz="1170" dirty="0"/>
          </a:p>
        </p:txBody>
      </p:sp>
      <p:sp>
        <p:nvSpPr>
          <p:cNvPr id="33" name="s6-forma-32"/>
          <p:cNvSpPr/>
          <p:nvPr/>
        </p:nvSpPr>
        <p:spPr>
          <a:xfrm>
            <a:off x="6856222" y="2687197"/>
            <a:ext cx="3992902" cy="316361"/>
          </a:xfrm>
          <a:prstGeom prst="rect">
            <a:avLst/>
          </a:prstGeom>
          <a:ln/>
        </p:spPr>
      </p:sp>
      <p:sp>
        <p:nvSpPr>
          <p:cNvPr id="34" name="s6-forma-33"/>
          <p:cNvSpPr/>
          <p:nvPr/>
        </p:nvSpPr>
        <p:spPr>
          <a:xfrm>
            <a:off x="6856222" y="2997845"/>
            <a:ext cx="3992902" cy="5713"/>
          </a:xfrm>
          <a:prstGeom prst="rect">
            <a:avLst/>
          </a:prstGeom>
          <a:solidFill>
            <a:srgbClr val="DBD4C4"/>
          </a:solidFill>
          <a:ln/>
        </p:spPr>
      </p:sp>
      <p:sp>
        <p:nvSpPr>
          <p:cNvPr id="35" name="s6-texto-34"/>
          <p:cNvSpPr txBox="1"/>
          <p:nvPr/>
        </p:nvSpPr>
        <p:spPr>
          <a:xfrm>
            <a:off x="6960128" y="2756825"/>
            <a:ext cx="4012118"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Sesión 4: el triage</a:t>
            </a:r>
            <a:endParaRPr lang="en-US" sz="1170" dirty="0"/>
          </a:p>
        </p:txBody>
      </p:sp>
      <p:sp>
        <p:nvSpPr>
          <p:cNvPr id="36" name="s6-forma-35"/>
          <p:cNvSpPr/>
          <p:nvPr/>
        </p:nvSpPr>
        <p:spPr>
          <a:xfrm>
            <a:off x="1342572" y="3003558"/>
            <a:ext cx="2471618" cy="316361"/>
          </a:xfrm>
          <a:prstGeom prst="rect">
            <a:avLst/>
          </a:prstGeom>
          <a:ln/>
        </p:spPr>
      </p:sp>
      <p:sp>
        <p:nvSpPr>
          <p:cNvPr id="37" name="s6-forma-36"/>
          <p:cNvSpPr/>
          <p:nvPr/>
        </p:nvSpPr>
        <p:spPr>
          <a:xfrm>
            <a:off x="1342572" y="3314207"/>
            <a:ext cx="2471618" cy="5713"/>
          </a:xfrm>
          <a:prstGeom prst="rect">
            <a:avLst/>
          </a:prstGeom>
          <a:solidFill>
            <a:srgbClr val="DBD4C4"/>
          </a:solidFill>
          <a:ln/>
        </p:spPr>
      </p:sp>
      <p:sp>
        <p:nvSpPr>
          <p:cNvPr id="38" name="s6-texto-37"/>
          <p:cNvSpPr txBox="1"/>
          <p:nvPr/>
        </p:nvSpPr>
        <p:spPr>
          <a:xfrm>
            <a:off x="1446478" y="3073186"/>
            <a:ext cx="2399557"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Jerárquica</a:t>
            </a:r>
            <a:endParaRPr lang="en-US" sz="1170" dirty="0"/>
          </a:p>
        </p:txBody>
      </p:sp>
      <p:sp>
        <p:nvSpPr>
          <p:cNvPr id="39" name="s6-forma-38"/>
          <p:cNvSpPr/>
          <p:nvPr/>
        </p:nvSpPr>
        <p:spPr>
          <a:xfrm>
            <a:off x="3814190" y="3003558"/>
            <a:ext cx="3042032" cy="316361"/>
          </a:xfrm>
          <a:prstGeom prst="rect">
            <a:avLst/>
          </a:prstGeom>
          <a:ln/>
        </p:spPr>
      </p:sp>
      <p:sp>
        <p:nvSpPr>
          <p:cNvPr id="40" name="s6-forma-39"/>
          <p:cNvSpPr/>
          <p:nvPr/>
        </p:nvSpPr>
        <p:spPr>
          <a:xfrm>
            <a:off x="3814190" y="3314207"/>
            <a:ext cx="3042032" cy="5713"/>
          </a:xfrm>
          <a:prstGeom prst="rect">
            <a:avLst/>
          </a:prstGeom>
          <a:solidFill>
            <a:srgbClr val="DBD4C4"/>
          </a:solidFill>
          <a:ln/>
        </p:spPr>
      </p:sp>
      <p:sp>
        <p:nvSpPr>
          <p:cNvPr id="41" name="s6-texto-40"/>
          <p:cNvSpPr txBox="1"/>
          <p:nvPr/>
        </p:nvSpPr>
        <p:spPr>
          <a:xfrm>
            <a:off x="3918096" y="3073186"/>
            <a:ext cx="3004197"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Supervisores de supervisores</a:t>
            </a:r>
            <a:endParaRPr lang="en-US" sz="1170" dirty="0"/>
          </a:p>
        </p:txBody>
      </p:sp>
      <p:sp>
        <p:nvSpPr>
          <p:cNvPr id="42" name="s6-forma-41"/>
          <p:cNvSpPr/>
          <p:nvPr/>
        </p:nvSpPr>
        <p:spPr>
          <a:xfrm>
            <a:off x="6856222" y="3003558"/>
            <a:ext cx="3992902" cy="316361"/>
          </a:xfrm>
          <a:prstGeom prst="rect">
            <a:avLst/>
          </a:prstGeom>
          <a:ln/>
        </p:spPr>
      </p:sp>
      <p:sp>
        <p:nvSpPr>
          <p:cNvPr id="43" name="s6-forma-42"/>
          <p:cNvSpPr/>
          <p:nvPr/>
        </p:nvSpPr>
        <p:spPr>
          <a:xfrm>
            <a:off x="6856222" y="3314207"/>
            <a:ext cx="3992902" cy="5713"/>
          </a:xfrm>
          <a:prstGeom prst="rect">
            <a:avLst/>
          </a:prstGeom>
          <a:solidFill>
            <a:srgbClr val="DBD4C4"/>
          </a:solidFill>
          <a:ln/>
        </p:spPr>
      </p:sp>
      <p:sp>
        <p:nvSpPr>
          <p:cNvPr id="44" name="s6-texto-43"/>
          <p:cNvSpPr txBox="1"/>
          <p:nvPr/>
        </p:nvSpPr>
        <p:spPr>
          <a:xfrm>
            <a:off x="6960128" y="3073186"/>
            <a:ext cx="4012118"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No se usa; posible extensión</a:t>
            </a:r>
            <a:endParaRPr lang="en-US" sz="1170" dirty="0"/>
          </a:p>
        </p:txBody>
      </p:sp>
      <p:sp>
        <p:nvSpPr>
          <p:cNvPr id="45" name="s6-forma-44"/>
          <p:cNvSpPr/>
          <p:nvPr/>
        </p:nvSpPr>
        <p:spPr>
          <a:xfrm>
            <a:off x="1342572" y="3319920"/>
            <a:ext cx="2471618" cy="316361"/>
          </a:xfrm>
          <a:prstGeom prst="rect">
            <a:avLst/>
          </a:prstGeom>
          <a:ln/>
        </p:spPr>
      </p:sp>
      <p:sp>
        <p:nvSpPr>
          <p:cNvPr id="46" name="s6-forma-45"/>
          <p:cNvSpPr/>
          <p:nvPr/>
        </p:nvSpPr>
        <p:spPr>
          <a:xfrm>
            <a:off x="1342572" y="3630568"/>
            <a:ext cx="2471618" cy="5713"/>
          </a:xfrm>
          <a:prstGeom prst="rect">
            <a:avLst/>
          </a:prstGeom>
          <a:solidFill>
            <a:srgbClr val="DBD4C4"/>
          </a:solidFill>
          <a:ln/>
        </p:spPr>
      </p:sp>
      <p:sp>
        <p:nvSpPr>
          <p:cNvPr id="47" name="s6-texto-46"/>
          <p:cNvSpPr txBox="1"/>
          <p:nvPr/>
        </p:nvSpPr>
        <p:spPr>
          <a:xfrm>
            <a:off x="1446478" y="3389548"/>
            <a:ext cx="2399557"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Traspasos</a:t>
            </a:r>
            <a:endParaRPr lang="en-US" sz="1170" dirty="0"/>
          </a:p>
        </p:txBody>
      </p:sp>
      <p:sp>
        <p:nvSpPr>
          <p:cNvPr id="48" name="s6-forma-47"/>
          <p:cNvSpPr/>
          <p:nvPr/>
        </p:nvSpPr>
        <p:spPr>
          <a:xfrm>
            <a:off x="3814190" y="3319920"/>
            <a:ext cx="3042032" cy="316361"/>
          </a:xfrm>
          <a:prstGeom prst="rect">
            <a:avLst/>
          </a:prstGeom>
          <a:ln/>
        </p:spPr>
      </p:sp>
      <p:sp>
        <p:nvSpPr>
          <p:cNvPr id="49" name="s6-forma-48"/>
          <p:cNvSpPr/>
          <p:nvPr/>
        </p:nvSpPr>
        <p:spPr>
          <a:xfrm>
            <a:off x="3814190" y="3630568"/>
            <a:ext cx="3042032" cy="5713"/>
          </a:xfrm>
          <a:prstGeom prst="rect">
            <a:avLst/>
          </a:prstGeom>
          <a:solidFill>
            <a:srgbClr val="DBD4C4"/>
          </a:solidFill>
          <a:ln/>
        </p:spPr>
      </p:sp>
      <p:sp>
        <p:nvSpPr>
          <p:cNvPr id="50" name="s6-texto-49"/>
          <p:cNvSpPr txBox="1"/>
          <p:nvPr/>
        </p:nvSpPr>
        <p:spPr>
          <a:xfrm>
            <a:off x="3918096" y="3389548"/>
            <a:ext cx="3004197"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El agente activo pasa el control</a:t>
            </a:r>
            <a:endParaRPr lang="en-US" sz="1170" dirty="0"/>
          </a:p>
        </p:txBody>
      </p:sp>
      <p:sp>
        <p:nvSpPr>
          <p:cNvPr id="51" name="s6-forma-50"/>
          <p:cNvSpPr/>
          <p:nvPr/>
        </p:nvSpPr>
        <p:spPr>
          <a:xfrm>
            <a:off x="6856222" y="3319920"/>
            <a:ext cx="3992902" cy="316361"/>
          </a:xfrm>
          <a:prstGeom prst="rect">
            <a:avLst/>
          </a:prstGeom>
          <a:ln/>
        </p:spPr>
      </p:sp>
      <p:sp>
        <p:nvSpPr>
          <p:cNvPr id="52" name="s6-forma-51"/>
          <p:cNvSpPr/>
          <p:nvPr/>
        </p:nvSpPr>
        <p:spPr>
          <a:xfrm>
            <a:off x="6856222" y="3630568"/>
            <a:ext cx="3992902" cy="5713"/>
          </a:xfrm>
          <a:prstGeom prst="rect">
            <a:avLst/>
          </a:prstGeom>
          <a:solidFill>
            <a:srgbClr val="DBD4C4"/>
          </a:solidFill>
          <a:ln/>
        </p:spPr>
      </p:sp>
      <p:sp>
        <p:nvSpPr>
          <p:cNvPr id="53" name="s6-texto-52"/>
          <p:cNvSpPr txBox="1"/>
          <p:nvPr/>
        </p:nvSpPr>
        <p:spPr>
          <a:xfrm>
            <a:off x="6960128" y="3389548"/>
            <a:ext cx="4012118"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No se usa</a:t>
            </a:r>
            <a:endParaRPr lang="en-US" sz="1170" dirty="0"/>
          </a:p>
        </p:txBody>
      </p:sp>
      <p:sp>
        <p:nvSpPr>
          <p:cNvPr id="54" name="s6-texto-53"/>
          <p:cNvSpPr txBox="1"/>
          <p:nvPr/>
        </p:nvSpPr>
        <p:spPr>
          <a:xfrm>
            <a:off x="1446478" y="3705909"/>
            <a:ext cx="2399557"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Pizarra</a:t>
            </a:r>
            <a:endParaRPr lang="en-US" sz="1170" dirty="0"/>
          </a:p>
        </p:txBody>
      </p:sp>
      <p:sp>
        <p:nvSpPr>
          <p:cNvPr id="55" name="s6-texto-54"/>
          <p:cNvSpPr txBox="1"/>
          <p:nvPr/>
        </p:nvSpPr>
        <p:spPr>
          <a:xfrm>
            <a:off x="3918096" y="3705909"/>
            <a:ext cx="3004197"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Todos leen un estado común</a:t>
            </a:r>
            <a:endParaRPr lang="en-US" sz="1170" dirty="0"/>
          </a:p>
        </p:txBody>
      </p:sp>
      <p:sp>
        <p:nvSpPr>
          <p:cNvPr id="56" name="s6-texto-55"/>
          <p:cNvSpPr txBox="1"/>
          <p:nvPr/>
        </p:nvSpPr>
        <p:spPr>
          <a:xfrm>
            <a:off x="6960128" y="3705909"/>
            <a:ext cx="4012118"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La carpeta salida/ y el estado del grafo</a:t>
            </a:r>
            <a:endParaRPr lang="en-US" sz="1170" dirty="0"/>
          </a:p>
        </p:txBody>
      </p:sp>
      <p:sp>
        <p:nvSpPr>
          <p:cNvPr id="57" name="s6-texto-56"/>
          <p:cNvSpPr txBox="1"/>
          <p:nvPr/>
        </p:nvSpPr>
        <p:spPr>
          <a:xfrm>
            <a:off x="1342572" y="4246865"/>
            <a:ext cx="10076945" cy="188531"/>
          </a:xfrm>
          <a:prstGeom prst="rect">
            <a:avLst/>
          </a:prstGeom>
          <a:noFill/>
          <a:ln/>
        </p:spPr>
        <p:txBody>
          <a:bodyPr wrap="none" lIns="0" tIns="0" rIns="0" bIns="0" rtlCol="0" anchor="t"/>
          <a:lstStyle/>
          <a:p>
            <a:pPr algn="l" indent="0" marL="0">
              <a:lnSpc>
                <a:spcPts val="1889"/>
              </a:lnSpc>
              <a:buNone/>
            </a:pPr>
            <a:r>
              <a:rPr lang="en-US" sz="1350" dirty="0">
                <a:solidFill>
                  <a:srgbClr val="16181D"/>
                </a:solidFill>
                <a:latin typeface="Arial" pitchFamily="34" charset="0"/>
                <a:ea typeface="Arial" pitchFamily="34" charset="-122"/>
                <a:cs typeface="Arial" pitchFamily="34" charset="-120"/>
              </a:rPr>
              <a:t>Hoy: un orquestador con flujo fijo y </a:t>
            </a:r>
            <a:pPr algn="l" indent="0" marL="0">
              <a:lnSpc>
                <a:spcPts val="1889"/>
              </a:lnSpc>
              <a:buNone/>
            </a:pPr>
            <a:r>
              <a:rPr lang="en-US" sz="1350" b="1" dirty="0">
                <a:solidFill>
                  <a:srgbClr val="0033A0"/>
                </a:solidFill>
                <a:latin typeface="Arial" pitchFamily="34" charset="0"/>
                <a:ea typeface="Arial" pitchFamily="34" charset="-122"/>
                <a:cs typeface="Arial" pitchFamily="34" charset="-120"/>
              </a:rPr>
              <a:t>una rama en paralelo</a:t>
            </a:r>
            <a:pPr algn="l" indent="0" marL="0">
              <a:lnSpc>
                <a:spcPts val="1889"/>
              </a:lnSpc>
              <a:buNone/>
            </a:pPr>
            <a:r>
              <a:rPr lang="en-US" sz="1350" dirty="0">
                <a:solidFill>
                  <a:srgbClr val="16181D"/>
                </a:solidFill>
                <a:latin typeface="Arial" pitchFamily="34" charset="0"/>
                <a:ea typeface="Arial" pitchFamily="34" charset="-122"/>
                <a:cs typeface="Arial" pitchFamily="34" charset="-120"/>
              </a:rPr>
              <a:t>.</a:t>
            </a:r>
            <a:endParaRPr lang="en-US" sz="1350" dirty="0"/>
          </a:p>
        </p:txBody>
      </p:sp>
      <p:sp>
        <p:nvSpPr>
          <p:cNvPr id="58" name="s6-texto-57"/>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Sistemas multi-agente</a:t>
            </a:r>
            <a:endParaRPr lang="en-US" sz="1080" dirty="0"/>
          </a:p>
        </p:txBody>
      </p:sp>
      <p:sp>
        <p:nvSpPr>
          <p:cNvPr id="59" name="s6-forma-58"/>
          <p:cNvSpPr/>
          <p:nvPr/>
        </p:nvSpPr>
        <p:spPr>
          <a:xfrm>
            <a:off x="853390" y="6411138"/>
            <a:ext cx="10484915" cy="5713"/>
          </a:xfrm>
          <a:prstGeom prst="rect">
            <a:avLst/>
          </a:prstGeom>
          <a:solidFill>
            <a:srgbClr val="DBD4C4"/>
          </a:solidFill>
          <a:ln/>
        </p:spPr>
      </p:sp>
      <p:pic>
        <p:nvPicPr>
          <p:cNvPr id="60" name="s6-logo-59"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61" name="s6-forma-60"/>
          <p:cNvSpPr/>
          <p:nvPr/>
        </p:nvSpPr>
        <p:spPr>
          <a:xfrm>
            <a:off x="1659380" y="6519865"/>
            <a:ext cx="2926878" cy="102835"/>
          </a:xfrm>
          <a:prstGeom prst="rect">
            <a:avLst/>
          </a:prstGeom>
          <a:ln/>
        </p:spPr>
      </p:sp>
      <p:sp>
        <p:nvSpPr>
          <p:cNvPr id="62" name="s6-forma-61"/>
          <p:cNvSpPr/>
          <p:nvPr/>
        </p:nvSpPr>
        <p:spPr>
          <a:xfrm>
            <a:off x="1659380" y="6519865"/>
            <a:ext cx="5713" cy="102835"/>
          </a:xfrm>
          <a:prstGeom prst="rect">
            <a:avLst/>
          </a:prstGeom>
          <a:solidFill>
            <a:srgbClr val="C6BFAE"/>
          </a:solidFill>
          <a:ln/>
        </p:spPr>
      </p:sp>
      <p:sp>
        <p:nvSpPr>
          <p:cNvPr id="63" name="s6-texto-62"/>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64" name="s6-texto-63"/>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6 / 36</a:t>
            </a:r>
            <a:endParaRPr lang="en-US" sz="745" dirty="0"/>
          </a:p>
        </p:txBody>
      </p:sp>
      <p:sp>
        <p:nvSpPr>
          <p:cNvPr id="65" name="s6-forma-64"/>
          <p:cNvSpPr/>
          <p:nvPr/>
        </p:nvSpPr>
        <p:spPr>
          <a:xfrm>
            <a:off x="0" y="0"/>
            <a:ext cx="2031890" cy="17139"/>
          </a:xfrm>
          <a:prstGeom prst="rect">
            <a:avLst/>
          </a:prstGeom>
          <a:solidFill>
            <a:srgbClr val="0033A0"/>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8DC"/>
        </a:solidFill>
      </p:bgPr>
    </p:bg>
    <p:spTree>
      <p:nvGrpSpPr>
        <p:cNvPr id="1" name=""/>
        <p:cNvGrpSpPr/>
        <p:nvPr/>
      </p:nvGrpSpPr>
      <p:grpSpPr>
        <a:xfrm>
          <a:off x="0" y="0"/>
          <a:ext cx="0" cy="0"/>
          <a:chOff x="0" y="0"/>
          <a:chExt cx="0" cy="0"/>
        </a:xfrm>
      </p:grpSpPr>
      <p:sp>
        <p:nvSpPr>
          <p:cNvPr id="2" name="s7-forma-1"/>
          <p:cNvSpPr/>
          <p:nvPr/>
        </p:nvSpPr>
        <p:spPr>
          <a:xfrm>
            <a:off x="853390" y="520961"/>
            <a:ext cx="10484915" cy="5713"/>
          </a:xfrm>
          <a:prstGeom prst="rect">
            <a:avLst/>
          </a:prstGeom>
          <a:solidFill>
            <a:srgbClr val="C6BFAE"/>
          </a:solidFill>
          <a:ln/>
        </p:spPr>
      </p:sp>
      <p:sp>
        <p:nvSpPr>
          <p:cNvPr id="3" name="s7-forma-2"/>
          <p:cNvSpPr/>
          <p:nvPr/>
        </p:nvSpPr>
        <p:spPr>
          <a:xfrm>
            <a:off x="853390" y="331715"/>
            <a:ext cx="81411" cy="81411"/>
          </a:xfrm>
          <a:prstGeom prst="ellipse">
            <a:avLst/>
          </a:prstGeom>
          <a:solidFill>
            <a:srgbClr val="0033A0"/>
          </a:solidFill>
          <a:ln/>
        </p:spPr>
      </p:sp>
      <p:sp>
        <p:nvSpPr>
          <p:cNvPr id="4" name="s7-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7-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7-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LA IDEA</a:t>
            </a:r>
            <a:endParaRPr lang="en-US" sz="900" dirty="0"/>
          </a:p>
        </p:txBody>
      </p:sp>
      <p:sp>
        <p:nvSpPr>
          <p:cNvPr id="7" name="s7-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Supervisor: un coordinador central</a:t>
            </a:r>
            <a:endParaRPr lang="en-US" sz="2879" dirty="0"/>
          </a:p>
        </p:txBody>
      </p:sp>
      <p:sp>
        <p:nvSpPr>
          <p:cNvPr id="8" name="s7-forma-7"/>
          <p:cNvSpPr/>
          <p:nvPr/>
        </p:nvSpPr>
        <p:spPr>
          <a:xfrm>
            <a:off x="1342572" y="2228098"/>
            <a:ext cx="4341935" cy="884276"/>
          </a:xfrm>
          <a:prstGeom prst="rect">
            <a:avLst/>
          </a:prstGeom>
          <a:solidFill>
            <a:srgbClr val="E3DCCB"/>
          </a:solidFill>
          <a:ln w="5713">
            <a:solidFill>
              <a:srgbClr val="585E6F"/>
            </a:solidFill>
            <a:prstDash val="dash"/>
          </a:ln>
        </p:spPr>
      </p:sp>
      <p:sp>
        <p:nvSpPr>
          <p:cNvPr id="9" name="s7-texto-8"/>
          <p:cNvSpPr txBox="1"/>
          <p:nvPr/>
        </p:nvSpPr>
        <p:spPr>
          <a:xfrm>
            <a:off x="1576808" y="234807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Un agente con todo</a:t>
            </a:r>
            <a:endParaRPr lang="en-US" sz="1260" dirty="0"/>
          </a:p>
        </p:txBody>
      </p:sp>
      <p:sp>
        <p:nvSpPr>
          <p:cNvPr id="10" name="s7-texto-9"/>
          <p:cNvSpPr txBox="1"/>
          <p:nvPr/>
        </p:nvSpPr>
        <p:spPr>
          <a:xfrm>
            <a:off x="1576808" y="2593735"/>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Demasiadas herramientas e instrucciones en un solo agente: elige mal y su contexto se llena.</a:t>
            </a:r>
            <a:endParaRPr lang="en-US" sz="1170" dirty="0"/>
          </a:p>
        </p:txBody>
      </p:sp>
      <p:sp>
        <p:nvSpPr>
          <p:cNvPr id="11" name="s7-forma-10"/>
          <p:cNvSpPr/>
          <p:nvPr/>
        </p:nvSpPr>
        <p:spPr>
          <a:xfrm>
            <a:off x="1342572" y="3249488"/>
            <a:ext cx="4341935" cy="884276"/>
          </a:xfrm>
          <a:prstGeom prst="rect">
            <a:avLst/>
          </a:prstGeom>
          <a:solidFill>
            <a:srgbClr val="E3DCCB"/>
          </a:solidFill>
          <a:ln w="5713">
            <a:solidFill>
              <a:srgbClr val="585E6F"/>
            </a:solidFill>
            <a:prstDash val="dash"/>
          </a:ln>
        </p:spPr>
      </p:sp>
      <p:sp>
        <p:nvSpPr>
          <p:cNvPr id="12" name="s7-texto-11"/>
          <p:cNvSpPr txBox="1"/>
          <p:nvPr/>
        </p:nvSpPr>
        <p:spPr>
          <a:xfrm>
            <a:off x="1576808" y="336946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Agentes sin coordinación</a:t>
            </a:r>
            <a:endParaRPr lang="en-US" sz="1260" dirty="0"/>
          </a:p>
        </p:txBody>
      </p:sp>
      <p:sp>
        <p:nvSpPr>
          <p:cNvPr id="13" name="s7-texto-12"/>
          <p:cNvSpPr txBox="1"/>
          <p:nvPr/>
        </p:nvSpPr>
        <p:spPr>
          <a:xfrm>
            <a:off x="1576808" y="3615125"/>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Cada uno hace lo suyo, pero nadie decide el orden ni sabe cuándo terminó el trabajo.</a:t>
            </a:r>
            <a:endParaRPr lang="en-US" sz="1170" dirty="0"/>
          </a:p>
        </p:txBody>
      </p:sp>
      <p:sp>
        <p:nvSpPr>
          <p:cNvPr id="14" name="s7-forma-13"/>
          <p:cNvSpPr/>
          <p:nvPr/>
        </p:nvSpPr>
        <p:spPr>
          <a:xfrm>
            <a:off x="1342572" y="4270878"/>
            <a:ext cx="4341935" cy="1092179"/>
          </a:xfrm>
          <a:prstGeom prst="rect">
            <a:avLst/>
          </a:prstGeom>
          <a:solidFill>
            <a:srgbClr val="E2D3C2"/>
          </a:solidFill>
          <a:ln w="5713">
            <a:solidFill>
              <a:srgbClr val="984514"/>
            </a:solidFill>
            <a:prstDash val="solid"/>
          </a:ln>
        </p:spPr>
      </p:sp>
      <p:sp>
        <p:nvSpPr>
          <p:cNvPr id="15" name="s7-texto-14"/>
          <p:cNvSpPr txBox="1"/>
          <p:nvPr/>
        </p:nvSpPr>
        <p:spPr>
          <a:xfrm>
            <a:off x="1576808" y="439085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Supervisor</a:t>
            </a:r>
            <a:endParaRPr lang="en-US" sz="1260" dirty="0"/>
          </a:p>
        </p:txBody>
      </p:sp>
      <p:sp>
        <p:nvSpPr>
          <p:cNvPr id="16" name="s7-texto-15"/>
          <p:cNvSpPr txBox="1"/>
          <p:nvPr/>
        </p:nvSpPr>
        <p:spPr>
          <a:xfrm>
            <a:off x="1576808" y="4636515"/>
            <a:ext cx="4105870" cy="587197"/>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Un agente central recibe la tarea, decide a qué especialista delegar, recibe cada resultado y decide el siguiente paso.</a:t>
            </a:r>
            <a:endParaRPr lang="en-US" sz="1170" dirty="0"/>
          </a:p>
        </p:txBody>
      </p:sp>
      <p:sp>
        <p:nvSpPr>
          <p:cNvPr id="17" name="s7-forma-16"/>
          <p:cNvSpPr/>
          <p:nvPr/>
        </p:nvSpPr>
        <p:spPr>
          <a:xfrm>
            <a:off x="6095848" y="2228098"/>
            <a:ext cx="4753276" cy="1882814"/>
          </a:xfrm>
          <a:prstGeom prst="rect">
            <a:avLst/>
          </a:prstGeom>
          <a:solidFill>
            <a:srgbClr val="E8E2D5"/>
          </a:solidFill>
          <a:ln/>
        </p:spPr>
      </p:sp>
      <p:sp>
        <p:nvSpPr>
          <p:cNvPr id="18" name="s7-forma-17"/>
          <p:cNvSpPr/>
          <p:nvPr/>
        </p:nvSpPr>
        <p:spPr>
          <a:xfrm>
            <a:off x="6095848" y="2228098"/>
            <a:ext cx="4753276" cy="5713"/>
          </a:xfrm>
          <a:prstGeom prst="rect">
            <a:avLst/>
          </a:prstGeom>
          <a:solidFill>
            <a:srgbClr val="DBD4C4"/>
          </a:solidFill>
          <a:ln/>
        </p:spPr>
      </p:sp>
      <p:sp>
        <p:nvSpPr>
          <p:cNvPr id="19" name="s7-forma-18"/>
          <p:cNvSpPr/>
          <p:nvPr/>
        </p:nvSpPr>
        <p:spPr>
          <a:xfrm>
            <a:off x="6095848" y="4105199"/>
            <a:ext cx="4753276" cy="5713"/>
          </a:xfrm>
          <a:prstGeom prst="rect">
            <a:avLst/>
          </a:prstGeom>
          <a:solidFill>
            <a:srgbClr val="DBD4C4"/>
          </a:solidFill>
          <a:ln/>
        </p:spPr>
      </p:sp>
      <p:sp>
        <p:nvSpPr>
          <p:cNvPr id="20" name="s7-forma-19"/>
          <p:cNvSpPr/>
          <p:nvPr/>
        </p:nvSpPr>
        <p:spPr>
          <a:xfrm>
            <a:off x="6095848" y="2228098"/>
            <a:ext cx="17139" cy="1882814"/>
          </a:xfrm>
          <a:prstGeom prst="rect">
            <a:avLst/>
          </a:prstGeom>
          <a:solidFill>
            <a:srgbClr val="C6BFAE"/>
          </a:solidFill>
          <a:ln/>
        </p:spPr>
      </p:sp>
      <p:sp>
        <p:nvSpPr>
          <p:cNvPr id="21" name="s7-forma-20"/>
          <p:cNvSpPr/>
          <p:nvPr/>
        </p:nvSpPr>
        <p:spPr>
          <a:xfrm>
            <a:off x="10843410" y="2228098"/>
            <a:ext cx="5713" cy="1882814"/>
          </a:xfrm>
          <a:prstGeom prst="rect">
            <a:avLst/>
          </a:prstGeom>
          <a:solidFill>
            <a:srgbClr val="DBD4C4"/>
          </a:solidFill>
          <a:ln/>
        </p:spPr>
      </p:sp>
      <p:sp>
        <p:nvSpPr>
          <p:cNvPr id="22" name="s7-texto-21"/>
          <p:cNvSpPr txBox="1"/>
          <p:nvPr/>
        </p:nvSpPr>
        <p:spPr>
          <a:xfrm>
            <a:off x="6295805" y="2410916"/>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Supervisor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hay una historia nueva → delega al analista</a:t>
            </a:r>
            <a:endParaRPr lang="en-US" sz="1080" dirty="0"/>
          </a:p>
        </p:txBody>
      </p:sp>
      <p:sp>
        <p:nvSpPr>
          <p:cNvPr id="23" name="s7-texto-22"/>
          <p:cNvSpPr txBox="1"/>
          <p:nvPr/>
        </p:nvSpPr>
        <p:spPr>
          <a:xfrm>
            <a:off x="6295805" y="2682823"/>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0033A0"/>
                </a:solidFill>
                <a:latin typeface="Arial" pitchFamily="34" charset="0"/>
                <a:ea typeface="Arial" pitchFamily="34" charset="-122"/>
                <a:cs typeface="Arial" pitchFamily="34" charset="-120"/>
              </a:rPr>
              <a:t>Analista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entrega criterios.feature → regresa al supervisor</a:t>
            </a:r>
            <a:endParaRPr lang="en-US" sz="1080" dirty="0"/>
          </a:p>
        </p:txBody>
      </p:sp>
      <p:sp>
        <p:nvSpPr>
          <p:cNvPr id="24" name="s7-texto-23"/>
          <p:cNvSpPr txBox="1"/>
          <p:nvPr/>
        </p:nvSpPr>
        <p:spPr>
          <a:xfrm>
            <a:off x="6295805" y="2954729"/>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Supervisor</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 delega al tester</a:t>
            </a:r>
            <a:endParaRPr lang="en-US" sz="1080" dirty="0"/>
          </a:p>
        </p:txBody>
      </p:sp>
      <p:sp>
        <p:nvSpPr>
          <p:cNvPr id="25" name="s7-texto-24"/>
          <p:cNvSpPr txBox="1"/>
          <p:nvPr/>
        </p:nvSpPr>
        <p:spPr>
          <a:xfrm>
            <a:off x="6295805" y="3226636"/>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0033A0"/>
                </a:solidFill>
                <a:latin typeface="Arial" pitchFamily="34" charset="0"/>
                <a:ea typeface="Arial" pitchFamily="34" charset="-122"/>
                <a:cs typeface="Arial" pitchFamily="34" charset="-120"/>
              </a:rPr>
              <a:t>Tester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entrega casos_prueba.json → regresa al supervisor</a:t>
            </a:r>
            <a:endParaRPr lang="en-US" sz="1080" dirty="0"/>
          </a:p>
        </p:txBody>
      </p:sp>
      <p:sp>
        <p:nvSpPr>
          <p:cNvPr id="26" name="s7-texto-25"/>
          <p:cNvSpPr txBox="1"/>
          <p:nvPr/>
        </p:nvSpPr>
        <p:spPr>
          <a:xfrm>
            <a:off x="6295805" y="3498542"/>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Supervisor</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 delega al desarrollador</a:t>
            </a:r>
            <a:endParaRPr lang="en-US" sz="1080" dirty="0"/>
          </a:p>
        </p:txBody>
      </p:sp>
      <p:sp>
        <p:nvSpPr>
          <p:cNvPr id="27" name="s7-texto-26"/>
          <p:cNvSpPr txBox="1"/>
          <p:nvPr/>
        </p:nvSpPr>
        <p:spPr>
          <a:xfrm>
            <a:off x="6295805" y="3770449"/>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16181D"/>
                </a:solidFill>
                <a:latin typeface="Arial" pitchFamily="34" charset="0"/>
                <a:ea typeface="Arial" pitchFamily="34" charset="-122"/>
                <a:cs typeface="Arial" pitchFamily="34" charset="-120"/>
              </a:rPr>
              <a:t>Supervisor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todo está entregado: «terminado»</a:t>
            </a:r>
            <a:endParaRPr lang="en-US" sz="1080" dirty="0"/>
          </a:p>
        </p:txBody>
      </p:sp>
      <p:sp>
        <p:nvSpPr>
          <p:cNvPr id="28" name="s7-texto-27"/>
          <p:cNvSpPr txBox="1"/>
          <p:nvPr/>
        </p:nvSpPr>
        <p:spPr>
          <a:xfrm>
            <a:off x="6095848" y="4288017"/>
            <a:ext cx="5038472" cy="346176"/>
          </a:xfrm>
          <a:prstGeom prst="rect">
            <a:avLst/>
          </a:prstGeom>
          <a:noFill/>
          <a:ln/>
        </p:spPr>
        <p:txBody>
          <a:bodyPr wrap="square" lIns="0" tIns="0" rIns="0" bIns="0" rtlCol="0" anchor="t"/>
          <a:lstStyle/>
          <a:p>
            <a:pPr algn="l" indent="0" marL="0">
              <a:lnSpc>
                <a:spcPts val="1512"/>
              </a:lnSpc>
              <a:buNone/>
            </a:pPr>
            <a:r>
              <a:rPr lang="en-US" sz="1080" dirty="0">
                <a:solidFill>
                  <a:srgbClr val="585E6F"/>
                </a:solidFill>
                <a:latin typeface="Arial" pitchFamily="34" charset="0"/>
                <a:ea typeface="Arial" pitchFamily="34" charset="-122"/>
                <a:cs typeface="Arial" pitchFamily="34" charset="-120"/>
              </a:rPr>
              <a:t>Los especialistas nunca hablan entre sí: todo pasa por el supervisor. Es fácil de seguir, pero es un cuello de botella.</a:t>
            </a:r>
            <a:endParaRPr lang="en-US" sz="1080" dirty="0"/>
          </a:p>
        </p:txBody>
      </p:sp>
      <p:sp>
        <p:nvSpPr>
          <p:cNvPr id="29" name="s7-texto-28"/>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 · LangGraph, documentación de sistemas multi-agente</a:t>
            </a:r>
            <a:endParaRPr lang="en-US" sz="1080" dirty="0"/>
          </a:p>
        </p:txBody>
      </p:sp>
      <p:sp>
        <p:nvSpPr>
          <p:cNvPr id="30" name="s7-forma-29"/>
          <p:cNvSpPr/>
          <p:nvPr/>
        </p:nvSpPr>
        <p:spPr>
          <a:xfrm>
            <a:off x="853390" y="6411138"/>
            <a:ext cx="10484915" cy="5713"/>
          </a:xfrm>
          <a:prstGeom prst="rect">
            <a:avLst/>
          </a:prstGeom>
          <a:solidFill>
            <a:srgbClr val="DBD4C4"/>
          </a:solidFill>
          <a:ln/>
        </p:spPr>
      </p:sp>
      <p:pic>
        <p:nvPicPr>
          <p:cNvPr id="31" name="s7-logo-30"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32" name="s7-forma-31"/>
          <p:cNvSpPr/>
          <p:nvPr/>
        </p:nvSpPr>
        <p:spPr>
          <a:xfrm>
            <a:off x="1659380" y="6519865"/>
            <a:ext cx="2926878" cy="102835"/>
          </a:xfrm>
          <a:prstGeom prst="rect">
            <a:avLst/>
          </a:prstGeom>
          <a:ln/>
        </p:spPr>
      </p:sp>
      <p:sp>
        <p:nvSpPr>
          <p:cNvPr id="33" name="s7-forma-32"/>
          <p:cNvSpPr/>
          <p:nvPr/>
        </p:nvSpPr>
        <p:spPr>
          <a:xfrm>
            <a:off x="1659380" y="6519865"/>
            <a:ext cx="5713" cy="102835"/>
          </a:xfrm>
          <a:prstGeom prst="rect">
            <a:avLst/>
          </a:prstGeom>
          <a:solidFill>
            <a:srgbClr val="C6BFAE"/>
          </a:solidFill>
          <a:ln/>
        </p:spPr>
      </p:sp>
      <p:sp>
        <p:nvSpPr>
          <p:cNvPr id="34" name="s7-texto-33"/>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5" name="s7-texto-34"/>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7 / 36</a:t>
            </a:r>
            <a:endParaRPr lang="en-US" sz="745" dirty="0"/>
          </a:p>
        </p:txBody>
      </p:sp>
      <p:sp>
        <p:nvSpPr>
          <p:cNvPr id="36" name="s7-forma-35"/>
          <p:cNvSpPr/>
          <p:nvPr/>
        </p:nvSpPr>
        <p:spPr>
          <a:xfrm>
            <a:off x="0" y="0"/>
            <a:ext cx="2370568" cy="17139"/>
          </a:xfrm>
          <a:prstGeom prst="rect">
            <a:avLst/>
          </a:prstGeom>
          <a:solidFill>
            <a:srgbClr val="0033A0"/>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8DC"/>
        </a:solidFill>
      </p:bgPr>
    </p:bg>
    <p:spTree>
      <p:nvGrpSpPr>
        <p:cNvPr id="1" name=""/>
        <p:cNvGrpSpPr/>
        <p:nvPr/>
      </p:nvGrpSpPr>
      <p:grpSpPr>
        <a:xfrm>
          <a:off x="0" y="0"/>
          <a:ext cx="0" cy="0"/>
          <a:chOff x="0" y="0"/>
          <a:chExt cx="0" cy="0"/>
        </a:xfrm>
      </p:grpSpPr>
      <p:sp>
        <p:nvSpPr>
          <p:cNvPr id="2" name="s8-forma-1"/>
          <p:cNvSpPr/>
          <p:nvPr/>
        </p:nvSpPr>
        <p:spPr>
          <a:xfrm>
            <a:off x="853390" y="520961"/>
            <a:ext cx="10484915" cy="5713"/>
          </a:xfrm>
          <a:prstGeom prst="rect">
            <a:avLst/>
          </a:prstGeom>
          <a:solidFill>
            <a:srgbClr val="C6BFAE"/>
          </a:solidFill>
          <a:ln/>
        </p:spPr>
      </p:sp>
      <p:sp>
        <p:nvSpPr>
          <p:cNvPr id="3" name="s8-forma-2"/>
          <p:cNvSpPr/>
          <p:nvPr/>
        </p:nvSpPr>
        <p:spPr>
          <a:xfrm>
            <a:off x="853390" y="331715"/>
            <a:ext cx="81411" cy="81411"/>
          </a:xfrm>
          <a:prstGeom prst="ellipse">
            <a:avLst/>
          </a:prstGeom>
          <a:solidFill>
            <a:srgbClr val="0033A0"/>
          </a:solidFill>
          <a:ln/>
        </p:spPr>
      </p:sp>
      <p:sp>
        <p:nvSpPr>
          <p:cNvPr id="4" name="s8-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8-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8-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1 DE 5</a:t>
            </a:r>
            <a:endParaRPr lang="en-US" sz="900" dirty="0"/>
          </a:p>
        </p:txBody>
      </p:sp>
      <p:sp>
        <p:nvSpPr>
          <p:cNvPr id="7" name="s8-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Supervisor: uno coordina a todos</a:t>
            </a:r>
            <a:endParaRPr lang="en-US" sz="2879" dirty="0"/>
          </a:p>
        </p:txBody>
      </p:sp>
      <p:sp>
        <p:nvSpPr>
          <p:cNvPr id="8" name="s8-forma-7"/>
          <p:cNvSpPr/>
          <p:nvPr/>
        </p:nvSpPr>
        <p:spPr>
          <a:xfrm>
            <a:off x="3170755" y="2228098"/>
            <a:ext cx="1371137" cy="628438"/>
          </a:xfrm>
          <a:prstGeom prst="rect">
            <a:avLst/>
          </a:prstGeom>
          <a:solidFill>
            <a:srgbClr val="E2D3C2"/>
          </a:solidFill>
          <a:ln w="5713">
            <a:solidFill>
              <a:srgbClr val="984514"/>
            </a:solidFill>
            <a:prstDash val="solid"/>
          </a:ln>
        </p:spPr>
      </p:sp>
      <p:sp>
        <p:nvSpPr>
          <p:cNvPr id="9" name="s8-texto-8"/>
          <p:cNvSpPr txBox="1"/>
          <p:nvPr/>
        </p:nvSpPr>
        <p:spPr>
          <a:xfrm>
            <a:off x="3413394" y="2359499"/>
            <a:ext cx="885858"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Supervisor</a:t>
            </a:r>
            <a:endParaRPr lang="en-US" sz="1260" dirty="0"/>
          </a:p>
        </p:txBody>
      </p:sp>
      <p:sp>
        <p:nvSpPr>
          <p:cNvPr id="10" name="s8-texto-9"/>
          <p:cNvSpPr txBox="1"/>
          <p:nvPr/>
        </p:nvSpPr>
        <p:spPr>
          <a:xfrm>
            <a:off x="3250265" y="2565169"/>
            <a:ext cx="1212117"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decide quién sigue</a:t>
            </a:r>
            <a:endParaRPr lang="en-US" sz="1080" dirty="0"/>
          </a:p>
        </p:txBody>
      </p:sp>
      <p:sp>
        <p:nvSpPr>
          <p:cNvPr id="11" name="s8-forma-10"/>
          <p:cNvSpPr/>
          <p:nvPr/>
        </p:nvSpPr>
        <p:spPr>
          <a:xfrm>
            <a:off x="1342572" y="3942020"/>
            <a:ext cx="1371137" cy="628438"/>
          </a:xfrm>
          <a:prstGeom prst="rect">
            <a:avLst/>
          </a:prstGeom>
          <a:solidFill>
            <a:srgbClr val="E3DCCB"/>
          </a:solidFill>
          <a:ln w="5713">
            <a:solidFill>
              <a:srgbClr val="585E6F"/>
            </a:solidFill>
            <a:prstDash val="solid"/>
          </a:ln>
        </p:spPr>
      </p:sp>
      <p:sp>
        <p:nvSpPr>
          <p:cNvPr id="12" name="s8-texto-11"/>
          <p:cNvSpPr txBox="1"/>
          <p:nvPr/>
        </p:nvSpPr>
        <p:spPr>
          <a:xfrm>
            <a:off x="1694104" y="4164829"/>
            <a:ext cx="668072"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Analista</a:t>
            </a:r>
            <a:endParaRPr lang="en-US" sz="1260" dirty="0"/>
          </a:p>
        </p:txBody>
      </p:sp>
      <p:sp>
        <p:nvSpPr>
          <p:cNvPr id="13" name="s8-forma-12"/>
          <p:cNvSpPr/>
          <p:nvPr/>
        </p:nvSpPr>
        <p:spPr>
          <a:xfrm>
            <a:off x="3170755" y="3942020"/>
            <a:ext cx="1371137" cy="628438"/>
          </a:xfrm>
          <a:prstGeom prst="rect">
            <a:avLst/>
          </a:prstGeom>
          <a:solidFill>
            <a:srgbClr val="E3DCCB"/>
          </a:solidFill>
          <a:ln w="5713">
            <a:solidFill>
              <a:srgbClr val="585E6F"/>
            </a:solidFill>
            <a:prstDash val="solid"/>
          </a:ln>
        </p:spPr>
      </p:sp>
      <p:sp>
        <p:nvSpPr>
          <p:cNvPr id="14" name="s8-texto-13"/>
          <p:cNvSpPr txBox="1"/>
          <p:nvPr/>
        </p:nvSpPr>
        <p:spPr>
          <a:xfrm>
            <a:off x="3599324" y="4164829"/>
            <a:ext cx="513998"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Tester</a:t>
            </a:r>
            <a:endParaRPr lang="en-US" sz="1260" dirty="0"/>
          </a:p>
        </p:txBody>
      </p:sp>
      <p:sp>
        <p:nvSpPr>
          <p:cNvPr id="15" name="s8-forma-14"/>
          <p:cNvSpPr/>
          <p:nvPr/>
        </p:nvSpPr>
        <p:spPr>
          <a:xfrm>
            <a:off x="4998938" y="3942020"/>
            <a:ext cx="1371137" cy="628438"/>
          </a:xfrm>
          <a:prstGeom prst="rect">
            <a:avLst/>
          </a:prstGeom>
          <a:solidFill>
            <a:srgbClr val="E3DCCB"/>
          </a:solidFill>
          <a:ln w="5713">
            <a:solidFill>
              <a:srgbClr val="585E6F"/>
            </a:solidFill>
            <a:prstDash val="solid"/>
          </a:ln>
        </p:spPr>
      </p:sp>
      <p:sp>
        <p:nvSpPr>
          <p:cNvPr id="16" name="s8-texto-15"/>
          <p:cNvSpPr txBox="1"/>
          <p:nvPr/>
        </p:nvSpPr>
        <p:spPr>
          <a:xfrm>
            <a:off x="5133142" y="4164829"/>
            <a:ext cx="1102639"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Desarrollador</a:t>
            </a:r>
            <a:endParaRPr lang="en-US" sz="1260" dirty="0"/>
          </a:p>
        </p:txBody>
      </p:sp>
      <p:sp>
        <p:nvSpPr>
          <p:cNvPr id="17" name="s8-forma-16"/>
          <p:cNvSpPr/>
          <p:nvPr/>
        </p:nvSpPr>
        <p:spPr>
          <a:xfrm>
            <a:off x="1342572" y="4913242"/>
            <a:ext cx="5027503" cy="374742"/>
          </a:xfrm>
          <a:prstGeom prst="rect">
            <a:avLst/>
          </a:prstGeom>
          <a:solidFill>
            <a:srgbClr val="E3DCCB"/>
          </a:solidFill>
          <a:ln/>
        </p:spPr>
      </p:sp>
      <p:sp>
        <p:nvSpPr>
          <p:cNvPr id="18" name="s8-texto-17"/>
          <p:cNvSpPr txBox="1"/>
          <p:nvPr/>
        </p:nvSpPr>
        <p:spPr>
          <a:xfrm>
            <a:off x="1479686" y="5021790"/>
            <a:ext cx="5038472" cy="154253"/>
          </a:xfrm>
          <a:prstGeom prst="rect">
            <a:avLst/>
          </a:prstGeom>
          <a:noFill/>
          <a:ln/>
        </p:spPr>
        <p:txBody>
          <a:bodyPr wrap="none" lIns="0" tIns="0" rIns="0" bIns="0" rtlCol="0" anchor="t"/>
          <a:lstStyle/>
          <a:p>
            <a:pPr algn="l" indent="0" marL="0">
              <a:lnSpc>
                <a:spcPts val="1512"/>
              </a:lnSpc>
              <a:buNone/>
            </a:pPr>
            <a:r>
              <a:rPr lang="en-US" sz="1080" dirty="0">
                <a:solidFill>
                  <a:srgbClr val="16181D"/>
                </a:solidFill>
                <a:latin typeface="Arial" pitchFamily="34" charset="0"/>
                <a:ea typeface="Arial" pitchFamily="34" charset="-122"/>
                <a:cs typeface="Arial" pitchFamily="34" charset="-120"/>
              </a:rPr>
              <a:t>Los agentes no hablan entre sí: todo pasa por el supervisor</a:t>
            </a:r>
            <a:endParaRPr lang="en-US" sz="1080" dirty="0"/>
          </a:p>
        </p:txBody>
      </p:sp>
      <p:sp>
        <p:nvSpPr>
          <p:cNvPr id="19" name="s8-texto-18"/>
          <p:cNvSpPr txBox="1"/>
          <p:nvPr/>
        </p:nvSpPr>
        <p:spPr>
          <a:xfrm>
            <a:off x="7284167" y="2228098"/>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0" name="s8-texto-19"/>
          <p:cNvSpPr txBox="1"/>
          <p:nvPr/>
        </p:nvSpPr>
        <p:spPr>
          <a:xfrm>
            <a:off x="7284167" y="2428056"/>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Un supervisor recibe la tarea, decide a qué agente delegar y recibe cada resultado.</a:t>
            </a:r>
            <a:endParaRPr lang="en-US" sz="1260" dirty="0"/>
          </a:p>
        </p:txBody>
      </p:sp>
      <p:sp>
        <p:nvSpPr>
          <p:cNvPr id="21" name="s8-texto-20"/>
          <p:cNvSpPr txBox="1"/>
          <p:nvPr/>
        </p:nvSpPr>
        <p:spPr>
          <a:xfrm>
            <a:off x="7284167" y="3012931"/>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2" name="s8-texto-21"/>
          <p:cNvSpPr txBox="1"/>
          <p:nvPr/>
        </p:nvSpPr>
        <p:spPr>
          <a:xfrm>
            <a:off x="7284167" y="3212889"/>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Control y trazabilidad claros; el supervisor es cuello de botella y punto único de falla.</a:t>
            </a:r>
            <a:endParaRPr lang="en-US" sz="1260" dirty="0"/>
          </a:p>
        </p:txBody>
      </p:sp>
      <p:sp>
        <p:nvSpPr>
          <p:cNvPr id="23" name="s8-forma-22"/>
          <p:cNvSpPr/>
          <p:nvPr/>
        </p:nvSpPr>
        <p:spPr>
          <a:xfrm>
            <a:off x="7284167" y="3797764"/>
            <a:ext cx="3564957" cy="1122976"/>
          </a:xfrm>
          <a:prstGeom prst="rect">
            <a:avLst/>
          </a:prstGeom>
          <a:solidFill>
            <a:srgbClr val="E2D3C2"/>
          </a:solidFill>
          <a:ln/>
        </p:spPr>
      </p:sp>
      <p:sp>
        <p:nvSpPr>
          <p:cNvPr id="24" name="s8-texto-23"/>
          <p:cNvSpPr txBox="1"/>
          <p:nvPr/>
        </p:nvSpPr>
        <p:spPr>
          <a:xfrm>
            <a:off x="7421280" y="3934878"/>
            <a:ext cx="3488173"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5" name="s8-texto-24"/>
          <p:cNvSpPr txBox="1"/>
          <p:nvPr/>
        </p:nvSpPr>
        <p:spPr>
          <a:xfrm>
            <a:off x="7421280" y="4134836"/>
            <a:ext cx="3488173" cy="624867"/>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Tu grafo de LangGraph es un supervisor determinista; con el Agent SDK, uno que razona.</a:t>
            </a:r>
            <a:endParaRPr lang="en-US" sz="1260" dirty="0"/>
          </a:p>
        </p:txBody>
      </p:sp>
      <p:sp>
        <p:nvSpPr>
          <p:cNvPr id="26" name="s8-texto-25"/>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a:t>
            </a:r>
            <a:endParaRPr lang="en-US" sz="1080" dirty="0"/>
          </a:p>
        </p:txBody>
      </p:sp>
      <p:sp>
        <p:nvSpPr>
          <p:cNvPr id="27" name="s8-linea-26-0"/>
          <p:cNvSpPr/>
          <p:nvPr/>
        </p:nvSpPr>
        <p:spPr>
          <a:xfrm>
            <a:off x="3856323" y="2856536"/>
            <a:ext cx="0" cy="514176"/>
          </a:xfrm>
          <a:prstGeom prst="line">
            <a:avLst/>
          </a:prstGeom>
          <a:noFill/>
          <a:ln w="17140">
            <a:solidFill>
              <a:srgbClr val="585E6F"/>
            </a:solidFill>
            <a:prstDash val="solid"/>
          </a:ln>
        </p:spPr>
      </p:sp>
      <p:sp>
        <p:nvSpPr>
          <p:cNvPr id="28" name="s8-linea-27-0"/>
          <p:cNvSpPr/>
          <p:nvPr/>
        </p:nvSpPr>
        <p:spPr>
          <a:xfrm>
            <a:off x="2028140" y="3370712"/>
            <a:ext cx="3656366" cy="0"/>
          </a:xfrm>
          <a:prstGeom prst="line">
            <a:avLst/>
          </a:prstGeom>
          <a:noFill/>
          <a:ln w="17140">
            <a:solidFill>
              <a:srgbClr val="585E6F"/>
            </a:solidFill>
            <a:prstDash val="solid"/>
          </a:ln>
        </p:spPr>
      </p:sp>
      <p:sp>
        <p:nvSpPr>
          <p:cNvPr id="29" name="s8-linea-28-0"/>
          <p:cNvSpPr/>
          <p:nvPr/>
        </p:nvSpPr>
        <p:spPr>
          <a:xfrm>
            <a:off x="2028140" y="3370712"/>
            <a:ext cx="0" cy="571307"/>
          </a:xfrm>
          <a:prstGeom prst="line">
            <a:avLst/>
          </a:prstGeom>
          <a:noFill/>
          <a:ln w="17140">
            <a:solidFill>
              <a:srgbClr val="585E6F"/>
            </a:solidFill>
            <a:prstDash val="solid"/>
            <a:headEnd type="triangle"/>
            <a:tailEnd type="triangle"/>
          </a:ln>
        </p:spPr>
      </p:sp>
      <p:sp>
        <p:nvSpPr>
          <p:cNvPr id="30" name="s8-linea-29-0"/>
          <p:cNvSpPr/>
          <p:nvPr/>
        </p:nvSpPr>
        <p:spPr>
          <a:xfrm>
            <a:off x="3856323" y="3370712"/>
            <a:ext cx="0" cy="571307"/>
          </a:xfrm>
          <a:prstGeom prst="line">
            <a:avLst/>
          </a:prstGeom>
          <a:noFill/>
          <a:ln w="17140">
            <a:solidFill>
              <a:srgbClr val="585E6F"/>
            </a:solidFill>
            <a:prstDash val="solid"/>
            <a:headEnd type="triangle"/>
            <a:tailEnd type="triangle"/>
          </a:ln>
        </p:spPr>
      </p:sp>
      <p:sp>
        <p:nvSpPr>
          <p:cNvPr id="31" name="s8-linea-30-0"/>
          <p:cNvSpPr/>
          <p:nvPr/>
        </p:nvSpPr>
        <p:spPr>
          <a:xfrm>
            <a:off x="5684506" y="3370712"/>
            <a:ext cx="0" cy="571307"/>
          </a:xfrm>
          <a:prstGeom prst="line">
            <a:avLst/>
          </a:prstGeom>
          <a:noFill/>
          <a:ln w="17140">
            <a:solidFill>
              <a:srgbClr val="585E6F"/>
            </a:solidFill>
            <a:prstDash val="solid"/>
            <a:headEnd type="triangle"/>
            <a:tailEnd type="triangle"/>
          </a:ln>
        </p:spPr>
      </p:sp>
      <p:sp>
        <p:nvSpPr>
          <p:cNvPr id="32" name="s8-forma-31"/>
          <p:cNvSpPr/>
          <p:nvPr/>
        </p:nvSpPr>
        <p:spPr>
          <a:xfrm>
            <a:off x="853390" y="6411138"/>
            <a:ext cx="10484915" cy="5713"/>
          </a:xfrm>
          <a:prstGeom prst="rect">
            <a:avLst/>
          </a:prstGeom>
          <a:solidFill>
            <a:srgbClr val="DBD4C4"/>
          </a:solidFill>
          <a:ln/>
        </p:spPr>
      </p:sp>
      <p:pic>
        <p:nvPicPr>
          <p:cNvPr id="33" name="s8-logo-32"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34" name="s8-forma-33"/>
          <p:cNvSpPr/>
          <p:nvPr/>
        </p:nvSpPr>
        <p:spPr>
          <a:xfrm>
            <a:off x="1659380" y="6519865"/>
            <a:ext cx="2926878" cy="102835"/>
          </a:xfrm>
          <a:prstGeom prst="rect">
            <a:avLst/>
          </a:prstGeom>
          <a:ln/>
        </p:spPr>
      </p:sp>
      <p:sp>
        <p:nvSpPr>
          <p:cNvPr id="35" name="s8-forma-34"/>
          <p:cNvSpPr/>
          <p:nvPr/>
        </p:nvSpPr>
        <p:spPr>
          <a:xfrm>
            <a:off x="1659380" y="6519865"/>
            <a:ext cx="5713" cy="102835"/>
          </a:xfrm>
          <a:prstGeom prst="rect">
            <a:avLst/>
          </a:prstGeom>
          <a:solidFill>
            <a:srgbClr val="C6BFAE"/>
          </a:solidFill>
          <a:ln/>
        </p:spPr>
      </p:sp>
      <p:sp>
        <p:nvSpPr>
          <p:cNvPr id="36" name="s8-texto-35"/>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7" name="s8-texto-36"/>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8 / 36</a:t>
            </a:r>
            <a:endParaRPr lang="en-US" sz="745" dirty="0"/>
          </a:p>
        </p:txBody>
      </p:sp>
      <p:sp>
        <p:nvSpPr>
          <p:cNvPr id="38" name="s8-forma-37"/>
          <p:cNvSpPr/>
          <p:nvPr/>
        </p:nvSpPr>
        <p:spPr>
          <a:xfrm>
            <a:off x="0" y="0"/>
            <a:ext cx="2709246" cy="17139"/>
          </a:xfrm>
          <a:prstGeom prst="rect">
            <a:avLst/>
          </a:prstGeom>
          <a:solidFill>
            <a:srgbClr val="0033A0"/>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8DC"/>
        </a:solidFill>
      </p:bgPr>
    </p:bg>
    <p:spTree>
      <p:nvGrpSpPr>
        <p:cNvPr id="1" name=""/>
        <p:cNvGrpSpPr/>
        <p:nvPr/>
      </p:nvGrpSpPr>
      <p:grpSpPr>
        <a:xfrm>
          <a:off x="0" y="0"/>
          <a:ext cx="0" cy="0"/>
          <a:chOff x="0" y="0"/>
          <a:chExt cx="0" cy="0"/>
        </a:xfrm>
      </p:grpSpPr>
      <p:sp>
        <p:nvSpPr>
          <p:cNvPr id="2" name="s9-forma-1"/>
          <p:cNvSpPr/>
          <p:nvPr/>
        </p:nvSpPr>
        <p:spPr>
          <a:xfrm>
            <a:off x="853390" y="520961"/>
            <a:ext cx="10484915" cy="5713"/>
          </a:xfrm>
          <a:prstGeom prst="rect">
            <a:avLst/>
          </a:prstGeom>
          <a:solidFill>
            <a:srgbClr val="C6BFAE"/>
          </a:solidFill>
          <a:ln/>
        </p:spPr>
      </p:sp>
      <p:sp>
        <p:nvSpPr>
          <p:cNvPr id="3" name="s9-forma-2"/>
          <p:cNvSpPr/>
          <p:nvPr/>
        </p:nvSpPr>
        <p:spPr>
          <a:xfrm>
            <a:off x="853390" y="331715"/>
            <a:ext cx="81411" cy="81411"/>
          </a:xfrm>
          <a:prstGeom prst="ellipse">
            <a:avLst/>
          </a:prstGeom>
          <a:solidFill>
            <a:srgbClr val="0033A0"/>
          </a:solidFill>
          <a:ln/>
        </p:spPr>
      </p:sp>
      <p:sp>
        <p:nvSpPr>
          <p:cNvPr id="4" name="s9-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9-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9-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 EN CÓDIGO</a:t>
            </a:r>
            <a:endParaRPr lang="en-US" sz="900" dirty="0"/>
          </a:p>
        </p:txBody>
      </p:sp>
      <p:sp>
        <p:nvSpPr>
          <p:cNvPr id="7" name="s9-texto-6"/>
          <p:cNvSpPr txBox="1"/>
          <p:nvPr/>
        </p:nvSpPr>
        <p:spPr>
          <a:xfrm>
            <a:off x="1342572" y="1451120"/>
            <a:ext cx="10076945" cy="377063"/>
          </a:xfrm>
          <a:prstGeom prst="rect">
            <a:avLst/>
          </a:prstGeom>
          <a:noFill/>
          <a:ln/>
        </p:spPr>
        <p:txBody>
          <a:bodyPr wrap="none" lIns="0" tIns="0" rIns="0" bIns="0" rtlCol="0" anchor="t"/>
          <a:lstStyle/>
          <a:p>
            <a:pPr algn="l" indent="0" marL="0">
              <a:lnSpc>
                <a:spcPts val="2771"/>
              </a:lnSpc>
              <a:buNone/>
            </a:pPr>
            <a:r>
              <a:rPr lang="en-US" sz="2519" b="1" spc="-25" kern="0" dirty="0">
                <a:solidFill>
                  <a:srgbClr val="16181D"/>
                </a:solidFill>
                <a:latin typeface="Georgia" pitchFamily="34" charset="0"/>
                <a:ea typeface="Georgia" pitchFamily="34" charset="-122"/>
                <a:cs typeface="Georgia" pitchFamily="34" charset="-120"/>
              </a:rPr>
              <a:t>Supervisor en código: él decide con Command</a:t>
            </a:r>
            <a:endParaRPr lang="en-US" sz="2519" dirty="0"/>
          </a:p>
        </p:txBody>
      </p:sp>
      <p:sp>
        <p:nvSpPr>
          <p:cNvPr id="8" name="s9-forma-7"/>
          <p:cNvSpPr/>
          <p:nvPr/>
        </p:nvSpPr>
        <p:spPr>
          <a:xfrm>
            <a:off x="1342572" y="2205246"/>
            <a:ext cx="5941595" cy="2970797"/>
          </a:xfrm>
          <a:prstGeom prst="rect">
            <a:avLst/>
          </a:prstGeom>
          <a:solidFill>
            <a:srgbClr val="E8E2D5"/>
          </a:solidFill>
          <a:ln/>
        </p:spPr>
      </p:sp>
      <p:sp>
        <p:nvSpPr>
          <p:cNvPr id="9" name="s9-forma-8"/>
          <p:cNvSpPr/>
          <p:nvPr/>
        </p:nvSpPr>
        <p:spPr>
          <a:xfrm>
            <a:off x="1342572" y="2205246"/>
            <a:ext cx="5941595" cy="5713"/>
          </a:xfrm>
          <a:prstGeom prst="rect">
            <a:avLst/>
          </a:prstGeom>
          <a:solidFill>
            <a:srgbClr val="DBD4C4"/>
          </a:solidFill>
          <a:ln/>
        </p:spPr>
      </p:sp>
      <p:sp>
        <p:nvSpPr>
          <p:cNvPr id="10" name="s9-forma-9"/>
          <p:cNvSpPr/>
          <p:nvPr/>
        </p:nvSpPr>
        <p:spPr>
          <a:xfrm>
            <a:off x="1342572" y="5170330"/>
            <a:ext cx="5941595" cy="5713"/>
          </a:xfrm>
          <a:prstGeom prst="rect">
            <a:avLst/>
          </a:prstGeom>
          <a:solidFill>
            <a:srgbClr val="DBD4C4"/>
          </a:solidFill>
          <a:ln/>
        </p:spPr>
      </p:sp>
      <p:sp>
        <p:nvSpPr>
          <p:cNvPr id="11" name="s9-forma-10"/>
          <p:cNvSpPr/>
          <p:nvPr/>
        </p:nvSpPr>
        <p:spPr>
          <a:xfrm>
            <a:off x="1342572" y="2205246"/>
            <a:ext cx="17139" cy="2970797"/>
          </a:xfrm>
          <a:prstGeom prst="rect">
            <a:avLst/>
          </a:prstGeom>
          <a:solidFill>
            <a:srgbClr val="C6BFAE"/>
          </a:solidFill>
          <a:ln/>
        </p:spPr>
      </p:sp>
      <p:sp>
        <p:nvSpPr>
          <p:cNvPr id="12" name="s9-forma-11"/>
          <p:cNvSpPr/>
          <p:nvPr/>
        </p:nvSpPr>
        <p:spPr>
          <a:xfrm>
            <a:off x="7278453" y="2205246"/>
            <a:ext cx="5713" cy="2970797"/>
          </a:xfrm>
          <a:prstGeom prst="rect">
            <a:avLst/>
          </a:prstGeom>
          <a:solidFill>
            <a:srgbClr val="DBD4C4"/>
          </a:solidFill>
          <a:ln/>
        </p:spPr>
      </p:sp>
      <p:sp>
        <p:nvSpPr>
          <p:cNvPr id="13" name="s9-texto-12"/>
          <p:cNvSpPr txBox="1"/>
          <p:nvPr/>
        </p:nvSpPr>
        <p:spPr>
          <a:xfrm>
            <a:off x="1542529" y="2370925"/>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Decision(</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BaseModel</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4" name="s9-texto-13"/>
          <p:cNvSpPr txBox="1"/>
          <p:nvPr/>
        </p:nvSpPr>
        <p:spPr>
          <a:xfrm>
            <a:off x="1542529" y="255945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siguiente: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Literal</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"analista"</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"tester"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"desarrollador"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"FIN"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5" name="s9-texto-14"/>
          <p:cNvSpPr txBox="1"/>
          <p:nvPr/>
        </p:nvSpPr>
        <p:spPr>
          <a:xfrm>
            <a:off x="1542529" y="2936519"/>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supervisor(s: Estado) -&gt;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Command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Literal</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6" name="s9-texto-15"/>
          <p:cNvSpPr txBox="1"/>
          <p:nvPr/>
        </p:nvSpPr>
        <p:spPr>
          <a:xfrm>
            <a:off x="1542529" y="3125050"/>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s[</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"vueltas"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&gt;= MAX_VUELTAS:</a:t>
            </a:r>
            <a:endParaRPr lang="en-US" sz="990" dirty="0"/>
          </a:p>
        </p:txBody>
      </p:sp>
      <p:sp>
        <p:nvSpPr>
          <p:cNvPr id="17" name="s9-texto-16"/>
          <p:cNvSpPr txBox="1"/>
          <p:nvPr/>
        </p:nvSpPr>
        <p:spPr>
          <a:xfrm>
            <a:off x="1542529" y="3313582"/>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Command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(goto=</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END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8" name="s9-texto-17"/>
          <p:cNvSpPr txBox="1"/>
          <p:nvPr/>
        </p:nvSpPr>
        <p:spPr>
          <a:xfrm>
            <a:off x="1542529" y="350211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d = modelo().with_structured_output(Decision).invoke(...)</a:t>
            </a:r>
            <a:endParaRPr lang="en-US" sz="990" dirty="0"/>
          </a:p>
        </p:txBody>
      </p:sp>
      <p:sp>
        <p:nvSpPr>
          <p:cNvPr id="19" name="s9-forma-18"/>
          <p:cNvSpPr/>
          <p:nvPr/>
        </p:nvSpPr>
        <p:spPr>
          <a:xfrm>
            <a:off x="1451120" y="3690644"/>
            <a:ext cx="5735924" cy="188531"/>
          </a:xfrm>
          <a:prstGeom prst="rect">
            <a:avLst/>
          </a:prstGeom>
          <a:solidFill>
            <a:srgbClr val="DCE3F2"/>
          </a:solidFill>
          <a:ln/>
        </p:spPr>
      </p:sp>
      <p:sp>
        <p:nvSpPr>
          <p:cNvPr id="20" name="s9-forma-19"/>
          <p:cNvSpPr/>
          <p:nvPr/>
        </p:nvSpPr>
        <p:spPr>
          <a:xfrm>
            <a:off x="1451120" y="3690644"/>
            <a:ext cx="22852" cy="188531"/>
          </a:xfrm>
          <a:prstGeom prst="rect">
            <a:avLst/>
          </a:prstGeom>
          <a:solidFill>
            <a:srgbClr val="AC321E"/>
          </a:solidFill>
          <a:ln/>
        </p:spPr>
      </p:sp>
      <p:sp>
        <p:nvSpPr>
          <p:cNvPr id="21" name="s9-texto-20"/>
          <p:cNvSpPr txBox="1"/>
          <p:nvPr/>
        </p:nvSpPr>
        <p:spPr>
          <a:xfrm>
            <a:off x="1542529" y="3690644"/>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Command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(goto=</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END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d.siguiente ==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"FIN"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else</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d.siguiente,</a:t>
            </a:r>
            <a:endParaRPr lang="en-US" sz="990" dirty="0"/>
          </a:p>
        </p:txBody>
      </p:sp>
      <p:sp>
        <p:nvSpPr>
          <p:cNvPr id="22" name="s9-texto-21"/>
          <p:cNvSpPr txBox="1"/>
          <p:nvPr/>
        </p:nvSpPr>
        <p:spPr>
          <a:xfrm>
            <a:off x="1542529" y="387917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update={</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"vueltas"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s[</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"vueltas"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+ 1})</a:t>
            </a:r>
            <a:endParaRPr lang="en-US" sz="990" dirty="0"/>
          </a:p>
        </p:txBody>
      </p:sp>
      <p:sp>
        <p:nvSpPr>
          <p:cNvPr id="23" name="s9-texto-22"/>
          <p:cNvSpPr txBox="1"/>
          <p:nvPr/>
        </p:nvSpPr>
        <p:spPr>
          <a:xfrm>
            <a:off x="1542529" y="425623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for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nombre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AGENTES:</a:t>
            </a:r>
            <a:endParaRPr lang="en-US" sz="990" dirty="0"/>
          </a:p>
        </p:txBody>
      </p:sp>
      <p:sp>
        <p:nvSpPr>
          <p:cNvPr id="24" name="s9-texto-23"/>
          <p:cNvSpPr txBox="1"/>
          <p:nvPr/>
        </p:nvSpPr>
        <p:spPr>
          <a:xfrm>
            <a:off x="1542529" y="4444770"/>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grafo.add_node(nombre, especialista(nombre))</a:t>
            </a:r>
            <a:endParaRPr lang="en-US" sz="990" dirty="0"/>
          </a:p>
        </p:txBody>
      </p:sp>
      <p:sp>
        <p:nvSpPr>
          <p:cNvPr id="25" name="s9-forma-24"/>
          <p:cNvSpPr/>
          <p:nvPr/>
        </p:nvSpPr>
        <p:spPr>
          <a:xfrm>
            <a:off x="1451120" y="4633301"/>
            <a:ext cx="5735924" cy="188531"/>
          </a:xfrm>
          <a:prstGeom prst="rect">
            <a:avLst/>
          </a:prstGeom>
          <a:solidFill>
            <a:srgbClr val="DCE3F2"/>
          </a:solidFill>
          <a:ln/>
        </p:spPr>
      </p:sp>
      <p:sp>
        <p:nvSpPr>
          <p:cNvPr id="26" name="s9-forma-25"/>
          <p:cNvSpPr/>
          <p:nvPr/>
        </p:nvSpPr>
        <p:spPr>
          <a:xfrm>
            <a:off x="1451120" y="4633301"/>
            <a:ext cx="22852" cy="188531"/>
          </a:xfrm>
          <a:prstGeom prst="rect">
            <a:avLst/>
          </a:prstGeom>
          <a:solidFill>
            <a:srgbClr val="AC321E"/>
          </a:solidFill>
          <a:ln/>
        </p:spPr>
      </p:sp>
      <p:sp>
        <p:nvSpPr>
          <p:cNvPr id="27" name="s9-texto-26"/>
          <p:cNvSpPr txBox="1"/>
          <p:nvPr/>
        </p:nvSpPr>
        <p:spPr>
          <a:xfrm>
            <a:off x="1542529" y="4633301"/>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grafo.add_edge(nombre,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"supervisor"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su única salida</a:t>
            </a:r>
            <a:endParaRPr lang="en-US" sz="990" dirty="0"/>
          </a:p>
        </p:txBody>
      </p:sp>
      <p:sp>
        <p:nvSpPr>
          <p:cNvPr id="28" name="s9-texto-27"/>
          <p:cNvSpPr txBox="1"/>
          <p:nvPr/>
        </p:nvSpPr>
        <p:spPr>
          <a:xfrm>
            <a:off x="1542529" y="482183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START</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"supervisor"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9" name="s9-texto-28"/>
          <p:cNvSpPr txBox="1"/>
          <p:nvPr/>
        </p:nvSpPr>
        <p:spPr>
          <a:xfrm>
            <a:off x="7558394" y="2205246"/>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0" name="s9-texto-29"/>
          <p:cNvSpPr txBox="1"/>
          <p:nvPr/>
        </p:nvSpPr>
        <p:spPr>
          <a:xfrm>
            <a:off x="7558394" y="2410916"/>
            <a:ext cx="3488173" cy="379294"/>
          </a:xfrm>
          <a:prstGeom prst="rect">
            <a:avLst/>
          </a:prstGeom>
          <a:noFill/>
          <a:ln/>
        </p:spPr>
        <p:txBody>
          <a:bodyPr wrap="square" lIns="0" tIns="0" rIns="0" bIns="0" rtlCol="0" anchor="t"/>
          <a:lstStyle/>
          <a:p>
            <a:pPr algn="l" indent="0" marL="0">
              <a:lnSpc>
                <a:spcPts val="1637"/>
              </a:lnSpc>
              <a:buNone/>
            </a:pPr>
            <a:r>
              <a:rPr lang="en-US" sz="1170" b="1" dirty="0">
                <a:solidFill>
                  <a:srgbClr val="0033A0"/>
                </a:solidFill>
                <a:latin typeface="Arial" pitchFamily="34" charset="0"/>
                <a:ea typeface="Arial" pitchFamily="34" charset="-122"/>
                <a:cs typeface="Arial" pitchFamily="34" charset="-120"/>
              </a:rPr>
              <a:t>Command(goto=…)</a:t>
            </a:r>
            <a:pPr algn="l" indent="0" marL="0">
              <a:lnSpc>
                <a:spcPts val="1637"/>
              </a:lnSpc>
              <a:buNone/>
            </a:pPr>
            <a:r>
              <a:rPr lang="en-US" sz="1170" dirty="0">
                <a:solidFill>
                  <a:srgbClr val="16181D"/>
                </a:solidFill>
                <a:latin typeface="Arial" pitchFamily="34" charset="0"/>
                <a:ea typeface="Arial" pitchFamily="34" charset="-122"/>
                <a:cs typeface="Arial" pitchFamily="34" charset="-120"/>
              </a:rPr>
              <a:t> solo en el supervisor; cada especialista tiene una sola arista: de regreso a él.</a:t>
            </a:r>
            <a:endParaRPr lang="en-US" sz="1170" dirty="0"/>
          </a:p>
        </p:txBody>
      </p:sp>
      <p:sp>
        <p:nvSpPr>
          <p:cNvPr id="31" name="s9-texto-30"/>
          <p:cNvSpPr txBox="1"/>
          <p:nvPr/>
        </p:nvSpPr>
        <p:spPr>
          <a:xfrm>
            <a:off x="7558394" y="2946695"/>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2" name="s9-texto-31"/>
          <p:cNvSpPr txBox="1"/>
          <p:nvPr/>
        </p:nvSpPr>
        <p:spPr>
          <a:xfrm>
            <a:off x="7558394" y="3152366"/>
            <a:ext cx="3488173" cy="171392"/>
          </a:xfrm>
          <a:prstGeom prst="rect">
            <a:avLst/>
          </a:prstGeom>
          <a:noFill/>
          <a:ln/>
        </p:spPr>
        <p:txBody>
          <a:bodyPr wrap="non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Red: allí todos los nodos devuelven Command.</a:t>
            </a:r>
            <a:endParaRPr lang="en-US" sz="1170" dirty="0"/>
          </a:p>
        </p:txBody>
      </p:sp>
      <p:sp>
        <p:nvSpPr>
          <p:cNvPr id="33" name="s9-texto-32"/>
          <p:cNvSpPr txBox="1"/>
          <p:nvPr/>
        </p:nvSpPr>
        <p:spPr>
          <a:xfrm>
            <a:off x="7558394" y="3480243"/>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4" name="s9-forma-33"/>
          <p:cNvSpPr/>
          <p:nvPr/>
        </p:nvSpPr>
        <p:spPr>
          <a:xfrm>
            <a:off x="7558394" y="3668774"/>
            <a:ext cx="3290729" cy="289046"/>
          </a:xfrm>
          <a:prstGeom prst="rect">
            <a:avLst/>
          </a:prstGeom>
          <a:solidFill>
            <a:srgbClr val="E3DCCB"/>
          </a:solidFill>
          <a:ln/>
        </p:spPr>
      </p:sp>
      <p:sp>
        <p:nvSpPr>
          <p:cNvPr id="35" name="s9-texto-34"/>
          <p:cNvSpPr txBox="1"/>
          <p:nvPr/>
        </p:nvSpPr>
        <p:spPr>
          <a:xfrm>
            <a:off x="7649803" y="3748757"/>
            <a:ext cx="3294386" cy="125688"/>
          </a:xfrm>
          <a:prstGeom prst="rect">
            <a:avLst/>
          </a:prstGeom>
          <a:noFill/>
          <a:ln/>
        </p:spPr>
        <p:txBody>
          <a:bodyPr wrap="none" lIns="0" tIns="0" rIns="0" bIns="0" rtlCol="0" anchor="t"/>
          <a:lstStyle/>
          <a:p>
            <a:pPr algn="l" indent="0" marL="0">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ejemplos.s3_topologias.supervisor</a:t>
            </a:r>
            <a:endParaRPr lang="en-US" sz="855" dirty="0"/>
          </a:p>
        </p:txBody>
      </p:sp>
      <p:sp>
        <p:nvSpPr>
          <p:cNvPr id="36" name="s9-forma-35"/>
          <p:cNvSpPr/>
          <p:nvPr/>
        </p:nvSpPr>
        <p:spPr>
          <a:xfrm>
            <a:off x="7558394" y="4094933"/>
            <a:ext cx="3290729" cy="832859"/>
          </a:xfrm>
          <a:prstGeom prst="rect">
            <a:avLst/>
          </a:prstGeom>
          <a:solidFill>
            <a:srgbClr val="E2D3C2"/>
          </a:solidFill>
          <a:ln/>
        </p:spPr>
      </p:sp>
      <p:sp>
        <p:nvSpPr>
          <p:cNvPr id="37" name="s9-texto-36"/>
          <p:cNvSpPr txBox="1"/>
          <p:nvPr/>
        </p:nvSpPr>
        <p:spPr>
          <a:xfrm>
            <a:off x="7695508" y="4209195"/>
            <a:ext cx="3197492"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38" name="s9-texto-37"/>
          <p:cNvSpPr txBox="1"/>
          <p:nvPr/>
        </p:nvSpPr>
        <p:spPr>
          <a:xfrm>
            <a:off x="7695508" y="4414865"/>
            <a:ext cx="3197492"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flujo_s4.py es un supervisor escrito en código; con el Agent SDK, uno que razona.</a:t>
            </a:r>
            <a:endParaRPr lang="en-US" sz="1170" dirty="0"/>
          </a:p>
        </p:txBody>
      </p:sp>
      <p:sp>
        <p:nvSpPr>
          <p:cNvPr id="39" name="s9-texto-38"/>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ejemplos/s3_topologias/supervisor.py · las líneas resaltadas son el patrón</a:t>
            </a:r>
            <a:endParaRPr lang="en-US" sz="1080" dirty="0"/>
          </a:p>
        </p:txBody>
      </p:sp>
      <p:sp>
        <p:nvSpPr>
          <p:cNvPr id="40" name="s9-forma-39"/>
          <p:cNvSpPr/>
          <p:nvPr/>
        </p:nvSpPr>
        <p:spPr>
          <a:xfrm>
            <a:off x="853390" y="6411138"/>
            <a:ext cx="10484915" cy="5713"/>
          </a:xfrm>
          <a:prstGeom prst="rect">
            <a:avLst/>
          </a:prstGeom>
          <a:solidFill>
            <a:srgbClr val="DBD4C4"/>
          </a:solidFill>
          <a:ln/>
        </p:spPr>
      </p:sp>
      <p:pic>
        <p:nvPicPr>
          <p:cNvPr id="41" name="s9-logo-40"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2" name="s9-forma-41"/>
          <p:cNvSpPr/>
          <p:nvPr/>
        </p:nvSpPr>
        <p:spPr>
          <a:xfrm>
            <a:off x="1659380" y="6519865"/>
            <a:ext cx="2926878" cy="102835"/>
          </a:xfrm>
          <a:prstGeom prst="rect">
            <a:avLst/>
          </a:prstGeom>
          <a:ln/>
        </p:spPr>
      </p:sp>
      <p:sp>
        <p:nvSpPr>
          <p:cNvPr id="43" name="s9-forma-42"/>
          <p:cNvSpPr/>
          <p:nvPr/>
        </p:nvSpPr>
        <p:spPr>
          <a:xfrm>
            <a:off x="1659380" y="6519865"/>
            <a:ext cx="5713" cy="102835"/>
          </a:xfrm>
          <a:prstGeom prst="rect">
            <a:avLst/>
          </a:prstGeom>
          <a:solidFill>
            <a:srgbClr val="C6BFAE"/>
          </a:solidFill>
          <a:ln/>
        </p:spPr>
      </p:sp>
      <p:sp>
        <p:nvSpPr>
          <p:cNvPr id="44" name="s9-texto-43"/>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45" name="s9-texto-44"/>
          <p:cNvSpPr txBox="1"/>
          <p:nvPr/>
        </p:nvSpPr>
        <p:spPr>
          <a:xfrm>
            <a:off x="10941157" y="6517008"/>
            <a:ext cx="442852"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9 / 36</a:t>
            </a:r>
            <a:endParaRPr lang="en-US" sz="745" dirty="0"/>
          </a:p>
        </p:txBody>
      </p:sp>
      <p:sp>
        <p:nvSpPr>
          <p:cNvPr id="46" name="s9-forma-45"/>
          <p:cNvSpPr/>
          <p:nvPr/>
        </p:nvSpPr>
        <p:spPr>
          <a:xfrm>
            <a:off x="0" y="0"/>
            <a:ext cx="3047924" cy="17139"/>
          </a:xfrm>
          <a:prstGeom prst="rect">
            <a:avLst/>
          </a:prstGeom>
          <a:solidFill>
            <a:srgbClr val="0033A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8DC"/>
        </a:solidFill>
      </p:bgPr>
    </p:bg>
    <p:spTree>
      <p:nvGrpSpPr>
        <p:cNvPr id="1" name=""/>
        <p:cNvGrpSpPr/>
        <p:nvPr/>
      </p:nvGrpSpPr>
      <p:grpSpPr>
        <a:xfrm>
          <a:off x="0" y="0"/>
          <a:ext cx="0" cy="0"/>
          <a:chOff x="0" y="0"/>
          <a:chExt cx="0" cy="0"/>
        </a:xfrm>
      </p:grpSpPr>
      <p:sp>
        <p:nvSpPr>
          <p:cNvPr id="2" name="s10-forma-1"/>
          <p:cNvSpPr/>
          <p:nvPr/>
        </p:nvSpPr>
        <p:spPr>
          <a:xfrm>
            <a:off x="853390" y="520961"/>
            <a:ext cx="10484915" cy="5713"/>
          </a:xfrm>
          <a:prstGeom prst="rect">
            <a:avLst/>
          </a:prstGeom>
          <a:solidFill>
            <a:srgbClr val="C6BFAE"/>
          </a:solidFill>
          <a:ln/>
        </p:spPr>
      </p:sp>
      <p:sp>
        <p:nvSpPr>
          <p:cNvPr id="3" name="s10-forma-2"/>
          <p:cNvSpPr/>
          <p:nvPr/>
        </p:nvSpPr>
        <p:spPr>
          <a:xfrm>
            <a:off x="853390" y="331715"/>
            <a:ext cx="81411" cy="81411"/>
          </a:xfrm>
          <a:prstGeom prst="ellipse">
            <a:avLst/>
          </a:prstGeom>
          <a:solidFill>
            <a:srgbClr val="0033A0"/>
          </a:solidFill>
          <a:ln/>
        </p:spPr>
      </p:sp>
      <p:sp>
        <p:nvSpPr>
          <p:cNvPr id="4" name="s10-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0-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0-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LA IDEA</a:t>
            </a:r>
            <a:endParaRPr lang="en-US" sz="900" dirty="0"/>
          </a:p>
        </p:txBody>
      </p:sp>
      <p:sp>
        <p:nvSpPr>
          <p:cNvPr id="7" name="s10-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Jerárquica: supervisores de supervisores</a:t>
            </a:r>
            <a:endParaRPr lang="en-US" sz="2879" dirty="0"/>
          </a:p>
        </p:txBody>
      </p:sp>
      <p:sp>
        <p:nvSpPr>
          <p:cNvPr id="8" name="s10-forma-7"/>
          <p:cNvSpPr/>
          <p:nvPr/>
        </p:nvSpPr>
        <p:spPr>
          <a:xfrm>
            <a:off x="1342572" y="2228098"/>
            <a:ext cx="4341935" cy="884276"/>
          </a:xfrm>
          <a:prstGeom prst="rect">
            <a:avLst/>
          </a:prstGeom>
          <a:solidFill>
            <a:srgbClr val="E3DCCB"/>
          </a:solidFill>
          <a:ln w="5713">
            <a:solidFill>
              <a:srgbClr val="585E6F"/>
            </a:solidFill>
            <a:prstDash val="dash"/>
          </a:ln>
        </p:spPr>
      </p:sp>
      <p:sp>
        <p:nvSpPr>
          <p:cNvPr id="9" name="s10-texto-8"/>
          <p:cNvSpPr txBox="1"/>
          <p:nvPr/>
        </p:nvSpPr>
        <p:spPr>
          <a:xfrm>
            <a:off x="1576808" y="234807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Un supervisor con diez agentes</a:t>
            </a:r>
            <a:endParaRPr lang="en-US" sz="1260" dirty="0"/>
          </a:p>
        </p:txBody>
      </p:sp>
      <p:sp>
        <p:nvSpPr>
          <p:cNvPr id="10" name="s10-texto-9"/>
          <p:cNvSpPr txBox="1"/>
          <p:nvPr/>
        </p:nvSpPr>
        <p:spPr>
          <a:xfrm>
            <a:off x="1576808" y="2593735"/>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Su contexto crece con cada resultado y le cuesta elegir entre tantos especialistas.</a:t>
            </a:r>
            <a:endParaRPr lang="en-US" sz="1170" dirty="0"/>
          </a:p>
        </p:txBody>
      </p:sp>
      <p:sp>
        <p:nvSpPr>
          <p:cNvPr id="11" name="s10-forma-10"/>
          <p:cNvSpPr/>
          <p:nvPr/>
        </p:nvSpPr>
        <p:spPr>
          <a:xfrm>
            <a:off x="1342572" y="3249488"/>
            <a:ext cx="4341935" cy="884276"/>
          </a:xfrm>
          <a:prstGeom prst="rect">
            <a:avLst/>
          </a:prstGeom>
          <a:solidFill>
            <a:srgbClr val="E3DCCB"/>
          </a:solidFill>
          <a:ln w="5713">
            <a:solidFill>
              <a:srgbClr val="585E6F"/>
            </a:solidFill>
            <a:prstDash val="dash"/>
          </a:ln>
        </p:spPr>
      </p:sp>
      <p:sp>
        <p:nvSpPr>
          <p:cNvPr id="12" name="s10-texto-11"/>
          <p:cNvSpPr txBox="1"/>
          <p:nvPr/>
        </p:nvSpPr>
        <p:spPr>
          <a:xfrm>
            <a:off x="1576808" y="336946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Equipos sin director</a:t>
            </a:r>
            <a:endParaRPr lang="en-US" sz="1260" dirty="0"/>
          </a:p>
        </p:txBody>
      </p:sp>
      <p:sp>
        <p:nvSpPr>
          <p:cNvPr id="13" name="s10-texto-12"/>
          <p:cNvSpPr txBox="1"/>
          <p:nvPr/>
        </p:nvSpPr>
        <p:spPr>
          <a:xfrm>
            <a:off x="1576808" y="3615125"/>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Cada equipo funciona por su cuenta, pero nadie integra su trabajo.</a:t>
            </a:r>
            <a:endParaRPr lang="en-US" sz="1170" dirty="0"/>
          </a:p>
        </p:txBody>
      </p:sp>
      <p:sp>
        <p:nvSpPr>
          <p:cNvPr id="14" name="s10-forma-13"/>
          <p:cNvSpPr/>
          <p:nvPr/>
        </p:nvSpPr>
        <p:spPr>
          <a:xfrm>
            <a:off x="1342572" y="4270878"/>
            <a:ext cx="4341935" cy="884276"/>
          </a:xfrm>
          <a:prstGeom prst="rect">
            <a:avLst/>
          </a:prstGeom>
          <a:solidFill>
            <a:srgbClr val="E2D3C2"/>
          </a:solidFill>
          <a:ln w="5713">
            <a:solidFill>
              <a:srgbClr val="984514"/>
            </a:solidFill>
            <a:prstDash val="solid"/>
          </a:ln>
        </p:spPr>
      </p:sp>
      <p:sp>
        <p:nvSpPr>
          <p:cNvPr id="15" name="s10-texto-14"/>
          <p:cNvSpPr txBox="1"/>
          <p:nvPr/>
        </p:nvSpPr>
        <p:spPr>
          <a:xfrm>
            <a:off x="1576808" y="439085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Jerárquica</a:t>
            </a:r>
            <a:endParaRPr lang="en-US" sz="1260" dirty="0"/>
          </a:p>
        </p:txBody>
      </p:sp>
      <p:sp>
        <p:nvSpPr>
          <p:cNvPr id="16" name="s10-texto-15"/>
          <p:cNvSpPr txBox="1"/>
          <p:nvPr/>
        </p:nvSpPr>
        <p:spPr>
          <a:xfrm>
            <a:off x="1576808" y="4636515"/>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Un director delega en líderes de equipo, y cada líder coordina a pocos especialistas. Cada nivel ve solo lo suyo.</a:t>
            </a:r>
            <a:endParaRPr lang="en-US" sz="1170" dirty="0"/>
          </a:p>
        </p:txBody>
      </p:sp>
      <p:sp>
        <p:nvSpPr>
          <p:cNvPr id="17" name="s10-forma-16"/>
          <p:cNvSpPr/>
          <p:nvPr/>
        </p:nvSpPr>
        <p:spPr>
          <a:xfrm>
            <a:off x="6095848" y="2228098"/>
            <a:ext cx="4753276" cy="1882814"/>
          </a:xfrm>
          <a:prstGeom prst="rect">
            <a:avLst/>
          </a:prstGeom>
          <a:solidFill>
            <a:srgbClr val="E8E2D5"/>
          </a:solidFill>
          <a:ln/>
        </p:spPr>
      </p:sp>
      <p:sp>
        <p:nvSpPr>
          <p:cNvPr id="18" name="s10-forma-17"/>
          <p:cNvSpPr/>
          <p:nvPr/>
        </p:nvSpPr>
        <p:spPr>
          <a:xfrm>
            <a:off x="6095848" y="2228098"/>
            <a:ext cx="4753276" cy="5713"/>
          </a:xfrm>
          <a:prstGeom prst="rect">
            <a:avLst/>
          </a:prstGeom>
          <a:solidFill>
            <a:srgbClr val="DBD4C4"/>
          </a:solidFill>
          <a:ln/>
        </p:spPr>
      </p:sp>
      <p:sp>
        <p:nvSpPr>
          <p:cNvPr id="19" name="s10-forma-18"/>
          <p:cNvSpPr/>
          <p:nvPr/>
        </p:nvSpPr>
        <p:spPr>
          <a:xfrm>
            <a:off x="6095848" y="4105199"/>
            <a:ext cx="4753276" cy="5713"/>
          </a:xfrm>
          <a:prstGeom prst="rect">
            <a:avLst/>
          </a:prstGeom>
          <a:solidFill>
            <a:srgbClr val="DBD4C4"/>
          </a:solidFill>
          <a:ln/>
        </p:spPr>
      </p:sp>
      <p:sp>
        <p:nvSpPr>
          <p:cNvPr id="20" name="s10-forma-19"/>
          <p:cNvSpPr/>
          <p:nvPr/>
        </p:nvSpPr>
        <p:spPr>
          <a:xfrm>
            <a:off x="6095848" y="2228098"/>
            <a:ext cx="17139" cy="1882814"/>
          </a:xfrm>
          <a:prstGeom prst="rect">
            <a:avLst/>
          </a:prstGeom>
          <a:solidFill>
            <a:srgbClr val="C6BFAE"/>
          </a:solidFill>
          <a:ln/>
        </p:spPr>
      </p:sp>
      <p:sp>
        <p:nvSpPr>
          <p:cNvPr id="21" name="s10-forma-20"/>
          <p:cNvSpPr/>
          <p:nvPr/>
        </p:nvSpPr>
        <p:spPr>
          <a:xfrm>
            <a:off x="10843410" y="2228098"/>
            <a:ext cx="5713" cy="1882814"/>
          </a:xfrm>
          <a:prstGeom prst="rect">
            <a:avLst/>
          </a:prstGeom>
          <a:solidFill>
            <a:srgbClr val="DBD4C4"/>
          </a:solidFill>
          <a:ln/>
        </p:spPr>
      </p:sp>
      <p:sp>
        <p:nvSpPr>
          <p:cNvPr id="22" name="s10-texto-21"/>
          <p:cNvSpPr txBox="1"/>
          <p:nvPr/>
        </p:nvSpPr>
        <p:spPr>
          <a:xfrm>
            <a:off x="6295805" y="2410916"/>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Director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implementar HU-02 → delega al líder de Desarrollo</a:t>
            </a:r>
            <a:endParaRPr lang="en-US" sz="1080" dirty="0"/>
          </a:p>
        </p:txBody>
      </p:sp>
      <p:sp>
        <p:nvSpPr>
          <p:cNvPr id="23" name="s10-texto-22"/>
          <p:cNvSpPr txBox="1"/>
          <p:nvPr/>
        </p:nvSpPr>
        <p:spPr>
          <a:xfrm>
            <a:off x="6295805" y="2682823"/>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Líder de Desarrollo</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 delega a Backend y a Frontend</a:t>
            </a:r>
            <a:endParaRPr lang="en-US" sz="1080" dirty="0"/>
          </a:p>
        </p:txBody>
      </p:sp>
      <p:sp>
        <p:nvSpPr>
          <p:cNvPr id="24" name="s10-texto-23"/>
          <p:cNvSpPr txBox="1"/>
          <p:nvPr/>
        </p:nvSpPr>
        <p:spPr>
          <a:xfrm>
            <a:off x="6295805" y="2954729"/>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0033A0"/>
                </a:solidFill>
                <a:latin typeface="Arial" pitchFamily="34" charset="0"/>
                <a:ea typeface="Arial" pitchFamily="34" charset="-122"/>
                <a:cs typeface="Arial" pitchFamily="34" charset="-120"/>
              </a:rPr>
              <a:t>Backend y Frontend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entregan su código al líder</a:t>
            </a:r>
            <a:endParaRPr lang="en-US" sz="1080" dirty="0"/>
          </a:p>
        </p:txBody>
      </p:sp>
      <p:sp>
        <p:nvSpPr>
          <p:cNvPr id="25" name="s10-texto-24"/>
          <p:cNvSpPr txBox="1"/>
          <p:nvPr/>
        </p:nvSpPr>
        <p:spPr>
          <a:xfrm>
            <a:off x="6295805" y="3226636"/>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1B6A43"/>
                </a:solidFill>
                <a:latin typeface="Arial" pitchFamily="34" charset="0"/>
                <a:ea typeface="Arial" pitchFamily="34" charset="-122"/>
                <a:cs typeface="Arial" pitchFamily="34" charset="-120"/>
              </a:rPr>
              <a:t>Líder de Desarrollo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resume «la app está lista» para el director</a:t>
            </a:r>
            <a:endParaRPr lang="en-US" sz="1080" dirty="0"/>
          </a:p>
        </p:txBody>
      </p:sp>
      <p:sp>
        <p:nvSpPr>
          <p:cNvPr id="26" name="s10-texto-25"/>
          <p:cNvSpPr txBox="1"/>
          <p:nvPr/>
        </p:nvSpPr>
        <p:spPr>
          <a:xfrm>
            <a:off x="6295805" y="3498542"/>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Director</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 delega al líder de Calidad</a:t>
            </a:r>
            <a:endParaRPr lang="en-US" sz="1080" dirty="0"/>
          </a:p>
        </p:txBody>
      </p:sp>
      <p:sp>
        <p:nvSpPr>
          <p:cNvPr id="27" name="s10-texto-26"/>
          <p:cNvSpPr txBox="1"/>
          <p:nvPr/>
        </p:nvSpPr>
        <p:spPr>
          <a:xfrm>
            <a:off x="6295805" y="3770449"/>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16181D"/>
                </a:solidFill>
                <a:latin typeface="Arial" pitchFamily="34" charset="0"/>
                <a:ea typeface="Arial" pitchFamily="34" charset="-122"/>
                <a:cs typeface="Arial" pitchFamily="34" charset="-120"/>
              </a:rPr>
              <a:t>Líder de Calidad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tester y automatizador → «todo pasa»</a:t>
            </a:r>
            <a:endParaRPr lang="en-US" sz="1080" dirty="0"/>
          </a:p>
        </p:txBody>
      </p:sp>
      <p:sp>
        <p:nvSpPr>
          <p:cNvPr id="28" name="s10-texto-27"/>
          <p:cNvSpPr txBox="1"/>
          <p:nvPr/>
        </p:nvSpPr>
        <p:spPr>
          <a:xfrm>
            <a:off x="6095848" y="4288017"/>
            <a:ext cx="5038472" cy="346176"/>
          </a:xfrm>
          <a:prstGeom prst="rect">
            <a:avLst/>
          </a:prstGeom>
          <a:noFill/>
          <a:ln/>
        </p:spPr>
        <p:txBody>
          <a:bodyPr wrap="square" lIns="0" tIns="0" rIns="0" bIns="0" rtlCol="0" anchor="t"/>
          <a:lstStyle/>
          <a:p>
            <a:pPr algn="l" indent="0" marL="0">
              <a:lnSpc>
                <a:spcPts val="1512"/>
              </a:lnSpc>
              <a:buNone/>
            </a:pPr>
            <a:r>
              <a:rPr lang="en-US" sz="1080" dirty="0">
                <a:solidFill>
                  <a:srgbClr val="585E6F"/>
                </a:solidFill>
                <a:latin typeface="Arial" pitchFamily="34" charset="0"/>
                <a:ea typeface="Arial" pitchFamily="34" charset="-122"/>
                <a:cs typeface="Arial" pitchFamily="34" charset="-120"/>
              </a:rPr>
              <a:t>Escala a muchos agentes, pero cada nivel agrega latencia, costo y pérdida de detalle al resumir.</a:t>
            </a:r>
            <a:endParaRPr lang="en-US" sz="1080" dirty="0"/>
          </a:p>
        </p:txBody>
      </p:sp>
      <p:sp>
        <p:nvSpPr>
          <p:cNvPr id="29" name="s10-texto-28"/>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 · LangGraph, documentación de sistemas multi-agente</a:t>
            </a:r>
            <a:endParaRPr lang="en-US" sz="1080" dirty="0"/>
          </a:p>
        </p:txBody>
      </p:sp>
      <p:sp>
        <p:nvSpPr>
          <p:cNvPr id="30" name="s10-forma-29"/>
          <p:cNvSpPr/>
          <p:nvPr/>
        </p:nvSpPr>
        <p:spPr>
          <a:xfrm>
            <a:off x="853390" y="6411138"/>
            <a:ext cx="10484915" cy="5713"/>
          </a:xfrm>
          <a:prstGeom prst="rect">
            <a:avLst/>
          </a:prstGeom>
          <a:solidFill>
            <a:srgbClr val="DBD4C4"/>
          </a:solidFill>
          <a:ln/>
        </p:spPr>
      </p:sp>
      <p:pic>
        <p:nvPicPr>
          <p:cNvPr id="31" name="s10-logo-30"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32" name="s10-forma-31"/>
          <p:cNvSpPr/>
          <p:nvPr/>
        </p:nvSpPr>
        <p:spPr>
          <a:xfrm>
            <a:off x="1659380" y="6519865"/>
            <a:ext cx="2926878" cy="102835"/>
          </a:xfrm>
          <a:prstGeom prst="rect">
            <a:avLst/>
          </a:prstGeom>
          <a:ln/>
        </p:spPr>
      </p:sp>
      <p:sp>
        <p:nvSpPr>
          <p:cNvPr id="33" name="s10-forma-32"/>
          <p:cNvSpPr/>
          <p:nvPr/>
        </p:nvSpPr>
        <p:spPr>
          <a:xfrm>
            <a:off x="1659380" y="6519865"/>
            <a:ext cx="5713" cy="102835"/>
          </a:xfrm>
          <a:prstGeom prst="rect">
            <a:avLst/>
          </a:prstGeom>
          <a:solidFill>
            <a:srgbClr val="C6BFAE"/>
          </a:solidFill>
          <a:ln/>
        </p:spPr>
      </p:sp>
      <p:sp>
        <p:nvSpPr>
          <p:cNvPr id="34" name="s10-texto-33"/>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5" name="s10-texto-34"/>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10 / 36</a:t>
            </a:r>
            <a:endParaRPr lang="en-US" sz="745" dirty="0"/>
          </a:p>
        </p:txBody>
      </p:sp>
      <p:sp>
        <p:nvSpPr>
          <p:cNvPr id="36" name="s10-forma-35"/>
          <p:cNvSpPr/>
          <p:nvPr/>
        </p:nvSpPr>
        <p:spPr>
          <a:xfrm>
            <a:off x="0" y="0"/>
            <a:ext cx="3386513" cy="17139"/>
          </a:xfrm>
          <a:prstGeom prst="rect">
            <a:avLst/>
          </a:prstGeom>
          <a:solidFill>
            <a:srgbClr val="0033A0"/>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8DC"/>
        </a:solidFill>
      </p:bgPr>
    </p:bg>
    <p:spTree>
      <p:nvGrpSpPr>
        <p:cNvPr id="1" name=""/>
        <p:cNvGrpSpPr/>
        <p:nvPr/>
      </p:nvGrpSpPr>
      <p:grpSpPr>
        <a:xfrm>
          <a:off x="0" y="0"/>
          <a:ext cx="0" cy="0"/>
          <a:chOff x="0" y="0"/>
          <a:chExt cx="0" cy="0"/>
        </a:xfrm>
      </p:grpSpPr>
      <p:sp>
        <p:nvSpPr>
          <p:cNvPr id="2" name="s11-forma-1"/>
          <p:cNvSpPr/>
          <p:nvPr/>
        </p:nvSpPr>
        <p:spPr>
          <a:xfrm>
            <a:off x="853390" y="520961"/>
            <a:ext cx="10484915" cy="5713"/>
          </a:xfrm>
          <a:prstGeom prst="rect">
            <a:avLst/>
          </a:prstGeom>
          <a:solidFill>
            <a:srgbClr val="C6BFAE"/>
          </a:solidFill>
          <a:ln/>
        </p:spPr>
      </p:sp>
      <p:sp>
        <p:nvSpPr>
          <p:cNvPr id="3" name="s11-forma-2"/>
          <p:cNvSpPr/>
          <p:nvPr/>
        </p:nvSpPr>
        <p:spPr>
          <a:xfrm>
            <a:off x="853390" y="331715"/>
            <a:ext cx="81411" cy="81411"/>
          </a:xfrm>
          <a:prstGeom prst="ellipse">
            <a:avLst/>
          </a:prstGeom>
          <a:solidFill>
            <a:srgbClr val="0033A0"/>
          </a:solidFill>
          <a:ln/>
        </p:spPr>
      </p:sp>
      <p:sp>
        <p:nvSpPr>
          <p:cNvPr id="4" name="s11-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1-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1-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2 DE 5</a:t>
            </a:r>
            <a:endParaRPr lang="en-US" sz="900" dirty="0"/>
          </a:p>
        </p:txBody>
      </p:sp>
      <p:sp>
        <p:nvSpPr>
          <p:cNvPr id="7" name="s11-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Jerárquica: supervisores de supervisores</a:t>
            </a:r>
            <a:endParaRPr lang="en-US" sz="2879" dirty="0"/>
          </a:p>
        </p:txBody>
      </p:sp>
      <p:sp>
        <p:nvSpPr>
          <p:cNvPr id="8" name="s11-forma-7"/>
          <p:cNvSpPr/>
          <p:nvPr/>
        </p:nvSpPr>
        <p:spPr>
          <a:xfrm>
            <a:off x="3170755" y="2170967"/>
            <a:ext cx="1371137" cy="571307"/>
          </a:xfrm>
          <a:prstGeom prst="rect">
            <a:avLst/>
          </a:prstGeom>
          <a:solidFill>
            <a:srgbClr val="E2D3C2"/>
          </a:solidFill>
          <a:ln w="5713">
            <a:solidFill>
              <a:srgbClr val="984514"/>
            </a:solidFill>
            <a:prstDash val="solid"/>
          </a:ln>
        </p:spPr>
      </p:sp>
      <p:sp>
        <p:nvSpPr>
          <p:cNvPr id="9" name="s11-texto-8"/>
          <p:cNvSpPr txBox="1"/>
          <p:nvPr/>
        </p:nvSpPr>
        <p:spPr>
          <a:xfrm>
            <a:off x="3526751" y="2365212"/>
            <a:ext cx="659146"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Director</a:t>
            </a:r>
            <a:endParaRPr lang="en-US" sz="1260" dirty="0"/>
          </a:p>
        </p:txBody>
      </p:sp>
      <p:sp>
        <p:nvSpPr>
          <p:cNvPr id="10" name="s11-forma-9"/>
          <p:cNvSpPr/>
          <p:nvPr/>
        </p:nvSpPr>
        <p:spPr>
          <a:xfrm>
            <a:off x="1799618" y="3199320"/>
            <a:ext cx="1371137" cy="571307"/>
          </a:xfrm>
          <a:prstGeom prst="rect">
            <a:avLst/>
          </a:prstGeom>
          <a:solidFill>
            <a:srgbClr val="DCE3F2"/>
          </a:solidFill>
          <a:ln w="5713">
            <a:solidFill>
              <a:srgbClr val="0033A0"/>
            </a:solidFill>
            <a:prstDash val="solid"/>
          </a:ln>
        </p:spPr>
      </p:sp>
      <p:sp>
        <p:nvSpPr>
          <p:cNvPr id="11" name="s11-texto-10"/>
          <p:cNvSpPr txBox="1"/>
          <p:nvPr/>
        </p:nvSpPr>
        <p:spPr>
          <a:xfrm>
            <a:off x="2173377" y="3302155"/>
            <a:ext cx="623528"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Calidad</a:t>
            </a:r>
            <a:endParaRPr lang="en-US" sz="1260" dirty="0"/>
          </a:p>
        </p:txBody>
      </p:sp>
      <p:sp>
        <p:nvSpPr>
          <p:cNvPr id="12" name="s11-texto-11"/>
          <p:cNvSpPr txBox="1"/>
          <p:nvPr/>
        </p:nvSpPr>
        <p:spPr>
          <a:xfrm>
            <a:off x="2328969" y="3507826"/>
            <a:ext cx="312434"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líder</a:t>
            </a:r>
            <a:endParaRPr lang="en-US" sz="1080" dirty="0"/>
          </a:p>
        </p:txBody>
      </p:sp>
      <p:sp>
        <p:nvSpPr>
          <p:cNvPr id="13" name="s11-forma-12"/>
          <p:cNvSpPr/>
          <p:nvPr/>
        </p:nvSpPr>
        <p:spPr>
          <a:xfrm>
            <a:off x="4541892" y="3199320"/>
            <a:ext cx="1371137" cy="571307"/>
          </a:xfrm>
          <a:prstGeom prst="rect">
            <a:avLst/>
          </a:prstGeom>
          <a:solidFill>
            <a:srgbClr val="DCE3F2"/>
          </a:solidFill>
          <a:ln w="5713">
            <a:solidFill>
              <a:srgbClr val="0033A0"/>
            </a:solidFill>
            <a:prstDash val="solid"/>
          </a:ln>
        </p:spPr>
      </p:sp>
      <p:sp>
        <p:nvSpPr>
          <p:cNvPr id="14" name="s11-texto-13"/>
          <p:cNvSpPr txBox="1"/>
          <p:nvPr/>
        </p:nvSpPr>
        <p:spPr>
          <a:xfrm>
            <a:off x="4808093" y="3302155"/>
            <a:ext cx="838736"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Desarrollo</a:t>
            </a:r>
            <a:endParaRPr lang="en-US" sz="1260" dirty="0"/>
          </a:p>
        </p:txBody>
      </p:sp>
      <p:sp>
        <p:nvSpPr>
          <p:cNvPr id="15" name="s11-texto-14"/>
          <p:cNvSpPr txBox="1"/>
          <p:nvPr/>
        </p:nvSpPr>
        <p:spPr>
          <a:xfrm>
            <a:off x="5071244" y="3507826"/>
            <a:ext cx="312434"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líder</a:t>
            </a:r>
            <a:endParaRPr lang="en-US" sz="1080" dirty="0"/>
          </a:p>
        </p:txBody>
      </p:sp>
      <p:sp>
        <p:nvSpPr>
          <p:cNvPr id="16" name="s11-forma-15"/>
          <p:cNvSpPr/>
          <p:nvPr/>
        </p:nvSpPr>
        <p:spPr>
          <a:xfrm>
            <a:off x="1342572" y="4227673"/>
            <a:ext cx="1085484" cy="514176"/>
          </a:xfrm>
          <a:prstGeom prst="rect">
            <a:avLst/>
          </a:prstGeom>
          <a:solidFill>
            <a:srgbClr val="E3DCCB"/>
          </a:solidFill>
          <a:ln w="5713">
            <a:solidFill>
              <a:srgbClr val="585E6F"/>
            </a:solidFill>
            <a:prstDash val="solid"/>
          </a:ln>
        </p:spPr>
      </p:sp>
      <p:sp>
        <p:nvSpPr>
          <p:cNvPr id="17" name="s11-texto-16"/>
          <p:cNvSpPr txBox="1"/>
          <p:nvPr/>
        </p:nvSpPr>
        <p:spPr>
          <a:xfrm>
            <a:off x="1551278" y="4393352"/>
            <a:ext cx="668072"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Analista</a:t>
            </a:r>
            <a:endParaRPr lang="en-US" sz="1260" dirty="0"/>
          </a:p>
        </p:txBody>
      </p:sp>
      <p:sp>
        <p:nvSpPr>
          <p:cNvPr id="18" name="s11-forma-17"/>
          <p:cNvSpPr/>
          <p:nvPr/>
        </p:nvSpPr>
        <p:spPr>
          <a:xfrm>
            <a:off x="2542317" y="4227673"/>
            <a:ext cx="1085484" cy="514176"/>
          </a:xfrm>
          <a:prstGeom prst="rect">
            <a:avLst/>
          </a:prstGeom>
          <a:solidFill>
            <a:srgbClr val="E3DCCB"/>
          </a:solidFill>
          <a:ln w="5713">
            <a:solidFill>
              <a:srgbClr val="585E6F"/>
            </a:solidFill>
            <a:prstDash val="solid"/>
          </a:ln>
        </p:spPr>
      </p:sp>
      <p:sp>
        <p:nvSpPr>
          <p:cNvPr id="19" name="s11-texto-18"/>
          <p:cNvSpPr txBox="1"/>
          <p:nvPr/>
        </p:nvSpPr>
        <p:spPr>
          <a:xfrm>
            <a:off x="2828060" y="4393352"/>
            <a:ext cx="513998"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Tester</a:t>
            </a:r>
            <a:endParaRPr lang="en-US" sz="1260" dirty="0"/>
          </a:p>
        </p:txBody>
      </p:sp>
      <p:sp>
        <p:nvSpPr>
          <p:cNvPr id="20" name="s11-forma-19"/>
          <p:cNvSpPr/>
          <p:nvPr/>
        </p:nvSpPr>
        <p:spPr>
          <a:xfrm>
            <a:off x="4056281" y="4227673"/>
            <a:ext cx="1085484" cy="514176"/>
          </a:xfrm>
          <a:prstGeom prst="rect">
            <a:avLst/>
          </a:prstGeom>
          <a:solidFill>
            <a:srgbClr val="E3DCCB"/>
          </a:solidFill>
          <a:ln w="5713">
            <a:solidFill>
              <a:srgbClr val="585E6F"/>
            </a:solidFill>
            <a:prstDash val="solid"/>
          </a:ln>
        </p:spPr>
      </p:sp>
      <p:sp>
        <p:nvSpPr>
          <p:cNvPr id="21" name="s11-texto-20"/>
          <p:cNvSpPr txBox="1"/>
          <p:nvPr/>
        </p:nvSpPr>
        <p:spPr>
          <a:xfrm>
            <a:off x="4242759" y="4393352"/>
            <a:ext cx="712527"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Backend</a:t>
            </a:r>
            <a:endParaRPr lang="en-US" sz="1260" dirty="0"/>
          </a:p>
        </p:txBody>
      </p:sp>
      <p:sp>
        <p:nvSpPr>
          <p:cNvPr id="22" name="s11-forma-21"/>
          <p:cNvSpPr/>
          <p:nvPr/>
        </p:nvSpPr>
        <p:spPr>
          <a:xfrm>
            <a:off x="5313157" y="4227673"/>
            <a:ext cx="1085484" cy="514176"/>
          </a:xfrm>
          <a:prstGeom prst="rect">
            <a:avLst/>
          </a:prstGeom>
          <a:solidFill>
            <a:srgbClr val="E3DCCB"/>
          </a:solidFill>
          <a:ln w="5713">
            <a:solidFill>
              <a:srgbClr val="585E6F"/>
            </a:solidFill>
            <a:prstDash val="solid"/>
          </a:ln>
        </p:spPr>
      </p:sp>
      <p:sp>
        <p:nvSpPr>
          <p:cNvPr id="23" name="s11-texto-22"/>
          <p:cNvSpPr txBox="1"/>
          <p:nvPr/>
        </p:nvSpPr>
        <p:spPr>
          <a:xfrm>
            <a:off x="5486513" y="4393352"/>
            <a:ext cx="738772"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Frontend</a:t>
            </a:r>
            <a:endParaRPr lang="en-US" sz="1260" dirty="0"/>
          </a:p>
        </p:txBody>
      </p:sp>
      <p:sp>
        <p:nvSpPr>
          <p:cNvPr id="24" name="s11-forma-23"/>
          <p:cNvSpPr/>
          <p:nvPr/>
        </p:nvSpPr>
        <p:spPr>
          <a:xfrm>
            <a:off x="1342572" y="5027503"/>
            <a:ext cx="5056069" cy="374742"/>
          </a:xfrm>
          <a:prstGeom prst="rect">
            <a:avLst/>
          </a:prstGeom>
          <a:solidFill>
            <a:srgbClr val="E3DCCB"/>
          </a:solidFill>
          <a:ln/>
        </p:spPr>
      </p:sp>
      <p:sp>
        <p:nvSpPr>
          <p:cNvPr id="25" name="s11-texto-24"/>
          <p:cNvSpPr txBox="1"/>
          <p:nvPr/>
        </p:nvSpPr>
        <p:spPr>
          <a:xfrm>
            <a:off x="1479686" y="5136052"/>
            <a:ext cx="5068752" cy="154253"/>
          </a:xfrm>
          <a:prstGeom prst="rect">
            <a:avLst/>
          </a:prstGeom>
          <a:noFill/>
          <a:ln/>
        </p:spPr>
        <p:txBody>
          <a:bodyPr wrap="none" lIns="0" tIns="0" rIns="0" bIns="0" rtlCol="0" anchor="t"/>
          <a:lstStyle/>
          <a:p>
            <a:pPr algn="l" indent="0" marL="0">
              <a:lnSpc>
                <a:spcPts val="1512"/>
              </a:lnSpc>
              <a:buNone/>
            </a:pPr>
            <a:r>
              <a:rPr lang="en-US" sz="1080" dirty="0">
                <a:solidFill>
                  <a:srgbClr val="16181D"/>
                </a:solidFill>
                <a:latin typeface="Arial" pitchFamily="34" charset="0"/>
                <a:ea typeface="Arial" pitchFamily="34" charset="-122"/>
                <a:cs typeface="Arial" pitchFamily="34" charset="-120"/>
              </a:rPr>
              <a:t>Cada nivel solo ve lo suyo</a:t>
            </a:r>
            <a:endParaRPr lang="en-US" sz="1080" dirty="0"/>
          </a:p>
        </p:txBody>
      </p:sp>
      <p:sp>
        <p:nvSpPr>
          <p:cNvPr id="26" name="s11-texto-25"/>
          <p:cNvSpPr txBox="1"/>
          <p:nvPr/>
        </p:nvSpPr>
        <p:spPr>
          <a:xfrm>
            <a:off x="7284167" y="2228098"/>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7" name="s11-texto-26"/>
          <p:cNvSpPr txBox="1"/>
          <p:nvPr/>
        </p:nvSpPr>
        <p:spPr>
          <a:xfrm>
            <a:off x="7284167" y="2428056"/>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Varios supervisores organizados en niveles; cada uno coordina a un equipo pequeño.</a:t>
            </a:r>
            <a:endParaRPr lang="en-US" sz="1260" dirty="0"/>
          </a:p>
        </p:txBody>
      </p:sp>
      <p:sp>
        <p:nvSpPr>
          <p:cNvPr id="28" name="s11-texto-27"/>
          <p:cNvSpPr txBox="1"/>
          <p:nvPr/>
        </p:nvSpPr>
        <p:spPr>
          <a:xfrm>
            <a:off x="7284167" y="3012931"/>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9" name="s11-texto-28"/>
          <p:cNvSpPr txBox="1"/>
          <p:nvPr/>
        </p:nvSpPr>
        <p:spPr>
          <a:xfrm>
            <a:off x="7284167" y="3212889"/>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Escala a muchos agentes; cada nivel agrega latencia, costo y pérdida de detalle.</a:t>
            </a:r>
            <a:endParaRPr lang="en-US" sz="1260" dirty="0"/>
          </a:p>
        </p:txBody>
      </p:sp>
      <p:sp>
        <p:nvSpPr>
          <p:cNvPr id="30" name="s11-forma-29"/>
          <p:cNvSpPr/>
          <p:nvPr/>
        </p:nvSpPr>
        <p:spPr>
          <a:xfrm>
            <a:off x="7284167" y="3797764"/>
            <a:ext cx="3564957" cy="1122976"/>
          </a:xfrm>
          <a:prstGeom prst="rect">
            <a:avLst/>
          </a:prstGeom>
          <a:solidFill>
            <a:srgbClr val="E2D3C2"/>
          </a:solidFill>
          <a:ln/>
        </p:spPr>
      </p:sp>
      <p:sp>
        <p:nvSpPr>
          <p:cNvPr id="31" name="s11-texto-30"/>
          <p:cNvSpPr txBox="1"/>
          <p:nvPr/>
        </p:nvSpPr>
        <p:spPr>
          <a:xfrm>
            <a:off x="7421280" y="3934878"/>
            <a:ext cx="3488173"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2" name="s11-texto-31"/>
          <p:cNvSpPr txBox="1"/>
          <p:nvPr/>
        </p:nvSpPr>
        <p:spPr>
          <a:xfrm>
            <a:off x="7421280" y="4134836"/>
            <a:ext cx="3488173" cy="624867"/>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Claude Code como desarrollador, con sus propios subagentes: un equipo dentro de un agente.</a:t>
            </a:r>
            <a:endParaRPr lang="en-US" sz="1260" dirty="0"/>
          </a:p>
        </p:txBody>
      </p:sp>
      <p:sp>
        <p:nvSpPr>
          <p:cNvPr id="33" name="s11-texto-32"/>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a:t>
            </a:r>
            <a:endParaRPr lang="en-US" sz="1080" dirty="0"/>
          </a:p>
        </p:txBody>
      </p:sp>
      <p:sp>
        <p:nvSpPr>
          <p:cNvPr id="34" name="s11-linea-33-0"/>
          <p:cNvSpPr/>
          <p:nvPr/>
        </p:nvSpPr>
        <p:spPr>
          <a:xfrm>
            <a:off x="3856323" y="2742274"/>
            <a:ext cx="0" cy="228523"/>
          </a:xfrm>
          <a:prstGeom prst="line">
            <a:avLst/>
          </a:prstGeom>
          <a:noFill/>
          <a:ln w="17140">
            <a:solidFill>
              <a:srgbClr val="585E6F"/>
            </a:solidFill>
            <a:prstDash val="solid"/>
          </a:ln>
        </p:spPr>
      </p:sp>
      <p:sp>
        <p:nvSpPr>
          <p:cNvPr id="35" name="s11-linea-34-0"/>
          <p:cNvSpPr/>
          <p:nvPr/>
        </p:nvSpPr>
        <p:spPr>
          <a:xfrm>
            <a:off x="2485186" y="2970797"/>
            <a:ext cx="2742274" cy="0"/>
          </a:xfrm>
          <a:prstGeom prst="line">
            <a:avLst/>
          </a:prstGeom>
          <a:noFill/>
          <a:ln w="17140">
            <a:solidFill>
              <a:srgbClr val="585E6F"/>
            </a:solidFill>
            <a:prstDash val="solid"/>
          </a:ln>
        </p:spPr>
      </p:sp>
      <p:sp>
        <p:nvSpPr>
          <p:cNvPr id="36" name="s11-linea-35-0"/>
          <p:cNvSpPr/>
          <p:nvPr/>
        </p:nvSpPr>
        <p:spPr>
          <a:xfrm>
            <a:off x="2485186" y="2970797"/>
            <a:ext cx="0" cy="228523"/>
          </a:xfrm>
          <a:prstGeom prst="line">
            <a:avLst/>
          </a:prstGeom>
          <a:noFill/>
          <a:ln w="17140">
            <a:solidFill>
              <a:srgbClr val="585E6F"/>
            </a:solidFill>
            <a:prstDash val="solid"/>
            <a:tailEnd type="triangle"/>
          </a:ln>
        </p:spPr>
      </p:sp>
      <p:sp>
        <p:nvSpPr>
          <p:cNvPr id="37" name="s11-linea-36-0"/>
          <p:cNvSpPr/>
          <p:nvPr/>
        </p:nvSpPr>
        <p:spPr>
          <a:xfrm>
            <a:off x="5227461" y="2970797"/>
            <a:ext cx="0" cy="228523"/>
          </a:xfrm>
          <a:prstGeom prst="line">
            <a:avLst/>
          </a:prstGeom>
          <a:noFill/>
          <a:ln w="17140">
            <a:solidFill>
              <a:srgbClr val="585E6F"/>
            </a:solidFill>
            <a:prstDash val="solid"/>
            <a:tailEnd type="triangle"/>
          </a:ln>
        </p:spPr>
      </p:sp>
      <p:sp>
        <p:nvSpPr>
          <p:cNvPr id="38" name="s11-linea-37-0"/>
          <p:cNvSpPr/>
          <p:nvPr/>
        </p:nvSpPr>
        <p:spPr>
          <a:xfrm>
            <a:off x="2485186" y="3770627"/>
            <a:ext cx="0" cy="228523"/>
          </a:xfrm>
          <a:prstGeom prst="line">
            <a:avLst/>
          </a:prstGeom>
          <a:noFill/>
          <a:ln w="17140">
            <a:solidFill>
              <a:srgbClr val="585E6F"/>
            </a:solidFill>
            <a:prstDash val="solid"/>
          </a:ln>
        </p:spPr>
      </p:sp>
      <p:sp>
        <p:nvSpPr>
          <p:cNvPr id="39" name="s11-linea-38-0"/>
          <p:cNvSpPr/>
          <p:nvPr/>
        </p:nvSpPr>
        <p:spPr>
          <a:xfrm>
            <a:off x="1885314" y="3999150"/>
            <a:ext cx="1199745" cy="0"/>
          </a:xfrm>
          <a:prstGeom prst="line">
            <a:avLst/>
          </a:prstGeom>
          <a:noFill/>
          <a:ln w="17140">
            <a:solidFill>
              <a:srgbClr val="585E6F"/>
            </a:solidFill>
            <a:prstDash val="solid"/>
          </a:ln>
        </p:spPr>
      </p:sp>
      <p:sp>
        <p:nvSpPr>
          <p:cNvPr id="40" name="s11-linea-39-0"/>
          <p:cNvSpPr/>
          <p:nvPr/>
        </p:nvSpPr>
        <p:spPr>
          <a:xfrm>
            <a:off x="1885314" y="3999150"/>
            <a:ext cx="0" cy="228523"/>
          </a:xfrm>
          <a:prstGeom prst="line">
            <a:avLst/>
          </a:prstGeom>
          <a:noFill/>
          <a:ln w="17140">
            <a:solidFill>
              <a:srgbClr val="585E6F"/>
            </a:solidFill>
            <a:prstDash val="solid"/>
            <a:tailEnd type="triangle"/>
          </a:ln>
        </p:spPr>
      </p:sp>
      <p:sp>
        <p:nvSpPr>
          <p:cNvPr id="41" name="s11-linea-40-0"/>
          <p:cNvSpPr/>
          <p:nvPr/>
        </p:nvSpPr>
        <p:spPr>
          <a:xfrm>
            <a:off x="3085059" y="3999150"/>
            <a:ext cx="0" cy="228523"/>
          </a:xfrm>
          <a:prstGeom prst="line">
            <a:avLst/>
          </a:prstGeom>
          <a:noFill/>
          <a:ln w="17140">
            <a:solidFill>
              <a:srgbClr val="585E6F"/>
            </a:solidFill>
            <a:prstDash val="solid"/>
            <a:tailEnd type="triangle"/>
          </a:ln>
        </p:spPr>
      </p:sp>
      <p:sp>
        <p:nvSpPr>
          <p:cNvPr id="42" name="s11-linea-41-0"/>
          <p:cNvSpPr/>
          <p:nvPr/>
        </p:nvSpPr>
        <p:spPr>
          <a:xfrm>
            <a:off x="5227461" y="3770627"/>
            <a:ext cx="0" cy="228523"/>
          </a:xfrm>
          <a:prstGeom prst="line">
            <a:avLst/>
          </a:prstGeom>
          <a:noFill/>
          <a:ln w="17140">
            <a:solidFill>
              <a:srgbClr val="585E6F"/>
            </a:solidFill>
            <a:prstDash val="solid"/>
          </a:ln>
        </p:spPr>
      </p:sp>
      <p:sp>
        <p:nvSpPr>
          <p:cNvPr id="43" name="s11-linea-42-0"/>
          <p:cNvSpPr/>
          <p:nvPr/>
        </p:nvSpPr>
        <p:spPr>
          <a:xfrm>
            <a:off x="4599023" y="3999150"/>
            <a:ext cx="1256876" cy="0"/>
          </a:xfrm>
          <a:prstGeom prst="line">
            <a:avLst/>
          </a:prstGeom>
          <a:noFill/>
          <a:ln w="17140">
            <a:solidFill>
              <a:srgbClr val="585E6F"/>
            </a:solidFill>
            <a:prstDash val="solid"/>
          </a:ln>
        </p:spPr>
      </p:sp>
      <p:sp>
        <p:nvSpPr>
          <p:cNvPr id="44" name="s11-linea-43-0"/>
          <p:cNvSpPr/>
          <p:nvPr/>
        </p:nvSpPr>
        <p:spPr>
          <a:xfrm>
            <a:off x="4599023" y="3999150"/>
            <a:ext cx="0" cy="228523"/>
          </a:xfrm>
          <a:prstGeom prst="line">
            <a:avLst/>
          </a:prstGeom>
          <a:noFill/>
          <a:ln w="17140">
            <a:solidFill>
              <a:srgbClr val="585E6F"/>
            </a:solidFill>
            <a:prstDash val="solid"/>
            <a:tailEnd type="triangle"/>
          </a:ln>
        </p:spPr>
      </p:sp>
      <p:sp>
        <p:nvSpPr>
          <p:cNvPr id="45" name="s11-linea-44-0"/>
          <p:cNvSpPr/>
          <p:nvPr/>
        </p:nvSpPr>
        <p:spPr>
          <a:xfrm>
            <a:off x="5855899" y="3999150"/>
            <a:ext cx="0" cy="228523"/>
          </a:xfrm>
          <a:prstGeom prst="line">
            <a:avLst/>
          </a:prstGeom>
          <a:noFill/>
          <a:ln w="17140">
            <a:solidFill>
              <a:srgbClr val="585E6F"/>
            </a:solidFill>
            <a:prstDash val="solid"/>
            <a:tailEnd type="triangle"/>
          </a:ln>
        </p:spPr>
      </p:sp>
      <p:sp>
        <p:nvSpPr>
          <p:cNvPr id="46" name="s11-forma-45"/>
          <p:cNvSpPr/>
          <p:nvPr/>
        </p:nvSpPr>
        <p:spPr>
          <a:xfrm>
            <a:off x="853390" y="6411138"/>
            <a:ext cx="10484915" cy="5713"/>
          </a:xfrm>
          <a:prstGeom prst="rect">
            <a:avLst/>
          </a:prstGeom>
          <a:solidFill>
            <a:srgbClr val="DBD4C4"/>
          </a:solidFill>
          <a:ln/>
        </p:spPr>
      </p:sp>
      <p:pic>
        <p:nvPicPr>
          <p:cNvPr id="47" name="s11-logo-46"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8" name="s11-forma-47"/>
          <p:cNvSpPr/>
          <p:nvPr/>
        </p:nvSpPr>
        <p:spPr>
          <a:xfrm>
            <a:off x="1659380" y="6519865"/>
            <a:ext cx="2926878" cy="102835"/>
          </a:xfrm>
          <a:prstGeom prst="rect">
            <a:avLst/>
          </a:prstGeom>
          <a:ln/>
        </p:spPr>
      </p:sp>
      <p:sp>
        <p:nvSpPr>
          <p:cNvPr id="49" name="s11-forma-48"/>
          <p:cNvSpPr/>
          <p:nvPr/>
        </p:nvSpPr>
        <p:spPr>
          <a:xfrm>
            <a:off x="1659380" y="6519865"/>
            <a:ext cx="5713" cy="102835"/>
          </a:xfrm>
          <a:prstGeom prst="rect">
            <a:avLst/>
          </a:prstGeom>
          <a:solidFill>
            <a:srgbClr val="C6BFAE"/>
          </a:solidFill>
          <a:ln/>
        </p:spPr>
      </p:sp>
      <p:sp>
        <p:nvSpPr>
          <p:cNvPr id="50" name="s11-texto-49"/>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51" name="s11-texto-50"/>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11 / 36</a:t>
            </a:r>
            <a:endParaRPr lang="en-US" sz="745" dirty="0"/>
          </a:p>
        </p:txBody>
      </p:sp>
      <p:sp>
        <p:nvSpPr>
          <p:cNvPr id="52" name="s11-forma-51"/>
          <p:cNvSpPr/>
          <p:nvPr/>
        </p:nvSpPr>
        <p:spPr>
          <a:xfrm>
            <a:off x="0" y="0"/>
            <a:ext cx="3725191" cy="17139"/>
          </a:xfrm>
          <a:prstGeom prst="rect">
            <a:avLst/>
          </a:prstGeom>
          <a:solidFill>
            <a:srgbClr val="0033A0"/>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8DC"/>
        </a:solidFill>
      </p:bgPr>
    </p:bg>
    <p:spTree>
      <p:nvGrpSpPr>
        <p:cNvPr id="1" name=""/>
        <p:cNvGrpSpPr/>
        <p:nvPr/>
      </p:nvGrpSpPr>
      <p:grpSpPr>
        <a:xfrm>
          <a:off x="0" y="0"/>
          <a:ext cx="0" cy="0"/>
          <a:chOff x="0" y="0"/>
          <a:chExt cx="0" cy="0"/>
        </a:xfrm>
      </p:grpSpPr>
      <p:sp>
        <p:nvSpPr>
          <p:cNvPr id="2" name="s12-forma-1"/>
          <p:cNvSpPr/>
          <p:nvPr/>
        </p:nvSpPr>
        <p:spPr>
          <a:xfrm>
            <a:off x="853390" y="520961"/>
            <a:ext cx="10484915" cy="5713"/>
          </a:xfrm>
          <a:prstGeom prst="rect">
            <a:avLst/>
          </a:prstGeom>
          <a:solidFill>
            <a:srgbClr val="C6BFAE"/>
          </a:solidFill>
          <a:ln/>
        </p:spPr>
      </p:sp>
      <p:sp>
        <p:nvSpPr>
          <p:cNvPr id="3" name="s12-forma-2"/>
          <p:cNvSpPr/>
          <p:nvPr/>
        </p:nvSpPr>
        <p:spPr>
          <a:xfrm>
            <a:off x="853390" y="331715"/>
            <a:ext cx="81411" cy="81411"/>
          </a:xfrm>
          <a:prstGeom prst="ellipse">
            <a:avLst/>
          </a:prstGeom>
          <a:solidFill>
            <a:srgbClr val="0033A0"/>
          </a:solidFill>
          <a:ln/>
        </p:spPr>
      </p:sp>
      <p:sp>
        <p:nvSpPr>
          <p:cNvPr id="4" name="s12-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2-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2-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 EN CÓDIGO</a:t>
            </a:r>
            <a:endParaRPr lang="en-US" sz="900" dirty="0"/>
          </a:p>
        </p:txBody>
      </p:sp>
      <p:sp>
        <p:nvSpPr>
          <p:cNvPr id="7" name="s12-texto-6"/>
          <p:cNvSpPr txBox="1"/>
          <p:nvPr/>
        </p:nvSpPr>
        <p:spPr>
          <a:xfrm>
            <a:off x="1342572" y="1451120"/>
            <a:ext cx="10076945" cy="377063"/>
          </a:xfrm>
          <a:prstGeom prst="rect">
            <a:avLst/>
          </a:prstGeom>
          <a:noFill/>
          <a:ln/>
        </p:spPr>
        <p:txBody>
          <a:bodyPr wrap="none" lIns="0" tIns="0" rIns="0" bIns="0" rtlCol="0" anchor="t"/>
          <a:lstStyle/>
          <a:p>
            <a:pPr algn="l" indent="0" marL="0">
              <a:lnSpc>
                <a:spcPts val="2771"/>
              </a:lnSpc>
              <a:buNone/>
            </a:pPr>
            <a:r>
              <a:rPr lang="en-US" sz="2519" b="1" spc="-25" kern="0" dirty="0">
                <a:solidFill>
                  <a:srgbClr val="16181D"/>
                </a:solidFill>
                <a:latin typeface="Georgia" pitchFamily="34" charset="0"/>
                <a:ea typeface="Georgia" pitchFamily="34" charset="-122"/>
                <a:cs typeface="Georgia" pitchFamily="34" charset="-120"/>
              </a:rPr>
              <a:t>Jerárquica en código: un grafo dentro de otro</a:t>
            </a:r>
            <a:endParaRPr lang="en-US" sz="2519" dirty="0"/>
          </a:p>
        </p:txBody>
      </p:sp>
      <p:sp>
        <p:nvSpPr>
          <p:cNvPr id="8" name="s12-forma-7"/>
          <p:cNvSpPr/>
          <p:nvPr/>
        </p:nvSpPr>
        <p:spPr>
          <a:xfrm>
            <a:off x="1342572" y="2205246"/>
            <a:ext cx="5941595" cy="2970797"/>
          </a:xfrm>
          <a:prstGeom prst="rect">
            <a:avLst/>
          </a:prstGeom>
          <a:solidFill>
            <a:srgbClr val="E8E2D5"/>
          </a:solidFill>
          <a:ln/>
        </p:spPr>
      </p:sp>
      <p:sp>
        <p:nvSpPr>
          <p:cNvPr id="9" name="s12-forma-8"/>
          <p:cNvSpPr/>
          <p:nvPr/>
        </p:nvSpPr>
        <p:spPr>
          <a:xfrm>
            <a:off x="1342572" y="2205246"/>
            <a:ext cx="5941595" cy="5713"/>
          </a:xfrm>
          <a:prstGeom prst="rect">
            <a:avLst/>
          </a:prstGeom>
          <a:solidFill>
            <a:srgbClr val="DBD4C4"/>
          </a:solidFill>
          <a:ln/>
        </p:spPr>
      </p:sp>
      <p:sp>
        <p:nvSpPr>
          <p:cNvPr id="10" name="s12-forma-9"/>
          <p:cNvSpPr/>
          <p:nvPr/>
        </p:nvSpPr>
        <p:spPr>
          <a:xfrm>
            <a:off x="1342572" y="5170330"/>
            <a:ext cx="5941595" cy="5713"/>
          </a:xfrm>
          <a:prstGeom prst="rect">
            <a:avLst/>
          </a:prstGeom>
          <a:solidFill>
            <a:srgbClr val="DBD4C4"/>
          </a:solidFill>
          <a:ln/>
        </p:spPr>
      </p:sp>
      <p:sp>
        <p:nvSpPr>
          <p:cNvPr id="11" name="s12-forma-10"/>
          <p:cNvSpPr/>
          <p:nvPr/>
        </p:nvSpPr>
        <p:spPr>
          <a:xfrm>
            <a:off x="1342572" y="2205246"/>
            <a:ext cx="17139" cy="2970797"/>
          </a:xfrm>
          <a:prstGeom prst="rect">
            <a:avLst/>
          </a:prstGeom>
          <a:solidFill>
            <a:srgbClr val="C6BFAE"/>
          </a:solidFill>
          <a:ln/>
        </p:spPr>
      </p:sp>
      <p:sp>
        <p:nvSpPr>
          <p:cNvPr id="12" name="s12-forma-11"/>
          <p:cNvSpPr/>
          <p:nvPr/>
        </p:nvSpPr>
        <p:spPr>
          <a:xfrm>
            <a:off x="7278453" y="2205246"/>
            <a:ext cx="5713" cy="2970797"/>
          </a:xfrm>
          <a:prstGeom prst="rect">
            <a:avLst/>
          </a:prstGeom>
          <a:solidFill>
            <a:srgbClr val="DBD4C4"/>
          </a:solidFill>
          <a:ln/>
        </p:spPr>
      </p:sp>
      <p:sp>
        <p:nvSpPr>
          <p:cNvPr id="13" name="s12-texto-12"/>
          <p:cNvSpPr txBox="1"/>
          <p:nvPr/>
        </p:nvSpPr>
        <p:spPr>
          <a:xfrm>
            <a:off x="1542529" y="2370925"/>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equipo(nombre: str, miembros: list) -&gt; CompiledStateGraph:</a:t>
            </a:r>
            <a:endParaRPr lang="en-US" sz="990" dirty="0"/>
          </a:p>
        </p:txBody>
      </p:sp>
      <p:sp>
        <p:nvSpPr>
          <p:cNvPr id="14" name="s12-texto-13"/>
          <p:cNvSpPr txBox="1"/>
          <p:nvPr/>
        </p:nvSpPr>
        <p:spPr>
          <a:xfrm>
            <a:off x="1542529" y="255945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g =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StateGraph</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(Estado)</a:t>
            </a:r>
            <a:endParaRPr lang="en-US" sz="990" dirty="0"/>
          </a:p>
        </p:txBody>
      </p:sp>
      <p:sp>
        <p:nvSpPr>
          <p:cNvPr id="15" name="s12-texto-14"/>
          <p:cNvSpPr txBox="1"/>
          <p:nvPr/>
        </p:nvSpPr>
        <p:spPr>
          <a:xfrm>
            <a:off x="1542529" y="274798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miembros en cadena + líder</a:t>
            </a:r>
            <a:endParaRPr lang="en-US" sz="990" dirty="0"/>
          </a:p>
        </p:txBody>
      </p:sp>
      <p:sp>
        <p:nvSpPr>
          <p:cNvPr id="16" name="s12-texto-15"/>
          <p:cNvSpPr txBox="1"/>
          <p:nvPr/>
        </p:nvSpPr>
        <p:spPr>
          <a:xfrm>
            <a:off x="1542529" y="2936519"/>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g.compile()</a:t>
            </a:r>
            <a:endParaRPr lang="en-US" sz="990" dirty="0"/>
          </a:p>
        </p:txBody>
      </p:sp>
      <p:sp>
        <p:nvSpPr>
          <p:cNvPr id="17" name="s12-forma-16"/>
          <p:cNvSpPr/>
          <p:nvPr/>
        </p:nvSpPr>
        <p:spPr>
          <a:xfrm>
            <a:off x="1451120" y="3313582"/>
            <a:ext cx="5735924" cy="188531"/>
          </a:xfrm>
          <a:prstGeom prst="rect">
            <a:avLst/>
          </a:prstGeom>
          <a:solidFill>
            <a:srgbClr val="DCE3F2"/>
          </a:solidFill>
          <a:ln/>
        </p:spPr>
      </p:sp>
      <p:sp>
        <p:nvSpPr>
          <p:cNvPr id="18" name="s12-forma-17"/>
          <p:cNvSpPr/>
          <p:nvPr/>
        </p:nvSpPr>
        <p:spPr>
          <a:xfrm>
            <a:off x="1451120" y="3313582"/>
            <a:ext cx="22852" cy="188531"/>
          </a:xfrm>
          <a:prstGeom prst="rect">
            <a:avLst/>
          </a:prstGeom>
          <a:solidFill>
            <a:srgbClr val="AC321E"/>
          </a:solidFill>
          <a:ln/>
        </p:spPr>
      </p:sp>
      <p:sp>
        <p:nvSpPr>
          <p:cNvPr id="19" name="s12-texto-18"/>
          <p:cNvSpPr txBox="1"/>
          <p:nvPr/>
        </p:nvSpPr>
        <p:spPr>
          <a:xfrm>
            <a:off x="1542529" y="3313582"/>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equipo_calidad = equipo(</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"calidad"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[analista, tester])</a:t>
            </a:r>
            <a:endParaRPr lang="en-US" sz="990" dirty="0"/>
          </a:p>
        </p:txBody>
      </p:sp>
      <p:sp>
        <p:nvSpPr>
          <p:cNvPr id="20" name="s12-forma-19"/>
          <p:cNvSpPr/>
          <p:nvPr/>
        </p:nvSpPr>
        <p:spPr>
          <a:xfrm>
            <a:off x="1451120" y="3502113"/>
            <a:ext cx="5735924" cy="188531"/>
          </a:xfrm>
          <a:prstGeom prst="rect">
            <a:avLst/>
          </a:prstGeom>
          <a:solidFill>
            <a:srgbClr val="DCE3F2"/>
          </a:solidFill>
          <a:ln/>
        </p:spPr>
      </p:sp>
      <p:sp>
        <p:nvSpPr>
          <p:cNvPr id="21" name="s12-forma-20"/>
          <p:cNvSpPr/>
          <p:nvPr/>
        </p:nvSpPr>
        <p:spPr>
          <a:xfrm>
            <a:off x="1451120" y="3502113"/>
            <a:ext cx="22852" cy="188531"/>
          </a:xfrm>
          <a:prstGeom prst="rect">
            <a:avLst/>
          </a:prstGeom>
          <a:solidFill>
            <a:srgbClr val="AC321E"/>
          </a:solidFill>
          <a:ln/>
        </p:spPr>
      </p:sp>
      <p:sp>
        <p:nvSpPr>
          <p:cNvPr id="22" name="s12-texto-21"/>
          <p:cNvSpPr txBox="1"/>
          <p:nvPr/>
        </p:nvSpPr>
        <p:spPr>
          <a:xfrm>
            <a:off x="1542529" y="350211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equipo_desarrollo = equipo(</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"desarrollo"</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[backend, frontend])</a:t>
            </a:r>
            <a:endParaRPr lang="en-US" sz="990" dirty="0"/>
          </a:p>
        </p:txBody>
      </p:sp>
      <p:sp>
        <p:nvSpPr>
          <p:cNvPr id="23" name="s12-texto-22"/>
          <p:cNvSpPr txBox="1"/>
          <p:nvPr/>
        </p:nvSpPr>
        <p:spPr>
          <a:xfrm>
            <a:off x="1542529" y="387917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 =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StateGraph</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(Estado)</a:t>
            </a:r>
            <a:endParaRPr lang="en-US" sz="990" dirty="0"/>
          </a:p>
        </p:txBody>
      </p:sp>
      <p:sp>
        <p:nvSpPr>
          <p:cNvPr id="24" name="s12-texto-23"/>
          <p:cNvSpPr txBox="1"/>
          <p:nvPr/>
        </p:nvSpPr>
        <p:spPr>
          <a:xfrm>
            <a:off x="1542529" y="4067707"/>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grafo.add_node(</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"director"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director)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decide qué equipo sigue</a:t>
            </a:r>
            <a:endParaRPr lang="en-US" sz="990" dirty="0"/>
          </a:p>
        </p:txBody>
      </p:sp>
      <p:sp>
        <p:nvSpPr>
          <p:cNvPr id="25" name="s12-forma-24"/>
          <p:cNvSpPr/>
          <p:nvPr/>
        </p:nvSpPr>
        <p:spPr>
          <a:xfrm>
            <a:off x="1451120" y="4256238"/>
            <a:ext cx="5735924" cy="188531"/>
          </a:xfrm>
          <a:prstGeom prst="rect">
            <a:avLst/>
          </a:prstGeom>
          <a:solidFill>
            <a:srgbClr val="DCE3F2"/>
          </a:solidFill>
          <a:ln/>
        </p:spPr>
      </p:sp>
      <p:sp>
        <p:nvSpPr>
          <p:cNvPr id="26" name="s12-forma-25"/>
          <p:cNvSpPr/>
          <p:nvPr/>
        </p:nvSpPr>
        <p:spPr>
          <a:xfrm>
            <a:off x="1451120" y="4256238"/>
            <a:ext cx="22852" cy="188531"/>
          </a:xfrm>
          <a:prstGeom prst="rect">
            <a:avLst/>
          </a:prstGeom>
          <a:solidFill>
            <a:srgbClr val="AC321E"/>
          </a:solidFill>
          <a:ln/>
        </p:spPr>
      </p:sp>
      <p:sp>
        <p:nvSpPr>
          <p:cNvPr id="27" name="s12-texto-26"/>
          <p:cNvSpPr txBox="1"/>
          <p:nvPr/>
        </p:nvSpPr>
        <p:spPr>
          <a:xfrm>
            <a:off x="1542529" y="425623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grafo.add_node(</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"calidad"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equipo_calidad)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un grafo como nodo</a:t>
            </a:r>
            <a:endParaRPr lang="en-US" sz="990" dirty="0"/>
          </a:p>
        </p:txBody>
      </p:sp>
      <p:sp>
        <p:nvSpPr>
          <p:cNvPr id="28" name="s12-forma-27"/>
          <p:cNvSpPr/>
          <p:nvPr/>
        </p:nvSpPr>
        <p:spPr>
          <a:xfrm>
            <a:off x="1451120" y="4444770"/>
            <a:ext cx="5735924" cy="188531"/>
          </a:xfrm>
          <a:prstGeom prst="rect">
            <a:avLst/>
          </a:prstGeom>
          <a:solidFill>
            <a:srgbClr val="DCE3F2"/>
          </a:solidFill>
          <a:ln/>
        </p:spPr>
      </p:sp>
      <p:sp>
        <p:nvSpPr>
          <p:cNvPr id="29" name="s12-forma-28"/>
          <p:cNvSpPr/>
          <p:nvPr/>
        </p:nvSpPr>
        <p:spPr>
          <a:xfrm>
            <a:off x="1451120" y="4444770"/>
            <a:ext cx="22852" cy="188531"/>
          </a:xfrm>
          <a:prstGeom prst="rect">
            <a:avLst/>
          </a:prstGeom>
          <a:solidFill>
            <a:srgbClr val="AC321E"/>
          </a:solidFill>
          <a:ln/>
        </p:spPr>
      </p:sp>
      <p:sp>
        <p:nvSpPr>
          <p:cNvPr id="30" name="s12-texto-29"/>
          <p:cNvSpPr txBox="1"/>
          <p:nvPr/>
        </p:nvSpPr>
        <p:spPr>
          <a:xfrm>
            <a:off x="1542529" y="4444770"/>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grafo.add_node(</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"desarrollo"</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equipo_desarrollo)</a:t>
            </a:r>
            <a:endParaRPr lang="en-US" sz="990" dirty="0"/>
          </a:p>
        </p:txBody>
      </p:sp>
      <p:sp>
        <p:nvSpPr>
          <p:cNvPr id="31" name="s12-texto-30"/>
          <p:cNvSpPr txBox="1"/>
          <p:nvPr/>
        </p:nvSpPr>
        <p:spPr>
          <a:xfrm>
            <a:off x="1542529" y="4633301"/>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"calidad"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"director"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sube solo el resumen</a:t>
            </a:r>
            <a:endParaRPr lang="en-US" sz="990" dirty="0"/>
          </a:p>
        </p:txBody>
      </p:sp>
      <p:sp>
        <p:nvSpPr>
          <p:cNvPr id="32" name="s12-texto-31"/>
          <p:cNvSpPr txBox="1"/>
          <p:nvPr/>
        </p:nvSpPr>
        <p:spPr>
          <a:xfrm>
            <a:off x="1542529" y="482183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"desarrollo"</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"director"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3" name="s12-texto-32"/>
          <p:cNvSpPr txBox="1"/>
          <p:nvPr/>
        </p:nvSpPr>
        <p:spPr>
          <a:xfrm>
            <a:off x="7558394" y="2205246"/>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4" name="s12-texto-33"/>
          <p:cNvSpPr txBox="1"/>
          <p:nvPr/>
        </p:nvSpPr>
        <p:spPr>
          <a:xfrm>
            <a:off x="7558394" y="2410916"/>
            <a:ext cx="3488173" cy="587197"/>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Un grafo </a:t>
            </a:r>
            <a:pPr algn="l" indent="0" marL="0">
              <a:lnSpc>
                <a:spcPts val="1637"/>
              </a:lnSpc>
              <a:buNone/>
            </a:pPr>
            <a:r>
              <a:rPr lang="en-US" sz="1170" b="1" dirty="0">
                <a:solidFill>
                  <a:srgbClr val="0033A0"/>
                </a:solidFill>
                <a:latin typeface="Arial" pitchFamily="34" charset="0"/>
                <a:ea typeface="Arial" pitchFamily="34" charset="-122"/>
                <a:cs typeface="Arial" pitchFamily="34" charset="-120"/>
              </a:rPr>
              <a:t>compilado</a:t>
            </a:r>
            <a:pPr algn="l" indent="0" marL="0">
              <a:lnSpc>
                <a:spcPts val="1637"/>
              </a:lnSpc>
              <a:buNone/>
            </a:pPr>
            <a:r>
              <a:rPr lang="en-US" sz="1170" dirty="0">
                <a:solidFill>
                  <a:srgbClr val="16181D"/>
                </a:solidFill>
                <a:latin typeface="Arial" pitchFamily="34" charset="0"/>
                <a:ea typeface="Arial" pitchFamily="34" charset="-122"/>
                <a:cs typeface="Arial" pitchFamily="34" charset="-120"/>
              </a:rPr>
              <a:t> se agrega como nodo de otro grafo. Al director solo le llega el resumen del líder.</a:t>
            </a:r>
            <a:endParaRPr lang="en-US" sz="1170" dirty="0"/>
          </a:p>
        </p:txBody>
      </p:sp>
      <p:sp>
        <p:nvSpPr>
          <p:cNvPr id="35" name="s12-texto-34"/>
          <p:cNvSpPr txBox="1"/>
          <p:nvPr/>
        </p:nvSpPr>
        <p:spPr>
          <a:xfrm>
            <a:off x="7558394" y="3154598"/>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6" name="s12-texto-35"/>
          <p:cNvSpPr txBox="1"/>
          <p:nvPr/>
        </p:nvSpPr>
        <p:spPr>
          <a:xfrm>
            <a:off x="7558394" y="3360268"/>
            <a:ext cx="3488173"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Supervisor: un solo nivel, todos los agentes en el mismo grafo.</a:t>
            </a:r>
            <a:endParaRPr lang="en-US" sz="1170" dirty="0"/>
          </a:p>
        </p:txBody>
      </p:sp>
      <p:sp>
        <p:nvSpPr>
          <p:cNvPr id="37" name="s12-texto-36"/>
          <p:cNvSpPr txBox="1"/>
          <p:nvPr/>
        </p:nvSpPr>
        <p:spPr>
          <a:xfrm>
            <a:off x="7558394" y="3896047"/>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8" name="s12-forma-37"/>
          <p:cNvSpPr/>
          <p:nvPr/>
        </p:nvSpPr>
        <p:spPr>
          <a:xfrm>
            <a:off x="7558394" y="4084579"/>
            <a:ext cx="3290729" cy="289046"/>
          </a:xfrm>
          <a:prstGeom prst="rect">
            <a:avLst/>
          </a:prstGeom>
          <a:solidFill>
            <a:srgbClr val="E3DCCB"/>
          </a:solidFill>
          <a:ln/>
        </p:spPr>
      </p:sp>
      <p:sp>
        <p:nvSpPr>
          <p:cNvPr id="39" name="s12-texto-38"/>
          <p:cNvSpPr txBox="1"/>
          <p:nvPr/>
        </p:nvSpPr>
        <p:spPr>
          <a:xfrm>
            <a:off x="7649803" y="4164562"/>
            <a:ext cx="3294386" cy="125688"/>
          </a:xfrm>
          <a:prstGeom prst="rect">
            <a:avLst/>
          </a:prstGeom>
          <a:noFill/>
          <a:ln/>
        </p:spPr>
        <p:txBody>
          <a:bodyPr wrap="none" lIns="0" tIns="0" rIns="0" bIns="0" rtlCol="0" anchor="t"/>
          <a:lstStyle/>
          <a:p>
            <a:pPr algn="l" indent="0" marL="0">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ejemplos.s3_topologias.jerarquica</a:t>
            </a:r>
            <a:endParaRPr lang="en-US" sz="855" dirty="0"/>
          </a:p>
        </p:txBody>
      </p:sp>
      <p:sp>
        <p:nvSpPr>
          <p:cNvPr id="40" name="s12-forma-39"/>
          <p:cNvSpPr/>
          <p:nvPr/>
        </p:nvSpPr>
        <p:spPr>
          <a:xfrm>
            <a:off x="7558394" y="4510738"/>
            <a:ext cx="3290729" cy="832859"/>
          </a:xfrm>
          <a:prstGeom prst="rect">
            <a:avLst/>
          </a:prstGeom>
          <a:solidFill>
            <a:srgbClr val="E2D3C2"/>
          </a:solidFill>
          <a:ln/>
        </p:spPr>
      </p:sp>
      <p:sp>
        <p:nvSpPr>
          <p:cNvPr id="41" name="s12-texto-40"/>
          <p:cNvSpPr txBox="1"/>
          <p:nvPr/>
        </p:nvSpPr>
        <p:spPr>
          <a:xfrm>
            <a:off x="7695508" y="4624999"/>
            <a:ext cx="3197492"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2" name="s12-texto-41"/>
          <p:cNvSpPr txBox="1"/>
          <p:nvPr/>
        </p:nvSpPr>
        <p:spPr>
          <a:xfrm>
            <a:off x="7695508" y="4830670"/>
            <a:ext cx="3197492"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Tu flujo delega en Claude Code, y Claude Code puede lanzar sus propios subagentes.</a:t>
            </a:r>
            <a:endParaRPr lang="en-US" sz="1170" dirty="0"/>
          </a:p>
        </p:txBody>
      </p:sp>
      <p:sp>
        <p:nvSpPr>
          <p:cNvPr id="43" name="s12-texto-42"/>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ejemplos/s3_topologias/jerarquica.py · las líneas resaltadas son el patrón</a:t>
            </a:r>
            <a:endParaRPr lang="en-US" sz="1080" dirty="0"/>
          </a:p>
        </p:txBody>
      </p:sp>
      <p:sp>
        <p:nvSpPr>
          <p:cNvPr id="44" name="s12-forma-43"/>
          <p:cNvSpPr/>
          <p:nvPr/>
        </p:nvSpPr>
        <p:spPr>
          <a:xfrm>
            <a:off x="853390" y="6411138"/>
            <a:ext cx="10484915" cy="5713"/>
          </a:xfrm>
          <a:prstGeom prst="rect">
            <a:avLst/>
          </a:prstGeom>
          <a:solidFill>
            <a:srgbClr val="DBD4C4"/>
          </a:solidFill>
          <a:ln/>
        </p:spPr>
      </p:sp>
      <p:pic>
        <p:nvPicPr>
          <p:cNvPr id="45" name="s12-logo-44"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6" name="s12-forma-45"/>
          <p:cNvSpPr/>
          <p:nvPr/>
        </p:nvSpPr>
        <p:spPr>
          <a:xfrm>
            <a:off x="1659380" y="6519865"/>
            <a:ext cx="2926878" cy="102835"/>
          </a:xfrm>
          <a:prstGeom prst="rect">
            <a:avLst/>
          </a:prstGeom>
          <a:ln/>
        </p:spPr>
      </p:sp>
      <p:sp>
        <p:nvSpPr>
          <p:cNvPr id="47" name="s12-forma-46"/>
          <p:cNvSpPr/>
          <p:nvPr/>
        </p:nvSpPr>
        <p:spPr>
          <a:xfrm>
            <a:off x="1659380" y="6519865"/>
            <a:ext cx="5713" cy="102835"/>
          </a:xfrm>
          <a:prstGeom prst="rect">
            <a:avLst/>
          </a:prstGeom>
          <a:solidFill>
            <a:srgbClr val="C6BFAE"/>
          </a:solidFill>
          <a:ln/>
        </p:spPr>
      </p:sp>
      <p:sp>
        <p:nvSpPr>
          <p:cNvPr id="48" name="s12-texto-47"/>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49" name="s12-texto-48"/>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12 / 36</a:t>
            </a:r>
            <a:endParaRPr lang="en-US" sz="745" dirty="0"/>
          </a:p>
        </p:txBody>
      </p:sp>
      <p:sp>
        <p:nvSpPr>
          <p:cNvPr id="50" name="s12-forma-49"/>
          <p:cNvSpPr/>
          <p:nvPr/>
        </p:nvSpPr>
        <p:spPr>
          <a:xfrm>
            <a:off x="0" y="0"/>
            <a:ext cx="4063869" cy="17139"/>
          </a:xfrm>
          <a:prstGeom prst="rect">
            <a:avLst/>
          </a:prstGeom>
          <a:solidFill>
            <a:srgbClr val="0033A0"/>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8DC"/>
        </a:solidFill>
      </p:bgPr>
    </p:bg>
    <p:spTree>
      <p:nvGrpSpPr>
        <p:cNvPr id="1" name=""/>
        <p:cNvGrpSpPr/>
        <p:nvPr/>
      </p:nvGrpSpPr>
      <p:grpSpPr>
        <a:xfrm>
          <a:off x="0" y="0"/>
          <a:ext cx="0" cy="0"/>
          <a:chOff x="0" y="0"/>
          <a:chExt cx="0" cy="0"/>
        </a:xfrm>
      </p:grpSpPr>
      <p:sp>
        <p:nvSpPr>
          <p:cNvPr id="2" name="s13-forma-1"/>
          <p:cNvSpPr/>
          <p:nvPr/>
        </p:nvSpPr>
        <p:spPr>
          <a:xfrm>
            <a:off x="853390" y="331715"/>
            <a:ext cx="81411" cy="81411"/>
          </a:xfrm>
          <a:prstGeom prst="ellipse">
            <a:avLst/>
          </a:prstGeom>
          <a:solidFill>
            <a:srgbClr val="0033A0"/>
          </a:solidFill>
          <a:ln/>
        </p:spPr>
      </p:sp>
      <p:sp>
        <p:nvSpPr>
          <p:cNvPr id="3" name="s13-texto-2"/>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3-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5" name="s13-texto-4"/>
          <p:cNvSpPr txBox="1"/>
          <p:nvPr/>
        </p:nvSpPr>
        <p:spPr>
          <a:xfrm>
            <a:off x="853390" y="267987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BLOQUE 3.2</a:t>
            </a:r>
            <a:endParaRPr lang="en-US" sz="869" dirty="0"/>
          </a:p>
        </p:txBody>
      </p:sp>
      <p:sp>
        <p:nvSpPr>
          <p:cNvPr id="6" name="s13-forma-5"/>
          <p:cNvSpPr/>
          <p:nvPr/>
        </p:nvSpPr>
        <p:spPr>
          <a:xfrm>
            <a:off x="853390" y="3768306"/>
            <a:ext cx="722704" cy="22852"/>
          </a:xfrm>
          <a:prstGeom prst="rect">
            <a:avLst/>
          </a:prstGeom>
          <a:solidFill>
            <a:srgbClr val="0033A0"/>
          </a:solidFill>
          <a:ln/>
        </p:spPr>
      </p:sp>
      <p:sp>
        <p:nvSpPr>
          <p:cNvPr id="7" name="s13-texto-6"/>
          <p:cNvSpPr txBox="1"/>
          <p:nvPr/>
        </p:nvSpPr>
        <p:spPr>
          <a:xfrm>
            <a:off x="853390" y="2960889"/>
            <a:ext cx="7149222" cy="634151"/>
          </a:xfrm>
          <a:prstGeom prst="rect">
            <a:avLst/>
          </a:prstGeom>
          <a:noFill/>
          <a:ln/>
        </p:spPr>
        <p:txBody>
          <a:bodyPr wrap="non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Topologías · 2</a:t>
            </a:r>
            <a:endParaRPr lang="en-US" sz="4242" dirty="0"/>
          </a:p>
        </p:txBody>
      </p:sp>
      <p:sp>
        <p:nvSpPr>
          <p:cNvPr id="8" name="s13-texto-7"/>
          <p:cNvSpPr txBox="1"/>
          <p:nvPr/>
        </p:nvSpPr>
        <p:spPr>
          <a:xfrm>
            <a:off x="853390" y="3969960"/>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Traspasos, red y pizarra.</a:t>
            </a:r>
            <a:endParaRPr lang="en-US" sz="1676" dirty="0"/>
          </a:p>
        </p:txBody>
      </p:sp>
      <p:pic>
        <p:nvPicPr>
          <p:cNvPr id="9" name="s13-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13-forma-9"/>
          <p:cNvSpPr/>
          <p:nvPr/>
        </p:nvSpPr>
        <p:spPr>
          <a:xfrm>
            <a:off x="1659380" y="6519865"/>
            <a:ext cx="2926878" cy="102835"/>
          </a:xfrm>
          <a:prstGeom prst="rect">
            <a:avLst/>
          </a:prstGeom>
          <a:ln/>
        </p:spPr>
      </p:sp>
      <p:sp>
        <p:nvSpPr>
          <p:cNvPr id="11" name="s13-forma-10"/>
          <p:cNvSpPr/>
          <p:nvPr/>
        </p:nvSpPr>
        <p:spPr>
          <a:xfrm>
            <a:off x="1659380" y="6519865"/>
            <a:ext cx="5713" cy="102835"/>
          </a:xfrm>
          <a:prstGeom prst="rect">
            <a:avLst/>
          </a:prstGeom>
          <a:solidFill>
            <a:srgbClr val="C6BFAE"/>
          </a:solidFill>
          <a:ln/>
        </p:spPr>
      </p:sp>
      <p:sp>
        <p:nvSpPr>
          <p:cNvPr id="12" name="s13-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13-texto-1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13 / 36</a:t>
            </a:r>
            <a:endParaRPr lang="en-US" sz="745" dirty="0"/>
          </a:p>
        </p:txBody>
      </p:sp>
      <p:sp>
        <p:nvSpPr>
          <p:cNvPr id="14" name="s13-forma-13"/>
          <p:cNvSpPr/>
          <p:nvPr/>
        </p:nvSpPr>
        <p:spPr>
          <a:xfrm>
            <a:off x="0" y="0"/>
            <a:ext cx="4402547" cy="17139"/>
          </a:xfrm>
          <a:prstGeom prst="rect">
            <a:avLst/>
          </a:prstGeom>
          <a:solidFill>
            <a:srgbClr val="0033A0"/>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8DC"/>
        </a:solidFill>
      </p:bgPr>
    </p:bg>
    <p:spTree>
      <p:nvGrpSpPr>
        <p:cNvPr id="1" name=""/>
        <p:cNvGrpSpPr/>
        <p:nvPr/>
      </p:nvGrpSpPr>
      <p:grpSpPr>
        <a:xfrm>
          <a:off x="0" y="0"/>
          <a:ext cx="0" cy="0"/>
          <a:chOff x="0" y="0"/>
          <a:chExt cx="0" cy="0"/>
        </a:xfrm>
      </p:grpSpPr>
      <p:sp>
        <p:nvSpPr>
          <p:cNvPr id="2" name="s14-forma-1"/>
          <p:cNvSpPr/>
          <p:nvPr/>
        </p:nvSpPr>
        <p:spPr>
          <a:xfrm>
            <a:off x="853390" y="520961"/>
            <a:ext cx="10484915" cy="5713"/>
          </a:xfrm>
          <a:prstGeom prst="rect">
            <a:avLst/>
          </a:prstGeom>
          <a:solidFill>
            <a:srgbClr val="C6BFAE"/>
          </a:solidFill>
          <a:ln/>
        </p:spPr>
      </p:sp>
      <p:sp>
        <p:nvSpPr>
          <p:cNvPr id="3" name="s14-forma-2"/>
          <p:cNvSpPr/>
          <p:nvPr/>
        </p:nvSpPr>
        <p:spPr>
          <a:xfrm>
            <a:off x="853390" y="331715"/>
            <a:ext cx="81411" cy="81411"/>
          </a:xfrm>
          <a:prstGeom prst="ellipse">
            <a:avLst/>
          </a:prstGeom>
          <a:solidFill>
            <a:srgbClr val="0033A0"/>
          </a:solidFill>
          <a:ln/>
        </p:spPr>
      </p:sp>
      <p:sp>
        <p:nvSpPr>
          <p:cNvPr id="4" name="s14-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4-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4-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LA IDEA</a:t>
            </a:r>
            <a:endParaRPr lang="en-US" sz="900" dirty="0"/>
          </a:p>
        </p:txBody>
      </p:sp>
      <p:sp>
        <p:nvSpPr>
          <p:cNvPr id="7" name="s14-texto-6"/>
          <p:cNvSpPr txBox="1"/>
          <p:nvPr/>
        </p:nvSpPr>
        <p:spPr>
          <a:xfrm>
            <a:off x="1342572" y="1456833"/>
            <a:ext cx="10076945" cy="399915"/>
          </a:xfrm>
          <a:prstGeom prst="rect">
            <a:avLst/>
          </a:prstGeom>
          <a:noFill/>
          <a:ln/>
        </p:spPr>
        <p:txBody>
          <a:bodyPr wrap="none" lIns="0" tIns="0" rIns="0" bIns="0" rtlCol="0" anchor="t"/>
          <a:lstStyle/>
          <a:p>
            <a:pPr algn="l" indent="0" marL="0">
              <a:lnSpc>
                <a:spcPts val="2969"/>
              </a:lnSpc>
              <a:buNone/>
            </a:pPr>
            <a:r>
              <a:rPr lang="en-US" sz="2699" b="1" spc="-27" kern="0" dirty="0">
                <a:solidFill>
                  <a:srgbClr val="16181D"/>
                </a:solidFill>
                <a:latin typeface="Georgia" pitchFamily="34" charset="0"/>
                <a:ea typeface="Georgia" pitchFamily="34" charset="-122"/>
                <a:cs typeface="Georgia" pitchFamily="34" charset="-120"/>
              </a:rPr>
              <a:t>Traspasos: el control pasa de un agente a otro</a:t>
            </a:r>
            <a:endParaRPr lang="en-US" sz="2699" dirty="0"/>
          </a:p>
        </p:txBody>
      </p:sp>
      <p:sp>
        <p:nvSpPr>
          <p:cNvPr id="8" name="s14-forma-7"/>
          <p:cNvSpPr/>
          <p:nvPr/>
        </p:nvSpPr>
        <p:spPr>
          <a:xfrm>
            <a:off x="1342572" y="2228098"/>
            <a:ext cx="4341935" cy="884276"/>
          </a:xfrm>
          <a:prstGeom prst="rect">
            <a:avLst/>
          </a:prstGeom>
          <a:solidFill>
            <a:srgbClr val="E3DCCB"/>
          </a:solidFill>
          <a:ln w="5713">
            <a:solidFill>
              <a:srgbClr val="585E6F"/>
            </a:solidFill>
            <a:prstDash val="dash"/>
          </a:ln>
        </p:spPr>
      </p:sp>
      <p:sp>
        <p:nvSpPr>
          <p:cNvPr id="9" name="s14-texto-8"/>
          <p:cNvSpPr txBox="1"/>
          <p:nvPr/>
        </p:nvSpPr>
        <p:spPr>
          <a:xfrm>
            <a:off x="1576808" y="234807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Todo vuelve al centro</a:t>
            </a:r>
            <a:endParaRPr lang="en-US" sz="1260" dirty="0"/>
          </a:p>
        </p:txBody>
      </p:sp>
      <p:sp>
        <p:nvSpPr>
          <p:cNvPr id="10" name="s14-texto-9"/>
          <p:cNvSpPr txBox="1"/>
          <p:nvPr/>
        </p:nvSpPr>
        <p:spPr>
          <a:xfrm>
            <a:off x="1576808" y="2593735"/>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Con un supervisor, cada paso regresa al centro aunque el siguiente sea obvio.</a:t>
            </a:r>
            <a:endParaRPr lang="en-US" sz="1170" dirty="0"/>
          </a:p>
        </p:txBody>
      </p:sp>
      <p:sp>
        <p:nvSpPr>
          <p:cNvPr id="11" name="s14-forma-10"/>
          <p:cNvSpPr/>
          <p:nvPr/>
        </p:nvSpPr>
        <p:spPr>
          <a:xfrm>
            <a:off x="1342572" y="3249488"/>
            <a:ext cx="4341935" cy="884276"/>
          </a:xfrm>
          <a:prstGeom prst="rect">
            <a:avLst/>
          </a:prstGeom>
          <a:solidFill>
            <a:srgbClr val="E3DCCB"/>
          </a:solidFill>
          <a:ln w="5713">
            <a:solidFill>
              <a:srgbClr val="585E6F"/>
            </a:solidFill>
            <a:prstDash val="dash"/>
          </a:ln>
        </p:spPr>
      </p:sp>
      <p:sp>
        <p:nvSpPr>
          <p:cNvPr id="12" name="s14-texto-11"/>
          <p:cNvSpPr txBox="1"/>
          <p:nvPr/>
        </p:nvSpPr>
        <p:spPr>
          <a:xfrm>
            <a:off x="1576808" y="336946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Un agente con todos los roles</a:t>
            </a:r>
            <a:endParaRPr lang="en-US" sz="1260" dirty="0"/>
          </a:p>
        </p:txBody>
      </p:sp>
      <p:sp>
        <p:nvSpPr>
          <p:cNvPr id="13" name="s14-texto-12"/>
          <p:cNvSpPr txBox="1"/>
          <p:nvPr/>
        </p:nvSpPr>
        <p:spPr>
          <a:xfrm>
            <a:off x="1576808" y="3615125"/>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Un prompt enorme que intenta ser recepción, altas y directorio a la vez.</a:t>
            </a:r>
            <a:endParaRPr lang="en-US" sz="1170" dirty="0"/>
          </a:p>
        </p:txBody>
      </p:sp>
      <p:sp>
        <p:nvSpPr>
          <p:cNvPr id="14" name="s14-forma-13"/>
          <p:cNvSpPr/>
          <p:nvPr/>
        </p:nvSpPr>
        <p:spPr>
          <a:xfrm>
            <a:off x="1342572" y="4270878"/>
            <a:ext cx="4341935" cy="1092179"/>
          </a:xfrm>
          <a:prstGeom prst="rect">
            <a:avLst/>
          </a:prstGeom>
          <a:solidFill>
            <a:srgbClr val="E2D3C2"/>
          </a:solidFill>
          <a:ln w="5713">
            <a:solidFill>
              <a:srgbClr val="984514"/>
            </a:solidFill>
            <a:prstDash val="solid"/>
          </a:ln>
        </p:spPr>
      </p:sp>
      <p:sp>
        <p:nvSpPr>
          <p:cNvPr id="15" name="s14-texto-14"/>
          <p:cNvSpPr txBox="1"/>
          <p:nvPr/>
        </p:nvSpPr>
        <p:spPr>
          <a:xfrm>
            <a:off x="1576808" y="439085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Traspasos</a:t>
            </a:r>
            <a:endParaRPr lang="en-US" sz="1260" dirty="0"/>
          </a:p>
        </p:txBody>
      </p:sp>
      <p:sp>
        <p:nvSpPr>
          <p:cNvPr id="16" name="s14-texto-15"/>
          <p:cNvSpPr txBox="1"/>
          <p:nvPr/>
        </p:nvSpPr>
        <p:spPr>
          <a:xfrm>
            <a:off x="1576808" y="4636515"/>
            <a:ext cx="4105870" cy="587197"/>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El agente activo atiende hasta que decide pasar el control a otro con una herramienta de traspaso; la conversación viaja con él.</a:t>
            </a:r>
            <a:endParaRPr lang="en-US" sz="1170" dirty="0"/>
          </a:p>
        </p:txBody>
      </p:sp>
      <p:sp>
        <p:nvSpPr>
          <p:cNvPr id="17" name="s14-forma-16"/>
          <p:cNvSpPr/>
          <p:nvPr/>
        </p:nvSpPr>
        <p:spPr>
          <a:xfrm>
            <a:off x="6095848" y="2228098"/>
            <a:ext cx="4753276" cy="1610908"/>
          </a:xfrm>
          <a:prstGeom prst="rect">
            <a:avLst/>
          </a:prstGeom>
          <a:solidFill>
            <a:srgbClr val="E8E2D5"/>
          </a:solidFill>
          <a:ln/>
        </p:spPr>
      </p:sp>
      <p:sp>
        <p:nvSpPr>
          <p:cNvPr id="18" name="s14-forma-17"/>
          <p:cNvSpPr/>
          <p:nvPr/>
        </p:nvSpPr>
        <p:spPr>
          <a:xfrm>
            <a:off x="6095848" y="2228098"/>
            <a:ext cx="4753276" cy="5713"/>
          </a:xfrm>
          <a:prstGeom prst="rect">
            <a:avLst/>
          </a:prstGeom>
          <a:solidFill>
            <a:srgbClr val="DBD4C4"/>
          </a:solidFill>
          <a:ln/>
        </p:spPr>
      </p:sp>
      <p:sp>
        <p:nvSpPr>
          <p:cNvPr id="19" name="s14-forma-18"/>
          <p:cNvSpPr/>
          <p:nvPr/>
        </p:nvSpPr>
        <p:spPr>
          <a:xfrm>
            <a:off x="6095848" y="3833293"/>
            <a:ext cx="4753276" cy="5713"/>
          </a:xfrm>
          <a:prstGeom prst="rect">
            <a:avLst/>
          </a:prstGeom>
          <a:solidFill>
            <a:srgbClr val="DBD4C4"/>
          </a:solidFill>
          <a:ln/>
        </p:spPr>
      </p:sp>
      <p:sp>
        <p:nvSpPr>
          <p:cNvPr id="20" name="s14-forma-19"/>
          <p:cNvSpPr/>
          <p:nvPr/>
        </p:nvSpPr>
        <p:spPr>
          <a:xfrm>
            <a:off x="6095848" y="2228098"/>
            <a:ext cx="17139" cy="1610908"/>
          </a:xfrm>
          <a:prstGeom prst="rect">
            <a:avLst/>
          </a:prstGeom>
          <a:solidFill>
            <a:srgbClr val="C6BFAE"/>
          </a:solidFill>
          <a:ln/>
        </p:spPr>
      </p:sp>
      <p:sp>
        <p:nvSpPr>
          <p:cNvPr id="21" name="s14-forma-20"/>
          <p:cNvSpPr/>
          <p:nvPr/>
        </p:nvSpPr>
        <p:spPr>
          <a:xfrm>
            <a:off x="10843410" y="2228098"/>
            <a:ext cx="5713" cy="1610908"/>
          </a:xfrm>
          <a:prstGeom prst="rect">
            <a:avLst/>
          </a:prstGeom>
          <a:solidFill>
            <a:srgbClr val="DBD4C4"/>
          </a:solidFill>
          <a:ln/>
        </p:spPr>
      </p:sp>
      <p:sp>
        <p:nvSpPr>
          <p:cNvPr id="22" name="s14-texto-21"/>
          <p:cNvSpPr txBox="1"/>
          <p:nvPr/>
        </p:nvSpPr>
        <p:spPr>
          <a:xfrm>
            <a:off x="6295805" y="2410916"/>
            <a:ext cx="4626674" cy="154253"/>
          </a:xfrm>
          <a:prstGeom prst="rect">
            <a:avLst/>
          </a:prstGeom>
          <a:noFill/>
          <a:ln/>
        </p:spPr>
        <p:txBody>
          <a:bodyPr wrap="none" lIns="0" tIns="0" rIns="0" bIns="0" rtlCol="0" anchor="t"/>
          <a:lstStyle/>
          <a:p>
            <a:pPr algn="l" indent="0" marL="0">
              <a:lnSpc>
                <a:spcPts val="1512"/>
              </a:lnSpc>
              <a:buNone/>
            </a:pPr>
            <a:r>
              <a:rPr lang="en-US" sz="1080" dirty="0">
                <a:solidFill>
                  <a:srgbClr val="585E6F"/>
                </a:solidFill>
                <a:latin typeface="Arial" pitchFamily="34" charset="0"/>
                <a:ea typeface="Arial" pitchFamily="34" charset="-122"/>
                <a:cs typeface="Arial" pitchFamily="34" charset="-120"/>
              </a:rPr>
              <a:t>Usuario: «Quiero dar de alta a Paola y después ver el organigrama»</a:t>
            </a:r>
            <a:endParaRPr lang="en-US" sz="1080" dirty="0"/>
          </a:p>
        </p:txBody>
      </p:sp>
      <p:sp>
        <p:nvSpPr>
          <p:cNvPr id="23" name="s14-texto-22"/>
          <p:cNvSpPr txBox="1"/>
          <p:nvPr/>
        </p:nvSpPr>
        <p:spPr>
          <a:xfrm>
            <a:off x="6295805" y="2682823"/>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Recepción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transferir_a_altas(«es un alta»)</a:t>
            </a:r>
            <a:endParaRPr lang="en-US" sz="1080" dirty="0"/>
          </a:p>
        </p:txBody>
      </p:sp>
      <p:sp>
        <p:nvSpPr>
          <p:cNvPr id="24" name="s14-texto-23"/>
          <p:cNvSpPr txBox="1"/>
          <p:nvPr/>
        </p:nvSpPr>
        <p:spPr>
          <a:xfrm>
            <a:off x="6295805" y="2954729"/>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0033A0"/>
                </a:solidFill>
                <a:latin typeface="Arial" pitchFamily="34" charset="0"/>
                <a:ea typeface="Arial" pitchFamily="34" charset="-122"/>
                <a:cs typeface="Arial" pitchFamily="34" charset="-120"/>
              </a:rPr>
              <a:t>Altas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registra a Paola como EMP-0006</a:t>
            </a:r>
            <a:endParaRPr lang="en-US" sz="1080" dirty="0"/>
          </a:p>
        </p:txBody>
      </p:sp>
      <p:sp>
        <p:nvSpPr>
          <p:cNvPr id="25" name="s14-texto-24"/>
          <p:cNvSpPr txBox="1"/>
          <p:nvPr/>
        </p:nvSpPr>
        <p:spPr>
          <a:xfrm>
            <a:off x="6295805" y="3226636"/>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Altas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transferir_a_directorio(«pide el organigrama»)</a:t>
            </a:r>
            <a:endParaRPr lang="en-US" sz="1080" dirty="0"/>
          </a:p>
        </p:txBody>
      </p:sp>
      <p:sp>
        <p:nvSpPr>
          <p:cNvPr id="26" name="s14-texto-25"/>
          <p:cNvSpPr txBox="1"/>
          <p:nvPr/>
        </p:nvSpPr>
        <p:spPr>
          <a:xfrm>
            <a:off x="6295805" y="3498542"/>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16181D"/>
                </a:solidFill>
                <a:latin typeface="Arial" pitchFamily="34" charset="0"/>
                <a:ea typeface="Arial" pitchFamily="34" charset="-122"/>
                <a:cs typeface="Arial" pitchFamily="34" charset="-120"/>
              </a:rPr>
              <a:t>Directorio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responde con el organigrama</a:t>
            </a:r>
            <a:endParaRPr lang="en-US" sz="1080" dirty="0"/>
          </a:p>
        </p:txBody>
      </p:sp>
      <p:sp>
        <p:nvSpPr>
          <p:cNvPr id="27" name="s14-texto-26"/>
          <p:cNvSpPr txBox="1"/>
          <p:nvPr/>
        </p:nvSpPr>
        <p:spPr>
          <a:xfrm>
            <a:off x="6095848" y="4016111"/>
            <a:ext cx="5038472" cy="346176"/>
          </a:xfrm>
          <a:prstGeom prst="rect">
            <a:avLst/>
          </a:prstGeom>
          <a:noFill/>
          <a:ln/>
        </p:spPr>
        <p:txBody>
          <a:bodyPr wrap="square" lIns="0" tIns="0" rIns="0" bIns="0" rtlCol="0" anchor="t"/>
          <a:lstStyle/>
          <a:p>
            <a:pPr algn="l" indent="0" marL="0">
              <a:lnSpc>
                <a:spcPts val="1512"/>
              </a:lnSpc>
              <a:buNone/>
            </a:pPr>
            <a:r>
              <a:rPr lang="en-US" sz="1080" dirty="0">
                <a:solidFill>
                  <a:srgbClr val="585E6F"/>
                </a:solidFill>
                <a:latin typeface="Arial" pitchFamily="34" charset="0"/>
                <a:ea typeface="Arial" pitchFamily="34" charset="-122"/>
                <a:cs typeface="Arial" pitchFamily="34" charset="-120"/>
              </a:rPr>
              <a:t>No hay supervisor: el orden lo deciden los agentes. Es natural para atender por etapas, pero el control puede rebotar.</a:t>
            </a:r>
            <a:endParaRPr lang="en-US" sz="1080" dirty="0"/>
          </a:p>
        </p:txBody>
      </p:sp>
      <p:sp>
        <p:nvSpPr>
          <p:cNvPr id="28" name="s14-texto-27"/>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 · LangGraph, documentación de sistemas multi-agente</a:t>
            </a:r>
            <a:endParaRPr lang="en-US" sz="1080" dirty="0"/>
          </a:p>
        </p:txBody>
      </p:sp>
      <p:sp>
        <p:nvSpPr>
          <p:cNvPr id="29" name="s14-forma-28"/>
          <p:cNvSpPr/>
          <p:nvPr/>
        </p:nvSpPr>
        <p:spPr>
          <a:xfrm>
            <a:off x="853390" y="6411138"/>
            <a:ext cx="10484915" cy="5713"/>
          </a:xfrm>
          <a:prstGeom prst="rect">
            <a:avLst/>
          </a:prstGeom>
          <a:solidFill>
            <a:srgbClr val="DBD4C4"/>
          </a:solidFill>
          <a:ln/>
        </p:spPr>
      </p:sp>
      <p:pic>
        <p:nvPicPr>
          <p:cNvPr id="30" name="s14-logo-29"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31" name="s14-forma-30"/>
          <p:cNvSpPr/>
          <p:nvPr/>
        </p:nvSpPr>
        <p:spPr>
          <a:xfrm>
            <a:off x="1659380" y="6519865"/>
            <a:ext cx="2926878" cy="102835"/>
          </a:xfrm>
          <a:prstGeom prst="rect">
            <a:avLst/>
          </a:prstGeom>
          <a:ln/>
        </p:spPr>
      </p:sp>
      <p:sp>
        <p:nvSpPr>
          <p:cNvPr id="32" name="s14-forma-31"/>
          <p:cNvSpPr/>
          <p:nvPr/>
        </p:nvSpPr>
        <p:spPr>
          <a:xfrm>
            <a:off x="1659380" y="6519865"/>
            <a:ext cx="5713" cy="102835"/>
          </a:xfrm>
          <a:prstGeom prst="rect">
            <a:avLst/>
          </a:prstGeom>
          <a:solidFill>
            <a:srgbClr val="C6BFAE"/>
          </a:solidFill>
          <a:ln/>
        </p:spPr>
      </p:sp>
      <p:sp>
        <p:nvSpPr>
          <p:cNvPr id="33" name="s14-texto-32"/>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4" name="s14-texto-33"/>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14 / 36</a:t>
            </a:r>
            <a:endParaRPr lang="en-US" sz="745" dirty="0"/>
          </a:p>
        </p:txBody>
      </p:sp>
      <p:sp>
        <p:nvSpPr>
          <p:cNvPr id="35" name="s14-forma-34"/>
          <p:cNvSpPr/>
          <p:nvPr/>
        </p:nvSpPr>
        <p:spPr>
          <a:xfrm>
            <a:off x="0" y="0"/>
            <a:ext cx="4741135" cy="17139"/>
          </a:xfrm>
          <a:prstGeom prst="rect">
            <a:avLst/>
          </a:prstGeom>
          <a:solidFill>
            <a:srgbClr val="0033A0"/>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8DC"/>
        </a:solidFill>
      </p:bgPr>
    </p:bg>
    <p:spTree>
      <p:nvGrpSpPr>
        <p:cNvPr id="1" name=""/>
        <p:cNvGrpSpPr/>
        <p:nvPr/>
      </p:nvGrpSpPr>
      <p:grpSpPr>
        <a:xfrm>
          <a:off x="0" y="0"/>
          <a:ext cx="0" cy="0"/>
          <a:chOff x="0" y="0"/>
          <a:chExt cx="0" cy="0"/>
        </a:xfrm>
      </p:grpSpPr>
      <p:sp>
        <p:nvSpPr>
          <p:cNvPr id="2" name="s15-forma-1"/>
          <p:cNvSpPr/>
          <p:nvPr/>
        </p:nvSpPr>
        <p:spPr>
          <a:xfrm>
            <a:off x="853390" y="520961"/>
            <a:ext cx="10484915" cy="5713"/>
          </a:xfrm>
          <a:prstGeom prst="rect">
            <a:avLst/>
          </a:prstGeom>
          <a:solidFill>
            <a:srgbClr val="C6BFAE"/>
          </a:solidFill>
          <a:ln/>
        </p:spPr>
      </p:sp>
      <p:sp>
        <p:nvSpPr>
          <p:cNvPr id="3" name="s15-forma-2"/>
          <p:cNvSpPr/>
          <p:nvPr/>
        </p:nvSpPr>
        <p:spPr>
          <a:xfrm>
            <a:off x="853390" y="331715"/>
            <a:ext cx="81411" cy="81411"/>
          </a:xfrm>
          <a:prstGeom prst="ellipse">
            <a:avLst/>
          </a:prstGeom>
          <a:solidFill>
            <a:srgbClr val="0033A0"/>
          </a:solidFill>
          <a:ln/>
        </p:spPr>
      </p:sp>
      <p:sp>
        <p:nvSpPr>
          <p:cNvPr id="4" name="s15-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5-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5-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3 DE 5</a:t>
            </a:r>
            <a:endParaRPr lang="en-US" sz="900" dirty="0"/>
          </a:p>
        </p:txBody>
      </p:sp>
      <p:sp>
        <p:nvSpPr>
          <p:cNvPr id="7" name="s15-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Traspasos: el control pasa de mano</a:t>
            </a:r>
            <a:endParaRPr lang="en-US" sz="2879" dirty="0"/>
          </a:p>
        </p:txBody>
      </p:sp>
      <p:sp>
        <p:nvSpPr>
          <p:cNvPr id="8" name="s15-forma-7"/>
          <p:cNvSpPr/>
          <p:nvPr/>
        </p:nvSpPr>
        <p:spPr>
          <a:xfrm>
            <a:off x="1342572" y="2342359"/>
            <a:ext cx="5484549" cy="457046"/>
          </a:xfrm>
          <a:prstGeom prst="rect">
            <a:avLst/>
          </a:prstGeom>
          <a:solidFill>
            <a:srgbClr val="E3DCCB"/>
          </a:solidFill>
          <a:ln w="5713">
            <a:solidFill>
              <a:srgbClr val="585E6F"/>
            </a:solidFill>
            <a:prstDash val="dash"/>
          </a:ln>
        </p:spPr>
      </p:sp>
      <p:sp>
        <p:nvSpPr>
          <p:cNvPr id="9" name="s15-texto-8"/>
          <p:cNvSpPr txBox="1"/>
          <p:nvPr/>
        </p:nvSpPr>
        <p:spPr>
          <a:xfrm>
            <a:off x="2139024" y="2479473"/>
            <a:ext cx="3891645"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Una sola conversación: quien la tiene, responde</a:t>
            </a:r>
            <a:endParaRPr lang="en-US" sz="1260" dirty="0"/>
          </a:p>
        </p:txBody>
      </p:sp>
      <p:sp>
        <p:nvSpPr>
          <p:cNvPr id="10" name="s15-forma-9"/>
          <p:cNvSpPr/>
          <p:nvPr/>
        </p:nvSpPr>
        <p:spPr>
          <a:xfrm>
            <a:off x="1342572" y="3256451"/>
            <a:ext cx="1371137" cy="628438"/>
          </a:xfrm>
          <a:prstGeom prst="rect">
            <a:avLst/>
          </a:prstGeom>
          <a:solidFill>
            <a:srgbClr val="E3DCCB"/>
          </a:solidFill>
          <a:ln w="5713">
            <a:solidFill>
              <a:srgbClr val="585E6F"/>
            </a:solidFill>
            <a:prstDash val="solid"/>
          </a:ln>
        </p:spPr>
      </p:sp>
      <p:sp>
        <p:nvSpPr>
          <p:cNvPr id="11" name="s15-texto-10"/>
          <p:cNvSpPr txBox="1"/>
          <p:nvPr/>
        </p:nvSpPr>
        <p:spPr>
          <a:xfrm>
            <a:off x="1694104" y="3387852"/>
            <a:ext cx="668072"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Analista</a:t>
            </a:r>
            <a:endParaRPr lang="en-US" sz="1260" dirty="0"/>
          </a:p>
        </p:txBody>
      </p:sp>
      <p:sp>
        <p:nvSpPr>
          <p:cNvPr id="12" name="s15-texto-11"/>
          <p:cNvSpPr txBox="1"/>
          <p:nvPr/>
        </p:nvSpPr>
        <p:spPr>
          <a:xfrm>
            <a:off x="1776676" y="3593522"/>
            <a:ext cx="502929"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terminó</a:t>
            </a:r>
            <a:endParaRPr lang="en-US" sz="1080" dirty="0"/>
          </a:p>
        </p:txBody>
      </p:sp>
      <p:sp>
        <p:nvSpPr>
          <p:cNvPr id="13" name="s15-forma-12"/>
          <p:cNvSpPr/>
          <p:nvPr/>
        </p:nvSpPr>
        <p:spPr>
          <a:xfrm>
            <a:off x="3399278" y="3256451"/>
            <a:ext cx="1371137" cy="628438"/>
          </a:xfrm>
          <a:prstGeom prst="rect">
            <a:avLst/>
          </a:prstGeom>
          <a:solidFill>
            <a:srgbClr val="E2D3C2"/>
          </a:solidFill>
          <a:ln w="5713">
            <a:solidFill>
              <a:srgbClr val="984514"/>
            </a:solidFill>
            <a:prstDash val="solid"/>
          </a:ln>
        </p:spPr>
      </p:sp>
      <p:sp>
        <p:nvSpPr>
          <p:cNvPr id="14" name="s15-texto-13"/>
          <p:cNvSpPr txBox="1"/>
          <p:nvPr/>
        </p:nvSpPr>
        <p:spPr>
          <a:xfrm>
            <a:off x="3670209" y="3387852"/>
            <a:ext cx="829274"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Diseñador</a:t>
            </a:r>
            <a:endParaRPr lang="en-US" sz="1260" dirty="0"/>
          </a:p>
        </p:txBody>
      </p:sp>
      <p:sp>
        <p:nvSpPr>
          <p:cNvPr id="15" name="s15-texto-14"/>
          <p:cNvSpPr txBox="1"/>
          <p:nvPr/>
        </p:nvSpPr>
        <p:spPr>
          <a:xfrm>
            <a:off x="3612206" y="3593522"/>
            <a:ext cx="945281"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tiene el control</a:t>
            </a:r>
            <a:endParaRPr lang="en-US" sz="1080" dirty="0"/>
          </a:p>
        </p:txBody>
      </p:sp>
      <p:sp>
        <p:nvSpPr>
          <p:cNvPr id="16" name="s15-forma-15"/>
          <p:cNvSpPr/>
          <p:nvPr/>
        </p:nvSpPr>
        <p:spPr>
          <a:xfrm>
            <a:off x="5455984" y="3256451"/>
            <a:ext cx="1371137" cy="628438"/>
          </a:xfrm>
          <a:prstGeom prst="rect">
            <a:avLst/>
          </a:prstGeom>
          <a:solidFill>
            <a:srgbClr val="E3DCCB"/>
          </a:solidFill>
          <a:ln w="5713">
            <a:solidFill>
              <a:srgbClr val="585E6F"/>
            </a:solidFill>
            <a:prstDash val="solid"/>
          </a:ln>
        </p:spPr>
      </p:sp>
      <p:sp>
        <p:nvSpPr>
          <p:cNvPr id="17" name="s15-texto-16"/>
          <p:cNvSpPr txBox="1"/>
          <p:nvPr/>
        </p:nvSpPr>
        <p:spPr>
          <a:xfrm>
            <a:off x="5590188" y="3387852"/>
            <a:ext cx="1102639"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Desarrollador</a:t>
            </a:r>
            <a:endParaRPr lang="en-US" sz="1260" dirty="0"/>
          </a:p>
        </p:txBody>
      </p:sp>
      <p:sp>
        <p:nvSpPr>
          <p:cNvPr id="18" name="s15-texto-17"/>
          <p:cNvSpPr txBox="1"/>
          <p:nvPr/>
        </p:nvSpPr>
        <p:spPr>
          <a:xfrm>
            <a:off x="5813765" y="3593522"/>
            <a:ext cx="655575"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en espera</a:t>
            </a:r>
            <a:endParaRPr lang="en-US" sz="1080" dirty="0"/>
          </a:p>
        </p:txBody>
      </p:sp>
      <p:sp>
        <p:nvSpPr>
          <p:cNvPr id="19" name="s15-texto-18"/>
          <p:cNvSpPr txBox="1"/>
          <p:nvPr/>
        </p:nvSpPr>
        <p:spPr>
          <a:xfrm>
            <a:off x="2690857" y="3302155"/>
            <a:ext cx="731273" cy="154253"/>
          </a:xfrm>
          <a:prstGeom prst="rect">
            <a:avLst/>
          </a:prstGeom>
          <a:noFill/>
          <a:ln/>
        </p:spPr>
        <p:txBody>
          <a:bodyPr wrap="none" lIns="0" tIns="0" rIns="0" bIns="0" rtlCol="0" anchor="t"/>
          <a:lstStyle/>
          <a:p>
            <a:pPr algn="ctr" indent="0" marL="0">
              <a:lnSpc>
                <a:spcPts val="1296"/>
              </a:lnSpc>
              <a:buNone/>
            </a:pPr>
            <a:r>
              <a:rPr lang="en-US" sz="1080" dirty="0">
                <a:solidFill>
                  <a:srgbClr val="984514"/>
                </a:solidFill>
                <a:latin typeface="Arial" pitchFamily="34" charset="0"/>
                <a:ea typeface="Arial" pitchFamily="34" charset="-122"/>
                <a:cs typeface="Arial" pitchFamily="34" charset="-120"/>
              </a:rPr>
              <a:t>pasa</a:t>
            </a:r>
            <a:endParaRPr lang="en-US" sz="1080" dirty="0"/>
          </a:p>
        </p:txBody>
      </p:sp>
      <p:sp>
        <p:nvSpPr>
          <p:cNvPr id="20" name="s15-texto-19"/>
          <p:cNvSpPr txBox="1"/>
          <p:nvPr/>
        </p:nvSpPr>
        <p:spPr>
          <a:xfrm>
            <a:off x="4747563" y="3302155"/>
            <a:ext cx="731273"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pasará</a:t>
            </a:r>
            <a:endParaRPr lang="en-US" sz="1080" dirty="0"/>
          </a:p>
        </p:txBody>
      </p:sp>
      <p:sp>
        <p:nvSpPr>
          <p:cNvPr id="21" name="s15-forma-20"/>
          <p:cNvSpPr/>
          <p:nvPr/>
        </p:nvSpPr>
        <p:spPr>
          <a:xfrm>
            <a:off x="1342572" y="4341935"/>
            <a:ext cx="5484549" cy="374742"/>
          </a:xfrm>
          <a:prstGeom prst="rect">
            <a:avLst/>
          </a:prstGeom>
          <a:solidFill>
            <a:srgbClr val="E3DCCB"/>
          </a:solidFill>
          <a:ln/>
        </p:spPr>
      </p:sp>
      <p:sp>
        <p:nvSpPr>
          <p:cNvPr id="22" name="s15-texto-21"/>
          <p:cNvSpPr txBox="1"/>
          <p:nvPr/>
        </p:nvSpPr>
        <p:spPr>
          <a:xfrm>
            <a:off x="1479686" y="4450483"/>
            <a:ext cx="5522941" cy="154253"/>
          </a:xfrm>
          <a:prstGeom prst="rect">
            <a:avLst/>
          </a:prstGeom>
          <a:noFill/>
          <a:ln/>
        </p:spPr>
        <p:txBody>
          <a:bodyPr wrap="none" lIns="0" tIns="0" rIns="0" bIns="0" rtlCol="0" anchor="t"/>
          <a:lstStyle/>
          <a:p>
            <a:pPr algn="l" indent="0" marL="0">
              <a:lnSpc>
                <a:spcPts val="1512"/>
              </a:lnSpc>
              <a:buNone/>
            </a:pPr>
            <a:r>
              <a:rPr lang="en-US" sz="1080" dirty="0">
                <a:solidFill>
                  <a:srgbClr val="16181D"/>
                </a:solidFill>
                <a:latin typeface="Courier New" pitchFamily="34" charset="0"/>
                <a:ea typeface="Courier New" pitchFamily="34" charset="-122"/>
                <a:cs typeface="Courier New" pitchFamily="34" charset="-120"/>
              </a:rPr>
              <a:t>transferir_a(agente, motivo)</a:t>
            </a:r>
            <a:endParaRPr lang="en-US" sz="1080" dirty="0"/>
          </a:p>
        </p:txBody>
      </p:sp>
      <p:sp>
        <p:nvSpPr>
          <p:cNvPr id="23" name="s15-forma-22"/>
          <p:cNvSpPr/>
          <p:nvPr/>
        </p:nvSpPr>
        <p:spPr>
          <a:xfrm>
            <a:off x="1342572" y="4913242"/>
            <a:ext cx="5484549" cy="374742"/>
          </a:xfrm>
          <a:prstGeom prst="rect">
            <a:avLst/>
          </a:prstGeom>
          <a:solidFill>
            <a:srgbClr val="E3DCCB"/>
          </a:solidFill>
          <a:ln/>
        </p:spPr>
      </p:sp>
      <p:sp>
        <p:nvSpPr>
          <p:cNvPr id="24" name="s15-texto-23"/>
          <p:cNvSpPr txBox="1"/>
          <p:nvPr/>
        </p:nvSpPr>
        <p:spPr>
          <a:xfrm>
            <a:off x="1479686" y="5021790"/>
            <a:ext cx="5522941" cy="154253"/>
          </a:xfrm>
          <a:prstGeom prst="rect">
            <a:avLst/>
          </a:prstGeom>
          <a:noFill/>
          <a:ln/>
        </p:spPr>
        <p:txBody>
          <a:bodyPr wrap="none" lIns="0" tIns="0" rIns="0" bIns="0" rtlCol="0" anchor="t"/>
          <a:lstStyle/>
          <a:p>
            <a:pPr algn="l" indent="0" marL="0">
              <a:lnSpc>
                <a:spcPts val="1512"/>
              </a:lnSpc>
              <a:buNone/>
            </a:pPr>
            <a:r>
              <a:rPr lang="en-US" sz="1080" dirty="0">
                <a:solidFill>
                  <a:srgbClr val="16181D"/>
                </a:solidFill>
                <a:latin typeface="Arial" pitchFamily="34" charset="0"/>
                <a:ea typeface="Arial" pitchFamily="34" charset="-122"/>
                <a:cs typeface="Arial" pitchFamily="34" charset="-120"/>
              </a:rPr>
              <a:t>Sin supervisor: el control viaja con la conversación</a:t>
            </a:r>
            <a:endParaRPr lang="en-US" sz="1080" dirty="0"/>
          </a:p>
        </p:txBody>
      </p:sp>
      <p:sp>
        <p:nvSpPr>
          <p:cNvPr id="25" name="s15-texto-24"/>
          <p:cNvSpPr txBox="1"/>
          <p:nvPr/>
        </p:nvSpPr>
        <p:spPr>
          <a:xfrm>
            <a:off x="7284167" y="2228098"/>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6" name="s15-texto-25"/>
          <p:cNvSpPr txBox="1"/>
          <p:nvPr/>
        </p:nvSpPr>
        <p:spPr>
          <a:xfrm>
            <a:off x="7284167" y="2428056"/>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El agente activo atiende hasta que decide pasar el control a otro con una herramienta de traspaso.</a:t>
            </a:r>
            <a:endParaRPr lang="en-US" sz="1260" dirty="0"/>
          </a:p>
        </p:txBody>
      </p:sp>
      <p:sp>
        <p:nvSpPr>
          <p:cNvPr id="27" name="s15-texto-26"/>
          <p:cNvSpPr txBox="1"/>
          <p:nvPr/>
        </p:nvSpPr>
        <p:spPr>
          <a:xfrm>
            <a:off x="7284167" y="3012931"/>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8" name="s15-texto-27"/>
          <p:cNvSpPr txBox="1"/>
          <p:nvPr/>
        </p:nvSpPr>
        <p:spPr>
          <a:xfrm>
            <a:off x="7284167" y="3212889"/>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Natural para trabajo por etapas; difícil de seguir y puede rebotar entre agentes.</a:t>
            </a:r>
            <a:endParaRPr lang="en-US" sz="1260" dirty="0"/>
          </a:p>
        </p:txBody>
      </p:sp>
      <p:sp>
        <p:nvSpPr>
          <p:cNvPr id="29" name="s15-forma-28"/>
          <p:cNvSpPr/>
          <p:nvPr/>
        </p:nvSpPr>
        <p:spPr>
          <a:xfrm>
            <a:off x="7284167" y="3797764"/>
            <a:ext cx="3564957" cy="1122976"/>
          </a:xfrm>
          <a:prstGeom prst="rect">
            <a:avLst/>
          </a:prstGeom>
          <a:solidFill>
            <a:srgbClr val="E2D3C2"/>
          </a:solidFill>
          <a:ln/>
        </p:spPr>
      </p:sp>
      <p:sp>
        <p:nvSpPr>
          <p:cNvPr id="30" name="s15-texto-29"/>
          <p:cNvSpPr txBox="1"/>
          <p:nvPr/>
        </p:nvSpPr>
        <p:spPr>
          <a:xfrm>
            <a:off x="7421280" y="3934878"/>
            <a:ext cx="3488173"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1" name="s15-texto-30"/>
          <p:cNvSpPr txBox="1"/>
          <p:nvPr/>
        </p:nvSpPr>
        <p:spPr>
          <a:xfrm>
            <a:off x="7421280" y="4134836"/>
            <a:ext cx="3488173" cy="624867"/>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Analista → diseñador → desarrollador podrían ser traspasos; usamos el grafo para fijar el orden.</a:t>
            </a:r>
            <a:endParaRPr lang="en-US" sz="1260" dirty="0"/>
          </a:p>
        </p:txBody>
      </p:sp>
      <p:sp>
        <p:nvSpPr>
          <p:cNvPr id="32" name="s15-texto-31"/>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a:t>
            </a:r>
            <a:endParaRPr lang="en-US" sz="1080" dirty="0"/>
          </a:p>
        </p:txBody>
      </p:sp>
      <p:sp>
        <p:nvSpPr>
          <p:cNvPr id="33" name="s15-linea-32-0"/>
          <p:cNvSpPr/>
          <p:nvPr/>
        </p:nvSpPr>
        <p:spPr>
          <a:xfrm>
            <a:off x="2028140" y="2799405"/>
            <a:ext cx="0" cy="457046"/>
          </a:xfrm>
          <a:prstGeom prst="line">
            <a:avLst/>
          </a:prstGeom>
          <a:noFill/>
          <a:ln w="17140">
            <a:solidFill>
              <a:srgbClr val="585E6F"/>
            </a:solidFill>
            <a:prstDash val="dash"/>
          </a:ln>
        </p:spPr>
      </p:sp>
      <p:sp>
        <p:nvSpPr>
          <p:cNvPr id="34" name="s15-linea-33-0"/>
          <p:cNvSpPr/>
          <p:nvPr/>
        </p:nvSpPr>
        <p:spPr>
          <a:xfrm>
            <a:off x="4084846" y="2799405"/>
            <a:ext cx="0" cy="457046"/>
          </a:xfrm>
          <a:prstGeom prst="line">
            <a:avLst/>
          </a:prstGeom>
          <a:noFill/>
          <a:ln w="17140">
            <a:solidFill>
              <a:srgbClr val="984514"/>
            </a:solidFill>
            <a:prstDash val="dash"/>
          </a:ln>
        </p:spPr>
      </p:sp>
      <p:sp>
        <p:nvSpPr>
          <p:cNvPr id="35" name="s15-linea-34-0"/>
          <p:cNvSpPr/>
          <p:nvPr/>
        </p:nvSpPr>
        <p:spPr>
          <a:xfrm>
            <a:off x="6141552" y="2799405"/>
            <a:ext cx="0" cy="457046"/>
          </a:xfrm>
          <a:prstGeom prst="line">
            <a:avLst/>
          </a:prstGeom>
          <a:noFill/>
          <a:ln w="17140">
            <a:solidFill>
              <a:srgbClr val="585E6F"/>
            </a:solidFill>
            <a:prstDash val="dash"/>
          </a:ln>
        </p:spPr>
      </p:sp>
      <p:sp>
        <p:nvSpPr>
          <p:cNvPr id="36" name="s15-linea-35-0"/>
          <p:cNvSpPr/>
          <p:nvPr/>
        </p:nvSpPr>
        <p:spPr>
          <a:xfrm>
            <a:off x="2713709" y="3570670"/>
            <a:ext cx="685569" cy="0"/>
          </a:xfrm>
          <a:prstGeom prst="line">
            <a:avLst/>
          </a:prstGeom>
          <a:noFill/>
          <a:ln w="17140">
            <a:solidFill>
              <a:srgbClr val="984514"/>
            </a:solidFill>
            <a:prstDash val="solid"/>
            <a:tailEnd type="triangle"/>
          </a:ln>
        </p:spPr>
      </p:sp>
      <p:sp>
        <p:nvSpPr>
          <p:cNvPr id="37" name="s15-linea-36-0"/>
          <p:cNvSpPr/>
          <p:nvPr/>
        </p:nvSpPr>
        <p:spPr>
          <a:xfrm>
            <a:off x="4770415" y="3570670"/>
            <a:ext cx="685569" cy="0"/>
          </a:xfrm>
          <a:prstGeom prst="line">
            <a:avLst/>
          </a:prstGeom>
          <a:noFill/>
          <a:ln w="17140">
            <a:solidFill>
              <a:srgbClr val="585E6F"/>
            </a:solidFill>
            <a:prstDash val="dash"/>
            <a:tailEnd type="triangle"/>
          </a:ln>
        </p:spPr>
      </p:sp>
      <p:sp>
        <p:nvSpPr>
          <p:cNvPr id="38" name="s15-forma-37"/>
          <p:cNvSpPr/>
          <p:nvPr/>
        </p:nvSpPr>
        <p:spPr>
          <a:xfrm>
            <a:off x="853390" y="6411138"/>
            <a:ext cx="10484915" cy="5713"/>
          </a:xfrm>
          <a:prstGeom prst="rect">
            <a:avLst/>
          </a:prstGeom>
          <a:solidFill>
            <a:srgbClr val="DBD4C4"/>
          </a:solidFill>
          <a:ln/>
        </p:spPr>
      </p:sp>
      <p:pic>
        <p:nvPicPr>
          <p:cNvPr id="39" name="s15-logo-3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0" name="s15-forma-39"/>
          <p:cNvSpPr/>
          <p:nvPr/>
        </p:nvSpPr>
        <p:spPr>
          <a:xfrm>
            <a:off x="1659380" y="6519865"/>
            <a:ext cx="2926878" cy="102835"/>
          </a:xfrm>
          <a:prstGeom prst="rect">
            <a:avLst/>
          </a:prstGeom>
          <a:ln/>
        </p:spPr>
      </p:sp>
      <p:sp>
        <p:nvSpPr>
          <p:cNvPr id="41" name="s15-forma-40"/>
          <p:cNvSpPr/>
          <p:nvPr/>
        </p:nvSpPr>
        <p:spPr>
          <a:xfrm>
            <a:off x="1659380" y="6519865"/>
            <a:ext cx="5713" cy="102835"/>
          </a:xfrm>
          <a:prstGeom prst="rect">
            <a:avLst/>
          </a:prstGeom>
          <a:solidFill>
            <a:srgbClr val="C6BFAE"/>
          </a:solidFill>
          <a:ln/>
        </p:spPr>
      </p:sp>
      <p:sp>
        <p:nvSpPr>
          <p:cNvPr id="42" name="s15-texto-4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43" name="s15-texto-4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15 / 36</a:t>
            </a:r>
            <a:endParaRPr lang="en-US" sz="745" dirty="0"/>
          </a:p>
        </p:txBody>
      </p:sp>
      <p:sp>
        <p:nvSpPr>
          <p:cNvPr id="44" name="s15-forma-43"/>
          <p:cNvSpPr/>
          <p:nvPr/>
        </p:nvSpPr>
        <p:spPr>
          <a:xfrm>
            <a:off x="0" y="0"/>
            <a:ext cx="5079813" cy="17139"/>
          </a:xfrm>
          <a:prstGeom prst="rect">
            <a:avLst/>
          </a:prstGeom>
          <a:solidFill>
            <a:srgbClr val="0033A0"/>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8DC"/>
        </a:solidFill>
      </p:bgPr>
    </p:bg>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sp>
      <p:sp>
        <p:nvSpPr>
          <p:cNvPr id="3" name="s16-forma-2"/>
          <p:cNvSpPr/>
          <p:nvPr/>
        </p:nvSpPr>
        <p:spPr>
          <a:xfrm>
            <a:off x="853390" y="331715"/>
            <a:ext cx="81411" cy="81411"/>
          </a:xfrm>
          <a:prstGeom prst="ellipse">
            <a:avLst/>
          </a:prstGeom>
          <a:solidFill>
            <a:srgbClr val="0033A0"/>
          </a:solidFill>
          <a:ln/>
        </p:spPr>
      </p:sp>
      <p:sp>
        <p:nvSpPr>
          <p:cNvPr id="4" name="s16-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 EN CÓDIGO</a:t>
            </a:r>
            <a:endParaRPr lang="en-US" sz="900" dirty="0"/>
          </a:p>
        </p:txBody>
      </p:sp>
      <p:sp>
        <p:nvSpPr>
          <p:cNvPr id="7" name="s16-texto-6"/>
          <p:cNvSpPr txBox="1"/>
          <p:nvPr/>
        </p:nvSpPr>
        <p:spPr>
          <a:xfrm>
            <a:off x="1342572" y="1456833"/>
            <a:ext cx="10076945" cy="342784"/>
          </a:xfrm>
          <a:prstGeom prst="rect">
            <a:avLst/>
          </a:prstGeom>
          <a:noFill/>
          <a:ln/>
        </p:spPr>
        <p:txBody>
          <a:bodyPr wrap="none" lIns="0" tIns="0" rIns="0" bIns="0" rtlCol="0" anchor="t"/>
          <a:lstStyle/>
          <a:p>
            <a:pPr algn="l" indent="0" marL="0">
              <a:lnSpc>
                <a:spcPts val="2524"/>
              </a:lnSpc>
              <a:buNone/>
            </a:pPr>
            <a:r>
              <a:rPr lang="en-US" sz="2294" b="1" spc="-23" kern="0" dirty="0">
                <a:solidFill>
                  <a:srgbClr val="16181D"/>
                </a:solidFill>
                <a:latin typeface="Georgia" pitchFamily="34" charset="0"/>
                <a:ea typeface="Georgia" pitchFamily="34" charset="-122"/>
                <a:cs typeface="Georgia" pitchFamily="34" charset="-120"/>
              </a:rPr>
              <a:t>Traspasos en código: herramientas que pasan el control</a:t>
            </a:r>
            <a:endParaRPr lang="en-US" sz="2294" dirty="0"/>
          </a:p>
        </p:txBody>
      </p:sp>
      <p:sp>
        <p:nvSpPr>
          <p:cNvPr id="8" name="s16-forma-7"/>
          <p:cNvSpPr/>
          <p:nvPr/>
        </p:nvSpPr>
        <p:spPr>
          <a:xfrm>
            <a:off x="1342572" y="2205246"/>
            <a:ext cx="5941595" cy="3159329"/>
          </a:xfrm>
          <a:prstGeom prst="rect">
            <a:avLst/>
          </a:prstGeom>
          <a:solidFill>
            <a:srgbClr val="E8E2D5"/>
          </a:solidFill>
          <a:ln/>
        </p:spPr>
      </p:sp>
      <p:sp>
        <p:nvSpPr>
          <p:cNvPr id="9" name="s16-forma-8"/>
          <p:cNvSpPr/>
          <p:nvPr/>
        </p:nvSpPr>
        <p:spPr>
          <a:xfrm>
            <a:off x="1342572" y="2205246"/>
            <a:ext cx="5941595" cy="5713"/>
          </a:xfrm>
          <a:prstGeom prst="rect">
            <a:avLst/>
          </a:prstGeom>
          <a:solidFill>
            <a:srgbClr val="DBD4C4"/>
          </a:solidFill>
          <a:ln/>
        </p:spPr>
      </p:sp>
      <p:sp>
        <p:nvSpPr>
          <p:cNvPr id="10" name="s16-forma-9"/>
          <p:cNvSpPr/>
          <p:nvPr/>
        </p:nvSpPr>
        <p:spPr>
          <a:xfrm>
            <a:off x="1342572" y="5358861"/>
            <a:ext cx="5941595" cy="5713"/>
          </a:xfrm>
          <a:prstGeom prst="rect">
            <a:avLst/>
          </a:prstGeom>
          <a:solidFill>
            <a:srgbClr val="DBD4C4"/>
          </a:solidFill>
          <a:ln/>
        </p:spPr>
      </p:sp>
      <p:sp>
        <p:nvSpPr>
          <p:cNvPr id="11" name="s16-forma-10"/>
          <p:cNvSpPr/>
          <p:nvPr/>
        </p:nvSpPr>
        <p:spPr>
          <a:xfrm>
            <a:off x="1342572" y="2205246"/>
            <a:ext cx="17139" cy="3159329"/>
          </a:xfrm>
          <a:prstGeom prst="rect">
            <a:avLst/>
          </a:prstGeom>
          <a:solidFill>
            <a:srgbClr val="C6BFAE"/>
          </a:solidFill>
          <a:ln/>
        </p:spPr>
      </p:sp>
      <p:sp>
        <p:nvSpPr>
          <p:cNvPr id="12" name="s16-forma-11"/>
          <p:cNvSpPr/>
          <p:nvPr/>
        </p:nvSpPr>
        <p:spPr>
          <a:xfrm>
            <a:off x="7278453" y="2205246"/>
            <a:ext cx="5713" cy="3159329"/>
          </a:xfrm>
          <a:prstGeom prst="rect">
            <a:avLst/>
          </a:prstGeom>
          <a:solidFill>
            <a:srgbClr val="DBD4C4"/>
          </a:solidFill>
          <a:ln/>
        </p:spPr>
      </p:sp>
      <p:sp>
        <p:nvSpPr>
          <p:cNvPr id="13" name="s16-texto-12"/>
          <p:cNvSpPr txBox="1"/>
          <p:nvPr/>
        </p:nvSpPr>
        <p:spPr>
          <a:xfrm>
            <a:off x="1542529" y="2370925"/>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@tool</a:t>
            </a:r>
            <a:endParaRPr lang="en-US" sz="990" dirty="0"/>
          </a:p>
        </p:txBody>
      </p:sp>
      <p:sp>
        <p:nvSpPr>
          <p:cNvPr id="14" name="s16-texto-13"/>
          <p:cNvSpPr txBox="1"/>
          <p:nvPr/>
        </p:nvSpPr>
        <p:spPr>
          <a:xfrm>
            <a:off x="1542529" y="255945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transferir_a_altas(motivo: str) -&gt; str:</a:t>
            </a:r>
            <a:endParaRPr lang="en-US" sz="990" dirty="0"/>
          </a:p>
        </p:txBody>
      </p:sp>
      <p:sp>
        <p:nvSpPr>
          <p:cNvPr id="15" name="s16-texto-14"/>
          <p:cNvSpPr txBox="1"/>
          <p:nvPr/>
        </p:nvSpPr>
        <p:spPr>
          <a:xfrm>
            <a:off x="1542529" y="274798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"Pasa la conversación al agente de altas y bajas."</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t>
            </a:r>
            <a:endParaRPr lang="en-US" sz="990" dirty="0"/>
          </a:p>
        </p:txBody>
      </p:sp>
      <p:sp>
        <p:nvSpPr>
          <p:cNvPr id="16" name="s16-texto-15"/>
          <p:cNvSpPr txBox="1"/>
          <p:nvPr/>
        </p:nvSpPr>
        <p:spPr>
          <a:xfrm>
            <a:off x="1542529" y="2936519"/>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motivo</a:t>
            </a:r>
            <a:endParaRPr lang="en-US" sz="990" dirty="0"/>
          </a:p>
        </p:txBody>
      </p:sp>
      <p:sp>
        <p:nvSpPr>
          <p:cNvPr id="17" name="s16-texto-16"/>
          <p:cNvSpPr txBox="1"/>
          <p:nvPr/>
        </p:nvSpPr>
        <p:spPr>
          <a:xfrm>
            <a:off x="1542529" y="3313582"/>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nodo(s: Estado) -&gt;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Command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Literal</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"altas"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"directorio"</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endParaRPr lang="en-US" sz="990" dirty="0"/>
          </a:p>
        </p:txBody>
      </p:sp>
      <p:sp>
        <p:nvSpPr>
          <p:cNvPr id="18" name="s16-forma-17"/>
          <p:cNvSpPr/>
          <p:nvPr/>
        </p:nvSpPr>
        <p:spPr>
          <a:xfrm>
            <a:off x="1451120" y="3502113"/>
            <a:ext cx="5735924" cy="188531"/>
          </a:xfrm>
          <a:prstGeom prst="rect">
            <a:avLst/>
          </a:prstGeom>
          <a:solidFill>
            <a:srgbClr val="DCE3F2"/>
          </a:solidFill>
          <a:ln/>
        </p:spPr>
      </p:sp>
      <p:sp>
        <p:nvSpPr>
          <p:cNvPr id="19" name="s16-forma-18"/>
          <p:cNvSpPr/>
          <p:nvPr/>
        </p:nvSpPr>
        <p:spPr>
          <a:xfrm>
            <a:off x="1451120" y="3502113"/>
            <a:ext cx="22852" cy="188531"/>
          </a:xfrm>
          <a:prstGeom prst="rect">
            <a:avLst/>
          </a:prstGeom>
          <a:solidFill>
            <a:srgbClr val="AC321E"/>
          </a:solidFill>
          <a:ln/>
        </p:spPr>
      </p:sp>
      <p:sp>
        <p:nvSpPr>
          <p:cNvPr id="20" name="s16-texto-19"/>
          <p:cNvSpPr txBox="1"/>
          <p:nvPr/>
        </p:nvSpPr>
        <p:spPr>
          <a:xfrm>
            <a:off x="1542529" y="350211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resp = modelo().bind_tools(herramientas).invoke(s[</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"mensajes"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1" name="s16-forma-20"/>
          <p:cNvSpPr/>
          <p:nvPr/>
        </p:nvSpPr>
        <p:spPr>
          <a:xfrm>
            <a:off x="1451120" y="3690644"/>
            <a:ext cx="5735924" cy="188531"/>
          </a:xfrm>
          <a:prstGeom prst="rect">
            <a:avLst/>
          </a:prstGeom>
          <a:solidFill>
            <a:srgbClr val="DCE3F2"/>
          </a:solidFill>
          <a:ln/>
        </p:spPr>
      </p:sp>
      <p:sp>
        <p:nvSpPr>
          <p:cNvPr id="22" name="s16-forma-21"/>
          <p:cNvSpPr/>
          <p:nvPr/>
        </p:nvSpPr>
        <p:spPr>
          <a:xfrm>
            <a:off x="1451120" y="3690644"/>
            <a:ext cx="22852" cy="188531"/>
          </a:xfrm>
          <a:prstGeom prst="rect">
            <a:avLst/>
          </a:prstGeom>
          <a:solidFill>
            <a:srgbClr val="AC321E"/>
          </a:solidFill>
          <a:ln/>
        </p:spPr>
      </p:sp>
      <p:sp>
        <p:nvSpPr>
          <p:cNvPr id="23" name="s16-texto-22"/>
          <p:cNvSpPr txBox="1"/>
          <p:nvPr/>
        </p:nvSpPr>
        <p:spPr>
          <a:xfrm>
            <a:off x="1542529" y="3690644"/>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resp.tool_calls: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quiere traspasar</a:t>
            </a:r>
            <a:endParaRPr lang="en-US" sz="990" dirty="0"/>
          </a:p>
        </p:txBody>
      </p:sp>
      <p:sp>
        <p:nvSpPr>
          <p:cNvPr id="24" name="s16-texto-23"/>
          <p:cNvSpPr txBox="1"/>
          <p:nvPr/>
        </p:nvSpPr>
        <p:spPr>
          <a:xfrm>
            <a:off x="1542529" y="387917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llamada = resp.tool_calls[0]</a:t>
            </a:r>
            <a:endParaRPr lang="en-US" sz="990" dirty="0"/>
          </a:p>
        </p:txBody>
      </p:sp>
      <p:sp>
        <p:nvSpPr>
          <p:cNvPr id="25" name="s16-texto-24"/>
          <p:cNvSpPr txBox="1"/>
          <p:nvPr/>
        </p:nvSpPr>
        <p:spPr>
          <a:xfrm>
            <a:off x="1542529" y="4067707"/>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destino = llamada[</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"name"</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].removeprefix(</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"transferir_a_"</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6" name="s16-forma-25"/>
          <p:cNvSpPr/>
          <p:nvPr/>
        </p:nvSpPr>
        <p:spPr>
          <a:xfrm>
            <a:off x="1451120" y="4256238"/>
            <a:ext cx="5735924" cy="188531"/>
          </a:xfrm>
          <a:prstGeom prst="rect">
            <a:avLst/>
          </a:prstGeom>
          <a:solidFill>
            <a:srgbClr val="DCE3F2"/>
          </a:solidFill>
          <a:ln/>
        </p:spPr>
      </p:sp>
      <p:sp>
        <p:nvSpPr>
          <p:cNvPr id="27" name="s16-forma-26"/>
          <p:cNvSpPr/>
          <p:nvPr/>
        </p:nvSpPr>
        <p:spPr>
          <a:xfrm>
            <a:off x="1451120" y="4256238"/>
            <a:ext cx="22852" cy="188531"/>
          </a:xfrm>
          <a:prstGeom prst="rect">
            <a:avLst/>
          </a:prstGeom>
          <a:solidFill>
            <a:srgbClr val="AC321E"/>
          </a:solidFill>
          <a:ln/>
        </p:spPr>
      </p:sp>
      <p:sp>
        <p:nvSpPr>
          <p:cNvPr id="28" name="s16-texto-27"/>
          <p:cNvSpPr txBox="1"/>
          <p:nvPr/>
        </p:nvSpPr>
        <p:spPr>
          <a:xfrm>
            <a:off x="1542529" y="425623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Command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(goto=destino, update={</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"mensajes"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[nota]})</a:t>
            </a:r>
            <a:endParaRPr lang="en-US" sz="990" dirty="0"/>
          </a:p>
        </p:txBody>
      </p:sp>
      <p:sp>
        <p:nvSpPr>
          <p:cNvPr id="29" name="s16-texto-28"/>
          <p:cNvSpPr txBox="1"/>
          <p:nvPr/>
        </p:nvSpPr>
        <p:spPr>
          <a:xfrm>
            <a:off x="1542529" y="4444770"/>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Command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(goto=</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END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update={</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"mensajes"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[resp]})</a:t>
            </a:r>
            <a:endParaRPr lang="en-US" sz="990" dirty="0"/>
          </a:p>
        </p:txBody>
      </p:sp>
      <p:sp>
        <p:nvSpPr>
          <p:cNvPr id="30" name="s16-texto-29"/>
          <p:cNvSpPr txBox="1"/>
          <p:nvPr/>
        </p:nvSpPr>
        <p:spPr>
          <a:xfrm>
            <a:off x="1542529" y="482183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Estado(</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TypedDict</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1" name="s16-forma-30"/>
          <p:cNvSpPr/>
          <p:nvPr/>
        </p:nvSpPr>
        <p:spPr>
          <a:xfrm>
            <a:off x="1451120" y="5010364"/>
            <a:ext cx="5735924" cy="188531"/>
          </a:xfrm>
          <a:prstGeom prst="rect">
            <a:avLst/>
          </a:prstGeom>
          <a:solidFill>
            <a:srgbClr val="DCE3F2"/>
          </a:solidFill>
          <a:ln/>
        </p:spPr>
      </p:sp>
      <p:sp>
        <p:nvSpPr>
          <p:cNvPr id="32" name="s16-forma-31"/>
          <p:cNvSpPr/>
          <p:nvPr/>
        </p:nvSpPr>
        <p:spPr>
          <a:xfrm>
            <a:off x="1451120" y="5010364"/>
            <a:ext cx="22852" cy="188531"/>
          </a:xfrm>
          <a:prstGeom prst="rect">
            <a:avLst/>
          </a:prstGeom>
          <a:solidFill>
            <a:srgbClr val="AC321E"/>
          </a:solidFill>
          <a:ln/>
        </p:spPr>
      </p:sp>
      <p:sp>
        <p:nvSpPr>
          <p:cNvPr id="33" name="s16-texto-32"/>
          <p:cNvSpPr txBox="1"/>
          <p:nvPr/>
        </p:nvSpPr>
        <p:spPr>
          <a:xfrm>
            <a:off x="1542529" y="5010364"/>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mensajes: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Annotated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[list, add_messages]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una conversación</a:t>
            </a:r>
            <a:endParaRPr lang="en-US" sz="990" dirty="0"/>
          </a:p>
        </p:txBody>
      </p:sp>
      <p:sp>
        <p:nvSpPr>
          <p:cNvPr id="34" name="s16-texto-33"/>
          <p:cNvSpPr txBox="1"/>
          <p:nvPr/>
        </p:nvSpPr>
        <p:spPr>
          <a:xfrm>
            <a:off x="7558394" y="2205246"/>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5" name="s16-texto-34"/>
          <p:cNvSpPr txBox="1"/>
          <p:nvPr/>
        </p:nvSpPr>
        <p:spPr>
          <a:xfrm>
            <a:off x="7558394" y="2410916"/>
            <a:ext cx="3488173" cy="587197"/>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Herramientas </a:t>
            </a:r>
            <a:pPr algn="l" indent="0" marL="0">
              <a:lnSpc>
                <a:spcPts val="1637"/>
              </a:lnSpc>
              <a:buNone/>
            </a:pPr>
            <a:r>
              <a:rPr lang="en-US" sz="1170" b="1" dirty="0">
                <a:solidFill>
                  <a:srgbClr val="0033A0"/>
                </a:solidFill>
                <a:latin typeface="Arial" pitchFamily="34" charset="0"/>
                <a:ea typeface="Arial" pitchFamily="34" charset="-122"/>
                <a:cs typeface="Arial" pitchFamily="34" charset="-120"/>
              </a:rPr>
              <a:t>transferir_a_*</a:t>
            </a:r>
            <a:pPr algn="l" indent="0" marL="0">
              <a:lnSpc>
                <a:spcPts val="1637"/>
              </a:lnSpc>
              <a:buNone/>
            </a:pPr>
            <a:r>
              <a:rPr lang="en-US" sz="1170" dirty="0">
                <a:solidFill>
                  <a:srgbClr val="16181D"/>
                </a:solidFill>
                <a:latin typeface="Arial" pitchFamily="34" charset="0"/>
                <a:ea typeface="Arial" pitchFamily="34" charset="-122"/>
                <a:cs typeface="Arial" pitchFamily="34" charset="-120"/>
              </a:rPr>
              <a:t>: llamarlas es decidir quién sigue. Una sola conversación viaja con el control.</a:t>
            </a:r>
            <a:endParaRPr lang="en-US" sz="1170" dirty="0"/>
          </a:p>
        </p:txBody>
      </p:sp>
      <p:sp>
        <p:nvSpPr>
          <p:cNvPr id="36" name="s16-texto-35"/>
          <p:cNvSpPr txBox="1"/>
          <p:nvPr/>
        </p:nvSpPr>
        <p:spPr>
          <a:xfrm>
            <a:off x="7558394" y="3154598"/>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7" name="s16-texto-36"/>
          <p:cNvSpPr txBox="1"/>
          <p:nvPr/>
        </p:nvSpPr>
        <p:spPr>
          <a:xfrm>
            <a:off x="7558394" y="3360268"/>
            <a:ext cx="3488173"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Supervisor: allí el control siempre regresa al centro.</a:t>
            </a:r>
            <a:endParaRPr lang="en-US" sz="1170" dirty="0"/>
          </a:p>
        </p:txBody>
      </p:sp>
      <p:sp>
        <p:nvSpPr>
          <p:cNvPr id="38" name="s16-texto-37"/>
          <p:cNvSpPr txBox="1"/>
          <p:nvPr/>
        </p:nvSpPr>
        <p:spPr>
          <a:xfrm>
            <a:off x="7558394" y="3896047"/>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9" name="s16-forma-38"/>
          <p:cNvSpPr/>
          <p:nvPr/>
        </p:nvSpPr>
        <p:spPr>
          <a:xfrm>
            <a:off x="7558394" y="4084579"/>
            <a:ext cx="3290729" cy="289046"/>
          </a:xfrm>
          <a:prstGeom prst="rect">
            <a:avLst/>
          </a:prstGeom>
          <a:solidFill>
            <a:srgbClr val="E3DCCB"/>
          </a:solidFill>
          <a:ln/>
        </p:spPr>
      </p:sp>
      <p:sp>
        <p:nvSpPr>
          <p:cNvPr id="40" name="s16-texto-39"/>
          <p:cNvSpPr txBox="1"/>
          <p:nvPr/>
        </p:nvSpPr>
        <p:spPr>
          <a:xfrm>
            <a:off x="7649803" y="4164562"/>
            <a:ext cx="3294386" cy="125688"/>
          </a:xfrm>
          <a:prstGeom prst="rect">
            <a:avLst/>
          </a:prstGeom>
          <a:noFill/>
          <a:ln/>
        </p:spPr>
        <p:txBody>
          <a:bodyPr wrap="none" lIns="0" tIns="0" rIns="0" bIns="0" rtlCol="0" anchor="t"/>
          <a:lstStyle/>
          <a:p>
            <a:pPr algn="l" indent="0" marL="0">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ejemplos.s3_topologias.traspasos</a:t>
            </a:r>
            <a:endParaRPr lang="en-US" sz="855" dirty="0"/>
          </a:p>
        </p:txBody>
      </p:sp>
      <p:sp>
        <p:nvSpPr>
          <p:cNvPr id="41" name="s16-forma-40"/>
          <p:cNvSpPr/>
          <p:nvPr/>
        </p:nvSpPr>
        <p:spPr>
          <a:xfrm>
            <a:off x="7558394" y="4510738"/>
            <a:ext cx="3290729" cy="832859"/>
          </a:xfrm>
          <a:prstGeom prst="rect">
            <a:avLst/>
          </a:prstGeom>
          <a:solidFill>
            <a:srgbClr val="E2D3C2"/>
          </a:solidFill>
          <a:ln/>
        </p:spPr>
      </p:sp>
      <p:sp>
        <p:nvSpPr>
          <p:cNvPr id="42" name="s16-texto-41"/>
          <p:cNvSpPr txBox="1"/>
          <p:nvPr/>
        </p:nvSpPr>
        <p:spPr>
          <a:xfrm>
            <a:off x="7695508" y="4624999"/>
            <a:ext cx="3197492"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3" name="s16-texto-42"/>
          <p:cNvSpPr txBox="1"/>
          <p:nvPr/>
        </p:nvSpPr>
        <p:spPr>
          <a:xfrm>
            <a:off x="7695508" y="4830670"/>
            <a:ext cx="3197492"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Analista → diseñador → desarrollador podrían ser traspasos; el grafo fija el orden.</a:t>
            </a:r>
            <a:endParaRPr lang="en-US" sz="1170" dirty="0"/>
          </a:p>
        </p:txBody>
      </p:sp>
      <p:sp>
        <p:nvSpPr>
          <p:cNvPr id="44" name="s16-texto-43"/>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ejemplos/s3_topologias/traspasos.py · las líneas resaltadas son el patrón</a:t>
            </a:r>
            <a:endParaRPr lang="en-US" sz="1080" dirty="0"/>
          </a:p>
        </p:txBody>
      </p:sp>
      <p:sp>
        <p:nvSpPr>
          <p:cNvPr id="45" name="s16-forma-44"/>
          <p:cNvSpPr/>
          <p:nvPr/>
        </p:nvSpPr>
        <p:spPr>
          <a:xfrm>
            <a:off x="853390" y="6411138"/>
            <a:ext cx="10484915" cy="5713"/>
          </a:xfrm>
          <a:prstGeom prst="rect">
            <a:avLst/>
          </a:prstGeom>
          <a:solidFill>
            <a:srgbClr val="DBD4C4"/>
          </a:solidFill>
          <a:ln/>
        </p:spPr>
      </p:sp>
      <p:pic>
        <p:nvPicPr>
          <p:cNvPr id="46" name="s16-logo-45"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7" name="s16-forma-46"/>
          <p:cNvSpPr/>
          <p:nvPr/>
        </p:nvSpPr>
        <p:spPr>
          <a:xfrm>
            <a:off x="1659380" y="6519865"/>
            <a:ext cx="2926878" cy="102835"/>
          </a:xfrm>
          <a:prstGeom prst="rect">
            <a:avLst/>
          </a:prstGeom>
          <a:ln/>
        </p:spPr>
      </p:sp>
      <p:sp>
        <p:nvSpPr>
          <p:cNvPr id="48" name="s16-forma-47"/>
          <p:cNvSpPr/>
          <p:nvPr/>
        </p:nvSpPr>
        <p:spPr>
          <a:xfrm>
            <a:off x="1659380" y="6519865"/>
            <a:ext cx="5713" cy="102835"/>
          </a:xfrm>
          <a:prstGeom prst="rect">
            <a:avLst/>
          </a:prstGeom>
          <a:solidFill>
            <a:srgbClr val="C6BFAE"/>
          </a:solidFill>
          <a:ln/>
        </p:spPr>
      </p:sp>
      <p:sp>
        <p:nvSpPr>
          <p:cNvPr id="49" name="s16-texto-48"/>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50" name="s16-texto-49"/>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16 / 36</a:t>
            </a:r>
            <a:endParaRPr lang="en-US" sz="745" dirty="0"/>
          </a:p>
        </p:txBody>
      </p:sp>
      <p:sp>
        <p:nvSpPr>
          <p:cNvPr id="51" name="s16-forma-50"/>
          <p:cNvSpPr/>
          <p:nvPr/>
        </p:nvSpPr>
        <p:spPr>
          <a:xfrm>
            <a:off x="0" y="0"/>
            <a:ext cx="5418492" cy="17139"/>
          </a:xfrm>
          <a:prstGeom prst="rect">
            <a:avLst/>
          </a:prstGeom>
          <a:solidFill>
            <a:srgbClr val="0033A0"/>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8DC"/>
        </a:solidFill>
      </p:bgPr>
    </p:bg>
    <p:spTree>
      <p:nvGrpSpPr>
        <p:cNvPr id="1" name=""/>
        <p:cNvGrpSpPr/>
        <p:nvPr/>
      </p:nvGrpSpPr>
      <p:grpSpPr>
        <a:xfrm>
          <a:off x="0" y="0"/>
          <a:ext cx="0" cy="0"/>
          <a:chOff x="0" y="0"/>
          <a:chExt cx="0" cy="0"/>
        </a:xfrm>
      </p:grpSpPr>
      <p:sp>
        <p:nvSpPr>
          <p:cNvPr id="2" name="s17-forma-1"/>
          <p:cNvSpPr/>
          <p:nvPr/>
        </p:nvSpPr>
        <p:spPr>
          <a:xfrm>
            <a:off x="853390" y="520961"/>
            <a:ext cx="10484915" cy="5713"/>
          </a:xfrm>
          <a:prstGeom prst="rect">
            <a:avLst/>
          </a:prstGeom>
          <a:solidFill>
            <a:srgbClr val="C6BFAE"/>
          </a:solidFill>
          <a:ln/>
        </p:spPr>
      </p:sp>
      <p:sp>
        <p:nvSpPr>
          <p:cNvPr id="3" name="s17-forma-2"/>
          <p:cNvSpPr/>
          <p:nvPr/>
        </p:nvSpPr>
        <p:spPr>
          <a:xfrm>
            <a:off x="853390" y="331715"/>
            <a:ext cx="81411" cy="81411"/>
          </a:xfrm>
          <a:prstGeom prst="ellipse">
            <a:avLst/>
          </a:prstGeom>
          <a:solidFill>
            <a:srgbClr val="0033A0"/>
          </a:solidFill>
          <a:ln/>
        </p:spPr>
      </p:sp>
      <p:sp>
        <p:nvSpPr>
          <p:cNvPr id="4" name="s17-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7-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7-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LA IDEA</a:t>
            </a:r>
            <a:endParaRPr lang="en-US" sz="900" dirty="0"/>
          </a:p>
        </p:txBody>
      </p:sp>
      <p:sp>
        <p:nvSpPr>
          <p:cNvPr id="7" name="s17-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Red: todos pueden hablar con todos</a:t>
            </a:r>
            <a:endParaRPr lang="en-US" sz="2879" dirty="0"/>
          </a:p>
        </p:txBody>
      </p:sp>
      <p:sp>
        <p:nvSpPr>
          <p:cNvPr id="8" name="s17-forma-7"/>
          <p:cNvSpPr/>
          <p:nvPr/>
        </p:nvSpPr>
        <p:spPr>
          <a:xfrm>
            <a:off x="1342572" y="2228098"/>
            <a:ext cx="4341935" cy="676374"/>
          </a:xfrm>
          <a:prstGeom prst="rect">
            <a:avLst/>
          </a:prstGeom>
          <a:solidFill>
            <a:srgbClr val="E3DCCB"/>
          </a:solidFill>
          <a:ln w="5713">
            <a:solidFill>
              <a:srgbClr val="585E6F"/>
            </a:solidFill>
            <a:prstDash val="dash"/>
          </a:ln>
        </p:spPr>
      </p:sp>
      <p:sp>
        <p:nvSpPr>
          <p:cNvPr id="9" name="s17-texto-8"/>
          <p:cNvSpPr txBox="1"/>
          <p:nvPr/>
        </p:nvSpPr>
        <p:spPr>
          <a:xfrm>
            <a:off x="1576808" y="234807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Supervisor</a:t>
            </a:r>
            <a:endParaRPr lang="en-US" sz="1260" dirty="0"/>
          </a:p>
        </p:txBody>
      </p:sp>
      <p:sp>
        <p:nvSpPr>
          <p:cNvPr id="10" name="s17-texto-9"/>
          <p:cNvSpPr txBox="1"/>
          <p:nvPr/>
        </p:nvSpPr>
        <p:spPr>
          <a:xfrm>
            <a:off x="1576808" y="2593735"/>
            <a:ext cx="4105870" cy="171392"/>
          </a:xfrm>
          <a:prstGeom prst="rect">
            <a:avLst/>
          </a:prstGeom>
          <a:noFill/>
          <a:ln/>
        </p:spPr>
        <p:txBody>
          <a:bodyPr wrap="non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Un centro decide todo: predecible, pero rígido.</a:t>
            </a:r>
            <a:endParaRPr lang="en-US" sz="1170" dirty="0"/>
          </a:p>
        </p:txBody>
      </p:sp>
      <p:sp>
        <p:nvSpPr>
          <p:cNvPr id="11" name="s17-forma-10"/>
          <p:cNvSpPr/>
          <p:nvPr/>
        </p:nvSpPr>
        <p:spPr>
          <a:xfrm>
            <a:off x="1342572" y="3041586"/>
            <a:ext cx="4341935" cy="676374"/>
          </a:xfrm>
          <a:prstGeom prst="rect">
            <a:avLst/>
          </a:prstGeom>
          <a:solidFill>
            <a:srgbClr val="E3DCCB"/>
          </a:solidFill>
          <a:ln w="5713">
            <a:solidFill>
              <a:srgbClr val="585E6F"/>
            </a:solidFill>
            <a:prstDash val="dash"/>
          </a:ln>
        </p:spPr>
      </p:sp>
      <p:sp>
        <p:nvSpPr>
          <p:cNvPr id="12" name="s17-texto-11"/>
          <p:cNvSpPr txBox="1"/>
          <p:nvPr/>
        </p:nvSpPr>
        <p:spPr>
          <a:xfrm>
            <a:off x="1576808" y="3161560"/>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Traspasos</a:t>
            </a:r>
            <a:endParaRPr lang="en-US" sz="1260" dirty="0"/>
          </a:p>
        </p:txBody>
      </p:sp>
      <p:sp>
        <p:nvSpPr>
          <p:cNvPr id="13" name="s17-texto-12"/>
          <p:cNvSpPr txBox="1"/>
          <p:nvPr/>
        </p:nvSpPr>
        <p:spPr>
          <a:xfrm>
            <a:off x="1576808" y="3407222"/>
            <a:ext cx="4105870" cy="171392"/>
          </a:xfrm>
          <a:prstGeom prst="rect">
            <a:avLst/>
          </a:prstGeom>
          <a:noFill/>
          <a:ln/>
        </p:spPr>
        <p:txBody>
          <a:bodyPr wrap="non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El control pasa de uno en uno, en cadena.</a:t>
            </a:r>
            <a:endParaRPr lang="en-US" sz="1170" dirty="0"/>
          </a:p>
        </p:txBody>
      </p:sp>
      <p:sp>
        <p:nvSpPr>
          <p:cNvPr id="14" name="s17-forma-13"/>
          <p:cNvSpPr/>
          <p:nvPr/>
        </p:nvSpPr>
        <p:spPr>
          <a:xfrm>
            <a:off x="1342572" y="3855074"/>
            <a:ext cx="4341935" cy="884276"/>
          </a:xfrm>
          <a:prstGeom prst="rect">
            <a:avLst/>
          </a:prstGeom>
          <a:solidFill>
            <a:srgbClr val="E2D3C2"/>
          </a:solidFill>
          <a:ln w="5713">
            <a:solidFill>
              <a:srgbClr val="984514"/>
            </a:solidFill>
            <a:prstDash val="solid"/>
          </a:ln>
        </p:spPr>
      </p:sp>
      <p:sp>
        <p:nvSpPr>
          <p:cNvPr id="15" name="s17-texto-14"/>
          <p:cNvSpPr txBox="1"/>
          <p:nvPr/>
        </p:nvSpPr>
        <p:spPr>
          <a:xfrm>
            <a:off x="1576808" y="3975048"/>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Red</a:t>
            </a:r>
            <a:endParaRPr lang="en-US" sz="1260" dirty="0"/>
          </a:p>
        </p:txBody>
      </p:sp>
      <p:sp>
        <p:nvSpPr>
          <p:cNvPr id="16" name="s17-texto-15"/>
          <p:cNvSpPr txBox="1"/>
          <p:nvPr/>
        </p:nvSpPr>
        <p:spPr>
          <a:xfrm>
            <a:off x="1576808" y="4220710"/>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Cualquier agente puede pasar el trabajo a cualquier otro; el flujo surge de sus decisiones, no de un diseño fijo.</a:t>
            </a:r>
            <a:endParaRPr lang="en-US" sz="1170" dirty="0"/>
          </a:p>
        </p:txBody>
      </p:sp>
      <p:sp>
        <p:nvSpPr>
          <p:cNvPr id="17" name="s17-forma-16"/>
          <p:cNvSpPr/>
          <p:nvPr/>
        </p:nvSpPr>
        <p:spPr>
          <a:xfrm>
            <a:off x="6095848" y="2228098"/>
            <a:ext cx="4753276" cy="1610908"/>
          </a:xfrm>
          <a:prstGeom prst="rect">
            <a:avLst/>
          </a:prstGeom>
          <a:solidFill>
            <a:srgbClr val="E8E2D5"/>
          </a:solidFill>
          <a:ln/>
        </p:spPr>
      </p:sp>
      <p:sp>
        <p:nvSpPr>
          <p:cNvPr id="18" name="s17-forma-17"/>
          <p:cNvSpPr/>
          <p:nvPr/>
        </p:nvSpPr>
        <p:spPr>
          <a:xfrm>
            <a:off x="6095848" y="2228098"/>
            <a:ext cx="4753276" cy="5713"/>
          </a:xfrm>
          <a:prstGeom prst="rect">
            <a:avLst/>
          </a:prstGeom>
          <a:solidFill>
            <a:srgbClr val="DBD4C4"/>
          </a:solidFill>
          <a:ln/>
        </p:spPr>
      </p:sp>
      <p:sp>
        <p:nvSpPr>
          <p:cNvPr id="19" name="s17-forma-18"/>
          <p:cNvSpPr/>
          <p:nvPr/>
        </p:nvSpPr>
        <p:spPr>
          <a:xfrm>
            <a:off x="6095848" y="3833293"/>
            <a:ext cx="4753276" cy="5713"/>
          </a:xfrm>
          <a:prstGeom prst="rect">
            <a:avLst/>
          </a:prstGeom>
          <a:solidFill>
            <a:srgbClr val="DBD4C4"/>
          </a:solidFill>
          <a:ln/>
        </p:spPr>
      </p:sp>
      <p:sp>
        <p:nvSpPr>
          <p:cNvPr id="20" name="s17-forma-19"/>
          <p:cNvSpPr/>
          <p:nvPr/>
        </p:nvSpPr>
        <p:spPr>
          <a:xfrm>
            <a:off x="6095848" y="2228098"/>
            <a:ext cx="17139" cy="1610908"/>
          </a:xfrm>
          <a:prstGeom prst="rect">
            <a:avLst/>
          </a:prstGeom>
          <a:solidFill>
            <a:srgbClr val="C6BFAE"/>
          </a:solidFill>
          <a:ln/>
        </p:spPr>
      </p:sp>
      <p:sp>
        <p:nvSpPr>
          <p:cNvPr id="21" name="s17-forma-20"/>
          <p:cNvSpPr/>
          <p:nvPr/>
        </p:nvSpPr>
        <p:spPr>
          <a:xfrm>
            <a:off x="10843410" y="2228098"/>
            <a:ext cx="5713" cy="1610908"/>
          </a:xfrm>
          <a:prstGeom prst="rect">
            <a:avLst/>
          </a:prstGeom>
          <a:solidFill>
            <a:srgbClr val="DBD4C4"/>
          </a:solidFill>
          <a:ln/>
        </p:spPr>
      </p:sp>
      <p:sp>
        <p:nvSpPr>
          <p:cNvPr id="22" name="s17-texto-21"/>
          <p:cNvSpPr txBox="1"/>
          <p:nvPr/>
        </p:nvSpPr>
        <p:spPr>
          <a:xfrm>
            <a:off x="6295805" y="2410916"/>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0033A0"/>
                </a:solidFill>
                <a:latin typeface="Arial" pitchFamily="34" charset="0"/>
                <a:ea typeface="Arial" pitchFamily="34" charset="-122"/>
                <a:cs typeface="Arial" pitchFamily="34" charset="-120"/>
              </a:rPr>
              <a:t>Analista</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 Tester: «revisa si los criterios se pueden probar»</a:t>
            </a:r>
            <a:endParaRPr lang="en-US" sz="1080" dirty="0"/>
          </a:p>
        </p:txBody>
      </p:sp>
      <p:sp>
        <p:nvSpPr>
          <p:cNvPr id="23" name="s17-texto-22"/>
          <p:cNvSpPr txBox="1"/>
          <p:nvPr/>
        </p:nvSpPr>
        <p:spPr>
          <a:xfrm>
            <a:off x="6295805" y="2682823"/>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0033A0"/>
                </a:solidFill>
                <a:latin typeface="Arial" pitchFamily="34" charset="0"/>
                <a:ea typeface="Arial" pitchFamily="34" charset="-122"/>
                <a:cs typeface="Arial" pitchFamily="34" charset="-120"/>
              </a:rPr>
              <a:t>Tester</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 Analista: «el escenario 3 es ambiguo»</a:t>
            </a:r>
            <a:endParaRPr lang="en-US" sz="1080" dirty="0"/>
          </a:p>
        </p:txBody>
      </p:sp>
      <p:sp>
        <p:nvSpPr>
          <p:cNvPr id="24" name="s17-texto-23"/>
          <p:cNvSpPr txBox="1"/>
          <p:nvPr/>
        </p:nvSpPr>
        <p:spPr>
          <a:xfrm>
            <a:off x="6295805" y="2954729"/>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0033A0"/>
                </a:solidFill>
                <a:latin typeface="Arial" pitchFamily="34" charset="0"/>
                <a:ea typeface="Arial" pitchFamily="34" charset="-122"/>
                <a:cs typeface="Arial" pitchFamily="34" charset="-120"/>
              </a:rPr>
              <a:t>Analista</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 Desarrollador: «empieza con lo que está claro»</a:t>
            </a:r>
            <a:endParaRPr lang="en-US" sz="1080" dirty="0"/>
          </a:p>
        </p:txBody>
      </p:sp>
      <p:sp>
        <p:nvSpPr>
          <p:cNvPr id="25" name="s17-texto-24"/>
          <p:cNvSpPr txBox="1"/>
          <p:nvPr/>
        </p:nvSpPr>
        <p:spPr>
          <a:xfrm>
            <a:off x="6295805" y="3226636"/>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0033A0"/>
                </a:solidFill>
                <a:latin typeface="Arial" pitchFamily="34" charset="0"/>
                <a:ea typeface="Arial" pitchFamily="34" charset="-122"/>
                <a:cs typeface="Arial" pitchFamily="34" charset="-120"/>
              </a:rPr>
              <a:t>Desarrollador</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 Revisor → Tester → Analista …</a:t>
            </a:r>
            <a:endParaRPr lang="en-US" sz="1080" dirty="0"/>
          </a:p>
        </p:txBody>
      </p:sp>
      <p:sp>
        <p:nvSpPr>
          <p:cNvPr id="26" name="s17-texto-25"/>
          <p:cNvSpPr txBox="1"/>
          <p:nvPr/>
        </p:nvSpPr>
        <p:spPr>
          <a:xfrm>
            <a:off x="6295805" y="3498542"/>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Límite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turno 12 de 12: el sistema se detiene</a:t>
            </a:r>
            <a:endParaRPr lang="en-US" sz="1080" dirty="0"/>
          </a:p>
        </p:txBody>
      </p:sp>
      <p:sp>
        <p:nvSpPr>
          <p:cNvPr id="27" name="s17-texto-26"/>
          <p:cNvSpPr txBox="1"/>
          <p:nvPr/>
        </p:nvSpPr>
        <p:spPr>
          <a:xfrm>
            <a:off x="6095848" y="4016111"/>
            <a:ext cx="5038472" cy="346176"/>
          </a:xfrm>
          <a:prstGeom prst="rect">
            <a:avLst/>
          </a:prstGeom>
          <a:noFill/>
          <a:ln/>
        </p:spPr>
        <p:txBody>
          <a:bodyPr wrap="square" lIns="0" tIns="0" rIns="0" bIns="0" rtlCol="0" anchor="t"/>
          <a:lstStyle/>
          <a:p>
            <a:pPr algn="l" indent="0" marL="0">
              <a:lnSpc>
                <a:spcPts val="1512"/>
              </a:lnSpc>
              <a:buNone/>
            </a:pPr>
            <a:r>
              <a:rPr lang="en-US" sz="1080" dirty="0">
                <a:solidFill>
                  <a:srgbClr val="585E6F"/>
                </a:solidFill>
                <a:latin typeface="Arial" pitchFamily="34" charset="0"/>
                <a:ea typeface="Arial" pitchFamily="34" charset="-122"/>
                <a:cs typeface="Arial" pitchFamily="34" charset="-120"/>
              </a:rPr>
              <a:t>Flexible para exploración abierta; difícil de depurar, cara y con riesgo de ciclos. El límite de turnos es obligatorio.</a:t>
            </a:r>
            <a:endParaRPr lang="en-US" sz="1080" dirty="0"/>
          </a:p>
        </p:txBody>
      </p:sp>
      <p:sp>
        <p:nvSpPr>
          <p:cNvPr id="28" name="s17-texto-27"/>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 · LangGraph, documentación de sistemas multi-agente</a:t>
            </a:r>
            <a:endParaRPr lang="en-US" sz="1080" dirty="0"/>
          </a:p>
        </p:txBody>
      </p:sp>
      <p:sp>
        <p:nvSpPr>
          <p:cNvPr id="29" name="s17-forma-28"/>
          <p:cNvSpPr/>
          <p:nvPr/>
        </p:nvSpPr>
        <p:spPr>
          <a:xfrm>
            <a:off x="853390" y="6411138"/>
            <a:ext cx="10484915" cy="5713"/>
          </a:xfrm>
          <a:prstGeom prst="rect">
            <a:avLst/>
          </a:prstGeom>
          <a:solidFill>
            <a:srgbClr val="DBD4C4"/>
          </a:solidFill>
          <a:ln/>
        </p:spPr>
      </p:sp>
      <p:pic>
        <p:nvPicPr>
          <p:cNvPr id="30" name="s17-logo-29"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31" name="s17-forma-30"/>
          <p:cNvSpPr/>
          <p:nvPr/>
        </p:nvSpPr>
        <p:spPr>
          <a:xfrm>
            <a:off x="1659380" y="6519865"/>
            <a:ext cx="2926878" cy="102835"/>
          </a:xfrm>
          <a:prstGeom prst="rect">
            <a:avLst/>
          </a:prstGeom>
          <a:ln/>
        </p:spPr>
      </p:sp>
      <p:sp>
        <p:nvSpPr>
          <p:cNvPr id="32" name="s17-forma-31"/>
          <p:cNvSpPr/>
          <p:nvPr/>
        </p:nvSpPr>
        <p:spPr>
          <a:xfrm>
            <a:off x="1659380" y="6519865"/>
            <a:ext cx="5713" cy="102835"/>
          </a:xfrm>
          <a:prstGeom prst="rect">
            <a:avLst/>
          </a:prstGeom>
          <a:solidFill>
            <a:srgbClr val="C6BFAE"/>
          </a:solidFill>
          <a:ln/>
        </p:spPr>
      </p:sp>
      <p:sp>
        <p:nvSpPr>
          <p:cNvPr id="33" name="s17-texto-32"/>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4" name="s17-texto-33"/>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17 / 36</a:t>
            </a:r>
            <a:endParaRPr lang="en-US" sz="745" dirty="0"/>
          </a:p>
        </p:txBody>
      </p:sp>
      <p:sp>
        <p:nvSpPr>
          <p:cNvPr id="35" name="s17-forma-34"/>
          <p:cNvSpPr/>
          <p:nvPr/>
        </p:nvSpPr>
        <p:spPr>
          <a:xfrm>
            <a:off x="0" y="0"/>
            <a:ext cx="5757170" cy="17139"/>
          </a:xfrm>
          <a:prstGeom prst="rect">
            <a:avLst/>
          </a:prstGeom>
          <a:solidFill>
            <a:srgbClr val="0033A0"/>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8DC"/>
        </a:solidFill>
      </p:bgPr>
    </p:bg>
    <p:spTree>
      <p:nvGrpSpPr>
        <p:cNvPr id="1" name=""/>
        <p:cNvGrpSpPr/>
        <p:nvPr/>
      </p:nvGrpSpPr>
      <p:grpSpPr>
        <a:xfrm>
          <a:off x="0" y="0"/>
          <a:ext cx="0" cy="0"/>
          <a:chOff x="0" y="0"/>
          <a:chExt cx="0" cy="0"/>
        </a:xfrm>
      </p:grpSpPr>
      <p:sp>
        <p:nvSpPr>
          <p:cNvPr id="2" name="s18-forma-1"/>
          <p:cNvSpPr/>
          <p:nvPr/>
        </p:nvSpPr>
        <p:spPr>
          <a:xfrm>
            <a:off x="853390" y="520961"/>
            <a:ext cx="10484915" cy="5713"/>
          </a:xfrm>
          <a:prstGeom prst="rect">
            <a:avLst/>
          </a:prstGeom>
          <a:solidFill>
            <a:srgbClr val="C6BFAE"/>
          </a:solidFill>
          <a:ln/>
        </p:spPr>
      </p:sp>
      <p:sp>
        <p:nvSpPr>
          <p:cNvPr id="3" name="s18-forma-2"/>
          <p:cNvSpPr/>
          <p:nvPr/>
        </p:nvSpPr>
        <p:spPr>
          <a:xfrm>
            <a:off x="853390" y="331715"/>
            <a:ext cx="81411" cy="81411"/>
          </a:xfrm>
          <a:prstGeom prst="ellipse">
            <a:avLst/>
          </a:prstGeom>
          <a:solidFill>
            <a:srgbClr val="0033A0"/>
          </a:solidFill>
          <a:ln/>
        </p:spPr>
      </p:sp>
      <p:sp>
        <p:nvSpPr>
          <p:cNvPr id="4" name="s18-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8-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8-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4 DE 5</a:t>
            </a:r>
            <a:endParaRPr lang="en-US" sz="900" dirty="0"/>
          </a:p>
        </p:txBody>
      </p:sp>
      <p:sp>
        <p:nvSpPr>
          <p:cNvPr id="7" name="s18-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Red: todos con todos</a:t>
            </a:r>
            <a:endParaRPr lang="en-US" sz="2879" dirty="0"/>
          </a:p>
        </p:txBody>
      </p:sp>
      <p:sp>
        <p:nvSpPr>
          <p:cNvPr id="8" name="s18-forma-7"/>
          <p:cNvSpPr/>
          <p:nvPr/>
        </p:nvSpPr>
        <p:spPr>
          <a:xfrm>
            <a:off x="1685356" y="2399490"/>
            <a:ext cx="1371137" cy="571307"/>
          </a:xfrm>
          <a:prstGeom prst="rect">
            <a:avLst/>
          </a:prstGeom>
          <a:solidFill>
            <a:srgbClr val="E3DCCB"/>
          </a:solidFill>
          <a:ln w="5713">
            <a:solidFill>
              <a:srgbClr val="585E6F"/>
            </a:solidFill>
            <a:prstDash val="solid"/>
          </a:ln>
        </p:spPr>
      </p:sp>
      <p:sp>
        <p:nvSpPr>
          <p:cNvPr id="9" name="s18-texto-8"/>
          <p:cNvSpPr txBox="1"/>
          <p:nvPr/>
        </p:nvSpPr>
        <p:spPr>
          <a:xfrm>
            <a:off x="2036889" y="2593735"/>
            <a:ext cx="668072"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Analista</a:t>
            </a:r>
            <a:endParaRPr lang="en-US" sz="1260" dirty="0"/>
          </a:p>
        </p:txBody>
      </p:sp>
      <p:sp>
        <p:nvSpPr>
          <p:cNvPr id="10" name="s18-forma-9"/>
          <p:cNvSpPr/>
          <p:nvPr/>
        </p:nvSpPr>
        <p:spPr>
          <a:xfrm>
            <a:off x="4541892" y="2399490"/>
            <a:ext cx="1371137" cy="571307"/>
          </a:xfrm>
          <a:prstGeom prst="rect">
            <a:avLst/>
          </a:prstGeom>
          <a:solidFill>
            <a:srgbClr val="E3DCCB"/>
          </a:solidFill>
          <a:ln w="5713">
            <a:solidFill>
              <a:srgbClr val="585E6F"/>
            </a:solidFill>
            <a:prstDash val="solid"/>
          </a:ln>
        </p:spPr>
      </p:sp>
      <p:sp>
        <p:nvSpPr>
          <p:cNvPr id="11" name="s18-texto-10"/>
          <p:cNvSpPr txBox="1"/>
          <p:nvPr/>
        </p:nvSpPr>
        <p:spPr>
          <a:xfrm>
            <a:off x="4970462" y="2593735"/>
            <a:ext cx="513998"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Tester</a:t>
            </a:r>
            <a:endParaRPr lang="en-US" sz="1260" dirty="0"/>
          </a:p>
        </p:txBody>
      </p:sp>
      <p:sp>
        <p:nvSpPr>
          <p:cNvPr id="12" name="s18-forma-11"/>
          <p:cNvSpPr/>
          <p:nvPr/>
        </p:nvSpPr>
        <p:spPr>
          <a:xfrm>
            <a:off x="1685356" y="4170542"/>
            <a:ext cx="1371137" cy="571307"/>
          </a:xfrm>
          <a:prstGeom prst="rect">
            <a:avLst/>
          </a:prstGeom>
          <a:solidFill>
            <a:srgbClr val="E3DCCB"/>
          </a:solidFill>
          <a:ln w="5713">
            <a:solidFill>
              <a:srgbClr val="585E6F"/>
            </a:solidFill>
            <a:prstDash val="solid"/>
          </a:ln>
        </p:spPr>
      </p:sp>
      <p:sp>
        <p:nvSpPr>
          <p:cNvPr id="13" name="s18-texto-12"/>
          <p:cNvSpPr txBox="1"/>
          <p:nvPr/>
        </p:nvSpPr>
        <p:spPr>
          <a:xfrm>
            <a:off x="1819561" y="4364787"/>
            <a:ext cx="1102639"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Desarrollador</a:t>
            </a:r>
            <a:endParaRPr lang="en-US" sz="1260" dirty="0"/>
          </a:p>
        </p:txBody>
      </p:sp>
      <p:sp>
        <p:nvSpPr>
          <p:cNvPr id="14" name="s18-forma-13"/>
          <p:cNvSpPr/>
          <p:nvPr/>
        </p:nvSpPr>
        <p:spPr>
          <a:xfrm>
            <a:off x="4541892" y="4170542"/>
            <a:ext cx="1371137" cy="571307"/>
          </a:xfrm>
          <a:prstGeom prst="rect">
            <a:avLst/>
          </a:prstGeom>
          <a:solidFill>
            <a:srgbClr val="E3DCCB"/>
          </a:solidFill>
          <a:ln w="5713">
            <a:solidFill>
              <a:srgbClr val="585E6F"/>
            </a:solidFill>
            <a:prstDash val="solid"/>
          </a:ln>
        </p:spPr>
      </p:sp>
      <p:sp>
        <p:nvSpPr>
          <p:cNvPr id="15" name="s18-texto-14"/>
          <p:cNvSpPr txBox="1"/>
          <p:nvPr/>
        </p:nvSpPr>
        <p:spPr>
          <a:xfrm>
            <a:off x="4911189" y="4364787"/>
            <a:ext cx="632544"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Revisor</a:t>
            </a:r>
            <a:endParaRPr lang="en-US" sz="1260" dirty="0"/>
          </a:p>
        </p:txBody>
      </p:sp>
      <p:sp>
        <p:nvSpPr>
          <p:cNvPr id="16" name="s18-forma-15"/>
          <p:cNvSpPr/>
          <p:nvPr/>
        </p:nvSpPr>
        <p:spPr>
          <a:xfrm>
            <a:off x="1342572" y="5027503"/>
            <a:ext cx="5027503" cy="374742"/>
          </a:xfrm>
          <a:prstGeom prst="rect">
            <a:avLst/>
          </a:prstGeom>
          <a:solidFill>
            <a:srgbClr val="E3DCCB"/>
          </a:solidFill>
          <a:ln/>
        </p:spPr>
      </p:sp>
      <p:sp>
        <p:nvSpPr>
          <p:cNvPr id="17" name="s18-texto-16"/>
          <p:cNvSpPr txBox="1"/>
          <p:nvPr/>
        </p:nvSpPr>
        <p:spPr>
          <a:xfrm>
            <a:off x="1479686" y="5136052"/>
            <a:ext cx="5038472" cy="154253"/>
          </a:xfrm>
          <a:prstGeom prst="rect">
            <a:avLst/>
          </a:prstGeom>
          <a:noFill/>
          <a:ln/>
        </p:spPr>
        <p:txBody>
          <a:bodyPr wrap="none" lIns="0" tIns="0" rIns="0" bIns="0" rtlCol="0" anchor="t"/>
          <a:lstStyle/>
          <a:p>
            <a:pPr algn="l" indent="0" marL="0">
              <a:lnSpc>
                <a:spcPts val="1512"/>
              </a:lnSpc>
              <a:buNone/>
            </a:pPr>
            <a:r>
              <a:rPr lang="en-US" sz="1080" dirty="0">
                <a:solidFill>
                  <a:srgbClr val="16181D"/>
                </a:solidFill>
                <a:latin typeface="Arial" pitchFamily="34" charset="0"/>
                <a:ea typeface="Arial" pitchFamily="34" charset="-122"/>
                <a:cs typeface="Arial" pitchFamily="34" charset="-120"/>
              </a:rPr>
              <a:t>4 agentes = 6 canales · 10 agentes = 45 canales</a:t>
            </a:r>
            <a:endParaRPr lang="en-US" sz="1080" dirty="0"/>
          </a:p>
        </p:txBody>
      </p:sp>
      <p:sp>
        <p:nvSpPr>
          <p:cNvPr id="18" name="s18-texto-17"/>
          <p:cNvSpPr txBox="1"/>
          <p:nvPr/>
        </p:nvSpPr>
        <p:spPr>
          <a:xfrm>
            <a:off x="7284167" y="2228098"/>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19" name="s18-texto-18"/>
          <p:cNvSpPr txBox="1"/>
          <p:nvPr/>
        </p:nvSpPr>
        <p:spPr>
          <a:xfrm>
            <a:off x="7284167" y="2428056"/>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Cualquier agente puede hablar con cualquier otro y decide a quién pasarle el trabajo.</a:t>
            </a:r>
            <a:endParaRPr lang="en-US" sz="1260" dirty="0"/>
          </a:p>
        </p:txBody>
      </p:sp>
      <p:sp>
        <p:nvSpPr>
          <p:cNvPr id="20" name="s18-texto-19"/>
          <p:cNvSpPr txBox="1"/>
          <p:nvPr/>
        </p:nvSpPr>
        <p:spPr>
          <a:xfrm>
            <a:off x="7284167" y="3012931"/>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1" name="s18-texto-20"/>
          <p:cNvSpPr txBox="1"/>
          <p:nvPr/>
        </p:nvSpPr>
        <p:spPr>
          <a:xfrm>
            <a:off x="7284167" y="3212889"/>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Flexible y emergente; difícil de depurar, cara y puede entrar en ciclos sin fin.</a:t>
            </a:r>
            <a:endParaRPr lang="en-US" sz="1260" dirty="0"/>
          </a:p>
        </p:txBody>
      </p:sp>
      <p:sp>
        <p:nvSpPr>
          <p:cNvPr id="22" name="s18-forma-21"/>
          <p:cNvSpPr/>
          <p:nvPr/>
        </p:nvSpPr>
        <p:spPr>
          <a:xfrm>
            <a:off x="7284167" y="3797764"/>
            <a:ext cx="3564957" cy="899095"/>
          </a:xfrm>
          <a:prstGeom prst="rect">
            <a:avLst/>
          </a:prstGeom>
          <a:solidFill>
            <a:srgbClr val="E2D3C2"/>
          </a:solidFill>
          <a:ln/>
        </p:spPr>
      </p:sp>
      <p:sp>
        <p:nvSpPr>
          <p:cNvPr id="23" name="s18-texto-22"/>
          <p:cNvSpPr txBox="1"/>
          <p:nvPr/>
        </p:nvSpPr>
        <p:spPr>
          <a:xfrm>
            <a:off x="7421280" y="3934878"/>
            <a:ext cx="3488173"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4" name="s18-texto-23"/>
          <p:cNvSpPr txBox="1"/>
          <p:nvPr/>
        </p:nvSpPr>
        <p:spPr>
          <a:xfrm>
            <a:off x="7421280" y="4134836"/>
            <a:ext cx="3488173"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No la usamos: con pasos conocidos, un grafo es más predecible y más barato.</a:t>
            </a:r>
            <a:endParaRPr lang="en-US" sz="1260" dirty="0"/>
          </a:p>
        </p:txBody>
      </p:sp>
      <p:sp>
        <p:nvSpPr>
          <p:cNvPr id="25" name="s18-texto-24"/>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a:t>
            </a:r>
            <a:endParaRPr lang="en-US" sz="1080" dirty="0"/>
          </a:p>
        </p:txBody>
      </p:sp>
      <p:sp>
        <p:nvSpPr>
          <p:cNvPr id="26" name="s18-linea-25-0"/>
          <p:cNvSpPr/>
          <p:nvPr/>
        </p:nvSpPr>
        <p:spPr>
          <a:xfrm>
            <a:off x="3056493" y="2685144"/>
            <a:ext cx="1485399" cy="0"/>
          </a:xfrm>
          <a:prstGeom prst="line">
            <a:avLst/>
          </a:prstGeom>
          <a:noFill/>
          <a:ln w="17140">
            <a:solidFill>
              <a:srgbClr val="585E6F"/>
            </a:solidFill>
            <a:prstDash val="solid"/>
            <a:headEnd type="triangle"/>
            <a:tailEnd type="triangle"/>
          </a:ln>
        </p:spPr>
      </p:sp>
      <p:sp>
        <p:nvSpPr>
          <p:cNvPr id="27" name="s18-linea-26-0"/>
          <p:cNvSpPr/>
          <p:nvPr/>
        </p:nvSpPr>
        <p:spPr>
          <a:xfrm>
            <a:off x="3056493" y="4456196"/>
            <a:ext cx="1485399" cy="0"/>
          </a:xfrm>
          <a:prstGeom prst="line">
            <a:avLst/>
          </a:prstGeom>
          <a:noFill/>
          <a:ln w="17140">
            <a:solidFill>
              <a:srgbClr val="585E6F"/>
            </a:solidFill>
            <a:prstDash val="solid"/>
            <a:headEnd type="triangle"/>
            <a:tailEnd type="triangle"/>
          </a:ln>
        </p:spPr>
      </p:sp>
      <p:sp>
        <p:nvSpPr>
          <p:cNvPr id="28" name="s18-linea-27-0"/>
          <p:cNvSpPr/>
          <p:nvPr/>
        </p:nvSpPr>
        <p:spPr>
          <a:xfrm>
            <a:off x="2370925" y="2970797"/>
            <a:ext cx="0" cy="1199745"/>
          </a:xfrm>
          <a:prstGeom prst="line">
            <a:avLst/>
          </a:prstGeom>
          <a:noFill/>
          <a:ln w="17140">
            <a:solidFill>
              <a:srgbClr val="585E6F"/>
            </a:solidFill>
            <a:prstDash val="solid"/>
            <a:headEnd type="triangle"/>
            <a:tailEnd type="triangle"/>
          </a:ln>
        </p:spPr>
      </p:sp>
      <p:sp>
        <p:nvSpPr>
          <p:cNvPr id="29" name="s18-linea-28-0"/>
          <p:cNvSpPr/>
          <p:nvPr/>
        </p:nvSpPr>
        <p:spPr>
          <a:xfrm>
            <a:off x="5227461" y="2970797"/>
            <a:ext cx="0" cy="1199745"/>
          </a:xfrm>
          <a:prstGeom prst="line">
            <a:avLst/>
          </a:prstGeom>
          <a:noFill/>
          <a:ln w="17140">
            <a:solidFill>
              <a:srgbClr val="585E6F"/>
            </a:solidFill>
            <a:prstDash val="solid"/>
            <a:headEnd type="triangle"/>
            <a:tailEnd type="triangle"/>
          </a:ln>
        </p:spPr>
      </p:sp>
      <p:sp>
        <p:nvSpPr>
          <p:cNvPr id="30" name="s18-linea-29-0"/>
          <p:cNvSpPr/>
          <p:nvPr/>
        </p:nvSpPr>
        <p:spPr>
          <a:xfrm>
            <a:off x="3056493" y="2970797"/>
            <a:ext cx="1485399" cy="1199745"/>
          </a:xfrm>
          <a:prstGeom prst="line">
            <a:avLst/>
          </a:prstGeom>
          <a:noFill/>
          <a:ln w="17140">
            <a:solidFill>
              <a:srgbClr val="984514"/>
            </a:solidFill>
            <a:prstDash val="solid"/>
            <a:headEnd type="triangle"/>
            <a:tailEnd type="triangle"/>
          </a:ln>
        </p:spPr>
      </p:sp>
      <p:sp>
        <p:nvSpPr>
          <p:cNvPr id="31" name="s18-linea-30-0"/>
          <p:cNvSpPr/>
          <p:nvPr/>
        </p:nvSpPr>
        <p:spPr>
          <a:xfrm flipH="1">
            <a:off x="3056493" y="2970797"/>
            <a:ext cx="1485399" cy="1199745"/>
          </a:xfrm>
          <a:prstGeom prst="line">
            <a:avLst/>
          </a:prstGeom>
          <a:noFill/>
          <a:ln w="17140">
            <a:solidFill>
              <a:srgbClr val="984514"/>
            </a:solidFill>
            <a:prstDash val="solid"/>
            <a:headEnd type="triangle"/>
            <a:tailEnd type="triangle"/>
          </a:ln>
        </p:spPr>
      </p:sp>
      <p:sp>
        <p:nvSpPr>
          <p:cNvPr id="32" name="s18-forma-31"/>
          <p:cNvSpPr/>
          <p:nvPr/>
        </p:nvSpPr>
        <p:spPr>
          <a:xfrm>
            <a:off x="853390" y="6411138"/>
            <a:ext cx="10484915" cy="5713"/>
          </a:xfrm>
          <a:prstGeom prst="rect">
            <a:avLst/>
          </a:prstGeom>
          <a:solidFill>
            <a:srgbClr val="DBD4C4"/>
          </a:solidFill>
          <a:ln/>
        </p:spPr>
      </p:sp>
      <p:pic>
        <p:nvPicPr>
          <p:cNvPr id="33" name="s18-logo-32"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34" name="s18-forma-33"/>
          <p:cNvSpPr/>
          <p:nvPr/>
        </p:nvSpPr>
        <p:spPr>
          <a:xfrm>
            <a:off x="1659380" y="6519865"/>
            <a:ext cx="2926878" cy="102835"/>
          </a:xfrm>
          <a:prstGeom prst="rect">
            <a:avLst/>
          </a:prstGeom>
          <a:ln/>
        </p:spPr>
      </p:sp>
      <p:sp>
        <p:nvSpPr>
          <p:cNvPr id="35" name="s18-forma-34"/>
          <p:cNvSpPr/>
          <p:nvPr/>
        </p:nvSpPr>
        <p:spPr>
          <a:xfrm>
            <a:off x="1659380" y="6519865"/>
            <a:ext cx="5713" cy="102835"/>
          </a:xfrm>
          <a:prstGeom prst="rect">
            <a:avLst/>
          </a:prstGeom>
          <a:solidFill>
            <a:srgbClr val="C6BFAE"/>
          </a:solidFill>
          <a:ln/>
        </p:spPr>
      </p:sp>
      <p:sp>
        <p:nvSpPr>
          <p:cNvPr id="36" name="s18-texto-35"/>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7" name="s18-texto-36"/>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18 / 36</a:t>
            </a:r>
            <a:endParaRPr lang="en-US" sz="745" dirty="0"/>
          </a:p>
        </p:txBody>
      </p:sp>
      <p:sp>
        <p:nvSpPr>
          <p:cNvPr id="38" name="s18-forma-37"/>
          <p:cNvSpPr/>
          <p:nvPr/>
        </p:nvSpPr>
        <p:spPr>
          <a:xfrm>
            <a:off x="0" y="0"/>
            <a:ext cx="6095848" cy="17139"/>
          </a:xfrm>
          <a:prstGeom prst="rect">
            <a:avLst/>
          </a:prstGeom>
          <a:solidFill>
            <a:srgbClr val="0033A0"/>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8DC"/>
        </a:solidFill>
      </p:bgPr>
    </p:bg>
    <p:spTree>
      <p:nvGrpSpPr>
        <p:cNvPr id="1" name=""/>
        <p:cNvGrpSpPr/>
        <p:nvPr/>
      </p:nvGrpSpPr>
      <p:grpSpPr>
        <a:xfrm>
          <a:off x="0" y="0"/>
          <a:ext cx="0" cy="0"/>
          <a:chOff x="0" y="0"/>
          <a:chExt cx="0" cy="0"/>
        </a:xfrm>
      </p:grpSpPr>
      <p:sp>
        <p:nvSpPr>
          <p:cNvPr id="2" name="s19-forma-1"/>
          <p:cNvSpPr/>
          <p:nvPr/>
        </p:nvSpPr>
        <p:spPr>
          <a:xfrm>
            <a:off x="853390" y="520961"/>
            <a:ext cx="10484915" cy="5713"/>
          </a:xfrm>
          <a:prstGeom prst="rect">
            <a:avLst/>
          </a:prstGeom>
          <a:solidFill>
            <a:srgbClr val="C6BFAE"/>
          </a:solidFill>
          <a:ln/>
        </p:spPr>
      </p:sp>
      <p:sp>
        <p:nvSpPr>
          <p:cNvPr id="3" name="s19-forma-2"/>
          <p:cNvSpPr/>
          <p:nvPr/>
        </p:nvSpPr>
        <p:spPr>
          <a:xfrm>
            <a:off x="853390" y="331715"/>
            <a:ext cx="81411" cy="81411"/>
          </a:xfrm>
          <a:prstGeom prst="ellipse">
            <a:avLst/>
          </a:prstGeom>
          <a:solidFill>
            <a:srgbClr val="0033A0"/>
          </a:solidFill>
          <a:ln/>
        </p:spPr>
      </p:sp>
      <p:sp>
        <p:nvSpPr>
          <p:cNvPr id="4" name="s19-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9-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9-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 EN CÓDIGO</a:t>
            </a:r>
            <a:endParaRPr lang="en-US" sz="900" dirty="0"/>
          </a:p>
        </p:txBody>
      </p:sp>
      <p:sp>
        <p:nvSpPr>
          <p:cNvPr id="7" name="s19-texto-6"/>
          <p:cNvSpPr txBox="1"/>
          <p:nvPr/>
        </p:nvSpPr>
        <p:spPr>
          <a:xfrm>
            <a:off x="1342572" y="1451120"/>
            <a:ext cx="10076945" cy="377063"/>
          </a:xfrm>
          <a:prstGeom prst="rect">
            <a:avLst/>
          </a:prstGeom>
          <a:noFill/>
          <a:ln/>
        </p:spPr>
        <p:txBody>
          <a:bodyPr wrap="none" lIns="0" tIns="0" rIns="0" bIns="0" rtlCol="0" anchor="t"/>
          <a:lstStyle/>
          <a:p>
            <a:pPr algn="l" indent="0" marL="0">
              <a:lnSpc>
                <a:spcPts val="2771"/>
              </a:lnSpc>
              <a:buNone/>
            </a:pPr>
            <a:r>
              <a:rPr lang="en-US" sz="2519" b="1" spc="-25" kern="0" dirty="0">
                <a:solidFill>
                  <a:srgbClr val="16181D"/>
                </a:solidFill>
                <a:latin typeface="Georgia" pitchFamily="34" charset="0"/>
                <a:ea typeface="Georgia" pitchFamily="34" charset="-122"/>
                <a:cs typeface="Georgia" pitchFamily="34" charset="-120"/>
              </a:rPr>
              <a:t>Red en código: todos con Command a todos</a:t>
            </a:r>
            <a:endParaRPr lang="en-US" sz="2519" dirty="0"/>
          </a:p>
        </p:txBody>
      </p:sp>
      <p:sp>
        <p:nvSpPr>
          <p:cNvPr id="8" name="s19-forma-7"/>
          <p:cNvSpPr/>
          <p:nvPr/>
        </p:nvSpPr>
        <p:spPr>
          <a:xfrm>
            <a:off x="1342572" y="2205246"/>
            <a:ext cx="5941595" cy="3159329"/>
          </a:xfrm>
          <a:prstGeom prst="rect">
            <a:avLst/>
          </a:prstGeom>
          <a:solidFill>
            <a:srgbClr val="E8E2D5"/>
          </a:solidFill>
          <a:ln/>
        </p:spPr>
      </p:sp>
      <p:sp>
        <p:nvSpPr>
          <p:cNvPr id="9" name="s19-forma-8"/>
          <p:cNvSpPr/>
          <p:nvPr/>
        </p:nvSpPr>
        <p:spPr>
          <a:xfrm>
            <a:off x="1342572" y="2205246"/>
            <a:ext cx="5941595" cy="5713"/>
          </a:xfrm>
          <a:prstGeom prst="rect">
            <a:avLst/>
          </a:prstGeom>
          <a:solidFill>
            <a:srgbClr val="DBD4C4"/>
          </a:solidFill>
          <a:ln/>
        </p:spPr>
      </p:sp>
      <p:sp>
        <p:nvSpPr>
          <p:cNvPr id="10" name="s19-forma-9"/>
          <p:cNvSpPr/>
          <p:nvPr/>
        </p:nvSpPr>
        <p:spPr>
          <a:xfrm>
            <a:off x="1342572" y="5358861"/>
            <a:ext cx="5941595" cy="5713"/>
          </a:xfrm>
          <a:prstGeom prst="rect">
            <a:avLst/>
          </a:prstGeom>
          <a:solidFill>
            <a:srgbClr val="DBD4C4"/>
          </a:solidFill>
          <a:ln/>
        </p:spPr>
      </p:sp>
      <p:sp>
        <p:nvSpPr>
          <p:cNvPr id="11" name="s19-forma-10"/>
          <p:cNvSpPr/>
          <p:nvPr/>
        </p:nvSpPr>
        <p:spPr>
          <a:xfrm>
            <a:off x="1342572" y="2205246"/>
            <a:ext cx="17139" cy="3159329"/>
          </a:xfrm>
          <a:prstGeom prst="rect">
            <a:avLst/>
          </a:prstGeom>
          <a:solidFill>
            <a:srgbClr val="C6BFAE"/>
          </a:solidFill>
          <a:ln/>
        </p:spPr>
      </p:sp>
      <p:sp>
        <p:nvSpPr>
          <p:cNvPr id="12" name="s19-forma-11"/>
          <p:cNvSpPr/>
          <p:nvPr/>
        </p:nvSpPr>
        <p:spPr>
          <a:xfrm>
            <a:off x="7278453" y="2205246"/>
            <a:ext cx="5713" cy="3159329"/>
          </a:xfrm>
          <a:prstGeom prst="rect">
            <a:avLst/>
          </a:prstGeom>
          <a:solidFill>
            <a:srgbClr val="DBD4C4"/>
          </a:solidFill>
          <a:ln/>
        </p:spPr>
      </p:sp>
      <p:sp>
        <p:nvSpPr>
          <p:cNvPr id="13" name="s19-texto-12"/>
          <p:cNvSpPr txBox="1"/>
          <p:nvPr/>
        </p:nvSpPr>
        <p:spPr>
          <a:xfrm>
            <a:off x="1542529" y="2370925"/>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Turno(</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BaseModel</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4" name="s19-texto-13"/>
          <p:cNvSpPr txBox="1"/>
          <p:nvPr/>
        </p:nvSpPr>
        <p:spPr>
          <a:xfrm>
            <a:off x="1542529" y="255945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aporte: str</a:t>
            </a:r>
            <a:endParaRPr lang="en-US" sz="990" dirty="0"/>
          </a:p>
        </p:txBody>
      </p:sp>
      <p:sp>
        <p:nvSpPr>
          <p:cNvPr id="15" name="s19-forma-14"/>
          <p:cNvSpPr/>
          <p:nvPr/>
        </p:nvSpPr>
        <p:spPr>
          <a:xfrm>
            <a:off x="1451120" y="2747988"/>
            <a:ext cx="5735924" cy="188531"/>
          </a:xfrm>
          <a:prstGeom prst="rect">
            <a:avLst/>
          </a:prstGeom>
          <a:solidFill>
            <a:srgbClr val="DCE3F2"/>
          </a:solidFill>
          <a:ln/>
        </p:spPr>
      </p:sp>
      <p:sp>
        <p:nvSpPr>
          <p:cNvPr id="16" name="s19-forma-15"/>
          <p:cNvSpPr/>
          <p:nvPr/>
        </p:nvSpPr>
        <p:spPr>
          <a:xfrm>
            <a:off x="1451120" y="2747988"/>
            <a:ext cx="22852" cy="188531"/>
          </a:xfrm>
          <a:prstGeom prst="rect">
            <a:avLst/>
          </a:prstGeom>
          <a:solidFill>
            <a:srgbClr val="AC321E"/>
          </a:solidFill>
          <a:ln/>
        </p:spPr>
      </p:sp>
      <p:sp>
        <p:nvSpPr>
          <p:cNvPr id="17" name="s19-texto-16"/>
          <p:cNvSpPr txBox="1"/>
          <p:nvPr/>
        </p:nvSpPr>
        <p:spPr>
          <a:xfrm>
            <a:off x="1542529" y="274798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siguiente: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Literal</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"analista"</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"tester"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"desarrollador"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8" name="s19-forma-17"/>
          <p:cNvSpPr/>
          <p:nvPr/>
        </p:nvSpPr>
        <p:spPr>
          <a:xfrm>
            <a:off x="1451120" y="2936519"/>
            <a:ext cx="5735924" cy="188531"/>
          </a:xfrm>
          <a:prstGeom prst="rect">
            <a:avLst/>
          </a:prstGeom>
          <a:solidFill>
            <a:srgbClr val="DCE3F2"/>
          </a:solidFill>
          <a:ln/>
        </p:spPr>
      </p:sp>
      <p:sp>
        <p:nvSpPr>
          <p:cNvPr id="19" name="s19-forma-18"/>
          <p:cNvSpPr/>
          <p:nvPr/>
        </p:nvSpPr>
        <p:spPr>
          <a:xfrm>
            <a:off x="1451120" y="2936519"/>
            <a:ext cx="22852" cy="188531"/>
          </a:xfrm>
          <a:prstGeom prst="rect">
            <a:avLst/>
          </a:prstGeom>
          <a:solidFill>
            <a:srgbClr val="AC321E"/>
          </a:solidFill>
          <a:ln/>
        </p:spPr>
      </p:sp>
      <p:sp>
        <p:nvSpPr>
          <p:cNvPr id="20" name="s19-texto-19"/>
          <p:cNvSpPr txBox="1"/>
          <p:nvPr/>
        </p:nvSpPr>
        <p:spPr>
          <a:xfrm>
            <a:off x="1542529" y="2936519"/>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"revisor"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"FIN"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1" name="s19-texto-20"/>
          <p:cNvSpPr txBox="1"/>
          <p:nvPr/>
        </p:nvSpPr>
        <p:spPr>
          <a:xfrm>
            <a:off x="1542529" y="3313582"/>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par(nombre: str):</a:t>
            </a:r>
            <a:endParaRPr lang="en-US" sz="990" dirty="0"/>
          </a:p>
        </p:txBody>
      </p:sp>
      <p:sp>
        <p:nvSpPr>
          <p:cNvPr id="22" name="s19-texto-21"/>
          <p:cNvSpPr txBox="1"/>
          <p:nvPr/>
        </p:nvSpPr>
        <p:spPr>
          <a:xfrm>
            <a:off x="1542529" y="350211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nodo(s: Estado) -&gt;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Command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[Destino]: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Destino = todos</a:t>
            </a:r>
            <a:endParaRPr lang="en-US" sz="990" dirty="0"/>
          </a:p>
        </p:txBody>
      </p:sp>
      <p:sp>
        <p:nvSpPr>
          <p:cNvPr id="23" name="s19-texto-22"/>
          <p:cNvSpPr txBox="1"/>
          <p:nvPr/>
        </p:nvSpPr>
        <p:spPr>
          <a:xfrm>
            <a:off x="1542529" y="3690644"/>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t = modelo().with_structured_output(Turno).invoke(...)</a:t>
            </a:r>
            <a:endParaRPr lang="en-US" sz="990" dirty="0"/>
          </a:p>
        </p:txBody>
      </p:sp>
      <p:sp>
        <p:nvSpPr>
          <p:cNvPr id="24" name="s19-forma-23"/>
          <p:cNvSpPr/>
          <p:nvPr/>
        </p:nvSpPr>
        <p:spPr>
          <a:xfrm>
            <a:off x="1451120" y="3879176"/>
            <a:ext cx="5735924" cy="188531"/>
          </a:xfrm>
          <a:prstGeom prst="rect">
            <a:avLst/>
          </a:prstGeom>
          <a:solidFill>
            <a:srgbClr val="DCE3F2"/>
          </a:solidFill>
          <a:ln/>
        </p:spPr>
      </p:sp>
      <p:sp>
        <p:nvSpPr>
          <p:cNvPr id="25" name="s19-forma-24"/>
          <p:cNvSpPr/>
          <p:nvPr/>
        </p:nvSpPr>
        <p:spPr>
          <a:xfrm>
            <a:off x="1451120" y="3879176"/>
            <a:ext cx="22852" cy="188531"/>
          </a:xfrm>
          <a:prstGeom prst="rect">
            <a:avLst/>
          </a:prstGeom>
          <a:solidFill>
            <a:srgbClr val="AC321E"/>
          </a:solidFill>
          <a:ln/>
        </p:spPr>
      </p:sp>
      <p:sp>
        <p:nvSpPr>
          <p:cNvPr id="26" name="s19-texto-25"/>
          <p:cNvSpPr txBox="1"/>
          <p:nvPr/>
        </p:nvSpPr>
        <p:spPr>
          <a:xfrm>
            <a:off x="1542529" y="387917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fin = t.siguiente ==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"FIN"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s[</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"turnos"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&gt;= MAX_TURNOS</a:t>
            </a:r>
            <a:endParaRPr lang="en-US" sz="990" dirty="0"/>
          </a:p>
        </p:txBody>
      </p:sp>
      <p:sp>
        <p:nvSpPr>
          <p:cNvPr id="27" name="s19-forma-26"/>
          <p:cNvSpPr/>
          <p:nvPr/>
        </p:nvSpPr>
        <p:spPr>
          <a:xfrm>
            <a:off x="1451120" y="4067707"/>
            <a:ext cx="5735924" cy="188531"/>
          </a:xfrm>
          <a:prstGeom prst="rect">
            <a:avLst/>
          </a:prstGeom>
          <a:solidFill>
            <a:srgbClr val="DCE3F2"/>
          </a:solidFill>
          <a:ln/>
        </p:spPr>
      </p:sp>
      <p:sp>
        <p:nvSpPr>
          <p:cNvPr id="28" name="s19-forma-27"/>
          <p:cNvSpPr/>
          <p:nvPr/>
        </p:nvSpPr>
        <p:spPr>
          <a:xfrm>
            <a:off x="1451120" y="4067707"/>
            <a:ext cx="22852" cy="188531"/>
          </a:xfrm>
          <a:prstGeom prst="rect">
            <a:avLst/>
          </a:prstGeom>
          <a:solidFill>
            <a:srgbClr val="AC321E"/>
          </a:solidFill>
          <a:ln/>
        </p:spPr>
      </p:sp>
      <p:sp>
        <p:nvSpPr>
          <p:cNvPr id="29" name="s19-texto-28"/>
          <p:cNvSpPr txBox="1"/>
          <p:nvPr/>
        </p:nvSpPr>
        <p:spPr>
          <a:xfrm>
            <a:off x="1542529" y="4067707"/>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Command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(goto=</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END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fin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else</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t.siguiente, update=...)</a:t>
            </a:r>
            <a:endParaRPr lang="en-US" sz="990" dirty="0"/>
          </a:p>
        </p:txBody>
      </p:sp>
      <p:sp>
        <p:nvSpPr>
          <p:cNvPr id="30" name="s19-texto-29"/>
          <p:cNvSpPr txBox="1"/>
          <p:nvPr/>
        </p:nvSpPr>
        <p:spPr>
          <a:xfrm>
            <a:off x="1542529" y="425623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nodo</a:t>
            </a:r>
            <a:endParaRPr lang="en-US" sz="990" dirty="0"/>
          </a:p>
        </p:txBody>
      </p:sp>
      <p:sp>
        <p:nvSpPr>
          <p:cNvPr id="31" name="s19-texto-30"/>
          <p:cNvSpPr txBox="1"/>
          <p:nvPr/>
        </p:nvSpPr>
        <p:spPr>
          <a:xfrm>
            <a:off x="1542529" y="4633301"/>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for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nombre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ROLES:</a:t>
            </a:r>
            <a:endParaRPr lang="en-US" sz="990" dirty="0"/>
          </a:p>
        </p:txBody>
      </p:sp>
      <p:sp>
        <p:nvSpPr>
          <p:cNvPr id="32" name="s19-texto-31"/>
          <p:cNvSpPr txBox="1"/>
          <p:nvPr/>
        </p:nvSpPr>
        <p:spPr>
          <a:xfrm>
            <a:off x="1542529" y="482183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grafo.add_node(nombre, par(nombre))</a:t>
            </a:r>
            <a:endParaRPr lang="en-US" sz="990" dirty="0"/>
          </a:p>
        </p:txBody>
      </p:sp>
      <p:sp>
        <p:nvSpPr>
          <p:cNvPr id="33" name="s19-forma-32"/>
          <p:cNvSpPr/>
          <p:nvPr/>
        </p:nvSpPr>
        <p:spPr>
          <a:xfrm>
            <a:off x="1451120" y="5010364"/>
            <a:ext cx="5735924" cy="188531"/>
          </a:xfrm>
          <a:prstGeom prst="rect">
            <a:avLst/>
          </a:prstGeom>
          <a:solidFill>
            <a:srgbClr val="DCE3F2"/>
          </a:solidFill>
          <a:ln/>
        </p:spPr>
      </p:sp>
      <p:sp>
        <p:nvSpPr>
          <p:cNvPr id="34" name="s19-forma-33"/>
          <p:cNvSpPr/>
          <p:nvPr/>
        </p:nvSpPr>
        <p:spPr>
          <a:xfrm>
            <a:off x="1451120" y="5010364"/>
            <a:ext cx="22852" cy="188531"/>
          </a:xfrm>
          <a:prstGeom prst="rect">
            <a:avLst/>
          </a:prstGeom>
          <a:solidFill>
            <a:srgbClr val="AC321E"/>
          </a:solidFill>
          <a:ln/>
        </p:spPr>
      </p:sp>
      <p:sp>
        <p:nvSpPr>
          <p:cNvPr id="35" name="s19-texto-34"/>
          <p:cNvSpPr txBox="1"/>
          <p:nvPr/>
        </p:nvSpPr>
        <p:spPr>
          <a:xfrm>
            <a:off x="1542529" y="5010364"/>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START</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"analista"</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la única arista fija</a:t>
            </a:r>
            <a:endParaRPr lang="en-US" sz="990" dirty="0"/>
          </a:p>
        </p:txBody>
      </p:sp>
      <p:sp>
        <p:nvSpPr>
          <p:cNvPr id="36" name="s19-texto-35"/>
          <p:cNvSpPr txBox="1"/>
          <p:nvPr/>
        </p:nvSpPr>
        <p:spPr>
          <a:xfrm>
            <a:off x="7558394" y="2205246"/>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7" name="s19-texto-36"/>
          <p:cNvSpPr txBox="1"/>
          <p:nvPr/>
        </p:nvSpPr>
        <p:spPr>
          <a:xfrm>
            <a:off x="7558394" y="2410916"/>
            <a:ext cx="3488173" cy="587197"/>
          </a:xfrm>
          <a:prstGeom prst="rect">
            <a:avLst/>
          </a:prstGeom>
          <a:noFill/>
          <a:ln/>
        </p:spPr>
        <p:txBody>
          <a:bodyPr wrap="square" lIns="0" tIns="0" rIns="0" bIns="0" rtlCol="0" anchor="t"/>
          <a:lstStyle/>
          <a:p>
            <a:pPr algn="l" indent="0" marL="0">
              <a:lnSpc>
                <a:spcPts val="1637"/>
              </a:lnSpc>
              <a:buNone/>
            </a:pPr>
            <a:r>
              <a:rPr lang="en-US" sz="1170" b="1" dirty="0">
                <a:solidFill>
                  <a:srgbClr val="0033A0"/>
                </a:solidFill>
                <a:latin typeface="Arial" pitchFamily="34" charset="0"/>
                <a:ea typeface="Arial" pitchFamily="34" charset="-122"/>
                <a:cs typeface="Arial" pitchFamily="34" charset="-120"/>
              </a:rPr>
              <a:t>Todos</a:t>
            </a:r>
            <a:pPr algn="l" indent="0" marL="0">
              <a:lnSpc>
                <a:spcPts val="1637"/>
              </a:lnSpc>
              <a:buNone/>
            </a:pPr>
            <a:r>
              <a:rPr lang="en-US" sz="1170" dirty="0">
                <a:solidFill>
                  <a:srgbClr val="16181D"/>
                </a:solidFill>
                <a:latin typeface="Arial" pitchFamily="34" charset="0"/>
                <a:ea typeface="Arial" pitchFamily="34" charset="-122"/>
                <a:cs typeface="Arial" pitchFamily="34" charset="-120"/>
              </a:rPr>
              <a:t> los nodos devuelven Command hacia cualquier otro. Sin aristas fijas, el tope de turnos es obligatorio.</a:t>
            </a:r>
            <a:endParaRPr lang="en-US" sz="1170" dirty="0"/>
          </a:p>
        </p:txBody>
      </p:sp>
      <p:sp>
        <p:nvSpPr>
          <p:cNvPr id="38" name="s19-texto-37"/>
          <p:cNvSpPr txBox="1"/>
          <p:nvPr/>
        </p:nvSpPr>
        <p:spPr>
          <a:xfrm>
            <a:off x="7558394" y="3154598"/>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9" name="s19-texto-38"/>
          <p:cNvSpPr txBox="1"/>
          <p:nvPr/>
        </p:nvSpPr>
        <p:spPr>
          <a:xfrm>
            <a:off x="7558394" y="3360268"/>
            <a:ext cx="3488173"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Supervisor: misma pieza (Command), pero solo en un nodo.</a:t>
            </a:r>
            <a:endParaRPr lang="en-US" sz="1170" dirty="0"/>
          </a:p>
        </p:txBody>
      </p:sp>
      <p:sp>
        <p:nvSpPr>
          <p:cNvPr id="40" name="s19-texto-39"/>
          <p:cNvSpPr txBox="1"/>
          <p:nvPr/>
        </p:nvSpPr>
        <p:spPr>
          <a:xfrm>
            <a:off x="7558394" y="3896047"/>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1" name="s19-forma-40"/>
          <p:cNvSpPr/>
          <p:nvPr/>
        </p:nvSpPr>
        <p:spPr>
          <a:xfrm>
            <a:off x="7558394" y="4084579"/>
            <a:ext cx="3290729" cy="289046"/>
          </a:xfrm>
          <a:prstGeom prst="rect">
            <a:avLst/>
          </a:prstGeom>
          <a:solidFill>
            <a:srgbClr val="E3DCCB"/>
          </a:solidFill>
          <a:ln/>
        </p:spPr>
      </p:sp>
      <p:sp>
        <p:nvSpPr>
          <p:cNvPr id="42" name="s19-texto-41"/>
          <p:cNvSpPr txBox="1"/>
          <p:nvPr/>
        </p:nvSpPr>
        <p:spPr>
          <a:xfrm>
            <a:off x="7649803" y="4164562"/>
            <a:ext cx="3294386" cy="125688"/>
          </a:xfrm>
          <a:prstGeom prst="rect">
            <a:avLst/>
          </a:prstGeom>
          <a:noFill/>
          <a:ln/>
        </p:spPr>
        <p:txBody>
          <a:bodyPr wrap="none" lIns="0" tIns="0" rIns="0" bIns="0" rtlCol="0" anchor="t"/>
          <a:lstStyle/>
          <a:p>
            <a:pPr algn="l" indent="0" marL="0">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ejemplos.s3_topologias.red</a:t>
            </a:r>
            <a:endParaRPr lang="en-US" sz="855" dirty="0"/>
          </a:p>
        </p:txBody>
      </p:sp>
      <p:sp>
        <p:nvSpPr>
          <p:cNvPr id="43" name="s19-forma-42"/>
          <p:cNvSpPr/>
          <p:nvPr/>
        </p:nvSpPr>
        <p:spPr>
          <a:xfrm>
            <a:off x="7558394" y="4510738"/>
            <a:ext cx="3290729" cy="832859"/>
          </a:xfrm>
          <a:prstGeom prst="rect">
            <a:avLst/>
          </a:prstGeom>
          <a:solidFill>
            <a:srgbClr val="E2D3C2"/>
          </a:solidFill>
          <a:ln/>
        </p:spPr>
      </p:sp>
      <p:sp>
        <p:nvSpPr>
          <p:cNvPr id="44" name="s19-texto-43"/>
          <p:cNvSpPr txBox="1"/>
          <p:nvPr/>
        </p:nvSpPr>
        <p:spPr>
          <a:xfrm>
            <a:off x="7695508" y="4624999"/>
            <a:ext cx="3197492"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5" name="s19-texto-44"/>
          <p:cNvSpPr txBox="1"/>
          <p:nvPr/>
        </p:nvSpPr>
        <p:spPr>
          <a:xfrm>
            <a:off x="7695508" y="4830670"/>
            <a:ext cx="3197492"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No la usamos: con pasos conocidos, un grafo fijo es más predecible y barato.</a:t>
            </a:r>
            <a:endParaRPr lang="en-US" sz="1170" dirty="0"/>
          </a:p>
        </p:txBody>
      </p:sp>
      <p:sp>
        <p:nvSpPr>
          <p:cNvPr id="46" name="s19-texto-45"/>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ejemplos/s3_topologias/red.py · las líneas resaltadas son el patrón</a:t>
            </a:r>
            <a:endParaRPr lang="en-US" sz="1080" dirty="0"/>
          </a:p>
        </p:txBody>
      </p:sp>
      <p:sp>
        <p:nvSpPr>
          <p:cNvPr id="47" name="s19-forma-46"/>
          <p:cNvSpPr/>
          <p:nvPr/>
        </p:nvSpPr>
        <p:spPr>
          <a:xfrm>
            <a:off x="853390" y="6411138"/>
            <a:ext cx="10484915" cy="5713"/>
          </a:xfrm>
          <a:prstGeom prst="rect">
            <a:avLst/>
          </a:prstGeom>
          <a:solidFill>
            <a:srgbClr val="DBD4C4"/>
          </a:solidFill>
          <a:ln/>
        </p:spPr>
      </p:sp>
      <p:pic>
        <p:nvPicPr>
          <p:cNvPr id="48" name="s19-logo-47"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9" name="s19-forma-48"/>
          <p:cNvSpPr/>
          <p:nvPr/>
        </p:nvSpPr>
        <p:spPr>
          <a:xfrm>
            <a:off x="1659380" y="6519865"/>
            <a:ext cx="2926878" cy="102835"/>
          </a:xfrm>
          <a:prstGeom prst="rect">
            <a:avLst/>
          </a:prstGeom>
          <a:ln/>
        </p:spPr>
      </p:sp>
      <p:sp>
        <p:nvSpPr>
          <p:cNvPr id="50" name="s19-forma-49"/>
          <p:cNvSpPr/>
          <p:nvPr/>
        </p:nvSpPr>
        <p:spPr>
          <a:xfrm>
            <a:off x="1659380" y="6519865"/>
            <a:ext cx="5713" cy="102835"/>
          </a:xfrm>
          <a:prstGeom prst="rect">
            <a:avLst/>
          </a:prstGeom>
          <a:solidFill>
            <a:srgbClr val="C6BFAE"/>
          </a:solidFill>
          <a:ln/>
        </p:spPr>
      </p:sp>
      <p:sp>
        <p:nvSpPr>
          <p:cNvPr id="51" name="s19-texto-50"/>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52" name="s19-texto-51"/>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19 / 36</a:t>
            </a:r>
            <a:endParaRPr lang="en-US" sz="745" dirty="0"/>
          </a:p>
        </p:txBody>
      </p:sp>
      <p:sp>
        <p:nvSpPr>
          <p:cNvPr id="53" name="s19-forma-52"/>
          <p:cNvSpPr/>
          <p:nvPr/>
        </p:nvSpPr>
        <p:spPr>
          <a:xfrm>
            <a:off x="0" y="0"/>
            <a:ext cx="6434436" cy="17139"/>
          </a:xfrm>
          <a:prstGeom prst="rect">
            <a:avLst/>
          </a:prstGeom>
          <a:solidFill>
            <a:srgbClr val="0033A0"/>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8DC"/>
        </a:solidFill>
      </p:bgPr>
    </p:bg>
    <p:spTree>
      <p:nvGrpSpPr>
        <p:cNvPr id="1" name=""/>
        <p:cNvGrpSpPr/>
        <p:nvPr/>
      </p:nvGrpSpPr>
      <p:grpSpPr>
        <a:xfrm>
          <a:off x="0" y="0"/>
          <a:ext cx="0" cy="0"/>
          <a:chOff x="0" y="0"/>
          <a:chExt cx="0" cy="0"/>
        </a:xfrm>
      </p:grpSpPr>
      <p:sp>
        <p:nvSpPr>
          <p:cNvPr id="2" name="s20-forma-1"/>
          <p:cNvSpPr/>
          <p:nvPr/>
        </p:nvSpPr>
        <p:spPr>
          <a:xfrm>
            <a:off x="853390" y="520961"/>
            <a:ext cx="10484915" cy="5713"/>
          </a:xfrm>
          <a:prstGeom prst="rect">
            <a:avLst/>
          </a:prstGeom>
          <a:solidFill>
            <a:srgbClr val="C6BFAE"/>
          </a:solidFill>
          <a:ln/>
        </p:spPr>
      </p:sp>
      <p:sp>
        <p:nvSpPr>
          <p:cNvPr id="3" name="s20-forma-2"/>
          <p:cNvSpPr/>
          <p:nvPr/>
        </p:nvSpPr>
        <p:spPr>
          <a:xfrm>
            <a:off x="853390" y="331715"/>
            <a:ext cx="81411" cy="81411"/>
          </a:xfrm>
          <a:prstGeom prst="ellipse">
            <a:avLst/>
          </a:prstGeom>
          <a:solidFill>
            <a:srgbClr val="0033A0"/>
          </a:solidFill>
          <a:ln/>
        </p:spPr>
      </p:sp>
      <p:sp>
        <p:nvSpPr>
          <p:cNvPr id="4" name="s20-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0-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20-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LA IDEA</a:t>
            </a:r>
            <a:endParaRPr lang="en-US" sz="900" dirty="0"/>
          </a:p>
        </p:txBody>
      </p:sp>
      <p:sp>
        <p:nvSpPr>
          <p:cNvPr id="7" name="s20-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Pizarra: un espacio de trabajo compartido</a:t>
            </a:r>
            <a:endParaRPr lang="en-US" sz="2879" dirty="0"/>
          </a:p>
        </p:txBody>
      </p:sp>
      <p:sp>
        <p:nvSpPr>
          <p:cNvPr id="8" name="s20-forma-7"/>
          <p:cNvSpPr/>
          <p:nvPr/>
        </p:nvSpPr>
        <p:spPr>
          <a:xfrm>
            <a:off x="1342572" y="2228098"/>
            <a:ext cx="4341935" cy="884276"/>
          </a:xfrm>
          <a:prstGeom prst="rect">
            <a:avLst/>
          </a:prstGeom>
          <a:solidFill>
            <a:srgbClr val="E3DCCB"/>
          </a:solidFill>
          <a:ln w="5713">
            <a:solidFill>
              <a:srgbClr val="585E6F"/>
            </a:solidFill>
            <a:prstDash val="dash"/>
          </a:ln>
        </p:spPr>
      </p:sp>
      <p:sp>
        <p:nvSpPr>
          <p:cNvPr id="9" name="s20-texto-8"/>
          <p:cNvSpPr txBox="1"/>
          <p:nvPr/>
        </p:nvSpPr>
        <p:spPr>
          <a:xfrm>
            <a:off x="1576808" y="234807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Mensajes directos</a:t>
            </a:r>
            <a:endParaRPr lang="en-US" sz="1260" dirty="0"/>
          </a:p>
        </p:txBody>
      </p:sp>
      <p:sp>
        <p:nvSpPr>
          <p:cNvPr id="10" name="s20-texto-9"/>
          <p:cNvSpPr txBox="1"/>
          <p:nvPr/>
        </p:nvSpPr>
        <p:spPr>
          <a:xfrm>
            <a:off x="1576808" y="2593735"/>
            <a:ext cx="4105870" cy="379294"/>
          </a:xfrm>
          <a:prstGeom prst="rect">
            <a:avLst/>
          </a:prstGeom>
          <a:noFill/>
          <a:ln/>
        </p:spPr>
        <p:txBody>
          <a:bodyPr wrap="squar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Cada agente debe saber a quién avisar: agregar uno nuevo obliga a cambiar a los demás.</a:t>
            </a:r>
            <a:endParaRPr lang="en-US" sz="1170" dirty="0"/>
          </a:p>
        </p:txBody>
      </p:sp>
      <p:sp>
        <p:nvSpPr>
          <p:cNvPr id="11" name="s20-forma-10"/>
          <p:cNvSpPr/>
          <p:nvPr/>
        </p:nvSpPr>
        <p:spPr>
          <a:xfrm>
            <a:off x="1342572" y="3249488"/>
            <a:ext cx="4341935" cy="676374"/>
          </a:xfrm>
          <a:prstGeom prst="rect">
            <a:avLst/>
          </a:prstGeom>
          <a:solidFill>
            <a:srgbClr val="E3DCCB"/>
          </a:solidFill>
          <a:ln w="5713">
            <a:solidFill>
              <a:srgbClr val="585E6F"/>
            </a:solidFill>
            <a:prstDash val="dash"/>
          </a:ln>
        </p:spPr>
      </p:sp>
      <p:sp>
        <p:nvSpPr>
          <p:cNvPr id="12" name="s20-texto-11"/>
          <p:cNvSpPr txBox="1"/>
          <p:nvPr/>
        </p:nvSpPr>
        <p:spPr>
          <a:xfrm>
            <a:off x="1576808" y="3369463"/>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Un supervisor</a:t>
            </a:r>
            <a:endParaRPr lang="en-US" sz="1260" dirty="0"/>
          </a:p>
        </p:txBody>
      </p:sp>
      <p:sp>
        <p:nvSpPr>
          <p:cNvPr id="13" name="s20-texto-12"/>
          <p:cNvSpPr txBox="1"/>
          <p:nvPr/>
        </p:nvSpPr>
        <p:spPr>
          <a:xfrm>
            <a:off x="1576808" y="3615125"/>
            <a:ext cx="4105870" cy="171392"/>
          </a:xfrm>
          <a:prstGeom prst="rect">
            <a:avLst/>
          </a:prstGeom>
          <a:noFill/>
          <a:ln/>
        </p:spPr>
        <p:txBody>
          <a:bodyPr wrap="none" lIns="0" tIns="0" rIns="0" bIns="0" rtlCol="0" anchor="t"/>
          <a:lstStyle/>
          <a:p>
            <a:pPr algn="l" indent="0" marL="0">
              <a:lnSpc>
                <a:spcPts val="1637"/>
              </a:lnSpc>
              <a:buNone/>
            </a:pPr>
            <a:r>
              <a:rPr lang="en-US" sz="1170" dirty="0">
                <a:solidFill>
                  <a:srgbClr val="585E6F"/>
                </a:solidFill>
                <a:latin typeface="Arial" pitchFamily="34" charset="0"/>
                <a:ea typeface="Arial" pitchFamily="34" charset="-122"/>
                <a:cs typeface="Arial" pitchFamily="34" charset="-120"/>
              </a:rPr>
              <a:t>Alguien tiene que decidir, en cada paso, quién sigue.</a:t>
            </a:r>
            <a:endParaRPr lang="en-US" sz="1170" dirty="0"/>
          </a:p>
        </p:txBody>
      </p:sp>
      <p:sp>
        <p:nvSpPr>
          <p:cNvPr id="14" name="s20-forma-13"/>
          <p:cNvSpPr/>
          <p:nvPr/>
        </p:nvSpPr>
        <p:spPr>
          <a:xfrm>
            <a:off x="1342572" y="4062976"/>
            <a:ext cx="4341935" cy="1092179"/>
          </a:xfrm>
          <a:prstGeom prst="rect">
            <a:avLst/>
          </a:prstGeom>
          <a:solidFill>
            <a:srgbClr val="E2D3C2"/>
          </a:solidFill>
          <a:ln w="5713">
            <a:solidFill>
              <a:srgbClr val="984514"/>
            </a:solidFill>
            <a:prstDash val="solid"/>
          </a:ln>
        </p:spPr>
      </p:sp>
      <p:sp>
        <p:nvSpPr>
          <p:cNvPr id="15" name="s20-texto-14"/>
          <p:cNvSpPr txBox="1"/>
          <p:nvPr/>
        </p:nvSpPr>
        <p:spPr>
          <a:xfrm>
            <a:off x="1576808" y="4182950"/>
            <a:ext cx="4105870" cy="177105"/>
          </a:xfrm>
          <a:prstGeom prst="rect">
            <a:avLst/>
          </a:prstGeom>
          <a:noFill/>
          <a:ln/>
        </p:spPr>
        <p:txBody>
          <a:bodyPr wrap="none" lIns="0" tIns="0" rIns="0" bIns="0" rtlCol="0" anchor="t"/>
          <a:lstStyle/>
          <a:p>
            <a:pPr algn="l" indent="0" marL="0">
              <a:lnSpc>
                <a:spcPts val="1512"/>
              </a:lnSpc>
              <a:buNone/>
            </a:pPr>
            <a:r>
              <a:rPr lang="en-US" sz="1260" b="1" dirty="0">
                <a:solidFill>
                  <a:srgbClr val="16181D"/>
                </a:solidFill>
                <a:latin typeface="Arial" pitchFamily="34" charset="0"/>
                <a:ea typeface="Arial" pitchFamily="34" charset="-122"/>
                <a:cs typeface="Arial" pitchFamily="34" charset="-120"/>
              </a:rPr>
              <a:t>Pizarra</a:t>
            </a:r>
            <a:endParaRPr lang="en-US" sz="1260" dirty="0"/>
          </a:p>
        </p:txBody>
      </p:sp>
      <p:sp>
        <p:nvSpPr>
          <p:cNvPr id="16" name="s20-texto-15"/>
          <p:cNvSpPr txBox="1"/>
          <p:nvPr/>
        </p:nvSpPr>
        <p:spPr>
          <a:xfrm>
            <a:off x="1576808" y="4428613"/>
            <a:ext cx="4105870" cy="587197"/>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Los agentes leen y escriben en un espacio común; un controlador activa al agente cuya entrada ya está disponible.</a:t>
            </a:r>
            <a:endParaRPr lang="en-US" sz="1170" dirty="0"/>
          </a:p>
        </p:txBody>
      </p:sp>
      <p:sp>
        <p:nvSpPr>
          <p:cNvPr id="17" name="s20-forma-16"/>
          <p:cNvSpPr/>
          <p:nvPr/>
        </p:nvSpPr>
        <p:spPr>
          <a:xfrm>
            <a:off x="6095848" y="2228098"/>
            <a:ext cx="4753276" cy="1610908"/>
          </a:xfrm>
          <a:prstGeom prst="rect">
            <a:avLst/>
          </a:prstGeom>
          <a:solidFill>
            <a:srgbClr val="E8E2D5"/>
          </a:solidFill>
          <a:ln/>
        </p:spPr>
      </p:sp>
      <p:sp>
        <p:nvSpPr>
          <p:cNvPr id="18" name="s20-forma-17"/>
          <p:cNvSpPr/>
          <p:nvPr/>
        </p:nvSpPr>
        <p:spPr>
          <a:xfrm>
            <a:off x="6095848" y="2228098"/>
            <a:ext cx="4753276" cy="5713"/>
          </a:xfrm>
          <a:prstGeom prst="rect">
            <a:avLst/>
          </a:prstGeom>
          <a:solidFill>
            <a:srgbClr val="DBD4C4"/>
          </a:solidFill>
          <a:ln/>
        </p:spPr>
      </p:sp>
      <p:sp>
        <p:nvSpPr>
          <p:cNvPr id="19" name="s20-forma-18"/>
          <p:cNvSpPr/>
          <p:nvPr/>
        </p:nvSpPr>
        <p:spPr>
          <a:xfrm>
            <a:off x="6095848" y="3833293"/>
            <a:ext cx="4753276" cy="5713"/>
          </a:xfrm>
          <a:prstGeom prst="rect">
            <a:avLst/>
          </a:prstGeom>
          <a:solidFill>
            <a:srgbClr val="DBD4C4"/>
          </a:solidFill>
          <a:ln/>
        </p:spPr>
      </p:sp>
      <p:sp>
        <p:nvSpPr>
          <p:cNvPr id="20" name="s20-forma-19"/>
          <p:cNvSpPr/>
          <p:nvPr/>
        </p:nvSpPr>
        <p:spPr>
          <a:xfrm>
            <a:off x="6095848" y="2228098"/>
            <a:ext cx="17139" cy="1610908"/>
          </a:xfrm>
          <a:prstGeom prst="rect">
            <a:avLst/>
          </a:prstGeom>
          <a:solidFill>
            <a:srgbClr val="C6BFAE"/>
          </a:solidFill>
          <a:ln/>
        </p:spPr>
      </p:sp>
      <p:sp>
        <p:nvSpPr>
          <p:cNvPr id="21" name="s20-forma-20"/>
          <p:cNvSpPr/>
          <p:nvPr/>
        </p:nvSpPr>
        <p:spPr>
          <a:xfrm>
            <a:off x="10843410" y="2228098"/>
            <a:ext cx="5713" cy="1610908"/>
          </a:xfrm>
          <a:prstGeom prst="rect">
            <a:avLst/>
          </a:prstGeom>
          <a:solidFill>
            <a:srgbClr val="DBD4C4"/>
          </a:solidFill>
          <a:ln/>
        </p:spPr>
      </p:sp>
      <p:sp>
        <p:nvSpPr>
          <p:cNvPr id="22" name="s20-texto-21"/>
          <p:cNvSpPr txBox="1"/>
          <p:nvPr/>
        </p:nvSpPr>
        <p:spPr>
          <a:xfrm>
            <a:off x="6295805" y="2410916"/>
            <a:ext cx="4626674" cy="154253"/>
          </a:xfrm>
          <a:prstGeom prst="rect">
            <a:avLst/>
          </a:prstGeom>
          <a:noFill/>
          <a:ln/>
        </p:spPr>
        <p:txBody>
          <a:bodyPr wrap="none" lIns="0" tIns="0" rIns="0" bIns="0" rtlCol="0" anchor="t"/>
          <a:lstStyle/>
          <a:p>
            <a:pPr algn="l" indent="0" marL="0">
              <a:lnSpc>
                <a:spcPts val="1512"/>
              </a:lnSpc>
              <a:buNone/>
            </a:pPr>
            <a:r>
              <a:rPr lang="en-US" sz="1080" dirty="0">
                <a:solidFill>
                  <a:srgbClr val="585E6F"/>
                </a:solidFill>
                <a:latin typeface="Arial" pitchFamily="34" charset="0"/>
                <a:ea typeface="Arial" pitchFamily="34" charset="-122"/>
                <a:cs typeface="Arial" pitchFamily="34" charset="-120"/>
              </a:rPr>
              <a:t>Pizarra: historia ✓ · criterios — · casos — · código —</a:t>
            </a:r>
            <a:endParaRPr lang="en-US" sz="1080" dirty="0"/>
          </a:p>
        </p:txBody>
      </p:sp>
      <p:sp>
        <p:nvSpPr>
          <p:cNvPr id="23" name="s20-texto-22"/>
          <p:cNvSpPr txBox="1"/>
          <p:nvPr/>
        </p:nvSpPr>
        <p:spPr>
          <a:xfrm>
            <a:off x="6295805" y="2682823"/>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AC321E"/>
                </a:solidFill>
                <a:latin typeface="Arial" pitchFamily="34" charset="0"/>
                <a:ea typeface="Arial" pitchFamily="34" charset="-122"/>
                <a:cs typeface="Arial" pitchFamily="34" charset="-120"/>
              </a:rPr>
              <a:t>Controlador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hay historia y faltan criterios → Analista</a:t>
            </a:r>
            <a:endParaRPr lang="en-US" sz="1080" dirty="0"/>
          </a:p>
        </p:txBody>
      </p:sp>
      <p:sp>
        <p:nvSpPr>
          <p:cNvPr id="24" name="s20-texto-23"/>
          <p:cNvSpPr txBox="1"/>
          <p:nvPr/>
        </p:nvSpPr>
        <p:spPr>
          <a:xfrm>
            <a:off x="6295805" y="2954729"/>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1B6A43"/>
                </a:solidFill>
                <a:latin typeface="Arial" pitchFamily="34" charset="0"/>
                <a:ea typeface="Arial" pitchFamily="34" charset="-122"/>
                <a:cs typeface="Arial" pitchFamily="34" charset="-120"/>
              </a:rPr>
              <a:t>Pizarra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criterios ✓ → el Diseñador ya puede trabajar</a:t>
            </a:r>
            <a:endParaRPr lang="en-US" sz="1080" dirty="0"/>
          </a:p>
        </p:txBody>
      </p:sp>
      <p:sp>
        <p:nvSpPr>
          <p:cNvPr id="25" name="s20-texto-24"/>
          <p:cNvSpPr txBox="1"/>
          <p:nvPr/>
        </p:nvSpPr>
        <p:spPr>
          <a:xfrm>
            <a:off x="6295805" y="3226636"/>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1B6A43"/>
                </a:solidFill>
                <a:latin typeface="Arial" pitchFamily="34" charset="0"/>
                <a:ea typeface="Arial" pitchFamily="34" charset="-122"/>
                <a:cs typeface="Arial" pitchFamily="34" charset="-120"/>
              </a:rPr>
              <a:t>Pizarra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casos ✓ → el Desarrollador ya puede trabajar</a:t>
            </a:r>
            <a:endParaRPr lang="en-US" sz="1080" dirty="0"/>
          </a:p>
        </p:txBody>
      </p:sp>
      <p:sp>
        <p:nvSpPr>
          <p:cNvPr id="26" name="s20-texto-25"/>
          <p:cNvSpPr txBox="1"/>
          <p:nvPr/>
        </p:nvSpPr>
        <p:spPr>
          <a:xfrm>
            <a:off x="6295805" y="3498542"/>
            <a:ext cx="4626674" cy="154253"/>
          </a:xfrm>
          <a:prstGeom prst="rect">
            <a:avLst/>
          </a:prstGeom>
          <a:noFill/>
          <a:ln/>
        </p:spPr>
        <p:txBody>
          <a:bodyPr wrap="none" lIns="0" tIns="0" rIns="0" bIns="0" rtlCol="0" anchor="t"/>
          <a:lstStyle/>
          <a:p>
            <a:pPr algn="l" indent="0" marL="0">
              <a:lnSpc>
                <a:spcPts val="1512"/>
              </a:lnSpc>
              <a:buNone/>
            </a:pPr>
            <a:r>
              <a:rPr lang="en-US" sz="1080" b="1" dirty="0">
                <a:solidFill>
                  <a:srgbClr val="16181D"/>
                </a:solidFill>
                <a:latin typeface="Arial" pitchFamily="34" charset="0"/>
                <a:ea typeface="Arial" pitchFamily="34" charset="-122"/>
                <a:cs typeface="Arial" pitchFamily="34" charset="-120"/>
              </a:rPr>
              <a:t>Pizarra ·</a:t>
            </a:r>
            <a:pPr algn="l" indent="0" marL="0">
              <a:lnSpc>
                <a:spcPts val="1512"/>
              </a:lnSpc>
              <a:buNone/>
            </a:pPr>
            <a:r>
              <a:rPr lang="en-US" sz="1080" dirty="0">
                <a:solidFill>
                  <a:srgbClr val="16181D"/>
                </a:solidFill>
                <a:latin typeface="Arial" pitchFamily="34" charset="0"/>
                <a:ea typeface="Arial" pitchFamily="34" charset="-122"/>
                <a:cs typeface="Arial" pitchFamily="34" charset="-120"/>
              </a:rPr>
              <a:t> todo ✓ → terminado</a:t>
            </a:r>
            <a:endParaRPr lang="en-US" sz="1080" dirty="0"/>
          </a:p>
        </p:txBody>
      </p:sp>
      <p:sp>
        <p:nvSpPr>
          <p:cNvPr id="27" name="s20-texto-26"/>
          <p:cNvSpPr txBox="1"/>
          <p:nvPr/>
        </p:nvSpPr>
        <p:spPr>
          <a:xfrm>
            <a:off x="6095848" y="4016111"/>
            <a:ext cx="5038472" cy="346176"/>
          </a:xfrm>
          <a:prstGeom prst="rect">
            <a:avLst/>
          </a:prstGeom>
          <a:noFill/>
          <a:ln/>
        </p:spPr>
        <p:txBody>
          <a:bodyPr wrap="square" lIns="0" tIns="0" rIns="0" bIns="0" rtlCol="0" anchor="t"/>
          <a:lstStyle/>
          <a:p>
            <a:pPr algn="l" indent="0" marL="0">
              <a:lnSpc>
                <a:spcPts val="1512"/>
              </a:lnSpc>
              <a:buNone/>
            </a:pPr>
            <a:r>
              <a:rPr lang="en-US" sz="1080" dirty="0">
                <a:solidFill>
                  <a:srgbClr val="585E6F"/>
                </a:solidFill>
                <a:latin typeface="Arial" pitchFamily="34" charset="0"/>
                <a:ea typeface="Arial" pitchFamily="34" charset="-122"/>
                <a:cs typeface="Arial" pitchFamily="34" charset="-120"/>
              </a:rPr>
              <a:t>Desacopla a los agentes; hay que definir quién escribe cada campo para que no se pisen.</a:t>
            </a:r>
            <a:endParaRPr lang="en-US" sz="1080" dirty="0"/>
          </a:p>
        </p:txBody>
      </p:sp>
      <p:sp>
        <p:nvSpPr>
          <p:cNvPr id="28" name="s20-texto-27"/>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 · LangGraph, documentación de sistemas multi-agente · Erman et al., Hearsay-II (1980)</a:t>
            </a:r>
            <a:endParaRPr lang="en-US" sz="1080" dirty="0"/>
          </a:p>
        </p:txBody>
      </p:sp>
      <p:sp>
        <p:nvSpPr>
          <p:cNvPr id="29" name="s20-forma-28"/>
          <p:cNvSpPr/>
          <p:nvPr/>
        </p:nvSpPr>
        <p:spPr>
          <a:xfrm>
            <a:off x="853390" y="6411138"/>
            <a:ext cx="10484915" cy="5713"/>
          </a:xfrm>
          <a:prstGeom prst="rect">
            <a:avLst/>
          </a:prstGeom>
          <a:solidFill>
            <a:srgbClr val="DBD4C4"/>
          </a:solidFill>
          <a:ln/>
        </p:spPr>
      </p:sp>
      <p:pic>
        <p:nvPicPr>
          <p:cNvPr id="30" name="s20-logo-29"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31" name="s20-forma-30"/>
          <p:cNvSpPr/>
          <p:nvPr/>
        </p:nvSpPr>
        <p:spPr>
          <a:xfrm>
            <a:off x="1659380" y="6519865"/>
            <a:ext cx="2926878" cy="102835"/>
          </a:xfrm>
          <a:prstGeom prst="rect">
            <a:avLst/>
          </a:prstGeom>
          <a:ln/>
        </p:spPr>
      </p:sp>
      <p:sp>
        <p:nvSpPr>
          <p:cNvPr id="32" name="s20-forma-31"/>
          <p:cNvSpPr/>
          <p:nvPr/>
        </p:nvSpPr>
        <p:spPr>
          <a:xfrm>
            <a:off x="1659380" y="6519865"/>
            <a:ext cx="5713" cy="102835"/>
          </a:xfrm>
          <a:prstGeom prst="rect">
            <a:avLst/>
          </a:prstGeom>
          <a:solidFill>
            <a:srgbClr val="C6BFAE"/>
          </a:solidFill>
          <a:ln/>
        </p:spPr>
      </p:sp>
      <p:sp>
        <p:nvSpPr>
          <p:cNvPr id="33" name="s20-texto-32"/>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4" name="s20-texto-33"/>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20 / 36</a:t>
            </a:r>
            <a:endParaRPr lang="en-US" sz="745" dirty="0"/>
          </a:p>
        </p:txBody>
      </p:sp>
      <p:sp>
        <p:nvSpPr>
          <p:cNvPr id="35" name="s20-forma-34"/>
          <p:cNvSpPr/>
          <p:nvPr/>
        </p:nvSpPr>
        <p:spPr>
          <a:xfrm>
            <a:off x="0" y="0"/>
            <a:ext cx="6773114" cy="17139"/>
          </a:xfrm>
          <a:prstGeom prst="rect">
            <a:avLst/>
          </a:prstGeom>
          <a:solidFill>
            <a:srgbClr val="0033A0"/>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E8DC"/>
        </a:solidFill>
      </p:bgPr>
    </p:bg>
    <p:spTree>
      <p:nvGrpSpPr>
        <p:cNvPr id="1" name=""/>
        <p:cNvGrpSpPr/>
        <p:nvPr/>
      </p:nvGrpSpPr>
      <p:grpSpPr>
        <a:xfrm>
          <a:off x="0" y="0"/>
          <a:ext cx="0" cy="0"/>
          <a:chOff x="0" y="0"/>
          <a:chExt cx="0" cy="0"/>
        </a:xfrm>
      </p:grpSpPr>
      <p:sp>
        <p:nvSpPr>
          <p:cNvPr id="2" name="s21-forma-1"/>
          <p:cNvSpPr/>
          <p:nvPr/>
        </p:nvSpPr>
        <p:spPr>
          <a:xfrm>
            <a:off x="853390" y="520961"/>
            <a:ext cx="10484915" cy="5713"/>
          </a:xfrm>
          <a:prstGeom prst="rect">
            <a:avLst/>
          </a:prstGeom>
          <a:solidFill>
            <a:srgbClr val="C6BFAE"/>
          </a:solidFill>
          <a:ln/>
        </p:spPr>
      </p:sp>
      <p:sp>
        <p:nvSpPr>
          <p:cNvPr id="3" name="s21-forma-2"/>
          <p:cNvSpPr/>
          <p:nvPr/>
        </p:nvSpPr>
        <p:spPr>
          <a:xfrm>
            <a:off x="853390" y="331715"/>
            <a:ext cx="81411" cy="81411"/>
          </a:xfrm>
          <a:prstGeom prst="ellipse">
            <a:avLst/>
          </a:prstGeom>
          <a:solidFill>
            <a:srgbClr val="0033A0"/>
          </a:solidFill>
          <a:ln/>
        </p:spPr>
      </p:sp>
      <p:sp>
        <p:nvSpPr>
          <p:cNvPr id="4" name="s21-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1-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21-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MULTI-AGENTE · 5 DE 5</a:t>
            </a:r>
            <a:endParaRPr lang="en-US" sz="900" dirty="0"/>
          </a:p>
        </p:txBody>
      </p:sp>
      <p:sp>
        <p:nvSpPr>
          <p:cNvPr id="7" name="s21-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Pizarra: un estado compartido</a:t>
            </a:r>
            <a:endParaRPr lang="en-US" sz="2879" dirty="0"/>
          </a:p>
        </p:txBody>
      </p:sp>
      <p:sp>
        <p:nvSpPr>
          <p:cNvPr id="8" name="s21-forma-7"/>
          <p:cNvSpPr/>
          <p:nvPr/>
        </p:nvSpPr>
        <p:spPr>
          <a:xfrm>
            <a:off x="2713709" y="3142189"/>
            <a:ext cx="2285229" cy="742699"/>
          </a:xfrm>
          <a:prstGeom prst="rect">
            <a:avLst/>
          </a:prstGeom>
          <a:solidFill>
            <a:srgbClr val="DCE3F2"/>
          </a:solidFill>
          <a:ln w="5713">
            <a:solidFill>
              <a:srgbClr val="0033A0"/>
            </a:solidFill>
            <a:prstDash val="solid"/>
          </a:ln>
        </p:spPr>
      </p:sp>
      <p:sp>
        <p:nvSpPr>
          <p:cNvPr id="9" name="s21-texto-8"/>
          <p:cNvSpPr txBox="1"/>
          <p:nvPr/>
        </p:nvSpPr>
        <p:spPr>
          <a:xfrm>
            <a:off x="3566653" y="3330721"/>
            <a:ext cx="579341"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Pizarra</a:t>
            </a:r>
            <a:endParaRPr lang="en-US" sz="1260" dirty="0"/>
          </a:p>
        </p:txBody>
      </p:sp>
      <p:sp>
        <p:nvSpPr>
          <p:cNvPr id="10" name="s21-texto-9"/>
          <p:cNvSpPr txBox="1"/>
          <p:nvPr/>
        </p:nvSpPr>
        <p:spPr>
          <a:xfrm>
            <a:off x="2850767" y="3536391"/>
            <a:ext cx="2011112"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criterios · casos · plan · errores</a:t>
            </a:r>
            <a:endParaRPr lang="en-US" sz="1080" dirty="0"/>
          </a:p>
        </p:txBody>
      </p:sp>
      <p:sp>
        <p:nvSpPr>
          <p:cNvPr id="11" name="s21-forma-10"/>
          <p:cNvSpPr/>
          <p:nvPr/>
        </p:nvSpPr>
        <p:spPr>
          <a:xfrm>
            <a:off x="1342572" y="2228098"/>
            <a:ext cx="1256876" cy="514176"/>
          </a:xfrm>
          <a:prstGeom prst="rect">
            <a:avLst/>
          </a:prstGeom>
          <a:solidFill>
            <a:srgbClr val="E3DCCB"/>
          </a:solidFill>
          <a:ln w="5713">
            <a:solidFill>
              <a:srgbClr val="585E6F"/>
            </a:solidFill>
            <a:prstDash val="solid"/>
          </a:ln>
        </p:spPr>
      </p:sp>
      <p:sp>
        <p:nvSpPr>
          <p:cNvPr id="12" name="s21-texto-11"/>
          <p:cNvSpPr txBox="1"/>
          <p:nvPr/>
        </p:nvSpPr>
        <p:spPr>
          <a:xfrm>
            <a:off x="1636974" y="2393777"/>
            <a:ext cx="668072"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Analista</a:t>
            </a:r>
            <a:endParaRPr lang="en-US" sz="1260" dirty="0"/>
          </a:p>
        </p:txBody>
      </p:sp>
      <p:sp>
        <p:nvSpPr>
          <p:cNvPr id="13" name="s21-forma-12"/>
          <p:cNvSpPr/>
          <p:nvPr/>
        </p:nvSpPr>
        <p:spPr>
          <a:xfrm>
            <a:off x="5570245" y="2228098"/>
            <a:ext cx="1256876" cy="514176"/>
          </a:xfrm>
          <a:prstGeom prst="rect">
            <a:avLst/>
          </a:prstGeom>
          <a:solidFill>
            <a:srgbClr val="E3DCCB"/>
          </a:solidFill>
          <a:ln w="5713">
            <a:solidFill>
              <a:srgbClr val="585E6F"/>
            </a:solidFill>
            <a:prstDash val="solid"/>
          </a:ln>
        </p:spPr>
      </p:sp>
      <p:sp>
        <p:nvSpPr>
          <p:cNvPr id="14" name="s21-texto-13"/>
          <p:cNvSpPr txBox="1"/>
          <p:nvPr/>
        </p:nvSpPr>
        <p:spPr>
          <a:xfrm>
            <a:off x="5784046" y="2393777"/>
            <a:ext cx="829274"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Diseñador</a:t>
            </a:r>
            <a:endParaRPr lang="en-US" sz="1260" dirty="0"/>
          </a:p>
        </p:txBody>
      </p:sp>
      <p:sp>
        <p:nvSpPr>
          <p:cNvPr id="15" name="s21-forma-14"/>
          <p:cNvSpPr/>
          <p:nvPr/>
        </p:nvSpPr>
        <p:spPr>
          <a:xfrm>
            <a:off x="1342572" y="4399065"/>
            <a:ext cx="1256876" cy="514176"/>
          </a:xfrm>
          <a:prstGeom prst="rect">
            <a:avLst/>
          </a:prstGeom>
          <a:solidFill>
            <a:srgbClr val="E3DCCB"/>
          </a:solidFill>
          <a:ln w="5713">
            <a:solidFill>
              <a:srgbClr val="585E6F"/>
            </a:solidFill>
            <a:prstDash val="solid"/>
          </a:ln>
        </p:spPr>
      </p:sp>
      <p:sp>
        <p:nvSpPr>
          <p:cNvPr id="16" name="s21-texto-15"/>
          <p:cNvSpPr txBox="1"/>
          <p:nvPr/>
        </p:nvSpPr>
        <p:spPr>
          <a:xfrm>
            <a:off x="1419646" y="4564744"/>
            <a:ext cx="1102639"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Desarrollador</a:t>
            </a:r>
            <a:endParaRPr lang="en-US" sz="1260" dirty="0"/>
          </a:p>
        </p:txBody>
      </p:sp>
      <p:sp>
        <p:nvSpPr>
          <p:cNvPr id="17" name="s21-forma-16"/>
          <p:cNvSpPr/>
          <p:nvPr/>
        </p:nvSpPr>
        <p:spPr>
          <a:xfrm>
            <a:off x="5570245" y="4399065"/>
            <a:ext cx="1256876" cy="514176"/>
          </a:xfrm>
          <a:prstGeom prst="rect">
            <a:avLst/>
          </a:prstGeom>
          <a:solidFill>
            <a:srgbClr val="E3DCCB"/>
          </a:solidFill>
          <a:ln w="5713">
            <a:solidFill>
              <a:srgbClr val="585E6F"/>
            </a:solidFill>
            <a:prstDash val="solid"/>
          </a:ln>
        </p:spPr>
      </p:sp>
      <p:sp>
        <p:nvSpPr>
          <p:cNvPr id="18" name="s21-texto-17"/>
          <p:cNvSpPr txBox="1"/>
          <p:nvPr/>
        </p:nvSpPr>
        <p:spPr>
          <a:xfrm>
            <a:off x="5605209" y="4564744"/>
            <a:ext cx="1186948"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Automatizador</a:t>
            </a:r>
            <a:endParaRPr lang="en-US" sz="1260" dirty="0"/>
          </a:p>
        </p:txBody>
      </p:sp>
      <p:sp>
        <p:nvSpPr>
          <p:cNvPr id="19" name="s21-texto-18"/>
          <p:cNvSpPr txBox="1"/>
          <p:nvPr/>
        </p:nvSpPr>
        <p:spPr>
          <a:xfrm>
            <a:off x="1178035" y="5141765"/>
            <a:ext cx="5813622" cy="154253"/>
          </a:xfrm>
          <a:prstGeom prst="rect">
            <a:avLst/>
          </a:prstGeom>
          <a:noFill/>
          <a:ln/>
        </p:spPr>
        <p:txBody>
          <a:bodyPr wrap="none" lIns="0" tIns="0" rIns="0" bIns="0" rtlCol="0" anchor="t"/>
          <a:lstStyle/>
          <a:p>
            <a:pPr algn="ctr" indent="0" marL="0">
              <a:lnSpc>
                <a:spcPts val="1296"/>
              </a:lnSpc>
              <a:buNone/>
            </a:pPr>
            <a:r>
              <a:rPr lang="en-US" sz="1080" dirty="0">
                <a:solidFill>
                  <a:srgbClr val="984514"/>
                </a:solidFill>
                <a:latin typeface="Arial" pitchFamily="34" charset="0"/>
                <a:ea typeface="Arial" pitchFamily="34" charset="-122"/>
                <a:cs typeface="Arial" pitchFamily="34" charset="-120"/>
              </a:rPr>
              <a:t>Los agentes no se hablan: leen y escriben en la pizarra</a:t>
            </a:r>
            <a:endParaRPr lang="en-US" sz="1080" dirty="0"/>
          </a:p>
        </p:txBody>
      </p:sp>
      <p:sp>
        <p:nvSpPr>
          <p:cNvPr id="20" name="s21-texto-19"/>
          <p:cNvSpPr txBox="1"/>
          <p:nvPr/>
        </p:nvSpPr>
        <p:spPr>
          <a:xfrm>
            <a:off x="7284167" y="2228098"/>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1" name="s21-texto-20"/>
          <p:cNvSpPr txBox="1"/>
          <p:nvPr/>
        </p:nvSpPr>
        <p:spPr>
          <a:xfrm>
            <a:off x="7284167" y="2428056"/>
            <a:ext cx="3778854" cy="624867"/>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Los agentes leen y escriben en un espacio compartido; cada uno actúa cuando hay algo que le toca.</a:t>
            </a:r>
            <a:endParaRPr lang="en-US" sz="1260" dirty="0"/>
          </a:p>
        </p:txBody>
      </p:sp>
      <p:sp>
        <p:nvSpPr>
          <p:cNvPr id="22" name="s21-texto-21"/>
          <p:cNvSpPr txBox="1"/>
          <p:nvPr/>
        </p:nvSpPr>
        <p:spPr>
          <a:xfrm>
            <a:off x="7284167" y="3236812"/>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3" name="s21-texto-22"/>
          <p:cNvSpPr txBox="1"/>
          <p:nvPr/>
        </p:nvSpPr>
        <p:spPr>
          <a:xfrm>
            <a:off x="7284167" y="3436770"/>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Desacopla a los agentes; hay que controlar quién escribe qué para no pisarse.</a:t>
            </a:r>
            <a:endParaRPr lang="en-US" sz="1260" dirty="0"/>
          </a:p>
        </p:txBody>
      </p:sp>
      <p:sp>
        <p:nvSpPr>
          <p:cNvPr id="24" name="s21-forma-23"/>
          <p:cNvSpPr/>
          <p:nvPr/>
        </p:nvSpPr>
        <p:spPr>
          <a:xfrm>
            <a:off x="7284167" y="4021645"/>
            <a:ext cx="3564957" cy="899095"/>
          </a:xfrm>
          <a:prstGeom prst="rect">
            <a:avLst/>
          </a:prstGeom>
          <a:solidFill>
            <a:srgbClr val="E2D3C2"/>
          </a:solidFill>
          <a:ln/>
        </p:spPr>
      </p:sp>
      <p:sp>
        <p:nvSpPr>
          <p:cNvPr id="25" name="s21-texto-24"/>
          <p:cNvSpPr txBox="1"/>
          <p:nvPr/>
        </p:nvSpPr>
        <p:spPr>
          <a:xfrm>
            <a:off x="7421280" y="4158759"/>
            <a:ext cx="3488173"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6" name="s21-texto-25"/>
          <p:cNvSpPr txBox="1"/>
          <p:nvPr/>
        </p:nvSpPr>
        <p:spPr>
          <a:xfrm>
            <a:off x="7421280" y="4358717"/>
            <a:ext cx="3488173"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El estado de LangGraph es tu pizarra, y también la carpeta salida/HU-xx.</a:t>
            </a:r>
            <a:endParaRPr lang="en-US" sz="1260" dirty="0"/>
          </a:p>
        </p:txBody>
      </p:sp>
      <p:sp>
        <p:nvSpPr>
          <p:cNvPr id="27" name="s21-texto-26"/>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Topologías</a:t>
            </a:r>
            <a:endParaRPr lang="en-US" sz="1080" dirty="0"/>
          </a:p>
        </p:txBody>
      </p:sp>
      <p:sp>
        <p:nvSpPr>
          <p:cNvPr id="28" name="s21-linea-27-0"/>
          <p:cNvSpPr/>
          <p:nvPr/>
        </p:nvSpPr>
        <p:spPr>
          <a:xfrm>
            <a:off x="2325220" y="2742274"/>
            <a:ext cx="685569" cy="399915"/>
          </a:xfrm>
          <a:prstGeom prst="line">
            <a:avLst/>
          </a:prstGeom>
          <a:noFill/>
          <a:ln w="17140">
            <a:solidFill>
              <a:srgbClr val="585E6F"/>
            </a:solidFill>
            <a:prstDash val="solid"/>
            <a:headEnd type="triangle"/>
            <a:tailEnd type="triangle"/>
          </a:ln>
        </p:spPr>
      </p:sp>
      <p:sp>
        <p:nvSpPr>
          <p:cNvPr id="29" name="s21-linea-28-0"/>
          <p:cNvSpPr/>
          <p:nvPr/>
        </p:nvSpPr>
        <p:spPr>
          <a:xfrm flipH="1">
            <a:off x="4701858" y="2742274"/>
            <a:ext cx="1142614" cy="399915"/>
          </a:xfrm>
          <a:prstGeom prst="line">
            <a:avLst/>
          </a:prstGeom>
          <a:noFill/>
          <a:ln w="17140">
            <a:solidFill>
              <a:srgbClr val="585E6F"/>
            </a:solidFill>
            <a:prstDash val="solid"/>
            <a:headEnd type="triangle"/>
            <a:tailEnd type="triangle"/>
          </a:ln>
        </p:spPr>
      </p:sp>
      <p:sp>
        <p:nvSpPr>
          <p:cNvPr id="30" name="s21-linea-29-0"/>
          <p:cNvSpPr/>
          <p:nvPr/>
        </p:nvSpPr>
        <p:spPr>
          <a:xfrm flipV="1">
            <a:off x="2325220" y="3884889"/>
            <a:ext cx="685569" cy="514176"/>
          </a:xfrm>
          <a:prstGeom prst="line">
            <a:avLst/>
          </a:prstGeom>
          <a:noFill/>
          <a:ln w="17140">
            <a:solidFill>
              <a:srgbClr val="585E6F"/>
            </a:solidFill>
            <a:prstDash val="solid"/>
            <a:headEnd type="triangle"/>
            <a:tailEnd type="triangle"/>
          </a:ln>
        </p:spPr>
      </p:sp>
      <p:sp>
        <p:nvSpPr>
          <p:cNvPr id="31" name="s21-linea-30-0"/>
          <p:cNvSpPr/>
          <p:nvPr/>
        </p:nvSpPr>
        <p:spPr>
          <a:xfrm flipH="1" flipV="1">
            <a:off x="4701858" y="3884889"/>
            <a:ext cx="1142614" cy="514176"/>
          </a:xfrm>
          <a:prstGeom prst="line">
            <a:avLst/>
          </a:prstGeom>
          <a:noFill/>
          <a:ln w="17140">
            <a:solidFill>
              <a:srgbClr val="585E6F"/>
            </a:solidFill>
            <a:prstDash val="solid"/>
            <a:headEnd type="triangle"/>
            <a:tailEnd type="triangle"/>
          </a:ln>
        </p:spPr>
      </p:sp>
      <p:sp>
        <p:nvSpPr>
          <p:cNvPr id="32" name="s21-forma-31"/>
          <p:cNvSpPr/>
          <p:nvPr/>
        </p:nvSpPr>
        <p:spPr>
          <a:xfrm>
            <a:off x="853390" y="6411138"/>
            <a:ext cx="10484915" cy="5713"/>
          </a:xfrm>
          <a:prstGeom prst="rect">
            <a:avLst/>
          </a:prstGeom>
          <a:solidFill>
            <a:srgbClr val="DBD4C4"/>
          </a:solidFill>
          <a:ln/>
        </p:spPr>
      </p:sp>
      <p:pic>
        <p:nvPicPr>
          <p:cNvPr id="33" name="s21-logo-32"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34" name="s21-forma-33"/>
          <p:cNvSpPr/>
          <p:nvPr/>
        </p:nvSpPr>
        <p:spPr>
          <a:xfrm>
            <a:off x="1659380" y="6519865"/>
            <a:ext cx="2926878" cy="102835"/>
          </a:xfrm>
          <a:prstGeom prst="rect">
            <a:avLst/>
          </a:prstGeom>
          <a:ln/>
        </p:spPr>
      </p:sp>
      <p:sp>
        <p:nvSpPr>
          <p:cNvPr id="35" name="s21-forma-34"/>
          <p:cNvSpPr/>
          <p:nvPr/>
        </p:nvSpPr>
        <p:spPr>
          <a:xfrm>
            <a:off x="1659380" y="6519865"/>
            <a:ext cx="5713" cy="102835"/>
          </a:xfrm>
          <a:prstGeom prst="rect">
            <a:avLst/>
          </a:prstGeom>
          <a:solidFill>
            <a:srgbClr val="C6BFAE"/>
          </a:solidFill>
          <a:ln/>
        </p:spPr>
      </p:sp>
      <p:sp>
        <p:nvSpPr>
          <p:cNvPr id="36" name="s21-texto-35"/>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37" name="s21-texto-36"/>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21 / 36</a:t>
            </a:r>
            <a:endParaRPr lang="en-US" sz="745" dirty="0"/>
          </a:p>
        </p:txBody>
      </p:sp>
      <p:sp>
        <p:nvSpPr>
          <p:cNvPr id="38" name="s21-forma-37"/>
          <p:cNvSpPr/>
          <p:nvPr/>
        </p:nvSpPr>
        <p:spPr>
          <a:xfrm>
            <a:off x="0" y="0"/>
            <a:ext cx="7111792" cy="17139"/>
          </a:xfrm>
          <a:prstGeom prst="rect">
            <a:avLst/>
          </a:prstGeom>
          <a:solidFill>
            <a:srgbClr val="0033A0"/>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DE8DC"/>
        </a:solidFill>
      </p:bgPr>
    </p:bg>
    <p:spTree>
      <p:nvGrpSpPr>
        <p:cNvPr id="1" name=""/>
        <p:cNvGrpSpPr/>
        <p:nvPr/>
      </p:nvGrpSpPr>
      <p:grpSpPr>
        <a:xfrm>
          <a:off x="0" y="0"/>
          <a:ext cx="0" cy="0"/>
          <a:chOff x="0" y="0"/>
          <a:chExt cx="0" cy="0"/>
        </a:xfrm>
      </p:grpSpPr>
      <p:sp>
        <p:nvSpPr>
          <p:cNvPr id="2" name="s22-forma-1"/>
          <p:cNvSpPr/>
          <p:nvPr/>
        </p:nvSpPr>
        <p:spPr>
          <a:xfrm>
            <a:off x="853390" y="520961"/>
            <a:ext cx="10484915" cy="5713"/>
          </a:xfrm>
          <a:prstGeom prst="rect">
            <a:avLst/>
          </a:prstGeom>
          <a:solidFill>
            <a:srgbClr val="C6BFAE"/>
          </a:solidFill>
          <a:ln/>
        </p:spPr>
      </p:sp>
      <p:sp>
        <p:nvSpPr>
          <p:cNvPr id="3" name="s22-forma-2"/>
          <p:cNvSpPr/>
          <p:nvPr/>
        </p:nvSpPr>
        <p:spPr>
          <a:xfrm>
            <a:off x="853390" y="331715"/>
            <a:ext cx="81411" cy="81411"/>
          </a:xfrm>
          <a:prstGeom prst="ellipse">
            <a:avLst/>
          </a:prstGeom>
          <a:solidFill>
            <a:srgbClr val="0033A0"/>
          </a:solidFill>
          <a:ln/>
        </p:spPr>
      </p:sp>
      <p:sp>
        <p:nvSpPr>
          <p:cNvPr id="4" name="s22-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2-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22-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TOPOLOGÍA · EN CÓDIGO</a:t>
            </a:r>
            <a:endParaRPr lang="en-US" sz="900" dirty="0"/>
          </a:p>
        </p:txBody>
      </p:sp>
      <p:sp>
        <p:nvSpPr>
          <p:cNvPr id="7" name="s22-texto-6"/>
          <p:cNvSpPr txBox="1"/>
          <p:nvPr/>
        </p:nvSpPr>
        <p:spPr>
          <a:xfrm>
            <a:off x="1342572" y="1451120"/>
            <a:ext cx="10076945" cy="377063"/>
          </a:xfrm>
          <a:prstGeom prst="rect">
            <a:avLst/>
          </a:prstGeom>
          <a:noFill/>
          <a:ln/>
        </p:spPr>
        <p:txBody>
          <a:bodyPr wrap="none" lIns="0" tIns="0" rIns="0" bIns="0" rtlCol="0" anchor="t"/>
          <a:lstStyle/>
          <a:p>
            <a:pPr algn="l" indent="0" marL="0">
              <a:lnSpc>
                <a:spcPts val="2771"/>
              </a:lnSpc>
              <a:buNone/>
            </a:pPr>
            <a:r>
              <a:rPr lang="en-US" sz="2519" b="1" spc="-25" kern="0" dirty="0">
                <a:solidFill>
                  <a:srgbClr val="16181D"/>
                </a:solidFill>
                <a:latin typeface="Georgia" pitchFamily="34" charset="0"/>
                <a:ea typeface="Georgia" pitchFamily="34" charset="-122"/>
                <a:cs typeface="Georgia" pitchFamily="34" charset="-120"/>
              </a:rPr>
              <a:t>Pizarra en código: una tabla y un controlador</a:t>
            </a:r>
            <a:endParaRPr lang="en-US" sz="2519" dirty="0"/>
          </a:p>
        </p:txBody>
      </p:sp>
      <p:sp>
        <p:nvSpPr>
          <p:cNvPr id="8" name="s22-forma-7"/>
          <p:cNvSpPr/>
          <p:nvPr/>
        </p:nvSpPr>
        <p:spPr>
          <a:xfrm>
            <a:off x="1342572" y="2205246"/>
            <a:ext cx="5941595" cy="3159329"/>
          </a:xfrm>
          <a:prstGeom prst="rect">
            <a:avLst/>
          </a:prstGeom>
          <a:solidFill>
            <a:srgbClr val="E8E2D5"/>
          </a:solidFill>
          <a:ln/>
        </p:spPr>
      </p:sp>
      <p:sp>
        <p:nvSpPr>
          <p:cNvPr id="9" name="s22-forma-8"/>
          <p:cNvSpPr/>
          <p:nvPr/>
        </p:nvSpPr>
        <p:spPr>
          <a:xfrm>
            <a:off x="1342572" y="2205246"/>
            <a:ext cx="5941595" cy="5713"/>
          </a:xfrm>
          <a:prstGeom prst="rect">
            <a:avLst/>
          </a:prstGeom>
          <a:solidFill>
            <a:srgbClr val="DBD4C4"/>
          </a:solidFill>
          <a:ln/>
        </p:spPr>
      </p:sp>
      <p:sp>
        <p:nvSpPr>
          <p:cNvPr id="10" name="s22-forma-9"/>
          <p:cNvSpPr/>
          <p:nvPr/>
        </p:nvSpPr>
        <p:spPr>
          <a:xfrm>
            <a:off x="1342572" y="5358861"/>
            <a:ext cx="5941595" cy="5713"/>
          </a:xfrm>
          <a:prstGeom prst="rect">
            <a:avLst/>
          </a:prstGeom>
          <a:solidFill>
            <a:srgbClr val="DBD4C4"/>
          </a:solidFill>
          <a:ln/>
        </p:spPr>
      </p:sp>
      <p:sp>
        <p:nvSpPr>
          <p:cNvPr id="11" name="s22-forma-10"/>
          <p:cNvSpPr/>
          <p:nvPr/>
        </p:nvSpPr>
        <p:spPr>
          <a:xfrm>
            <a:off x="1342572" y="2205246"/>
            <a:ext cx="17139" cy="3159329"/>
          </a:xfrm>
          <a:prstGeom prst="rect">
            <a:avLst/>
          </a:prstGeom>
          <a:solidFill>
            <a:srgbClr val="C6BFAE"/>
          </a:solidFill>
          <a:ln/>
        </p:spPr>
      </p:sp>
      <p:sp>
        <p:nvSpPr>
          <p:cNvPr id="12" name="s22-forma-11"/>
          <p:cNvSpPr/>
          <p:nvPr/>
        </p:nvSpPr>
        <p:spPr>
          <a:xfrm>
            <a:off x="7278453" y="2205246"/>
            <a:ext cx="5713" cy="3159329"/>
          </a:xfrm>
          <a:prstGeom prst="rect">
            <a:avLst/>
          </a:prstGeom>
          <a:solidFill>
            <a:srgbClr val="DBD4C4"/>
          </a:solidFill>
          <a:ln/>
        </p:spPr>
      </p:sp>
      <p:sp>
        <p:nvSpPr>
          <p:cNvPr id="13" name="s22-forma-12"/>
          <p:cNvSpPr/>
          <p:nvPr/>
        </p:nvSpPr>
        <p:spPr>
          <a:xfrm>
            <a:off x="1451120" y="2370925"/>
            <a:ext cx="5735924" cy="188531"/>
          </a:xfrm>
          <a:prstGeom prst="rect">
            <a:avLst/>
          </a:prstGeom>
          <a:solidFill>
            <a:srgbClr val="DCE3F2"/>
          </a:solidFill>
          <a:ln/>
        </p:spPr>
      </p:sp>
      <p:sp>
        <p:nvSpPr>
          <p:cNvPr id="14" name="s22-forma-13"/>
          <p:cNvSpPr/>
          <p:nvPr/>
        </p:nvSpPr>
        <p:spPr>
          <a:xfrm>
            <a:off x="1451120" y="2370925"/>
            <a:ext cx="22852" cy="188531"/>
          </a:xfrm>
          <a:prstGeom prst="rect">
            <a:avLst/>
          </a:prstGeom>
          <a:solidFill>
            <a:srgbClr val="AC321E"/>
          </a:solidFill>
          <a:ln/>
        </p:spPr>
      </p:sp>
      <p:sp>
        <p:nvSpPr>
          <p:cNvPr id="15" name="s22-texto-14"/>
          <p:cNvSpPr txBox="1"/>
          <p:nvPr/>
        </p:nvSpPr>
        <p:spPr>
          <a:xfrm>
            <a:off x="1542529" y="2370925"/>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AGENTES = {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agente: (lo que lee, lo que escribe)</a:t>
            </a:r>
            <a:endParaRPr lang="en-US" sz="990" dirty="0"/>
          </a:p>
        </p:txBody>
      </p:sp>
      <p:sp>
        <p:nvSpPr>
          <p:cNvPr id="16" name="s22-forma-15"/>
          <p:cNvSpPr/>
          <p:nvPr/>
        </p:nvSpPr>
        <p:spPr>
          <a:xfrm>
            <a:off x="1451120" y="2559456"/>
            <a:ext cx="5735924" cy="188531"/>
          </a:xfrm>
          <a:prstGeom prst="rect">
            <a:avLst/>
          </a:prstGeom>
          <a:solidFill>
            <a:srgbClr val="DCE3F2"/>
          </a:solidFill>
          <a:ln/>
        </p:spPr>
      </p:sp>
      <p:sp>
        <p:nvSpPr>
          <p:cNvPr id="17" name="s22-forma-16"/>
          <p:cNvSpPr/>
          <p:nvPr/>
        </p:nvSpPr>
        <p:spPr>
          <a:xfrm>
            <a:off x="1451120" y="2559456"/>
            <a:ext cx="22852" cy="188531"/>
          </a:xfrm>
          <a:prstGeom prst="rect">
            <a:avLst/>
          </a:prstGeom>
          <a:solidFill>
            <a:srgbClr val="AC321E"/>
          </a:solidFill>
          <a:ln/>
        </p:spPr>
      </p:sp>
      <p:sp>
        <p:nvSpPr>
          <p:cNvPr id="18" name="s22-texto-17"/>
          <p:cNvSpPr txBox="1"/>
          <p:nvPr/>
        </p:nvSpPr>
        <p:spPr>
          <a:xfrm>
            <a:off x="1542529" y="255945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"analista"</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"historia"</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"criterios"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9" name="s22-forma-18"/>
          <p:cNvSpPr/>
          <p:nvPr/>
        </p:nvSpPr>
        <p:spPr>
          <a:xfrm>
            <a:off x="1451120" y="2747988"/>
            <a:ext cx="5735924" cy="188531"/>
          </a:xfrm>
          <a:prstGeom prst="rect">
            <a:avLst/>
          </a:prstGeom>
          <a:solidFill>
            <a:srgbClr val="DCE3F2"/>
          </a:solidFill>
          <a:ln/>
        </p:spPr>
      </p:sp>
      <p:sp>
        <p:nvSpPr>
          <p:cNvPr id="20" name="s22-forma-19"/>
          <p:cNvSpPr/>
          <p:nvPr/>
        </p:nvSpPr>
        <p:spPr>
          <a:xfrm>
            <a:off x="1451120" y="2747988"/>
            <a:ext cx="22852" cy="188531"/>
          </a:xfrm>
          <a:prstGeom prst="rect">
            <a:avLst/>
          </a:prstGeom>
          <a:solidFill>
            <a:srgbClr val="AC321E"/>
          </a:solidFill>
          <a:ln/>
        </p:spPr>
      </p:sp>
      <p:sp>
        <p:nvSpPr>
          <p:cNvPr id="21" name="s22-texto-20"/>
          <p:cNvSpPr txBox="1"/>
          <p:nvPr/>
        </p:nvSpPr>
        <p:spPr>
          <a:xfrm>
            <a:off x="1542529" y="274798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"disenador"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"criterios"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"casos"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2" name="s22-forma-21"/>
          <p:cNvSpPr/>
          <p:nvPr/>
        </p:nvSpPr>
        <p:spPr>
          <a:xfrm>
            <a:off x="1451120" y="2936519"/>
            <a:ext cx="5735924" cy="188531"/>
          </a:xfrm>
          <a:prstGeom prst="rect">
            <a:avLst/>
          </a:prstGeom>
          <a:solidFill>
            <a:srgbClr val="DCE3F2"/>
          </a:solidFill>
          <a:ln/>
        </p:spPr>
      </p:sp>
      <p:sp>
        <p:nvSpPr>
          <p:cNvPr id="23" name="s22-forma-22"/>
          <p:cNvSpPr/>
          <p:nvPr/>
        </p:nvSpPr>
        <p:spPr>
          <a:xfrm>
            <a:off x="1451120" y="2936519"/>
            <a:ext cx="22852" cy="188531"/>
          </a:xfrm>
          <a:prstGeom prst="rect">
            <a:avLst/>
          </a:prstGeom>
          <a:solidFill>
            <a:srgbClr val="AC321E"/>
          </a:solidFill>
          <a:ln/>
        </p:spPr>
      </p:sp>
      <p:sp>
        <p:nvSpPr>
          <p:cNvPr id="24" name="s22-texto-23"/>
          <p:cNvSpPr txBox="1"/>
          <p:nvPr/>
        </p:nvSpPr>
        <p:spPr>
          <a:xfrm>
            <a:off x="1542529" y="2936519"/>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"backend"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"criterios"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"endpoint"</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5" name="s22-forma-24"/>
          <p:cNvSpPr/>
          <p:nvPr/>
        </p:nvSpPr>
        <p:spPr>
          <a:xfrm>
            <a:off x="1451120" y="3125050"/>
            <a:ext cx="5735924" cy="188531"/>
          </a:xfrm>
          <a:prstGeom prst="rect">
            <a:avLst/>
          </a:prstGeom>
          <a:solidFill>
            <a:srgbClr val="DCE3F2"/>
          </a:solidFill>
          <a:ln/>
        </p:spPr>
      </p:sp>
      <p:sp>
        <p:nvSpPr>
          <p:cNvPr id="26" name="s22-forma-25"/>
          <p:cNvSpPr/>
          <p:nvPr/>
        </p:nvSpPr>
        <p:spPr>
          <a:xfrm>
            <a:off x="1451120" y="3125050"/>
            <a:ext cx="22852" cy="188531"/>
          </a:xfrm>
          <a:prstGeom prst="rect">
            <a:avLst/>
          </a:prstGeom>
          <a:solidFill>
            <a:srgbClr val="AC321E"/>
          </a:solidFill>
          <a:ln/>
        </p:spPr>
      </p:sp>
      <p:sp>
        <p:nvSpPr>
          <p:cNvPr id="27" name="s22-texto-26"/>
          <p:cNvSpPr txBox="1"/>
          <p:nvPr/>
        </p:nvSpPr>
        <p:spPr>
          <a:xfrm>
            <a:off x="1542529" y="3125050"/>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"pantalla"</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"criterios"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"endpoint"</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"pantalla"</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8" name="s22-texto-27"/>
          <p:cNvSpPr txBox="1"/>
          <p:nvPr/>
        </p:nvSpPr>
        <p:spPr>
          <a:xfrm>
            <a:off x="1542529" y="3313582"/>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9" name="s22-texto-28"/>
          <p:cNvSpPr txBox="1"/>
          <p:nvPr/>
        </p:nvSpPr>
        <p:spPr>
          <a:xfrm>
            <a:off x="1542529" y="3690644"/>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elegir(p: Pizarra) -&gt; str: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el controlador</a:t>
            </a:r>
            <a:endParaRPr lang="en-US" sz="990" dirty="0"/>
          </a:p>
        </p:txBody>
      </p:sp>
      <p:sp>
        <p:nvSpPr>
          <p:cNvPr id="30" name="s22-texto-29"/>
          <p:cNvSpPr txBox="1"/>
          <p:nvPr/>
        </p:nvSpPr>
        <p:spPr>
          <a:xfrm>
            <a:off x="1542529" y="387917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listos = [a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for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 (lee, escribe)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AGENTES.items()</a:t>
            </a:r>
            <a:endParaRPr lang="en-US" sz="990" dirty="0"/>
          </a:p>
        </p:txBody>
      </p:sp>
      <p:sp>
        <p:nvSpPr>
          <p:cNvPr id="31" name="s22-texto-30"/>
          <p:cNvSpPr txBox="1"/>
          <p:nvPr/>
        </p:nvSpPr>
        <p:spPr>
          <a:xfrm>
            <a:off x="1542529" y="4067707"/>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all(p.get(c)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for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c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lee)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and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not</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p.get(escribe)]</a:t>
            </a:r>
            <a:endParaRPr lang="en-US" sz="990" dirty="0"/>
          </a:p>
        </p:txBody>
      </p:sp>
      <p:sp>
        <p:nvSpPr>
          <p:cNvPr id="32" name="s22-texto-31"/>
          <p:cNvSpPr txBox="1"/>
          <p:nvPr/>
        </p:nvSpPr>
        <p:spPr>
          <a:xfrm>
            <a:off x="1542529" y="425623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return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listos[0]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listos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else</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END</a:t>
            </a:r>
            <a:endParaRPr lang="en-US" sz="990" dirty="0"/>
          </a:p>
        </p:txBody>
      </p:sp>
      <p:sp>
        <p:nvSpPr>
          <p:cNvPr id="33" name="s22-texto-32"/>
          <p:cNvSpPr txBox="1"/>
          <p:nvPr/>
        </p:nvSpPr>
        <p:spPr>
          <a:xfrm>
            <a:off x="1542529" y="4633301"/>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for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nombre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AGENTES:</a:t>
            </a:r>
            <a:endParaRPr lang="en-US" sz="990" dirty="0"/>
          </a:p>
        </p:txBody>
      </p:sp>
      <p:sp>
        <p:nvSpPr>
          <p:cNvPr id="34" name="s22-texto-33"/>
          <p:cNvSpPr txBox="1"/>
          <p:nvPr/>
        </p:nvSpPr>
        <p:spPr>
          <a:xfrm>
            <a:off x="1542529" y="482183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grafo.add_edge(nombre,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"controlador"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todos vuelven</a:t>
            </a:r>
            <a:endParaRPr lang="en-US" sz="990" dirty="0"/>
          </a:p>
        </p:txBody>
      </p:sp>
      <p:sp>
        <p:nvSpPr>
          <p:cNvPr id="35" name="s22-texto-34"/>
          <p:cNvSpPr txBox="1"/>
          <p:nvPr/>
        </p:nvSpPr>
        <p:spPr>
          <a:xfrm>
            <a:off x="1542529" y="5010364"/>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grafo.add_conditional_edges(</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"controlador"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elegir, [*AGENTES,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END</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6" name="s22-texto-35"/>
          <p:cNvSpPr txBox="1"/>
          <p:nvPr/>
        </p:nvSpPr>
        <p:spPr>
          <a:xfrm>
            <a:off x="7558394" y="2205246"/>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7" name="s22-texto-36"/>
          <p:cNvSpPr txBox="1"/>
          <p:nvPr/>
        </p:nvSpPr>
        <p:spPr>
          <a:xfrm>
            <a:off x="7558394" y="2410916"/>
            <a:ext cx="3488173" cy="587197"/>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Cada agente declara qué </a:t>
            </a:r>
            <a:pPr algn="l" indent="0" marL="0">
              <a:lnSpc>
                <a:spcPts val="1637"/>
              </a:lnSpc>
              <a:buNone/>
            </a:pPr>
            <a:r>
              <a:rPr lang="en-US" sz="1170" b="1" dirty="0">
                <a:solidFill>
                  <a:srgbClr val="0033A0"/>
                </a:solidFill>
                <a:latin typeface="Arial" pitchFamily="34" charset="0"/>
                <a:ea typeface="Arial" pitchFamily="34" charset="-122"/>
                <a:cs typeface="Arial" pitchFamily="34" charset="-120"/>
              </a:rPr>
              <a:t>lee</a:t>
            </a:r>
            <a:pPr algn="l" indent="0" marL="0">
              <a:lnSpc>
                <a:spcPts val="1637"/>
              </a:lnSpc>
              <a:buNone/>
            </a:pPr>
            <a:r>
              <a:rPr lang="en-US" sz="1170" dirty="0">
                <a:solidFill>
                  <a:srgbClr val="16181D"/>
                </a:solidFill>
                <a:latin typeface="Arial" pitchFamily="34" charset="0"/>
                <a:ea typeface="Arial" pitchFamily="34" charset="-122"/>
                <a:cs typeface="Arial" pitchFamily="34" charset="-120"/>
              </a:rPr>
              <a:t> y qué </a:t>
            </a:r>
            <a:pPr algn="l" indent="0" marL="0">
              <a:lnSpc>
                <a:spcPts val="1637"/>
              </a:lnSpc>
              <a:buNone/>
            </a:pPr>
            <a:r>
              <a:rPr lang="en-US" sz="1170" b="1" dirty="0">
                <a:solidFill>
                  <a:srgbClr val="0033A0"/>
                </a:solidFill>
                <a:latin typeface="Arial" pitchFamily="34" charset="0"/>
                <a:ea typeface="Arial" pitchFamily="34" charset="-122"/>
                <a:cs typeface="Arial" pitchFamily="34" charset="-120"/>
              </a:rPr>
              <a:t>escribe</a:t>
            </a:r>
            <a:pPr algn="l" indent="0" marL="0">
              <a:lnSpc>
                <a:spcPts val="1637"/>
              </a:lnSpc>
              <a:buNone/>
            </a:pPr>
            <a:r>
              <a:rPr lang="en-US" sz="1170" dirty="0">
                <a:solidFill>
                  <a:srgbClr val="16181D"/>
                </a:solidFill>
                <a:latin typeface="Arial" pitchFamily="34" charset="0"/>
                <a:ea typeface="Arial" pitchFamily="34" charset="-122"/>
                <a:cs typeface="Arial" pitchFamily="34" charset="-120"/>
              </a:rPr>
              <a:t>; un controlador en código activa a quien ya puede trabajar.</a:t>
            </a:r>
            <a:endParaRPr lang="en-US" sz="1170" dirty="0"/>
          </a:p>
        </p:txBody>
      </p:sp>
      <p:sp>
        <p:nvSpPr>
          <p:cNvPr id="38" name="s22-texto-37"/>
          <p:cNvSpPr txBox="1"/>
          <p:nvPr/>
        </p:nvSpPr>
        <p:spPr>
          <a:xfrm>
            <a:off x="7558394" y="3154598"/>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9" name="s22-texto-38"/>
          <p:cNvSpPr txBox="1"/>
          <p:nvPr/>
        </p:nvSpPr>
        <p:spPr>
          <a:xfrm>
            <a:off x="7558394" y="3360268"/>
            <a:ext cx="3488173"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Supervisor: allí un modelo elige; aquí lo decide el estado de la pizarra.</a:t>
            </a:r>
            <a:endParaRPr lang="en-US" sz="1170" dirty="0"/>
          </a:p>
        </p:txBody>
      </p:sp>
      <p:sp>
        <p:nvSpPr>
          <p:cNvPr id="40" name="s22-texto-39"/>
          <p:cNvSpPr txBox="1"/>
          <p:nvPr/>
        </p:nvSpPr>
        <p:spPr>
          <a:xfrm>
            <a:off x="7558394" y="3896047"/>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1" name="s22-forma-40"/>
          <p:cNvSpPr/>
          <p:nvPr/>
        </p:nvSpPr>
        <p:spPr>
          <a:xfrm>
            <a:off x="7558394" y="4084579"/>
            <a:ext cx="3290729" cy="289046"/>
          </a:xfrm>
          <a:prstGeom prst="rect">
            <a:avLst/>
          </a:prstGeom>
          <a:solidFill>
            <a:srgbClr val="E3DCCB"/>
          </a:solidFill>
          <a:ln/>
        </p:spPr>
      </p:sp>
      <p:sp>
        <p:nvSpPr>
          <p:cNvPr id="42" name="s22-texto-41"/>
          <p:cNvSpPr txBox="1"/>
          <p:nvPr/>
        </p:nvSpPr>
        <p:spPr>
          <a:xfrm>
            <a:off x="7649803" y="4164562"/>
            <a:ext cx="3294386" cy="125688"/>
          </a:xfrm>
          <a:prstGeom prst="rect">
            <a:avLst/>
          </a:prstGeom>
          <a:noFill/>
          <a:ln/>
        </p:spPr>
        <p:txBody>
          <a:bodyPr wrap="none" lIns="0" tIns="0" rIns="0" bIns="0" rtlCol="0" anchor="t"/>
          <a:lstStyle/>
          <a:p>
            <a:pPr algn="l" indent="0" marL="0">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ejemplos.s3_topologias.pizarra</a:t>
            </a:r>
            <a:endParaRPr lang="en-US" sz="855" dirty="0"/>
          </a:p>
        </p:txBody>
      </p:sp>
      <p:sp>
        <p:nvSpPr>
          <p:cNvPr id="43" name="s22-forma-42"/>
          <p:cNvSpPr/>
          <p:nvPr/>
        </p:nvSpPr>
        <p:spPr>
          <a:xfrm>
            <a:off x="7558394" y="4510738"/>
            <a:ext cx="3290729" cy="832859"/>
          </a:xfrm>
          <a:prstGeom prst="rect">
            <a:avLst/>
          </a:prstGeom>
          <a:solidFill>
            <a:srgbClr val="E2D3C2"/>
          </a:solidFill>
          <a:ln/>
        </p:spPr>
      </p:sp>
      <p:sp>
        <p:nvSpPr>
          <p:cNvPr id="44" name="s22-texto-43"/>
          <p:cNvSpPr txBox="1"/>
          <p:nvPr/>
        </p:nvSpPr>
        <p:spPr>
          <a:xfrm>
            <a:off x="7695508" y="4624999"/>
            <a:ext cx="3197492"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5" name="s22-texto-44"/>
          <p:cNvSpPr txBox="1"/>
          <p:nvPr/>
        </p:nvSpPr>
        <p:spPr>
          <a:xfrm>
            <a:off x="7695508" y="4830670"/>
            <a:ext cx="3197492"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El estado de LangGraph es tu pizarra; también la carpeta salida/HU-xx/.</a:t>
            </a:r>
            <a:endParaRPr lang="en-US" sz="1170" dirty="0"/>
          </a:p>
        </p:txBody>
      </p:sp>
      <p:sp>
        <p:nvSpPr>
          <p:cNvPr id="46" name="s22-texto-45"/>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ejemplos/s3_topologias/pizarra.py · las líneas resaltadas son el patrón</a:t>
            </a:r>
            <a:endParaRPr lang="en-US" sz="1080" dirty="0"/>
          </a:p>
        </p:txBody>
      </p:sp>
      <p:sp>
        <p:nvSpPr>
          <p:cNvPr id="47" name="s22-forma-46"/>
          <p:cNvSpPr/>
          <p:nvPr/>
        </p:nvSpPr>
        <p:spPr>
          <a:xfrm>
            <a:off x="853390" y="6411138"/>
            <a:ext cx="10484915" cy="5713"/>
          </a:xfrm>
          <a:prstGeom prst="rect">
            <a:avLst/>
          </a:prstGeom>
          <a:solidFill>
            <a:srgbClr val="DBD4C4"/>
          </a:solidFill>
          <a:ln/>
        </p:spPr>
      </p:sp>
      <p:pic>
        <p:nvPicPr>
          <p:cNvPr id="48" name="s22-logo-47"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9" name="s22-forma-48"/>
          <p:cNvSpPr/>
          <p:nvPr/>
        </p:nvSpPr>
        <p:spPr>
          <a:xfrm>
            <a:off x="1659380" y="6519865"/>
            <a:ext cx="2926878" cy="102835"/>
          </a:xfrm>
          <a:prstGeom prst="rect">
            <a:avLst/>
          </a:prstGeom>
          <a:ln/>
        </p:spPr>
      </p:sp>
      <p:sp>
        <p:nvSpPr>
          <p:cNvPr id="50" name="s22-forma-49"/>
          <p:cNvSpPr/>
          <p:nvPr/>
        </p:nvSpPr>
        <p:spPr>
          <a:xfrm>
            <a:off x="1659380" y="6519865"/>
            <a:ext cx="5713" cy="102835"/>
          </a:xfrm>
          <a:prstGeom prst="rect">
            <a:avLst/>
          </a:prstGeom>
          <a:solidFill>
            <a:srgbClr val="C6BFAE"/>
          </a:solidFill>
          <a:ln/>
        </p:spPr>
      </p:sp>
      <p:sp>
        <p:nvSpPr>
          <p:cNvPr id="51" name="s22-texto-50"/>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52" name="s22-texto-51"/>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22 / 36</a:t>
            </a:r>
            <a:endParaRPr lang="en-US" sz="745" dirty="0"/>
          </a:p>
        </p:txBody>
      </p:sp>
      <p:sp>
        <p:nvSpPr>
          <p:cNvPr id="53" name="s22-forma-52"/>
          <p:cNvSpPr/>
          <p:nvPr/>
        </p:nvSpPr>
        <p:spPr>
          <a:xfrm>
            <a:off x="0" y="0"/>
            <a:ext cx="7450470" cy="17139"/>
          </a:xfrm>
          <a:prstGeom prst="rect">
            <a:avLst/>
          </a:prstGeom>
          <a:solidFill>
            <a:srgbClr val="0033A0"/>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E8DC"/>
        </a:solidFill>
      </p:bgPr>
    </p:bg>
    <p:spTree>
      <p:nvGrpSpPr>
        <p:cNvPr id="1" name=""/>
        <p:cNvGrpSpPr/>
        <p:nvPr/>
      </p:nvGrpSpPr>
      <p:grpSpPr>
        <a:xfrm>
          <a:off x="0" y="0"/>
          <a:ext cx="0" cy="0"/>
          <a:chOff x="0" y="0"/>
          <a:chExt cx="0" cy="0"/>
        </a:xfrm>
      </p:grpSpPr>
      <p:sp>
        <p:nvSpPr>
          <p:cNvPr id="2" name="s23-forma-1"/>
          <p:cNvSpPr/>
          <p:nvPr/>
        </p:nvSpPr>
        <p:spPr>
          <a:xfrm>
            <a:off x="853390" y="331715"/>
            <a:ext cx="81411" cy="81411"/>
          </a:xfrm>
          <a:prstGeom prst="ellipse">
            <a:avLst/>
          </a:prstGeom>
          <a:solidFill>
            <a:srgbClr val="0033A0"/>
          </a:solidFill>
          <a:ln/>
        </p:spPr>
      </p:sp>
      <p:sp>
        <p:nvSpPr>
          <p:cNvPr id="3" name="s23-texto-2"/>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23-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5" name="s23-texto-4"/>
          <p:cNvSpPr txBox="1"/>
          <p:nvPr/>
        </p:nvSpPr>
        <p:spPr>
          <a:xfrm>
            <a:off x="853390" y="267987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BLOQUE 3.3</a:t>
            </a:r>
            <a:endParaRPr lang="en-US" sz="869" dirty="0"/>
          </a:p>
        </p:txBody>
      </p:sp>
      <p:sp>
        <p:nvSpPr>
          <p:cNvPr id="6" name="s23-forma-5"/>
          <p:cNvSpPr/>
          <p:nvPr/>
        </p:nvSpPr>
        <p:spPr>
          <a:xfrm>
            <a:off x="853390" y="3768306"/>
            <a:ext cx="722704" cy="22852"/>
          </a:xfrm>
          <a:prstGeom prst="rect">
            <a:avLst/>
          </a:prstGeom>
          <a:solidFill>
            <a:srgbClr val="0033A0"/>
          </a:solidFill>
          <a:ln/>
        </p:spPr>
      </p:sp>
      <p:sp>
        <p:nvSpPr>
          <p:cNvPr id="7" name="s23-texto-6"/>
          <p:cNvSpPr txBox="1"/>
          <p:nvPr/>
        </p:nvSpPr>
        <p:spPr>
          <a:xfrm>
            <a:off x="853390" y="2960889"/>
            <a:ext cx="7149222" cy="634151"/>
          </a:xfrm>
          <a:prstGeom prst="rect">
            <a:avLst/>
          </a:prstGeom>
          <a:noFill/>
          <a:ln/>
        </p:spPr>
        <p:txBody>
          <a:bodyPr wrap="non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¿Qué arquitectura elijo?</a:t>
            </a:r>
            <a:endParaRPr lang="en-US" sz="4242" dirty="0"/>
          </a:p>
        </p:txBody>
      </p:sp>
      <p:sp>
        <p:nvSpPr>
          <p:cNvPr id="8" name="s23-texto-7"/>
          <p:cNvSpPr txBox="1"/>
          <p:nvPr/>
        </p:nvSpPr>
        <p:spPr>
          <a:xfrm>
            <a:off x="853390" y="3969960"/>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Tres preguntas, en orden, y un ejercicio en parejas.</a:t>
            </a:r>
            <a:endParaRPr lang="en-US" sz="1676" dirty="0"/>
          </a:p>
        </p:txBody>
      </p:sp>
      <p:pic>
        <p:nvPicPr>
          <p:cNvPr id="9" name="s23-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23-forma-9"/>
          <p:cNvSpPr/>
          <p:nvPr/>
        </p:nvSpPr>
        <p:spPr>
          <a:xfrm>
            <a:off x="1659380" y="6519865"/>
            <a:ext cx="2926878" cy="102835"/>
          </a:xfrm>
          <a:prstGeom prst="rect">
            <a:avLst/>
          </a:prstGeom>
          <a:ln/>
        </p:spPr>
      </p:sp>
      <p:sp>
        <p:nvSpPr>
          <p:cNvPr id="11" name="s23-forma-10"/>
          <p:cNvSpPr/>
          <p:nvPr/>
        </p:nvSpPr>
        <p:spPr>
          <a:xfrm>
            <a:off x="1659380" y="6519865"/>
            <a:ext cx="5713" cy="102835"/>
          </a:xfrm>
          <a:prstGeom prst="rect">
            <a:avLst/>
          </a:prstGeom>
          <a:solidFill>
            <a:srgbClr val="C6BFAE"/>
          </a:solidFill>
          <a:ln/>
        </p:spPr>
      </p:sp>
      <p:sp>
        <p:nvSpPr>
          <p:cNvPr id="12" name="s23-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23-texto-1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23 / 36</a:t>
            </a:r>
            <a:endParaRPr lang="en-US" sz="745" dirty="0"/>
          </a:p>
        </p:txBody>
      </p:sp>
      <p:sp>
        <p:nvSpPr>
          <p:cNvPr id="14" name="s23-forma-13"/>
          <p:cNvSpPr/>
          <p:nvPr/>
        </p:nvSpPr>
        <p:spPr>
          <a:xfrm>
            <a:off x="0" y="0"/>
            <a:ext cx="7789059" cy="17139"/>
          </a:xfrm>
          <a:prstGeom prst="rect">
            <a:avLst/>
          </a:prstGeom>
          <a:solidFill>
            <a:srgbClr val="0033A0"/>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E8DC"/>
        </a:solidFill>
      </p:bgPr>
    </p:bg>
    <p:spTree>
      <p:nvGrpSpPr>
        <p:cNvPr id="1" name=""/>
        <p:cNvGrpSpPr/>
        <p:nvPr/>
      </p:nvGrpSpPr>
      <p:grpSpPr>
        <a:xfrm>
          <a:off x="0" y="0"/>
          <a:ext cx="0" cy="0"/>
          <a:chOff x="0" y="0"/>
          <a:chExt cx="0" cy="0"/>
        </a:xfrm>
      </p:grpSpPr>
      <p:sp>
        <p:nvSpPr>
          <p:cNvPr id="2" name="s24-forma-1"/>
          <p:cNvSpPr/>
          <p:nvPr/>
        </p:nvSpPr>
        <p:spPr>
          <a:xfrm>
            <a:off x="853390" y="520961"/>
            <a:ext cx="10484915" cy="5713"/>
          </a:xfrm>
          <a:prstGeom prst="rect">
            <a:avLst/>
          </a:prstGeom>
          <a:solidFill>
            <a:srgbClr val="C6BFAE"/>
          </a:solidFill>
          <a:ln/>
        </p:spPr>
      </p:sp>
      <p:sp>
        <p:nvSpPr>
          <p:cNvPr id="3" name="s24-forma-2"/>
          <p:cNvSpPr/>
          <p:nvPr/>
        </p:nvSpPr>
        <p:spPr>
          <a:xfrm>
            <a:off x="853390" y="331715"/>
            <a:ext cx="81411" cy="81411"/>
          </a:xfrm>
          <a:prstGeom prst="ellipse">
            <a:avLst/>
          </a:prstGeom>
          <a:solidFill>
            <a:srgbClr val="0033A0"/>
          </a:solidFill>
          <a:ln/>
        </p:spPr>
      </p:sp>
      <p:sp>
        <p:nvSpPr>
          <p:cNvPr id="4" name="s24-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4-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6" name="s24-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ARQUITECTURAS · SÍNTESIS</a:t>
            </a:r>
            <a:endParaRPr lang="en-US" sz="900" dirty="0"/>
          </a:p>
        </p:txBody>
      </p:sp>
      <p:sp>
        <p:nvSpPr>
          <p:cNvPr id="7" name="s24-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¿Qué arquitectura elijo?</a:t>
            </a:r>
            <a:endParaRPr lang="en-US" sz="2879" dirty="0"/>
          </a:p>
        </p:txBody>
      </p:sp>
      <p:sp>
        <p:nvSpPr>
          <p:cNvPr id="8" name="s24-forma-7"/>
          <p:cNvSpPr/>
          <p:nvPr/>
        </p:nvSpPr>
        <p:spPr>
          <a:xfrm>
            <a:off x="1342572" y="2076077"/>
            <a:ext cx="3077471" cy="568986"/>
          </a:xfrm>
          <a:prstGeom prst="rect">
            <a:avLst/>
          </a:prstGeom>
          <a:solidFill>
            <a:srgbClr val="DCE3F2"/>
          </a:solidFill>
          <a:ln/>
        </p:spPr>
      </p:sp>
      <p:sp>
        <p:nvSpPr>
          <p:cNvPr id="9" name="s24-texto-8"/>
          <p:cNvSpPr txBox="1"/>
          <p:nvPr/>
        </p:nvSpPr>
        <p:spPr>
          <a:xfrm>
            <a:off x="1479686" y="2226313"/>
            <a:ext cx="188799" cy="268514"/>
          </a:xfrm>
          <a:prstGeom prst="rect">
            <a:avLst/>
          </a:prstGeom>
          <a:noFill/>
          <a:ln/>
        </p:spPr>
        <p:txBody>
          <a:bodyPr wrap="none" lIns="0" tIns="0" rIns="0" bIns="0" rtlCol="0" anchor="t"/>
          <a:lstStyle/>
          <a:p>
            <a:pPr algn="l" indent="0" marL="0">
              <a:lnSpc>
                <a:spcPts val="2159"/>
              </a:lnSpc>
              <a:buNone/>
            </a:pPr>
            <a:r>
              <a:rPr lang="en-US" sz="1799" b="1" dirty="0">
                <a:solidFill>
                  <a:srgbClr val="0033A0"/>
                </a:solidFill>
                <a:latin typeface="Georgia" pitchFamily="34" charset="0"/>
                <a:ea typeface="Georgia" pitchFamily="34" charset="-122"/>
                <a:cs typeface="Georgia" pitchFamily="34" charset="-120"/>
              </a:rPr>
              <a:t>1</a:t>
            </a:r>
            <a:endParaRPr lang="en-US" sz="1799" dirty="0"/>
          </a:p>
        </p:txBody>
      </p:sp>
      <p:sp>
        <p:nvSpPr>
          <p:cNvPr id="10" name="s24-texto-9"/>
          <p:cNvSpPr txBox="1"/>
          <p:nvPr/>
        </p:nvSpPr>
        <p:spPr>
          <a:xfrm>
            <a:off x="1714189" y="2269696"/>
            <a:ext cx="2713591" cy="171392"/>
          </a:xfrm>
          <a:prstGeom prst="rect">
            <a:avLst/>
          </a:prstGeom>
          <a:noFill/>
          <a:ln/>
        </p:spPr>
        <p:txBody>
          <a:bodyPr wrap="none" lIns="0" tIns="0" rIns="0" bIns="0" rtlCol="0" anchor="t"/>
          <a:lstStyle/>
          <a:p>
            <a:pPr algn="l" indent="0" marL="0">
              <a:lnSpc>
                <a:spcPts val="1521"/>
              </a:lnSpc>
              <a:buNone/>
            </a:pPr>
            <a:r>
              <a:rPr lang="en-US" sz="1170" dirty="0">
                <a:solidFill>
                  <a:srgbClr val="16181D"/>
                </a:solidFill>
                <a:latin typeface="Arial" pitchFamily="34" charset="0"/>
                <a:ea typeface="Arial" pitchFamily="34" charset="-122"/>
                <a:cs typeface="Arial" pitchFamily="34" charset="-120"/>
              </a:rPr>
              <a:t>¿Los pasos se conocen de antemano?</a:t>
            </a:r>
            <a:endParaRPr lang="en-US" sz="1170" dirty="0"/>
          </a:p>
        </p:txBody>
      </p:sp>
      <p:sp>
        <p:nvSpPr>
          <p:cNvPr id="11" name="s24-forma-10"/>
          <p:cNvSpPr/>
          <p:nvPr/>
        </p:nvSpPr>
        <p:spPr>
          <a:xfrm>
            <a:off x="4557157" y="2076077"/>
            <a:ext cx="3077471" cy="568986"/>
          </a:xfrm>
          <a:prstGeom prst="rect">
            <a:avLst/>
          </a:prstGeom>
          <a:solidFill>
            <a:srgbClr val="DCE3F2"/>
          </a:solidFill>
          <a:ln/>
        </p:spPr>
      </p:sp>
      <p:sp>
        <p:nvSpPr>
          <p:cNvPr id="12" name="s24-texto-11"/>
          <p:cNvSpPr txBox="1"/>
          <p:nvPr/>
        </p:nvSpPr>
        <p:spPr>
          <a:xfrm>
            <a:off x="4694270" y="2226313"/>
            <a:ext cx="188799" cy="268514"/>
          </a:xfrm>
          <a:prstGeom prst="rect">
            <a:avLst/>
          </a:prstGeom>
          <a:noFill/>
          <a:ln/>
        </p:spPr>
        <p:txBody>
          <a:bodyPr wrap="none" lIns="0" tIns="0" rIns="0" bIns="0" rtlCol="0" anchor="t"/>
          <a:lstStyle/>
          <a:p>
            <a:pPr algn="l" indent="0" marL="0">
              <a:lnSpc>
                <a:spcPts val="2159"/>
              </a:lnSpc>
              <a:buNone/>
            </a:pPr>
            <a:r>
              <a:rPr lang="en-US" sz="1799" b="1" dirty="0">
                <a:solidFill>
                  <a:srgbClr val="0033A0"/>
                </a:solidFill>
                <a:latin typeface="Georgia" pitchFamily="34" charset="0"/>
                <a:ea typeface="Georgia" pitchFamily="34" charset="-122"/>
                <a:cs typeface="Georgia" pitchFamily="34" charset="-120"/>
              </a:rPr>
              <a:t>2</a:t>
            </a:r>
            <a:endParaRPr lang="en-US" sz="1799" dirty="0"/>
          </a:p>
        </p:txBody>
      </p:sp>
      <p:sp>
        <p:nvSpPr>
          <p:cNvPr id="13" name="s24-texto-12"/>
          <p:cNvSpPr txBox="1"/>
          <p:nvPr/>
        </p:nvSpPr>
        <p:spPr>
          <a:xfrm>
            <a:off x="4928774" y="2173199"/>
            <a:ext cx="2722864" cy="364476"/>
          </a:xfrm>
          <a:prstGeom prst="rect">
            <a:avLst/>
          </a:prstGeom>
          <a:noFill/>
          <a:ln/>
        </p:spPr>
        <p:txBody>
          <a:bodyPr wrap="square" lIns="0" tIns="0" rIns="0" bIns="0" rtlCol="0" anchor="t"/>
          <a:lstStyle/>
          <a:p>
            <a:pPr algn="l" indent="0" marL="0">
              <a:lnSpc>
                <a:spcPts val="1521"/>
              </a:lnSpc>
              <a:buNone/>
            </a:pPr>
            <a:r>
              <a:rPr lang="en-US" sz="1170" dirty="0">
                <a:solidFill>
                  <a:srgbClr val="16181D"/>
                </a:solidFill>
                <a:latin typeface="Arial" pitchFamily="34" charset="0"/>
                <a:ea typeface="Arial" pitchFamily="34" charset="-122"/>
                <a:cs typeface="Arial" pitchFamily="34" charset="-120"/>
              </a:rPr>
              <a:t>¿Un solo agente con buenas herramientas alcanza?</a:t>
            </a:r>
            <a:endParaRPr lang="en-US" sz="1170" dirty="0"/>
          </a:p>
        </p:txBody>
      </p:sp>
      <p:sp>
        <p:nvSpPr>
          <p:cNvPr id="14" name="s24-forma-13"/>
          <p:cNvSpPr/>
          <p:nvPr/>
        </p:nvSpPr>
        <p:spPr>
          <a:xfrm>
            <a:off x="7771742" y="2076077"/>
            <a:ext cx="3077471" cy="568986"/>
          </a:xfrm>
          <a:prstGeom prst="rect">
            <a:avLst/>
          </a:prstGeom>
          <a:solidFill>
            <a:srgbClr val="DCE3F2"/>
          </a:solidFill>
          <a:ln/>
        </p:spPr>
      </p:sp>
      <p:sp>
        <p:nvSpPr>
          <p:cNvPr id="15" name="s24-texto-14"/>
          <p:cNvSpPr txBox="1"/>
          <p:nvPr/>
        </p:nvSpPr>
        <p:spPr>
          <a:xfrm>
            <a:off x="7908855" y="2226313"/>
            <a:ext cx="188799" cy="268514"/>
          </a:xfrm>
          <a:prstGeom prst="rect">
            <a:avLst/>
          </a:prstGeom>
          <a:noFill/>
          <a:ln/>
        </p:spPr>
        <p:txBody>
          <a:bodyPr wrap="none" lIns="0" tIns="0" rIns="0" bIns="0" rtlCol="0" anchor="t"/>
          <a:lstStyle/>
          <a:p>
            <a:pPr algn="l" indent="0" marL="0">
              <a:lnSpc>
                <a:spcPts val="2159"/>
              </a:lnSpc>
              <a:buNone/>
            </a:pPr>
            <a:r>
              <a:rPr lang="en-US" sz="1799" b="1" dirty="0">
                <a:solidFill>
                  <a:srgbClr val="0033A0"/>
                </a:solidFill>
                <a:latin typeface="Georgia" pitchFamily="34" charset="0"/>
                <a:ea typeface="Georgia" pitchFamily="34" charset="-122"/>
                <a:cs typeface="Georgia" pitchFamily="34" charset="-120"/>
              </a:rPr>
              <a:t>3</a:t>
            </a:r>
            <a:endParaRPr lang="en-US" sz="1799" dirty="0"/>
          </a:p>
        </p:txBody>
      </p:sp>
      <p:sp>
        <p:nvSpPr>
          <p:cNvPr id="16" name="s24-texto-15"/>
          <p:cNvSpPr txBox="1"/>
          <p:nvPr/>
        </p:nvSpPr>
        <p:spPr>
          <a:xfrm>
            <a:off x="8143359" y="2173199"/>
            <a:ext cx="2722864" cy="364476"/>
          </a:xfrm>
          <a:prstGeom prst="rect">
            <a:avLst/>
          </a:prstGeom>
          <a:noFill/>
          <a:ln/>
        </p:spPr>
        <p:txBody>
          <a:bodyPr wrap="square" lIns="0" tIns="0" rIns="0" bIns="0" rtlCol="0" anchor="t"/>
          <a:lstStyle/>
          <a:p>
            <a:pPr algn="l" indent="0" marL="0">
              <a:lnSpc>
                <a:spcPts val="1521"/>
              </a:lnSpc>
              <a:buNone/>
            </a:pPr>
            <a:r>
              <a:rPr lang="en-US" sz="1170" dirty="0">
                <a:solidFill>
                  <a:srgbClr val="16181D"/>
                </a:solidFill>
                <a:latin typeface="Arial" pitchFamily="34" charset="0"/>
                <a:ea typeface="Arial" pitchFamily="34" charset="-122"/>
                <a:cs typeface="Arial" pitchFamily="34" charset="-120"/>
              </a:rPr>
              <a:t>¿Quién debe decidir el siguiente paso?</a:t>
            </a:r>
            <a:endParaRPr lang="en-US" sz="1170" dirty="0"/>
          </a:p>
        </p:txBody>
      </p:sp>
      <p:sp>
        <p:nvSpPr>
          <p:cNvPr id="17" name="s24-forma-16"/>
          <p:cNvSpPr/>
          <p:nvPr/>
        </p:nvSpPr>
        <p:spPr>
          <a:xfrm>
            <a:off x="1342572" y="2850734"/>
            <a:ext cx="1425947" cy="351890"/>
          </a:xfrm>
          <a:prstGeom prst="rect">
            <a:avLst/>
          </a:prstGeom>
          <a:ln/>
        </p:spPr>
      </p:sp>
      <p:sp>
        <p:nvSpPr>
          <p:cNvPr id="18" name="s24-forma-17"/>
          <p:cNvSpPr/>
          <p:nvPr/>
        </p:nvSpPr>
        <p:spPr>
          <a:xfrm>
            <a:off x="1342572" y="3196910"/>
            <a:ext cx="1425947" cy="5713"/>
          </a:xfrm>
          <a:prstGeom prst="rect">
            <a:avLst/>
          </a:prstGeom>
          <a:solidFill>
            <a:srgbClr val="0033A0"/>
          </a:solidFill>
          <a:ln/>
        </p:spPr>
      </p:sp>
      <p:sp>
        <p:nvSpPr>
          <p:cNvPr id="19" name="s24-texto-18"/>
          <p:cNvSpPr txBox="1"/>
          <p:nvPr/>
        </p:nvSpPr>
        <p:spPr>
          <a:xfrm>
            <a:off x="1418538" y="2899562"/>
            <a:ext cx="1350437"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ARQUITECTURA</a:t>
            </a:r>
            <a:endParaRPr lang="en-US" sz="855" dirty="0"/>
          </a:p>
        </p:txBody>
      </p:sp>
      <p:sp>
        <p:nvSpPr>
          <p:cNvPr id="20" name="s24-forma-19"/>
          <p:cNvSpPr/>
          <p:nvPr/>
        </p:nvSpPr>
        <p:spPr>
          <a:xfrm>
            <a:off x="2768519" y="2850734"/>
            <a:ext cx="2376638" cy="351890"/>
          </a:xfrm>
          <a:prstGeom prst="rect">
            <a:avLst/>
          </a:prstGeom>
          <a:ln/>
        </p:spPr>
      </p:sp>
      <p:sp>
        <p:nvSpPr>
          <p:cNvPr id="21" name="s24-forma-20"/>
          <p:cNvSpPr/>
          <p:nvPr/>
        </p:nvSpPr>
        <p:spPr>
          <a:xfrm>
            <a:off x="2768519" y="3196910"/>
            <a:ext cx="2376638" cy="5713"/>
          </a:xfrm>
          <a:prstGeom prst="rect">
            <a:avLst/>
          </a:prstGeom>
          <a:solidFill>
            <a:srgbClr val="0033A0"/>
          </a:solidFill>
          <a:ln/>
        </p:spPr>
      </p:sp>
      <p:sp>
        <p:nvSpPr>
          <p:cNvPr id="22" name="s24-texto-21"/>
          <p:cNvSpPr txBox="1"/>
          <p:nvPr/>
        </p:nvSpPr>
        <p:spPr>
          <a:xfrm>
            <a:off x="2844485" y="2899562"/>
            <a:ext cx="2358169" cy="251375"/>
          </a:xfrm>
          <a:prstGeom prst="rect">
            <a:avLst/>
          </a:prstGeom>
          <a:noFill/>
          <a:ln/>
        </p:spPr>
        <p:txBody>
          <a:bodyPr wrap="squar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QUIÉN DECIDE EL SIGUIENTE PASO</a:t>
            </a:r>
            <a:endParaRPr lang="en-US" sz="855" dirty="0"/>
          </a:p>
        </p:txBody>
      </p:sp>
      <p:sp>
        <p:nvSpPr>
          <p:cNvPr id="23" name="s24-forma-22"/>
          <p:cNvSpPr/>
          <p:nvPr/>
        </p:nvSpPr>
        <p:spPr>
          <a:xfrm>
            <a:off x="5145157" y="2850734"/>
            <a:ext cx="3042032" cy="351890"/>
          </a:xfrm>
          <a:prstGeom prst="rect">
            <a:avLst/>
          </a:prstGeom>
          <a:ln/>
        </p:spPr>
      </p:sp>
      <p:sp>
        <p:nvSpPr>
          <p:cNvPr id="24" name="s24-forma-23"/>
          <p:cNvSpPr/>
          <p:nvPr/>
        </p:nvSpPr>
        <p:spPr>
          <a:xfrm>
            <a:off x="5145157" y="3196910"/>
            <a:ext cx="3042032" cy="5713"/>
          </a:xfrm>
          <a:prstGeom prst="rect">
            <a:avLst/>
          </a:prstGeom>
          <a:solidFill>
            <a:srgbClr val="0033A0"/>
          </a:solidFill>
          <a:ln/>
        </p:spPr>
      </p:sp>
      <p:sp>
        <p:nvSpPr>
          <p:cNvPr id="25" name="s24-texto-24"/>
          <p:cNvSpPr txBox="1"/>
          <p:nvPr/>
        </p:nvSpPr>
        <p:spPr>
          <a:xfrm>
            <a:off x="5221123" y="2899562"/>
            <a:ext cx="3063487"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ÚSALA CUANDO</a:t>
            </a:r>
            <a:endParaRPr lang="en-US" sz="855" dirty="0"/>
          </a:p>
        </p:txBody>
      </p:sp>
      <p:sp>
        <p:nvSpPr>
          <p:cNvPr id="26" name="s24-forma-25"/>
          <p:cNvSpPr/>
          <p:nvPr/>
        </p:nvSpPr>
        <p:spPr>
          <a:xfrm>
            <a:off x="8187189" y="2850734"/>
            <a:ext cx="2661934" cy="351890"/>
          </a:xfrm>
          <a:prstGeom prst="rect">
            <a:avLst/>
          </a:prstGeom>
          <a:ln/>
        </p:spPr>
      </p:sp>
      <p:sp>
        <p:nvSpPr>
          <p:cNvPr id="27" name="s24-forma-26"/>
          <p:cNvSpPr/>
          <p:nvPr/>
        </p:nvSpPr>
        <p:spPr>
          <a:xfrm>
            <a:off x="8187189" y="3196910"/>
            <a:ext cx="2661934" cy="5713"/>
          </a:xfrm>
          <a:prstGeom prst="rect">
            <a:avLst/>
          </a:prstGeom>
          <a:solidFill>
            <a:srgbClr val="0033A0"/>
          </a:solidFill>
          <a:ln/>
        </p:spPr>
      </p:sp>
      <p:sp>
        <p:nvSpPr>
          <p:cNvPr id="28" name="s24-texto-27"/>
          <p:cNvSpPr txBox="1"/>
          <p:nvPr/>
        </p:nvSpPr>
        <p:spPr>
          <a:xfrm>
            <a:off x="8263155" y="2899562"/>
            <a:ext cx="2660584"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EVÍTALA CUANDO</a:t>
            </a:r>
            <a:endParaRPr lang="en-US" sz="855" dirty="0"/>
          </a:p>
        </p:txBody>
      </p:sp>
      <p:sp>
        <p:nvSpPr>
          <p:cNvPr id="29" name="s24-forma-28"/>
          <p:cNvSpPr/>
          <p:nvPr/>
        </p:nvSpPr>
        <p:spPr>
          <a:xfrm>
            <a:off x="1342572" y="3202623"/>
            <a:ext cx="9506551" cy="289046"/>
          </a:xfrm>
          <a:prstGeom prst="rect">
            <a:avLst/>
          </a:prstGeom>
          <a:solidFill>
            <a:srgbClr val="E2D3C2"/>
          </a:solidFill>
          <a:ln/>
        </p:spPr>
      </p:sp>
      <p:sp>
        <p:nvSpPr>
          <p:cNvPr id="30" name="s24-forma-29"/>
          <p:cNvSpPr/>
          <p:nvPr/>
        </p:nvSpPr>
        <p:spPr>
          <a:xfrm>
            <a:off x="1342572" y="3202623"/>
            <a:ext cx="1425947" cy="289046"/>
          </a:xfrm>
          <a:prstGeom prst="rect">
            <a:avLst/>
          </a:prstGeom>
          <a:ln/>
        </p:spPr>
      </p:sp>
      <p:sp>
        <p:nvSpPr>
          <p:cNvPr id="31" name="s24-forma-30"/>
          <p:cNvSpPr/>
          <p:nvPr/>
        </p:nvSpPr>
        <p:spPr>
          <a:xfrm>
            <a:off x="1342572" y="3485956"/>
            <a:ext cx="1425947" cy="5713"/>
          </a:xfrm>
          <a:prstGeom prst="rect">
            <a:avLst/>
          </a:prstGeom>
          <a:solidFill>
            <a:srgbClr val="DBD4C4"/>
          </a:solidFill>
          <a:ln/>
        </p:spPr>
      </p:sp>
      <p:sp>
        <p:nvSpPr>
          <p:cNvPr id="32" name="s24-texto-31"/>
          <p:cNvSpPr txBox="1"/>
          <p:nvPr/>
        </p:nvSpPr>
        <p:spPr>
          <a:xfrm>
            <a:off x="1438534" y="3267163"/>
            <a:ext cx="1308046" cy="154253"/>
          </a:xfrm>
          <a:prstGeom prst="rect">
            <a:avLst/>
          </a:prstGeom>
          <a:noFill/>
          <a:ln/>
        </p:spPr>
        <p:txBody>
          <a:bodyPr wrap="none" lIns="0" tIns="0" rIns="0" bIns="0" rtlCol="0" anchor="t"/>
          <a:lstStyle/>
          <a:p>
            <a:pPr algn="l" indent="0" marL="0">
              <a:lnSpc>
                <a:spcPts val="1296"/>
              </a:lnSpc>
              <a:buNone/>
            </a:pPr>
            <a:r>
              <a:rPr lang="en-US" sz="1080" b="1" dirty="0">
                <a:solidFill>
                  <a:srgbClr val="0033A0"/>
                </a:solidFill>
                <a:latin typeface="Arial" pitchFamily="34" charset="0"/>
                <a:ea typeface="Arial" pitchFamily="34" charset="-122"/>
                <a:cs typeface="Arial" pitchFamily="34" charset="-120"/>
              </a:rPr>
              <a:t>Workflow</a:t>
            </a:r>
            <a:endParaRPr lang="en-US" sz="1080" dirty="0"/>
          </a:p>
        </p:txBody>
      </p:sp>
      <p:sp>
        <p:nvSpPr>
          <p:cNvPr id="33" name="s24-forma-32"/>
          <p:cNvSpPr/>
          <p:nvPr/>
        </p:nvSpPr>
        <p:spPr>
          <a:xfrm>
            <a:off x="2768519" y="3202623"/>
            <a:ext cx="2376638" cy="289046"/>
          </a:xfrm>
          <a:prstGeom prst="rect">
            <a:avLst/>
          </a:prstGeom>
          <a:ln/>
        </p:spPr>
      </p:sp>
      <p:sp>
        <p:nvSpPr>
          <p:cNvPr id="34" name="s24-forma-33"/>
          <p:cNvSpPr/>
          <p:nvPr/>
        </p:nvSpPr>
        <p:spPr>
          <a:xfrm>
            <a:off x="2768519" y="3485956"/>
            <a:ext cx="2376638" cy="5713"/>
          </a:xfrm>
          <a:prstGeom prst="rect">
            <a:avLst/>
          </a:prstGeom>
          <a:solidFill>
            <a:srgbClr val="DBD4C4"/>
          </a:solidFill>
          <a:ln/>
        </p:spPr>
      </p:sp>
      <p:sp>
        <p:nvSpPr>
          <p:cNvPr id="35" name="s24-texto-34"/>
          <p:cNvSpPr txBox="1"/>
          <p:nvPr/>
        </p:nvSpPr>
        <p:spPr>
          <a:xfrm>
            <a:off x="2864481" y="3267163"/>
            <a:ext cx="2315778"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El código</a:t>
            </a:r>
            <a:endParaRPr lang="en-US" sz="1080" dirty="0"/>
          </a:p>
        </p:txBody>
      </p:sp>
      <p:sp>
        <p:nvSpPr>
          <p:cNvPr id="36" name="s24-forma-35"/>
          <p:cNvSpPr/>
          <p:nvPr/>
        </p:nvSpPr>
        <p:spPr>
          <a:xfrm>
            <a:off x="5145157" y="3202623"/>
            <a:ext cx="3042032" cy="289046"/>
          </a:xfrm>
          <a:prstGeom prst="rect">
            <a:avLst/>
          </a:prstGeom>
          <a:ln/>
        </p:spPr>
      </p:sp>
      <p:sp>
        <p:nvSpPr>
          <p:cNvPr id="37" name="s24-forma-36"/>
          <p:cNvSpPr/>
          <p:nvPr/>
        </p:nvSpPr>
        <p:spPr>
          <a:xfrm>
            <a:off x="5145157" y="3485956"/>
            <a:ext cx="3042032" cy="5713"/>
          </a:xfrm>
          <a:prstGeom prst="rect">
            <a:avLst/>
          </a:prstGeom>
          <a:solidFill>
            <a:srgbClr val="DBD4C4"/>
          </a:solidFill>
          <a:ln/>
        </p:spPr>
      </p:sp>
      <p:sp>
        <p:nvSpPr>
          <p:cNvPr id="38" name="s24-texto-37"/>
          <p:cNvSpPr txBox="1"/>
          <p:nvPr/>
        </p:nvSpPr>
        <p:spPr>
          <a:xfrm>
            <a:off x="5241119" y="3267163"/>
            <a:ext cx="3021096"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Los pasos se conocen de antemano</a:t>
            </a:r>
            <a:endParaRPr lang="en-US" sz="1080" dirty="0"/>
          </a:p>
        </p:txBody>
      </p:sp>
      <p:sp>
        <p:nvSpPr>
          <p:cNvPr id="39" name="s24-forma-38"/>
          <p:cNvSpPr/>
          <p:nvPr/>
        </p:nvSpPr>
        <p:spPr>
          <a:xfrm>
            <a:off x="8187189" y="3202623"/>
            <a:ext cx="2661934" cy="289046"/>
          </a:xfrm>
          <a:prstGeom prst="rect">
            <a:avLst/>
          </a:prstGeom>
          <a:ln/>
        </p:spPr>
      </p:sp>
      <p:sp>
        <p:nvSpPr>
          <p:cNvPr id="40" name="s24-forma-39"/>
          <p:cNvSpPr/>
          <p:nvPr/>
        </p:nvSpPr>
        <p:spPr>
          <a:xfrm>
            <a:off x="8187189" y="3485956"/>
            <a:ext cx="2661934" cy="5713"/>
          </a:xfrm>
          <a:prstGeom prst="rect">
            <a:avLst/>
          </a:prstGeom>
          <a:solidFill>
            <a:srgbClr val="DBD4C4"/>
          </a:solidFill>
          <a:ln/>
        </p:spPr>
      </p:sp>
      <p:sp>
        <p:nvSpPr>
          <p:cNvPr id="41" name="s24-texto-40"/>
          <p:cNvSpPr txBox="1"/>
          <p:nvPr/>
        </p:nvSpPr>
        <p:spPr>
          <a:xfrm>
            <a:off x="8283151" y="3267163"/>
            <a:ext cx="2618193"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La tarea cambia con cada entrada</a:t>
            </a:r>
            <a:endParaRPr lang="en-US" sz="1080" dirty="0"/>
          </a:p>
        </p:txBody>
      </p:sp>
      <p:sp>
        <p:nvSpPr>
          <p:cNvPr id="42" name="s24-forma-41"/>
          <p:cNvSpPr/>
          <p:nvPr/>
        </p:nvSpPr>
        <p:spPr>
          <a:xfrm>
            <a:off x="1342572" y="3491669"/>
            <a:ext cx="1425947" cy="449012"/>
          </a:xfrm>
          <a:prstGeom prst="rect">
            <a:avLst/>
          </a:prstGeom>
          <a:ln/>
        </p:spPr>
      </p:sp>
      <p:sp>
        <p:nvSpPr>
          <p:cNvPr id="43" name="s24-forma-42"/>
          <p:cNvSpPr/>
          <p:nvPr/>
        </p:nvSpPr>
        <p:spPr>
          <a:xfrm>
            <a:off x="1342572" y="3934967"/>
            <a:ext cx="1425947" cy="5713"/>
          </a:xfrm>
          <a:prstGeom prst="rect">
            <a:avLst/>
          </a:prstGeom>
          <a:solidFill>
            <a:srgbClr val="DBD4C4"/>
          </a:solidFill>
          <a:ln/>
        </p:spPr>
      </p:sp>
      <p:sp>
        <p:nvSpPr>
          <p:cNvPr id="44" name="s24-texto-43"/>
          <p:cNvSpPr txBox="1"/>
          <p:nvPr/>
        </p:nvSpPr>
        <p:spPr>
          <a:xfrm>
            <a:off x="1438534" y="3556209"/>
            <a:ext cx="1308046" cy="154253"/>
          </a:xfrm>
          <a:prstGeom prst="rect">
            <a:avLst/>
          </a:prstGeom>
          <a:noFill/>
          <a:ln/>
        </p:spPr>
        <p:txBody>
          <a:bodyPr wrap="none" lIns="0" tIns="0" rIns="0" bIns="0" rtlCol="0" anchor="t"/>
          <a:lstStyle/>
          <a:p>
            <a:pPr algn="l" indent="0" marL="0">
              <a:lnSpc>
                <a:spcPts val="1296"/>
              </a:lnSpc>
              <a:buNone/>
            </a:pPr>
            <a:r>
              <a:rPr lang="en-US" sz="1080" b="1" dirty="0">
                <a:solidFill>
                  <a:srgbClr val="0033A0"/>
                </a:solidFill>
                <a:latin typeface="Arial" pitchFamily="34" charset="0"/>
                <a:ea typeface="Arial" pitchFamily="34" charset="-122"/>
                <a:cs typeface="Arial" pitchFamily="34" charset="-120"/>
              </a:rPr>
              <a:t>Un agente</a:t>
            </a:r>
            <a:endParaRPr lang="en-US" sz="1080" dirty="0"/>
          </a:p>
        </p:txBody>
      </p:sp>
      <p:sp>
        <p:nvSpPr>
          <p:cNvPr id="45" name="s24-forma-44"/>
          <p:cNvSpPr/>
          <p:nvPr/>
        </p:nvSpPr>
        <p:spPr>
          <a:xfrm>
            <a:off x="2768519" y="3491669"/>
            <a:ext cx="2376638" cy="449012"/>
          </a:xfrm>
          <a:prstGeom prst="rect">
            <a:avLst/>
          </a:prstGeom>
          <a:ln/>
        </p:spPr>
      </p:sp>
      <p:sp>
        <p:nvSpPr>
          <p:cNvPr id="46" name="s24-forma-45"/>
          <p:cNvSpPr/>
          <p:nvPr/>
        </p:nvSpPr>
        <p:spPr>
          <a:xfrm>
            <a:off x="2768519" y="3934967"/>
            <a:ext cx="2376638" cy="5713"/>
          </a:xfrm>
          <a:prstGeom prst="rect">
            <a:avLst/>
          </a:prstGeom>
          <a:solidFill>
            <a:srgbClr val="DBD4C4"/>
          </a:solidFill>
          <a:ln/>
        </p:spPr>
      </p:sp>
      <p:sp>
        <p:nvSpPr>
          <p:cNvPr id="47" name="s24-texto-46"/>
          <p:cNvSpPr txBox="1"/>
          <p:nvPr/>
        </p:nvSpPr>
        <p:spPr>
          <a:xfrm>
            <a:off x="2864481" y="3556209"/>
            <a:ext cx="2315778"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El modelo, en su bucle</a:t>
            </a:r>
            <a:endParaRPr lang="en-US" sz="1080" dirty="0"/>
          </a:p>
        </p:txBody>
      </p:sp>
      <p:sp>
        <p:nvSpPr>
          <p:cNvPr id="48" name="s24-forma-47"/>
          <p:cNvSpPr/>
          <p:nvPr/>
        </p:nvSpPr>
        <p:spPr>
          <a:xfrm>
            <a:off x="5145157" y="3491669"/>
            <a:ext cx="3042032" cy="449012"/>
          </a:xfrm>
          <a:prstGeom prst="rect">
            <a:avLst/>
          </a:prstGeom>
          <a:ln/>
        </p:spPr>
      </p:sp>
      <p:sp>
        <p:nvSpPr>
          <p:cNvPr id="49" name="s24-forma-48"/>
          <p:cNvSpPr/>
          <p:nvPr/>
        </p:nvSpPr>
        <p:spPr>
          <a:xfrm>
            <a:off x="5145157" y="3934967"/>
            <a:ext cx="3042032" cy="5713"/>
          </a:xfrm>
          <a:prstGeom prst="rect">
            <a:avLst/>
          </a:prstGeom>
          <a:solidFill>
            <a:srgbClr val="DBD4C4"/>
          </a:solidFill>
          <a:ln/>
        </p:spPr>
      </p:sp>
      <p:sp>
        <p:nvSpPr>
          <p:cNvPr id="50" name="s24-texto-49"/>
          <p:cNvSpPr txBox="1"/>
          <p:nvPr/>
        </p:nvSpPr>
        <p:spPr>
          <a:xfrm>
            <a:off x="5241119" y="3556209"/>
            <a:ext cx="3021096" cy="314219"/>
          </a:xfrm>
          <a:prstGeom prst="rect">
            <a:avLst/>
          </a:prstGeom>
          <a:noFill/>
          <a:ln/>
        </p:spPr>
        <p:txBody>
          <a:bodyPr wrap="squar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Tarea abierta que cabe en un contexto y unos permisos</a:t>
            </a:r>
            <a:endParaRPr lang="en-US" sz="1080" dirty="0"/>
          </a:p>
        </p:txBody>
      </p:sp>
      <p:sp>
        <p:nvSpPr>
          <p:cNvPr id="51" name="s24-forma-50"/>
          <p:cNvSpPr/>
          <p:nvPr/>
        </p:nvSpPr>
        <p:spPr>
          <a:xfrm>
            <a:off x="8187189" y="3491669"/>
            <a:ext cx="2661934" cy="449012"/>
          </a:xfrm>
          <a:prstGeom prst="rect">
            <a:avLst/>
          </a:prstGeom>
          <a:ln/>
        </p:spPr>
      </p:sp>
      <p:sp>
        <p:nvSpPr>
          <p:cNvPr id="52" name="s24-forma-51"/>
          <p:cNvSpPr/>
          <p:nvPr/>
        </p:nvSpPr>
        <p:spPr>
          <a:xfrm>
            <a:off x="8187189" y="3934967"/>
            <a:ext cx="2661934" cy="5713"/>
          </a:xfrm>
          <a:prstGeom prst="rect">
            <a:avLst/>
          </a:prstGeom>
          <a:solidFill>
            <a:srgbClr val="DBD4C4"/>
          </a:solidFill>
          <a:ln/>
        </p:spPr>
      </p:sp>
      <p:sp>
        <p:nvSpPr>
          <p:cNvPr id="53" name="s24-texto-52"/>
          <p:cNvSpPr txBox="1"/>
          <p:nvPr/>
        </p:nvSpPr>
        <p:spPr>
          <a:xfrm>
            <a:off x="8283151" y="3556209"/>
            <a:ext cx="2618193"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Mezcla permisos o especialidades</a:t>
            </a:r>
            <a:endParaRPr lang="en-US" sz="1080" dirty="0"/>
          </a:p>
        </p:txBody>
      </p:sp>
      <p:sp>
        <p:nvSpPr>
          <p:cNvPr id="54" name="s24-forma-53"/>
          <p:cNvSpPr/>
          <p:nvPr/>
        </p:nvSpPr>
        <p:spPr>
          <a:xfrm>
            <a:off x="1342572" y="3940681"/>
            <a:ext cx="1425947" cy="289046"/>
          </a:xfrm>
          <a:prstGeom prst="rect">
            <a:avLst/>
          </a:prstGeom>
          <a:ln/>
        </p:spPr>
      </p:sp>
      <p:sp>
        <p:nvSpPr>
          <p:cNvPr id="55" name="s24-forma-54"/>
          <p:cNvSpPr/>
          <p:nvPr/>
        </p:nvSpPr>
        <p:spPr>
          <a:xfrm>
            <a:off x="1342572" y="4224013"/>
            <a:ext cx="1425947" cy="5713"/>
          </a:xfrm>
          <a:prstGeom prst="rect">
            <a:avLst/>
          </a:prstGeom>
          <a:solidFill>
            <a:srgbClr val="DBD4C4"/>
          </a:solidFill>
          <a:ln/>
        </p:spPr>
      </p:sp>
      <p:sp>
        <p:nvSpPr>
          <p:cNvPr id="56" name="s24-texto-55"/>
          <p:cNvSpPr txBox="1"/>
          <p:nvPr/>
        </p:nvSpPr>
        <p:spPr>
          <a:xfrm>
            <a:off x="1438534" y="4005220"/>
            <a:ext cx="1308046" cy="154253"/>
          </a:xfrm>
          <a:prstGeom prst="rect">
            <a:avLst/>
          </a:prstGeom>
          <a:noFill/>
          <a:ln/>
        </p:spPr>
        <p:txBody>
          <a:bodyPr wrap="none" lIns="0" tIns="0" rIns="0" bIns="0" rtlCol="0" anchor="t"/>
          <a:lstStyle/>
          <a:p>
            <a:pPr algn="l" indent="0" marL="0">
              <a:lnSpc>
                <a:spcPts val="1296"/>
              </a:lnSpc>
              <a:buNone/>
            </a:pPr>
            <a:r>
              <a:rPr lang="en-US" sz="1080" b="1" dirty="0">
                <a:solidFill>
                  <a:srgbClr val="0033A0"/>
                </a:solidFill>
                <a:latin typeface="Arial" pitchFamily="34" charset="0"/>
                <a:ea typeface="Arial" pitchFamily="34" charset="-122"/>
                <a:cs typeface="Arial" pitchFamily="34" charset="-120"/>
              </a:rPr>
              <a:t>Supervisor</a:t>
            </a:r>
            <a:endParaRPr lang="en-US" sz="1080" dirty="0"/>
          </a:p>
        </p:txBody>
      </p:sp>
      <p:sp>
        <p:nvSpPr>
          <p:cNvPr id="57" name="s24-forma-56"/>
          <p:cNvSpPr/>
          <p:nvPr/>
        </p:nvSpPr>
        <p:spPr>
          <a:xfrm>
            <a:off x="2768519" y="3940681"/>
            <a:ext cx="2376638" cy="289046"/>
          </a:xfrm>
          <a:prstGeom prst="rect">
            <a:avLst/>
          </a:prstGeom>
          <a:ln/>
        </p:spPr>
      </p:sp>
      <p:sp>
        <p:nvSpPr>
          <p:cNvPr id="58" name="s24-forma-57"/>
          <p:cNvSpPr/>
          <p:nvPr/>
        </p:nvSpPr>
        <p:spPr>
          <a:xfrm>
            <a:off x="2768519" y="4224013"/>
            <a:ext cx="2376638" cy="5713"/>
          </a:xfrm>
          <a:prstGeom prst="rect">
            <a:avLst/>
          </a:prstGeom>
          <a:solidFill>
            <a:srgbClr val="DBD4C4"/>
          </a:solidFill>
          <a:ln/>
        </p:spPr>
      </p:sp>
      <p:sp>
        <p:nvSpPr>
          <p:cNvPr id="59" name="s24-texto-58"/>
          <p:cNvSpPr txBox="1"/>
          <p:nvPr/>
        </p:nvSpPr>
        <p:spPr>
          <a:xfrm>
            <a:off x="2864481" y="4005220"/>
            <a:ext cx="2315778"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Un agente central o código</a:t>
            </a:r>
            <a:endParaRPr lang="en-US" sz="1080" dirty="0"/>
          </a:p>
        </p:txBody>
      </p:sp>
      <p:sp>
        <p:nvSpPr>
          <p:cNvPr id="60" name="s24-forma-59"/>
          <p:cNvSpPr/>
          <p:nvPr/>
        </p:nvSpPr>
        <p:spPr>
          <a:xfrm>
            <a:off x="5145157" y="3940681"/>
            <a:ext cx="3042032" cy="289046"/>
          </a:xfrm>
          <a:prstGeom prst="rect">
            <a:avLst/>
          </a:prstGeom>
          <a:ln/>
        </p:spPr>
      </p:sp>
      <p:sp>
        <p:nvSpPr>
          <p:cNvPr id="61" name="s24-forma-60"/>
          <p:cNvSpPr/>
          <p:nvPr/>
        </p:nvSpPr>
        <p:spPr>
          <a:xfrm>
            <a:off x="5145157" y="4224013"/>
            <a:ext cx="3042032" cy="5713"/>
          </a:xfrm>
          <a:prstGeom prst="rect">
            <a:avLst/>
          </a:prstGeom>
          <a:solidFill>
            <a:srgbClr val="DBD4C4"/>
          </a:solidFill>
          <a:ln/>
        </p:spPr>
      </p:sp>
      <p:sp>
        <p:nvSpPr>
          <p:cNvPr id="62" name="s24-texto-61"/>
          <p:cNvSpPr txBox="1"/>
          <p:nvPr/>
        </p:nvSpPr>
        <p:spPr>
          <a:xfrm>
            <a:off x="5241119" y="4005220"/>
            <a:ext cx="3021096"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Varias especialidades, orden según el caso</a:t>
            </a:r>
            <a:endParaRPr lang="en-US" sz="1080" dirty="0"/>
          </a:p>
        </p:txBody>
      </p:sp>
      <p:sp>
        <p:nvSpPr>
          <p:cNvPr id="63" name="s24-forma-62"/>
          <p:cNvSpPr/>
          <p:nvPr/>
        </p:nvSpPr>
        <p:spPr>
          <a:xfrm>
            <a:off x="8187189" y="3940681"/>
            <a:ext cx="2661934" cy="289046"/>
          </a:xfrm>
          <a:prstGeom prst="rect">
            <a:avLst/>
          </a:prstGeom>
          <a:ln/>
        </p:spPr>
      </p:sp>
      <p:sp>
        <p:nvSpPr>
          <p:cNvPr id="64" name="s24-forma-63"/>
          <p:cNvSpPr/>
          <p:nvPr/>
        </p:nvSpPr>
        <p:spPr>
          <a:xfrm>
            <a:off x="8187189" y="4224013"/>
            <a:ext cx="2661934" cy="5713"/>
          </a:xfrm>
          <a:prstGeom prst="rect">
            <a:avLst/>
          </a:prstGeom>
          <a:solidFill>
            <a:srgbClr val="DBD4C4"/>
          </a:solidFill>
          <a:ln/>
        </p:spPr>
      </p:sp>
      <p:sp>
        <p:nvSpPr>
          <p:cNvPr id="65" name="s24-texto-64"/>
          <p:cNvSpPr txBox="1"/>
          <p:nvPr/>
        </p:nvSpPr>
        <p:spPr>
          <a:xfrm>
            <a:off x="8283151" y="4005220"/>
            <a:ext cx="2618193"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El centro se vuelve cuello de botella</a:t>
            </a:r>
            <a:endParaRPr lang="en-US" sz="1080" dirty="0"/>
          </a:p>
        </p:txBody>
      </p:sp>
      <p:sp>
        <p:nvSpPr>
          <p:cNvPr id="66" name="s24-forma-65"/>
          <p:cNvSpPr/>
          <p:nvPr/>
        </p:nvSpPr>
        <p:spPr>
          <a:xfrm>
            <a:off x="1342572" y="4229726"/>
            <a:ext cx="1425947" cy="289046"/>
          </a:xfrm>
          <a:prstGeom prst="rect">
            <a:avLst/>
          </a:prstGeom>
          <a:ln/>
        </p:spPr>
      </p:sp>
      <p:sp>
        <p:nvSpPr>
          <p:cNvPr id="67" name="s24-forma-66"/>
          <p:cNvSpPr/>
          <p:nvPr/>
        </p:nvSpPr>
        <p:spPr>
          <a:xfrm>
            <a:off x="1342572" y="4513059"/>
            <a:ext cx="1425947" cy="5713"/>
          </a:xfrm>
          <a:prstGeom prst="rect">
            <a:avLst/>
          </a:prstGeom>
          <a:solidFill>
            <a:srgbClr val="DBD4C4"/>
          </a:solidFill>
          <a:ln/>
        </p:spPr>
      </p:sp>
      <p:sp>
        <p:nvSpPr>
          <p:cNvPr id="68" name="s24-texto-67"/>
          <p:cNvSpPr txBox="1"/>
          <p:nvPr/>
        </p:nvSpPr>
        <p:spPr>
          <a:xfrm>
            <a:off x="1438534" y="4294266"/>
            <a:ext cx="1308046" cy="154253"/>
          </a:xfrm>
          <a:prstGeom prst="rect">
            <a:avLst/>
          </a:prstGeom>
          <a:noFill/>
          <a:ln/>
        </p:spPr>
        <p:txBody>
          <a:bodyPr wrap="none" lIns="0" tIns="0" rIns="0" bIns="0" rtlCol="0" anchor="t"/>
          <a:lstStyle/>
          <a:p>
            <a:pPr algn="l" indent="0" marL="0">
              <a:lnSpc>
                <a:spcPts val="1296"/>
              </a:lnSpc>
              <a:buNone/>
            </a:pPr>
            <a:r>
              <a:rPr lang="en-US" sz="1080" b="1" dirty="0">
                <a:solidFill>
                  <a:srgbClr val="0033A0"/>
                </a:solidFill>
                <a:latin typeface="Arial" pitchFamily="34" charset="0"/>
                <a:ea typeface="Arial" pitchFamily="34" charset="-122"/>
                <a:cs typeface="Arial" pitchFamily="34" charset="-120"/>
              </a:rPr>
              <a:t>Jerárquica</a:t>
            </a:r>
            <a:endParaRPr lang="en-US" sz="1080" dirty="0"/>
          </a:p>
        </p:txBody>
      </p:sp>
      <p:sp>
        <p:nvSpPr>
          <p:cNvPr id="69" name="s24-forma-68"/>
          <p:cNvSpPr/>
          <p:nvPr/>
        </p:nvSpPr>
        <p:spPr>
          <a:xfrm>
            <a:off x="2768519" y="4229726"/>
            <a:ext cx="2376638" cy="289046"/>
          </a:xfrm>
          <a:prstGeom prst="rect">
            <a:avLst/>
          </a:prstGeom>
          <a:ln/>
        </p:spPr>
      </p:sp>
      <p:sp>
        <p:nvSpPr>
          <p:cNvPr id="70" name="s24-forma-69"/>
          <p:cNvSpPr/>
          <p:nvPr/>
        </p:nvSpPr>
        <p:spPr>
          <a:xfrm>
            <a:off x="2768519" y="4513059"/>
            <a:ext cx="2376638" cy="5713"/>
          </a:xfrm>
          <a:prstGeom prst="rect">
            <a:avLst/>
          </a:prstGeom>
          <a:solidFill>
            <a:srgbClr val="DBD4C4"/>
          </a:solidFill>
          <a:ln/>
        </p:spPr>
      </p:sp>
      <p:sp>
        <p:nvSpPr>
          <p:cNvPr id="71" name="s24-texto-70"/>
          <p:cNvSpPr txBox="1"/>
          <p:nvPr/>
        </p:nvSpPr>
        <p:spPr>
          <a:xfrm>
            <a:off x="2864481" y="4294266"/>
            <a:ext cx="2315778"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Un supervisor por nivel</a:t>
            </a:r>
            <a:endParaRPr lang="en-US" sz="1080" dirty="0"/>
          </a:p>
        </p:txBody>
      </p:sp>
      <p:sp>
        <p:nvSpPr>
          <p:cNvPr id="72" name="s24-forma-71"/>
          <p:cNvSpPr/>
          <p:nvPr/>
        </p:nvSpPr>
        <p:spPr>
          <a:xfrm>
            <a:off x="5145157" y="4229726"/>
            <a:ext cx="3042032" cy="289046"/>
          </a:xfrm>
          <a:prstGeom prst="rect">
            <a:avLst/>
          </a:prstGeom>
          <a:ln/>
        </p:spPr>
      </p:sp>
      <p:sp>
        <p:nvSpPr>
          <p:cNvPr id="73" name="s24-forma-72"/>
          <p:cNvSpPr/>
          <p:nvPr/>
        </p:nvSpPr>
        <p:spPr>
          <a:xfrm>
            <a:off x="5145157" y="4513059"/>
            <a:ext cx="3042032" cy="5713"/>
          </a:xfrm>
          <a:prstGeom prst="rect">
            <a:avLst/>
          </a:prstGeom>
          <a:solidFill>
            <a:srgbClr val="DBD4C4"/>
          </a:solidFill>
          <a:ln/>
        </p:spPr>
      </p:sp>
      <p:sp>
        <p:nvSpPr>
          <p:cNvPr id="74" name="s24-texto-73"/>
          <p:cNvSpPr txBox="1"/>
          <p:nvPr/>
        </p:nvSpPr>
        <p:spPr>
          <a:xfrm>
            <a:off x="5241119" y="4294266"/>
            <a:ext cx="3021096"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Muchos agentes agrupados en equipos</a:t>
            </a:r>
            <a:endParaRPr lang="en-US" sz="1080" dirty="0"/>
          </a:p>
        </p:txBody>
      </p:sp>
      <p:sp>
        <p:nvSpPr>
          <p:cNvPr id="75" name="s24-forma-74"/>
          <p:cNvSpPr/>
          <p:nvPr/>
        </p:nvSpPr>
        <p:spPr>
          <a:xfrm>
            <a:off x="8187189" y="4229726"/>
            <a:ext cx="2661934" cy="289046"/>
          </a:xfrm>
          <a:prstGeom prst="rect">
            <a:avLst/>
          </a:prstGeom>
          <a:ln/>
        </p:spPr>
      </p:sp>
      <p:sp>
        <p:nvSpPr>
          <p:cNvPr id="76" name="s24-forma-75"/>
          <p:cNvSpPr/>
          <p:nvPr/>
        </p:nvSpPr>
        <p:spPr>
          <a:xfrm>
            <a:off x="8187189" y="4513059"/>
            <a:ext cx="2661934" cy="5713"/>
          </a:xfrm>
          <a:prstGeom prst="rect">
            <a:avLst/>
          </a:prstGeom>
          <a:solidFill>
            <a:srgbClr val="DBD4C4"/>
          </a:solidFill>
          <a:ln/>
        </p:spPr>
      </p:sp>
      <p:sp>
        <p:nvSpPr>
          <p:cNvPr id="77" name="s24-texto-76"/>
          <p:cNvSpPr txBox="1"/>
          <p:nvPr/>
        </p:nvSpPr>
        <p:spPr>
          <a:xfrm>
            <a:off x="8283151" y="4294266"/>
            <a:ext cx="2618193"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Hay pocos agentes</a:t>
            </a:r>
            <a:endParaRPr lang="en-US" sz="1080" dirty="0"/>
          </a:p>
        </p:txBody>
      </p:sp>
      <p:sp>
        <p:nvSpPr>
          <p:cNvPr id="78" name="s24-forma-77"/>
          <p:cNvSpPr/>
          <p:nvPr/>
        </p:nvSpPr>
        <p:spPr>
          <a:xfrm>
            <a:off x="1342572" y="4518772"/>
            <a:ext cx="1425947" cy="289046"/>
          </a:xfrm>
          <a:prstGeom prst="rect">
            <a:avLst/>
          </a:prstGeom>
          <a:ln/>
        </p:spPr>
      </p:sp>
      <p:sp>
        <p:nvSpPr>
          <p:cNvPr id="79" name="s24-forma-78"/>
          <p:cNvSpPr/>
          <p:nvPr/>
        </p:nvSpPr>
        <p:spPr>
          <a:xfrm>
            <a:off x="1342572" y="4802105"/>
            <a:ext cx="1425947" cy="5713"/>
          </a:xfrm>
          <a:prstGeom prst="rect">
            <a:avLst/>
          </a:prstGeom>
          <a:solidFill>
            <a:srgbClr val="DBD4C4"/>
          </a:solidFill>
          <a:ln/>
        </p:spPr>
      </p:sp>
      <p:sp>
        <p:nvSpPr>
          <p:cNvPr id="80" name="s24-texto-79"/>
          <p:cNvSpPr txBox="1"/>
          <p:nvPr/>
        </p:nvSpPr>
        <p:spPr>
          <a:xfrm>
            <a:off x="1438534" y="4583312"/>
            <a:ext cx="1308046" cy="154253"/>
          </a:xfrm>
          <a:prstGeom prst="rect">
            <a:avLst/>
          </a:prstGeom>
          <a:noFill/>
          <a:ln/>
        </p:spPr>
        <p:txBody>
          <a:bodyPr wrap="none" lIns="0" tIns="0" rIns="0" bIns="0" rtlCol="0" anchor="t"/>
          <a:lstStyle/>
          <a:p>
            <a:pPr algn="l" indent="0" marL="0">
              <a:lnSpc>
                <a:spcPts val="1296"/>
              </a:lnSpc>
              <a:buNone/>
            </a:pPr>
            <a:r>
              <a:rPr lang="en-US" sz="1080" b="1" dirty="0">
                <a:solidFill>
                  <a:srgbClr val="0033A0"/>
                </a:solidFill>
                <a:latin typeface="Arial" pitchFamily="34" charset="0"/>
                <a:ea typeface="Arial" pitchFamily="34" charset="-122"/>
                <a:cs typeface="Arial" pitchFamily="34" charset="-120"/>
              </a:rPr>
              <a:t>Traspasos</a:t>
            </a:r>
            <a:endParaRPr lang="en-US" sz="1080" dirty="0"/>
          </a:p>
        </p:txBody>
      </p:sp>
      <p:sp>
        <p:nvSpPr>
          <p:cNvPr id="81" name="s24-forma-80"/>
          <p:cNvSpPr/>
          <p:nvPr/>
        </p:nvSpPr>
        <p:spPr>
          <a:xfrm>
            <a:off x="2768519" y="4518772"/>
            <a:ext cx="2376638" cy="289046"/>
          </a:xfrm>
          <a:prstGeom prst="rect">
            <a:avLst/>
          </a:prstGeom>
          <a:ln/>
        </p:spPr>
      </p:sp>
      <p:sp>
        <p:nvSpPr>
          <p:cNvPr id="82" name="s24-forma-81"/>
          <p:cNvSpPr/>
          <p:nvPr/>
        </p:nvSpPr>
        <p:spPr>
          <a:xfrm>
            <a:off x="2768519" y="4802105"/>
            <a:ext cx="2376638" cy="5713"/>
          </a:xfrm>
          <a:prstGeom prst="rect">
            <a:avLst/>
          </a:prstGeom>
          <a:solidFill>
            <a:srgbClr val="DBD4C4"/>
          </a:solidFill>
          <a:ln/>
        </p:spPr>
      </p:sp>
      <p:sp>
        <p:nvSpPr>
          <p:cNvPr id="83" name="s24-texto-82"/>
          <p:cNvSpPr txBox="1"/>
          <p:nvPr/>
        </p:nvSpPr>
        <p:spPr>
          <a:xfrm>
            <a:off x="2864481" y="4583312"/>
            <a:ext cx="2315778"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El agente activo</a:t>
            </a:r>
            <a:endParaRPr lang="en-US" sz="1080" dirty="0"/>
          </a:p>
        </p:txBody>
      </p:sp>
      <p:sp>
        <p:nvSpPr>
          <p:cNvPr id="84" name="s24-forma-83"/>
          <p:cNvSpPr/>
          <p:nvPr/>
        </p:nvSpPr>
        <p:spPr>
          <a:xfrm>
            <a:off x="5145157" y="4518772"/>
            <a:ext cx="3042032" cy="289046"/>
          </a:xfrm>
          <a:prstGeom prst="rect">
            <a:avLst/>
          </a:prstGeom>
          <a:ln/>
        </p:spPr>
      </p:sp>
      <p:sp>
        <p:nvSpPr>
          <p:cNvPr id="85" name="s24-forma-84"/>
          <p:cNvSpPr/>
          <p:nvPr/>
        </p:nvSpPr>
        <p:spPr>
          <a:xfrm>
            <a:off x="5145157" y="4802105"/>
            <a:ext cx="3042032" cy="5713"/>
          </a:xfrm>
          <a:prstGeom prst="rect">
            <a:avLst/>
          </a:prstGeom>
          <a:solidFill>
            <a:srgbClr val="DBD4C4"/>
          </a:solidFill>
          <a:ln/>
        </p:spPr>
      </p:sp>
      <p:sp>
        <p:nvSpPr>
          <p:cNvPr id="86" name="s24-texto-85"/>
          <p:cNvSpPr txBox="1"/>
          <p:nvPr/>
        </p:nvSpPr>
        <p:spPr>
          <a:xfrm>
            <a:off x="5241119" y="4583312"/>
            <a:ext cx="3021096"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Atención por etapas en una conversación</a:t>
            </a:r>
            <a:endParaRPr lang="en-US" sz="1080" dirty="0"/>
          </a:p>
        </p:txBody>
      </p:sp>
      <p:sp>
        <p:nvSpPr>
          <p:cNvPr id="87" name="s24-forma-86"/>
          <p:cNvSpPr/>
          <p:nvPr/>
        </p:nvSpPr>
        <p:spPr>
          <a:xfrm>
            <a:off x="8187189" y="4518772"/>
            <a:ext cx="2661934" cy="289046"/>
          </a:xfrm>
          <a:prstGeom prst="rect">
            <a:avLst/>
          </a:prstGeom>
          <a:ln/>
        </p:spPr>
      </p:sp>
      <p:sp>
        <p:nvSpPr>
          <p:cNvPr id="88" name="s24-forma-87"/>
          <p:cNvSpPr/>
          <p:nvPr/>
        </p:nvSpPr>
        <p:spPr>
          <a:xfrm>
            <a:off x="8187189" y="4802105"/>
            <a:ext cx="2661934" cy="5713"/>
          </a:xfrm>
          <a:prstGeom prst="rect">
            <a:avLst/>
          </a:prstGeom>
          <a:solidFill>
            <a:srgbClr val="DBD4C4"/>
          </a:solidFill>
          <a:ln/>
        </p:spPr>
      </p:sp>
      <p:sp>
        <p:nvSpPr>
          <p:cNvPr id="89" name="s24-texto-88"/>
          <p:cNvSpPr txBox="1"/>
          <p:nvPr/>
        </p:nvSpPr>
        <p:spPr>
          <a:xfrm>
            <a:off x="8283151" y="4583312"/>
            <a:ext cx="2618193"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El orden debe ser fijo y auditable</a:t>
            </a:r>
            <a:endParaRPr lang="en-US" sz="1080" dirty="0"/>
          </a:p>
        </p:txBody>
      </p:sp>
      <p:sp>
        <p:nvSpPr>
          <p:cNvPr id="90" name="s24-forma-89"/>
          <p:cNvSpPr/>
          <p:nvPr/>
        </p:nvSpPr>
        <p:spPr>
          <a:xfrm>
            <a:off x="1342572" y="4807818"/>
            <a:ext cx="1425947" cy="289046"/>
          </a:xfrm>
          <a:prstGeom prst="rect">
            <a:avLst/>
          </a:prstGeom>
          <a:ln/>
        </p:spPr>
      </p:sp>
      <p:sp>
        <p:nvSpPr>
          <p:cNvPr id="91" name="s24-forma-90"/>
          <p:cNvSpPr/>
          <p:nvPr/>
        </p:nvSpPr>
        <p:spPr>
          <a:xfrm>
            <a:off x="1342572" y="5091150"/>
            <a:ext cx="1425947" cy="5713"/>
          </a:xfrm>
          <a:prstGeom prst="rect">
            <a:avLst/>
          </a:prstGeom>
          <a:solidFill>
            <a:srgbClr val="DBD4C4"/>
          </a:solidFill>
          <a:ln/>
        </p:spPr>
      </p:sp>
      <p:sp>
        <p:nvSpPr>
          <p:cNvPr id="92" name="s24-texto-91"/>
          <p:cNvSpPr txBox="1"/>
          <p:nvPr/>
        </p:nvSpPr>
        <p:spPr>
          <a:xfrm>
            <a:off x="1438534" y="4872358"/>
            <a:ext cx="1308046" cy="154253"/>
          </a:xfrm>
          <a:prstGeom prst="rect">
            <a:avLst/>
          </a:prstGeom>
          <a:noFill/>
          <a:ln/>
        </p:spPr>
        <p:txBody>
          <a:bodyPr wrap="none" lIns="0" tIns="0" rIns="0" bIns="0" rtlCol="0" anchor="t"/>
          <a:lstStyle/>
          <a:p>
            <a:pPr algn="l" indent="0" marL="0">
              <a:lnSpc>
                <a:spcPts val="1296"/>
              </a:lnSpc>
              <a:buNone/>
            </a:pPr>
            <a:r>
              <a:rPr lang="en-US" sz="1080" b="1" dirty="0">
                <a:solidFill>
                  <a:srgbClr val="0033A0"/>
                </a:solidFill>
                <a:latin typeface="Arial" pitchFamily="34" charset="0"/>
                <a:ea typeface="Arial" pitchFamily="34" charset="-122"/>
                <a:cs typeface="Arial" pitchFamily="34" charset="-120"/>
              </a:rPr>
              <a:t>Red</a:t>
            </a:r>
            <a:endParaRPr lang="en-US" sz="1080" dirty="0"/>
          </a:p>
        </p:txBody>
      </p:sp>
      <p:sp>
        <p:nvSpPr>
          <p:cNvPr id="93" name="s24-forma-92"/>
          <p:cNvSpPr/>
          <p:nvPr/>
        </p:nvSpPr>
        <p:spPr>
          <a:xfrm>
            <a:off x="2768519" y="4807818"/>
            <a:ext cx="2376638" cy="289046"/>
          </a:xfrm>
          <a:prstGeom prst="rect">
            <a:avLst/>
          </a:prstGeom>
          <a:ln/>
        </p:spPr>
      </p:sp>
      <p:sp>
        <p:nvSpPr>
          <p:cNvPr id="94" name="s24-forma-93"/>
          <p:cNvSpPr/>
          <p:nvPr/>
        </p:nvSpPr>
        <p:spPr>
          <a:xfrm>
            <a:off x="2768519" y="5091150"/>
            <a:ext cx="2376638" cy="5713"/>
          </a:xfrm>
          <a:prstGeom prst="rect">
            <a:avLst/>
          </a:prstGeom>
          <a:solidFill>
            <a:srgbClr val="DBD4C4"/>
          </a:solidFill>
          <a:ln/>
        </p:spPr>
      </p:sp>
      <p:sp>
        <p:nvSpPr>
          <p:cNvPr id="95" name="s24-texto-94"/>
          <p:cNvSpPr txBox="1"/>
          <p:nvPr/>
        </p:nvSpPr>
        <p:spPr>
          <a:xfrm>
            <a:off x="2864481" y="4872358"/>
            <a:ext cx="2315778"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Cualquier agente</a:t>
            </a:r>
            <a:endParaRPr lang="en-US" sz="1080" dirty="0"/>
          </a:p>
        </p:txBody>
      </p:sp>
      <p:sp>
        <p:nvSpPr>
          <p:cNvPr id="96" name="s24-forma-95"/>
          <p:cNvSpPr/>
          <p:nvPr/>
        </p:nvSpPr>
        <p:spPr>
          <a:xfrm>
            <a:off x="5145157" y="4807818"/>
            <a:ext cx="3042032" cy="289046"/>
          </a:xfrm>
          <a:prstGeom prst="rect">
            <a:avLst/>
          </a:prstGeom>
          <a:ln/>
        </p:spPr>
      </p:sp>
      <p:sp>
        <p:nvSpPr>
          <p:cNvPr id="97" name="s24-forma-96"/>
          <p:cNvSpPr/>
          <p:nvPr/>
        </p:nvSpPr>
        <p:spPr>
          <a:xfrm>
            <a:off x="5145157" y="5091150"/>
            <a:ext cx="3042032" cy="5713"/>
          </a:xfrm>
          <a:prstGeom prst="rect">
            <a:avLst/>
          </a:prstGeom>
          <a:solidFill>
            <a:srgbClr val="DBD4C4"/>
          </a:solidFill>
          <a:ln/>
        </p:spPr>
      </p:sp>
      <p:sp>
        <p:nvSpPr>
          <p:cNvPr id="98" name="s24-texto-97"/>
          <p:cNvSpPr txBox="1"/>
          <p:nvPr/>
        </p:nvSpPr>
        <p:spPr>
          <a:xfrm>
            <a:off x="5241119" y="4872358"/>
            <a:ext cx="3021096"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Exploración abierta o simulaciones</a:t>
            </a:r>
            <a:endParaRPr lang="en-US" sz="1080" dirty="0"/>
          </a:p>
        </p:txBody>
      </p:sp>
      <p:sp>
        <p:nvSpPr>
          <p:cNvPr id="99" name="s24-forma-98"/>
          <p:cNvSpPr/>
          <p:nvPr/>
        </p:nvSpPr>
        <p:spPr>
          <a:xfrm>
            <a:off x="8187189" y="4807818"/>
            <a:ext cx="2661934" cy="289046"/>
          </a:xfrm>
          <a:prstGeom prst="rect">
            <a:avLst/>
          </a:prstGeom>
          <a:ln/>
        </p:spPr>
      </p:sp>
      <p:sp>
        <p:nvSpPr>
          <p:cNvPr id="100" name="s24-forma-99"/>
          <p:cNvSpPr/>
          <p:nvPr/>
        </p:nvSpPr>
        <p:spPr>
          <a:xfrm>
            <a:off x="8187189" y="5091150"/>
            <a:ext cx="2661934" cy="5713"/>
          </a:xfrm>
          <a:prstGeom prst="rect">
            <a:avLst/>
          </a:prstGeom>
          <a:solidFill>
            <a:srgbClr val="DBD4C4"/>
          </a:solidFill>
          <a:ln/>
        </p:spPr>
      </p:sp>
      <p:sp>
        <p:nvSpPr>
          <p:cNvPr id="101" name="s24-texto-100"/>
          <p:cNvSpPr txBox="1"/>
          <p:nvPr/>
        </p:nvSpPr>
        <p:spPr>
          <a:xfrm>
            <a:off x="8283151" y="4872358"/>
            <a:ext cx="2618193"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Casi siempre, en producción</a:t>
            </a:r>
            <a:endParaRPr lang="en-US" sz="1080" dirty="0"/>
          </a:p>
        </p:txBody>
      </p:sp>
      <p:sp>
        <p:nvSpPr>
          <p:cNvPr id="102" name="s24-texto-101"/>
          <p:cNvSpPr txBox="1"/>
          <p:nvPr/>
        </p:nvSpPr>
        <p:spPr>
          <a:xfrm>
            <a:off x="1438534" y="5161403"/>
            <a:ext cx="1308046" cy="154253"/>
          </a:xfrm>
          <a:prstGeom prst="rect">
            <a:avLst/>
          </a:prstGeom>
          <a:noFill/>
          <a:ln/>
        </p:spPr>
        <p:txBody>
          <a:bodyPr wrap="none" lIns="0" tIns="0" rIns="0" bIns="0" rtlCol="0" anchor="t"/>
          <a:lstStyle/>
          <a:p>
            <a:pPr algn="l" indent="0" marL="0">
              <a:lnSpc>
                <a:spcPts val="1296"/>
              </a:lnSpc>
              <a:buNone/>
            </a:pPr>
            <a:r>
              <a:rPr lang="en-US" sz="1080" b="1" dirty="0">
                <a:solidFill>
                  <a:srgbClr val="0033A0"/>
                </a:solidFill>
                <a:latin typeface="Arial" pitchFamily="34" charset="0"/>
                <a:ea typeface="Arial" pitchFamily="34" charset="-122"/>
                <a:cs typeface="Arial" pitchFamily="34" charset="-120"/>
              </a:rPr>
              <a:t>Pizarra</a:t>
            </a:r>
            <a:endParaRPr lang="en-US" sz="1080" dirty="0"/>
          </a:p>
        </p:txBody>
      </p:sp>
      <p:sp>
        <p:nvSpPr>
          <p:cNvPr id="103" name="s24-texto-102"/>
          <p:cNvSpPr txBox="1"/>
          <p:nvPr/>
        </p:nvSpPr>
        <p:spPr>
          <a:xfrm>
            <a:off x="2864481" y="5161403"/>
            <a:ext cx="2315778"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Un controlador que mira el estado</a:t>
            </a:r>
            <a:endParaRPr lang="en-US" sz="1080" dirty="0"/>
          </a:p>
        </p:txBody>
      </p:sp>
      <p:sp>
        <p:nvSpPr>
          <p:cNvPr id="104" name="s24-texto-103"/>
          <p:cNvSpPr txBox="1"/>
          <p:nvPr/>
        </p:nvSpPr>
        <p:spPr>
          <a:xfrm>
            <a:off x="5241119" y="5161403"/>
            <a:ext cx="3021096" cy="314219"/>
          </a:xfrm>
          <a:prstGeom prst="rect">
            <a:avLst/>
          </a:prstGeom>
          <a:noFill/>
          <a:ln/>
        </p:spPr>
        <p:txBody>
          <a:bodyPr wrap="squar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Agentes desacoplados que aportan por insumos</a:t>
            </a:r>
            <a:endParaRPr lang="en-US" sz="1080" dirty="0"/>
          </a:p>
        </p:txBody>
      </p:sp>
      <p:sp>
        <p:nvSpPr>
          <p:cNvPr id="105" name="s24-texto-104"/>
          <p:cNvSpPr txBox="1"/>
          <p:nvPr/>
        </p:nvSpPr>
        <p:spPr>
          <a:xfrm>
            <a:off x="8283151" y="5161403"/>
            <a:ext cx="2618193" cy="154253"/>
          </a:xfrm>
          <a:prstGeom prst="rect">
            <a:avLst/>
          </a:prstGeom>
          <a:noFill/>
          <a:ln/>
        </p:spPr>
        <p:txBody>
          <a:bodyPr wrap="none" lIns="0" tIns="0" rIns="0" bIns="0" rtlCol="0" anchor="t"/>
          <a:lstStyle/>
          <a:p>
            <a:pPr algn="l" indent="0" marL="0">
              <a:lnSpc>
                <a:spcPts val="1296"/>
              </a:lnSpc>
              <a:buNone/>
            </a:pPr>
            <a:r>
              <a:rPr lang="en-US" sz="1080" dirty="0">
                <a:solidFill>
                  <a:srgbClr val="16181D"/>
                </a:solidFill>
                <a:latin typeface="Arial" pitchFamily="34" charset="0"/>
                <a:ea typeface="Arial" pitchFamily="34" charset="-122"/>
                <a:cs typeface="Arial" pitchFamily="34" charset="-120"/>
              </a:rPr>
              <a:t>Varios escriben el mismo campo</a:t>
            </a:r>
            <a:endParaRPr lang="en-US" sz="1080" dirty="0"/>
          </a:p>
        </p:txBody>
      </p:sp>
      <p:sp>
        <p:nvSpPr>
          <p:cNvPr id="106" name="s24-texto-105"/>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La fábrica: un workflow orquestado por código, con agentes dentro de algunos nodos</a:t>
            </a:r>
            <a:endParaRPr lang="en-US" sz="1080" dirty="0"/>
          </a:p>
        </p:txBody>
      </p:sp>
      <p:sp>
        <p:nvSpPr>
          <p:cNvPr id="107" name="s24-forma-106"/>
          <p:cNvSpPr/>
          <p:nvPr/>
        </p:nvSpPr>
        <p:spPr>
          <a:xfrm>
            <a:off x="853390" y="6411138"/>
            <a:ext cx="10484915" cy="5713"/>
          </a:xfrm>
          <a:prstGeom prst="rect">
            <a:avLst/>
          </a:prstGeom>
          <a:solidFill>
            <a:srgbClr val="DBD4C4"/>
          </a:solidFill>
          <a:ln/>
        </p:spPr>
      </p:sp>
      <p:pic>
        <p:nvPicPr>
          <p:cNvPr id="108" name="s24-logo-107"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9" name="s24-forma-108"/>
          <p:cNvSpPr/>
          <p:nvPr/>
        </p:nvSpPr>
        <p:spPr>
          <a:xfrm>
            <a:off x="1659380" y="6519865"/>
            <a:ext cx="2926878" cy="102835"/>
          </a:xfrm>
          <a:prstGeom prst="rect">
            <a:avLst/>
          </a:prstGeom>
          <a:ln/>
        </p:spPr>
      </p:sp>
      <p:sp>
        <p:nvSpPr>
          <p:cNvPr id="110" name="s24-forma-109"/>
          <p:cNvSpPr/>
          <p:nvPr/>
        </p:nvSpPr>
        <p:spPr>
          <a:xfrm>
            <a:off x="1659380" y="6519865"/>
            <a:ext cx="5713" cy="102835"/>
          </a:xfrm>
          <a:prstGeom prst="rect">
            <a:avLst/>
          </a:prstGeom>
          <a:solidFill>
            <a:srgbClr val="C6BFAE"/>
          </a:solidFill>
          <a:ln/>
        </p:spPr>
      </p:sp>
      <p:sp>
        <p:nvSpPr>
          <p:cNvPr id="111" name="s24-texto-110"/>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12" name="s24-texto-111"/>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24 / 36</a:t>
            </a:r>
            <a:endParaRPr lang="en-US" sz="745" dirty="0"/>
          </a:p>
        </p:txBody>
      </p:sp>
      <p:sp>
        <p:nvSpPr>
          <p:cNvPr id="113" name="s24-forma-112"/>
          <p:cNvSpPr/>
          <p:nvPr/>
        </p:nvSpPr>
        <p:spPr>
          <a:xfrm>
            <a:off x="0" y="0"/>
            <a:ext cx="8127737" cy="17139"/>
          </a:xfrm>
          <a:prstGeom prst="rect">
            <a:avLst/>
          </a:prstGeom>
          <a:solidFill>
            <a:srgbClr val="0033A0"/>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E8DC"/>
        </a:solidFill>
      </p:bgPr>
    </p:bg>
    <p:spTree>
      <p:nvGrpSpPr>
        <p:cNvPr id="1" name=""/>
        <p:cNvGrpSpPr/>
        <p:nvPr/>
      </p:nvGrpSpPr>
      <p:grpSpPr>
        <a:xfrm>
          <a:off x="0" y="0"/>
          <a:ext cx="0" cy="0"/>
          <a:chOff x="0" y="0"/>
          <a:chExt cx="0" cy="0"/>
        </a:xfrm>
      </p:grpSpPr>
      <p:sp>
        <p:nvSpPr>
          <p:cNvPr id="2" name="s25-forma-1"/>
          <p:cNvSpPr/>
          <p:nvPr/>
        </p:nvSpPr>
        <p:spPr>
          <a:xfrm>
            <a:off x="853390" y="331715"/>
            <a:ext cx="81411" cy="81411"/>
          </a:xfrm>
          <a:prstGeom prst="ellipse">
            <a:avLst/>
          </a:prstGeom>
          <a:solidFill>
            <a:srgbClr val="0033A0"/>
          </a:solidFill>
          <a:ln/>
        </p:spPr>
      </p:sp>
      <p:sp>
        <p:nvSpPr>
          <p:cNvPr id="3" name="s25-texto-2"/>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25-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0:50 · 10 min</a:t>
            </a:r>
            <a:endParaRPr lang="en-US" sz="807" dirty="0"/>
          </a:p>
        </p:txBody>
      </p:sp>
      <p:sp>
        <p:nvSpPr>
          <p:cNvPr id="5" name="s25-texto-4"/>
          <p:cNvSpPr txBox="1"/>
          <p:nvPr/>
        </p:nvSpPr>
        <p:spPr>
          <a:xfrm>
            <a:off x="853390" y="238895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BLOQUE 3.4</a:t>
            </a:r>
            <a:endParaRPr lang="en-US" sz="869" dirty="0"/>
          </a:p>
        </p:txBody>
      </p:sp>
      <p:sp>
        <p:nvSpPr>
          <p:cNvPr id="6" name="s25-forma-5"/>
          <p:cNvSpPr/>
          <p:nvPr/>
        </p:nvSpPr>
        <p:spPr>
          <a:xfrm>
            <a:off x="853390" y="4059138"/>
            <a:ext cx="722704" cy="22852"/>
          </a:xfrm>
          <a:prstGeom prst="rect">
            <a:avLst/>
          </a:prstGeom>
          <a:solidFill>
            <a:srgbClr val="0033A0"/>
          </a:solidFill>
          <a:ln/>
        </p:spPr>
      </p:sp>
      <p:sp>
        <p:nvSpPr>
          <p:cNvPr id="7" name="s25-texto-6"/>
          <p:cNvSpPr txBox="1"/>
          <p:nvPr/>
        </p:nvSpPr>
        <p:spPr>
          <a:xfrm>
            <a:off x="853390" y="2669968"/>
            <a:ext cx="7149222" cy="1215902"/>
          </a:xfrm>
          <a:prstGeom prst="rect">
            <a:avLst/>
          </a:prstGeom>
          <a:noFill/>
          <a:ln/>
        </p:spPr>
        <p:txBody>
          <a:bodyPr wrap="squar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Roles, permisos y contratos</a:t>
            </a:r>
            <a:endParaRPr lang="en-US" sz="4242" dirty="0"/>
          </a:p>
        </p:txBody>
      </p:sp>
      <p:sp>
        <p:nvSpPr>
          <p:cNvPr id="8" name="s25-texto-7"/>
          <p:cNvSpPr txBox="1"/>
          <p:nvPr/>
        </p:nvSpPr>
        <p:spPr>
          <a:xfrm>
            <a:off x="853390" y="4260791"/>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Cada agente toca solo lo suyo.</a:t>
            </a:r>
            <a:endParaRPr lang="en-US" sz="1676" dirty="0"/>
          </a:p>
        </p:txBody>
      </p:sp>
      <p:pic>
        <p:nvPicPr>
          <p:cNvPr id="9" name="s25-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25-forma-9"/>
          <p:cNvSpPr/>
          <p:nvPr/>
        </p:nvSpPr>
        <p:spPr>
          <a:xfrm>
            <a:off x="1659380" y="6519865"/>
            <a:ext cx="2926878" cy="102835"/>
          </a:xfrm>
          <a:prstGeom prst="rect">
            <a:avLst/>
          </a:prstGeom>
          <a:ln/>
        </p:spPr>
      </p:sp>
      <p:sp>
        <p:nvSpPr>
          <p:cNvPr id="11" name="s25-forma-10"/>
          <p:cNvSpPr/>
          <p:nvPr/>
        </p:nvSpPr>
        <p:spPr>
          <a:xfrm>
            <a:off x="1659380" y="6519865"/>
            <a:ext cx="5713" cy="102835"/>
          </a:xfrm>
          <a:prstGeom prst="rect">
            <a:avLst/>
          </a:prstGeom>
          <a:solidFill>
            <a:srgbClr val="C6BFAE"/>
          </a:solidFill>
          <a:ln/>
        </p:spPr>
      </p:sp>
      <p:sp>
        <p:nvSpPr>
          <p:cNvPr id="12" name="s25-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25-texto-1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25 / 36</a:t>
            </a:r>
            <a:endParaRPr lang="en-US" sz="745" dirty="0"/>
          </a:p>
        </p:txBody>
      </p:sp>
      <p:sp>
        <p:nvSpPr>
          <p:cNvPr id="14" name="s25-forma-13"/>
          <p:cNvSpPr/>
          <p:nvPr/>
        </p:nvSpPr>
        <p:spPr>
          <a:xfrm>
            <a:off x="0" y="0"/>
            <a:ext cx="8466415" cy="17139"/>
          </a:xfrm>
          <a:prstGeom prst="rect">
            <a:avLst/>
          </a:prstGeom>
          <a:solidFill>
            <a:srgbClr val="0033A0"/>
          </a:solidFill>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E8DC"/>
        </a:solidFill>
      </p:bgPr>
    </p:bg>
    <p:spTree>
      <p:nvGrpSpPr>
        <p:cNvPr id="1" name=""/>
        <p:cNvGrpSpPr/>
        <p:nvPr/>
      </p:nvGrpSpPr>
      <p:grpSpPr>
        <a:xfrm>
          <a:off x="0" y="0"/>
          <a:ext cx="0" cy="0"/>
          <a:chOff x="0" y="0"/>
          <a:chExt cx="0" cy="0"/>
        </a:xfrm>
      </p:grpSpPr>
      <p:sp>
        <p:nvSpPr>
          <p:cNvPr id="2" name="s26-forma-1"/>
          <p:cNvSpPr/>
          <p:nvPr/>
        </p:nvSpPr>
        <p:spPr>
          <a:xfrm>
            <a:off x="853390" y="520961"/>
            <a:ext cx="10484915" cy="5713"/>
          </a:xfrm>
          <a:prstGeom prst="rect">
            <a:avLst/>
          </a:prstGeom>
          <a:solidFill>
            <a:srgbClr val="C6BFAE"/>
          </a:solidFill>
          <a:ln/>
        </p:spPr>
      </p:sp>
      <p:sp>
        <p:nvSpPr>
          <p:cNvPr id="3" name="s26-forma-2"/>
          <p:cNvSpPr/>
          <p:nvPr/>
        </p:nvSpPr>
        <p:spPr>
          <a:xfrm>
            <a:off x="853390" y="331715"/>
            <a:ext cx="81411" cy="81411"/>
          </a:xfrm>
          <a:prstGeom prst="ellipse">
            <a:avLst/>
          </a:prstGeom>
          <a:solidFill>
            <a:srgbClr val="0033A0"/>
          </a:solidFill>
          <a:ln/>
        </p:spPr>
      </p:sp>
      <p:sp>
        <p:nvSpPr>
          <p:cNvPr id="4" name="s26-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6-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0:50 · 10 min</a:t>
            </a:r>
            <a:endParaRPr lang="en-US" sz="807" dirty="0"/>
          </a:p>
        </p:txBody>
      </p:sp>
      <p:sp>
        <p:nvSpPr>
          <p:cNvPr id="6" name="s26-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3.3 · ROLES, PERMISOS Y CONTRATOS</a:t>
            </a:r>
            <a:endParaRPr lang="en-US" sz="900" dirty="0"/>
          </a:p>
        </p:txBody>
      </p:sp>
      <p:sp>
        <p:nvSpPr>
          <p:cNvPr id="7" name="s26-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Cada agente toca solo lo suyo</a:t>
            </a:r>
            <a:endParaRPr lang="en-US" sz="2879" dirty="0"/>
          </a:p>
        </p:txBody>
      </p:sp>
      <p:sp>
        <p:nvSpPr>
          <p:cNvPr id="8" name="s26-forma-7"/>
          <p:cNvSpPr/>
          <p:nvPr/>
        </p:nvSpPr>
        <p:spPr>
          <a:xfrm>
            <a:off x="1342572" y="2144634"/>
            <a:ext cx="2091431" cy="226202"/>
          </a:xfrm>
          <a:prstGeom prst="rect">
            <a:avLst/>
          </a:prstGeom>
          <a:ln/>
        </p:spPr>
      </p:sp>
      <p:sp>
        <p:nvSpPr>
          <p:cNvPr id="9" name="s26-forma-8"/>
          <p:cNvSpPr/>
          <p:nvPr/>
        </p:nvSpPr>
        <p:spPr>
          <a:xfrm>
            <a:off x="1342572" y="2365122"/>
            <a:ext cx="2091431" cy="5713"/>
          </a:xfrm>
          <a:prstGeom prst="rect">
            <a:avLst/>
          </a:prstGeom>
          <a:solidFill>
            <a:srgbClr val="0033A0"/>
          </a:solidFill>
          <a:ln/>
        </p:spPr>
      </p:sp>
      <p:sp>
        <p:nvSpPr>
          <p:cNvPr id="10" name="s26-texto-9"/>
          <p:cNvSpPr txBox="1"/>
          <p:nvPr/>
        </p:nvSpPr>
        <p:spPr>
          <a:xfrm>
            <a:off x="1418538" y="2193463"/>
            <a:ext cx="2055850"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AGENTE</a:t>
            </a:r>
            <a:endParaRPr lang="en-US" sz="855" dirty="0"/>
          </a:p>
        </p:txBody>
      </p:sp>
      <p:sp>
        <p:nvSpPr>
          <p:cNvPr id="11" name="s26-forma-10"/>
          <p:cNvSpPr/>
          <p:nvPr/>
        </p:nvSpPr>
        <p:spPr>
          <a:xfrm>
            <a:off x="3434002" y="2144634"/>
            <a:ext cx="3232170" cy="226202"/>
          </a:xfrm>
          <a:prstGeom prst="rect">
            <a:avLst/>
          </a:prstGeom>
          <a:ln/>
        </p:spPr>
      </p:sp>
      <p:sp>
        <p:nvSpPr>
          <p:cNvPr id="12" name="s26-forma-11"/>
          <p:cNvSpPr/>
          <p:nvPr/>
        </p:nvSpPr>
        <p:spPr>
          <a:xfrm>
            <a:off x="3434002" y="2365122"/>
            <a:ext cx="3232170" cy="5713"/>
          </a:xfrm>
          <a:prstGeom prst="rect">
            <a:avLst/>
          </a:prstGeom>
          <a:solidFill>
            <a:srgbClr val="0033A0"/>
          </a:solidFill>
          <a:ln/>
        </p:spPr>
      </p:sp>
      <p:sp>
        <p:nvSpPr>
          <p:cNvPr id="13" name="s26-texto-12"/>
          <p:cNvSpPr txBox="1"/>
          <p:nvPr/>
        </p:nvSpPr>
        <p:spPr>
          <a:xfrm>
            <a:off x="3509968" y="2193463"/>
            <a:ext cx="3265034"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PUEDE ESCRIBIR</a:t>
            </a:r>
            <a:endParaRPr lang="en-US" sz="855" dirty="0"/>
          </a:p>
        </p:txBody>
      </p:sp>
      <p:sp>
        <p:nvSpPr>
          <p:cNvPr id="14" name="s26-forma-13"/>
          <p:cNvSpPr/>
          <p:nvPr/>
        </p:nvSpPr>
        <p:spPr>
          <a:xfrm>
            <a:off x="6666173" y="2144634"/>
            <a:ext cx="1901292" cy="226202"/>
          </a:xfrm>
          <a:prstGeom prst="rect">
            <a:avLst/>
          </a:prstGeom>
          <a:ln/>
        </p:spPr>
      </p:sp>
      <p:sp>
        <p:nvSpPr>
          <p:cNvPr id="15" name="s26-forma-14"/>
          <p:cNvSpPr/>
          <p:nvPr/>
        </p:nvSpPr>
        <p:spPr>
          <a:xfrm>
            <a:off x="6666173" y="2365122"/>
            <a:ext cx="1901292" cy="5713"/>
          </a:xfrm>
          <a:prstGeom prst="rect">
            <a:avLst/>
          </a:prstGeom>
          <a:solidFill>
            <a:srgbClr val="0033A0"/>
          </a:solidFill>
          <a:ln/>
        </p:spPr>
      </p:sp>
      <p:sp>
        <p:nvSpPr>
          <p:cNvPr id="16" name="s26-texto-15"/>
          <p:cNvSpPr txBox="1"/>
          <p:nvPr/>
        </p:nvSpPr>
        <p:spPr>
          <a:xfrm>
            <a:off x="6742139" y="2193463"/>
            <a:ext cx="1854303"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PUEDE EJECUTAR</a:t>
            </a:r>
            <a:endParaRPr lang="en-US" sz="855" dirty="0"/>
          </a:p>
        </p:txBody>
      </p:sp>
      <p:sp>
        <p:nvSpPr>
          <p:cNvPr id="17" name="s26-forma-16"/>
          <p:cNvSpPr/>
          <p:nvPr/>
        </p:nvSpPr>
        <p:spPr>
          <a:xfrm>
            <a:off x="8567465" y="2144634"/>
            <a:ext cx="2281658" cy="226202"/>
          </a:xfrm>
          <a:prstGeom prst="rect">
            <a:avLst/>
          </a:prstGeom>
          <a:ln/>
        </p:spPr>
      </p:sp>
      <p:sp>
        <p:nvSpPr>
          <p:cNvPr id="18" name="s26-forma-17"/>
          <p:cNvSpPr/>
          <p:nvPr/>
        </p:nvSpPr>
        <p:spPr>
          <a:xfrm>
            <a:off x="8567465" y="2365122"/>
            <a:ext cx="2281658" cy="5713"/>
          </a:xfrm>
          <a:prstGeom prst="rect">
            <a:avLst/>
          </a:prstGeom>
          <a:solidFill>
            <a:srgbClr val="0033A0"/>
          </a:solidFill>
          <a:ln/>
        </p:spPr>
      </p:sp>
      <p:sp>
        <p:nvSpPr>
          <p:cNvPr id="19" name="s26-texto-18"/>
          <p:cNvSpPr txBox="1"/>
          <p:nvPr/>
        </p:nvSpPr>
        <p:spPr>
          <a:xfrm>
            <a:off x="8643431" y="2193463"/>
            <a:ext cx="2257491" cy="125688"/>
          </a:xfrm>
          <a:prstGeom prst="rect">
            <a:avLst/>
          </a:prstGeom>
          <a:noFill/>
          <a:ln/>
        </p:spPr>
        <p:txBody>
          <a:bodyPr wrap="none" lIns="0" tIns="0" rIns="0" bIns="0" rtlCol="0" anchor="t"/>
          <a:lstStyle/>
          <a:p>
            <a:pPr algn="l" indent="0" marL="0">
              <a:lnSpc>
                <a:spcPts val="1026"/>
              </a:lnSpc>
              <a:buNone/>
            </a:pPr>
            <a:r>
              <a:rPr lang="en-US" sz="855" b="1" spc="111" kern="0" dirty="0">
                <a:solidFill>
                  <a:srgbClr val="0033A0"/>
                </a:solidFill>
                <a:latin typeface="Courier New" pitchFamily="34" charset="0"/>
                <a:ea typeface="Courier New" pitchFamily="34" charset="-122"/>
                <a:cs typeface="Courier New" pitchFamily="34" charset="-120"/>
              </a:rPr>
              <a:t>ENTREGA</a:t>
            </a:r>
            <a:endParaRPr lang="en-US" sz="855" dirty="0"/>
          </a:p>
        </p:txBody>
      </p:sp>
      <p:sp>
        <p:nvSpPr>
          <p:cNvPr id="20" name="s26-forma-19"/>
          <p:cNvSpPr/>
          <p:nvPr/>
        </p:nvSpPr>
        <p:spPr>
          <a:xfrm>
            <a:off x="1342572" y="2370836"/>
            <a:ext cx="2091431" cy="316361"/>
          </a:xfrm>
          <a:prstGeom prst="rect">
            <a:avLst/>
          </a:prstGeom>
          <a:ln/>
        </p:spPr>
      </p:sp>
      <p:sp>
        <p:nvSpPr>
          <p:cNvPr id="21" name="s26-forma-20"/>
          <p:cNvSpPr/>
          <p:nvPr/>
        </p:nvSpPr>
        <p:spPr>
          <a:xfrm>
            <a:off x="1342572" y="2681484"/>
            <a:ext cx="2091431" cy="5713"/>
          </a:xfrm>
          <a:prstGeom prst="rect">
            <a:avLst/>
          </a:prstGeom>
          <a:solidFill>
            <a:srgbClr val="DBD4C4"/>
          </a:solidFill>
          <a:ln/>
        </p:spPr>
      </p:sp>
      <p:sp>
        <p:nvSpPr>
          <p:cNvPr id="22" name="s26-texto-21"/>
          <p:cNvSpPr txBox="1"/>
          <p:nvPr/>
        </p:nvSpPr>
        <p:spPr>
          <a:xfrm>
            <a:off x="1446478" y="2440464"/>
            <a:ext cx="1996559"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1 · 2</a:t>
            </a:r>
            <a:pPr algn="l" indent="0" marL="0">
              <a:lnSpc>
                <a:spcPts val="1404"/>
              </a:lnSpc>
              <a:buNone/>
            </a:pPr>
            <a:r>
              <a:rPr lang="en-US" sz="1170" dirty="0">
                <a:solidFill>
                  <a:srgbClr val="16181D"/>
                </a:solidFill>
                <a:latin typeface="Arial" pitchFamily="34" charset="0"/>
                <a:ea typeface="Arial" pitchFamily="34" charset="-122"/>
                <a:cs typeface="Arial" pitchFamily="34" charset="-120"/>
              </a:rPr>
              <a:t> Analista y diseñador</a:t>
            </a:r>
            <a:endParaRPr lang="en-US" sz="1170" dirty="0"/>
          </a:p>
        </p:txBody>
      </p:sp>
      <p:sp>
        <p:nvSpPr>
          <p:cNvPr id="23" name="s26-forma-22"/>
          <p:cNvSpPr/>
          <p:nvPr/>
        </p:nvSpPr>
        <p:spPr>
          <a:xfrm>
            <a:off x="3434002" y="2370836"/>
            <a:ext cx="3232170" cy="316361"/>
          </a:xfrm>
          <a:prstGeom prst="rect">
            <a:avLst/>
          </a:prstGeom>
          <a:ln/>
        </p:spPr>
      </p:sp>
      <p:sp>
        <p:nvSpPr>
          <p:cNvPr id="24" name="s26-forma-23"/>
          <p:cNvSpPr/>
          <p:nvPr/>
        </p:nvSpPr>
        <p:spPr>
          <a:xfrm>
            <a:off x="3434002" y="2681484"/>
            <a:ext cx="3232170" cy="5713"/>
          </a:xfrm>
          <a:prstGeom prst="rect">
            <a:avLst/>
          </a:prstGeom>
          <a:solidFill>
            <a:srgbClr val="DBD4C4"/>
          </a:solidFill>
          <a:ln/>
        </p:spPr>
      </p:sp>
      <p:sp>
        <p:nvSpPr>
          <p:cNvPr id="25" name="s26-texto-24"/>
          <p:cNvSpPr txBox="1"/>
          <p:nvPr/>
        </p:nvSpPr>
        <p:spPr>
          <a:xfrm>
            <a:off x="3537909" y="2440464"/>
            <a:ext cx="3205743"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salida/HU-xx/</a:t>
            </a:r>
            <a:endParaRPr lang="en-US" sz="1170" dirty="0"/>
          </a:p>
        </p:txBody>
      </p:sp>
      <p:sp>
        <p:nvSpPr>
          <p:cNvPr id="26" name="s26-forma-25"/>
          <p:cNvSpPr/>
          <p:nvPr/>
        </p:nvSpPr>
        <p:spPr>
          <a:xfrm>
            <a:off x="6666173" y="2370836"/>
            <a:ext cx="1901292" cy="316361"/>
          </a:xfrm>
          <a:prstGeom prst="rect">
            <a:avLst/>
          </a:prstGeom>
          <a:ln/>
        </p:spPr>
      </p:sp>
      <p:sp>
        <p:nvSpPr>
          <p:cNvPr id="27" name="s26-forma-26"/>
          <p:cNvSpPr/>
          <p:nvPr/>
        </p:nvSpPr>
        <p:spPr>
          <a:xfrm>
            <a:off x="6666173" y="2681484"/>
            <a:ext cx="1901292" cy="5713"/>
          </a:xfrm>
          <a:prstGeom prst="rect">
            <a:avLst/>
          </a:prstGeom>
          <a:solidFill>
            <a:srgbClr val="DBD4C4"/>
          </a:solidFill>
          <a:ln/>
        </p:spPr>
      </p:sp>
      <p:sp>
        <p:nvSpPr>
          <p:cNvPr id="28" name="s26-texto-27"/>
          <p:cNvSpPr txBox="1"/>
          <p:nvPr/>
        </p:nvSpPr>
        <p:spPr>
          <a:xfrm>
            <a:off x="6770079" y="2440464"/>
            <a:ext cx="1795013"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Nada</a:t>
            </a:r>
            <a:endParaRPr lang="en-US" sz="1170" dirty="0"/>
          </a:p>
        </p:txBody>
      </p:sp>
      <p:sp>
        <p:nvSpPr>
          <p:cNvPr id="29" name="s26-forma-28"/>
          <p:cNvSpPr/>
          <p:nvPr/>
        </p:nvSpPr>
        <p:spPr>
          <a:xfrm>
            <a:off x="8567465" y="2370836"/>
            <a:ext cx="2281658" cy="316361"/>
          </a:xfrm>
          <a:prstGeom prst="rect">
            <a:avLst/>
          </a:prstGeom>
          <a:ln/>
        </p:spPr>
      </p:sp>
      <p:sp>
        <p:nvSpPr>
          <p:cNvPr id="30" name="s26-forma-29"/>
          <p:cNvSpPr/>
          <p:nvPr/>
        </p:nvSpPr>
        <p:spPr>
          <a:xfrm>
            <a:off x="8567465" y="2681484"/>
            <a:ext cx="2281658" cy="5713"/>
          </a:xfrm>
          <a:prstGeom prst="rect">
            <a:avLst/>
          </a:prstGeom>
          <a:solidFill>
            <a:srgbClr val="DBD4C4"/>
          </a:solidFill>
          <a:ln/>
        </p:spPr>
      </p:sp>
      <p:sp>
        <p:nvSpPr>
          <p:cNvPr id="31" name="s26-texto-30"/>
          <p:cNvSpPr txBox="1"/>
          <p:nvPr/>
        </p:nvSpPr>
        <p:spPr>
          <a:xfrm>
            <a:off x="8671372" y="2440464"/>
            <a:ext cx="2198200"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.feature y .json</a:t>
            </a:r>
            <a:endParaRPr lang="en-US" sz="1170" dirty="0"/>
          </a:p>
        </p:txBody>
      </p:sp>
      <p:sp>
        <p:nvSpPr>
          <p:cNvPr id="32" name="s26-forma-31"/>
          <p:cNvSpPr/>
          <p:nvPr/>
        </p:nvSpPr>
        <p:spPr>
          <a:xfrm>
            <a:off x="1342572" y="2687197"/>
            <a:ext cx="2091431" cy="316361"/>
          </a:xfrm>
          <a:prstGeom prst="rect">
            <a:avLst/>
          </a:prstGeom>
          <a:ln/>
        </p:spPr>
      </p:sp>
      <p:sp>
        <p:nvSpPr>
          <p:cNvPr id="33" name="s26-forma-32"/>
          <p:cNvSpPr/>
          <p:nvPr/>
        </p:nvSpPr>
        <p:spPr>
          <a:xfrm>
            <a:off x="1342572" y="2997845"/>
            <a:ext cx="2091431" cy="5713"/>
          </a:xfrm>
          <a:prstGeom prst="rect">
            <a:avLst/>
          </a:prstGeom>
          <a:solidFill>
            <a:srgbClr val="DBD4C4"/>
          </a:solidFill>
          <a:ln/>
        </p:spPr>
      </p:sp>
      <p:sp>
        <p:nvSpPr>
          <p:cNvPr id="34" name="s26-texto-33"/>
          <p:cNvSpPr txBox="1"/>
          <p:nvPr/>
        </p:nvSpPr>
        <p:spPr>
          <a:xfrm>
            <a:off x="1446478" y="2756825"/>
            <a:ext cx="1996559"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3</a:t>
            </a:r>
            <a:pPr algn="l" indent="0" marL="0">
              <a:lnSpc>
                <a:spcPts val="1404"/>
              </a:lnSpc>
              <a:buNone/>
            </a:pPr>
            <a:r>
              <a:rPr lang="en-US" sz="1170" dirty="0">
                <a:solidFill>
                  <a:srgbClr val="16181D"/>
                </a:solidFill>
                <a:latin typeface="Arial" pitchFamily="34" charset="0"/>
                <a:ea typeface="Arial" pitchFamily="34" charset="-122"/>
                <a:cs typeface="Arial" pitchFamily="34" charset="-120"/>
              </a:rPr>
              <a:t> Desarrollador</a:t>
            </a:r>
            <a:endParaRPr lang="en-US" sz="1170" dirty="0"/>
          </a:p>
        </p:txBody>
      </p:sp>
      <p:sp>
        <p:nvSpPr>
          <p:cNvPr id="35" name="s26-forma-34"/>
          <p:cNvSpPr/>
          <p:nvPr/>
        </p:nvSpPr>
        <p:spPr>
          <a:xfrm>
            <a:off x="3434002" y="2687197"/>
            <a:ext cx="3232170" cy="316361"/>
          </a:xfrm>
          <a:prstGeom prst="rect">
            <a:avLst/>
          </a:prstGeom>
          <a:ln/>
        </p:spPr>
      </p:sp>
      <p:sp>
        <p:nvSpPr>
          <p:cNvPr id="36" name="s26-forma-35"/>
          <p:cNvSpPr/>
          <p:nvPr/>
        </p:nvSpPr>
        <p:spPr>
          <a:xfrm>
            <a:off x="3434002" y="2997845"/>
            <a:ext cx="3232170" cy="5713"/>
          </a:xfrm>
          <a:prstGeom prst="rect">
            <a:avLst/>
          </a:prstGeom>
          <a:solidFill>
            <a:srgbClr val="DBD4C4"/>
          </a:solidFill>
          <a:ln/>
        </p:spPr>
      </p:sp>
      <p:sp>
        <p:nvSpPr>
          <p:cNvPr id="37" name="s26-texto-36"/>
          <p:cNvSpPr txBox="1"/>
          <p:nvPr/>
        </p:nvSpPr>
        <p:spPr>
          <a:xfrm>
            <a:off x="3537909" y="2756825"/>
            <a:ext cx="3205743"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backend/*, frontend/*</a:t>
            </a:r>
            <a:endParaRPr lang="en-US" sz="1170" dirty="0"/>
          </a:p>
        </p:txBody>
      </p:sp>
      <p:sp>
        <p:nvSpPr>
          <p:cNvPr id="38" name="s26-forma-37"/>
          <p:cNvSpPr/>
          <p:nvPr/>
        </p:nvSpPr>
        <p:spPr>
          <a:xfrm>
            <a:off x="6666173" y="2687197"/>
            <a:ext cx="1901292" cy="316361"/>
          </a:xfrm>
          <a:prstGeom prst="rect">
            <a:avLst/>
          </a:prstGeom>
          <a:ln/>
        </p:spPr>
      </p:sp>
      <p:sp>
        <p:nvSpPr>
          <p:cNvPr id="39" name="s26-forma-38"/>
          <p:cNvSpPr/>
          <p:nvPr/>
        </p:nvSpPr>
        <p:spPr>
          <a:xfrm>
            <a:off x="6666173" y="2997845"/>
            <a:ext cx="1901292" cy="5713"/>
          </a:xfrm>
          <a:prstGeom prst="rect">
            <a:avLst/>
          </a:prstGeom>
          <a:solidFill>
            <a:srgbClr val="DBD4C4"/>
          </a:solidFill>
          <a:ln/>
        </p:spPr>
      </p:sp>
      <p:sp>
        <p:nvSpPr>
          <p:cNvPr id="40" name="s26-texto-39"/>
          <p:cNvSpPr txBox="1"/>
          <p:nvPr/>
        </p:nvSpPr>
        <p:spPr>
          <a:xfrm>
            <a:off x="6770079" y="2756825"/>
            <a:ext cx="1795013"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npm, python</a:t>
            </a:r>
            <a:endParaRPr lang="en-US" sz="1170" dirty="0"/>
          </a:p>
        </p:txBody>
      </p:sp>
      <p:sp>
        <p:nvSpPr>
          <p:cNvPr id="41" name="s26-forma-40"/>
          <p:cNvSpPr/>
          <p:nvPr/>
        </p:nvSpPr>
        <p:spPr>
          <a:xfrm>
            <a:off x="8567465" y="2687197"/>
            <a:ext cx="2281658" cy="316361"/>
          </a:xfrm>
          <a:prstGeom prst="rect">
            <a:avLst/>
          </a:prstGeom>
          <a:ln/>
        </p:spPr>
      </p:sp>
      <p:sp>
        <p:nvSpPr>
          <p:cNvPr id="42" name="s26-forma-41"/>
          <p:cNvSpPr/>
          <p:nvPr/>
        </p:nvSpPr>
        <p:spPr>
          <a:xfrm>
            <a:off x="8567465" y="2997845"/>
            <a:ext cx="2281658" cy="5713"/>
          </a:xfrm>
          <a:prstGeom prst="rect">
            <a:avLst/>
          </a:prstGeom>
          <a:solidFill>
            <a:srgbClr val="DBD4C4"/>
          </a:solidFill>
          <a:ln/>
        </p:spPr>
      </p:sp>
      <p:sp>
        <p:nvSpPr>
          <p:cNvPr id="43" name="s26-texto-42"/>
          <p:cNvSpPr txBox="1"/>
          <p:nvPr/>
        </p:nvSpPr>
        <p:spPr>
          <a:xfrm>
            <a:off x="8671372" y="2756825"/>
            <a:ext cx="2198200"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App que arranca</a:t>
            </a:r>
            <a:endParaRPr lang="en-US" sz="1170" dirty="0"/>
          </a:p>
        </p:txBody>
      </p:sp>
      <p:sp>
        <p:nvSpPr>
          <p:cNvPr id="44" name="s26-forma-43"/>
          <p:cNvSpPr/>
          <p:nvPr/>
        </p:nvSpPr>
        <p:spPr>
          <a:xfrm>
            <a:off x="1342572" y="3003558"/>
            <a:ext cx="9506551" cy="316361"/>
          </a:xfrm>
          <a:prstGeom prst="rect">
            <a:avLst/>
          </a:prstGeom>
          <a:solidFill>
            <a:srgbClr val="E2D3C2"/>
          </a:solidFill>
          <a:ln/>
        </p:spPr>
      </p:sp>
      <p:sp>
        <p:nvSpPr>
          <p:cNvPr id="45" name="s26-forma-44"/>
          <p:cNvSpPr/>
          <p:nvPr/>
        </p:nvSpPr>
        <p:spPr>
          <a:xfrm>
            <a:off x="1342572" y="3003558"/>
            <a:ext cx="2091431" cy="316361"/>
          </a:xfrm>
          <a:prstGeom prst="rect">
            <a:avLst/>
          </a:prstGeom>
          <a:ln/>
        </p:spPr>
      </p:sp>
      <p:sp>
        <p:nvSpPr>
          <p:cNvPr id="46" name="s26-forma-45"/>
          <p:cNvSpPr/>
          <p:nvPr/>
        </p:nvSpPr>
        <p:spPr>
          <a:xfrm>
            <a:off x="1342572" y="3314207"/>
            <a:ext cx="2091431" cy="5713"/>
          </a:xfrm>
          <a:prstGeom prst="rect">
            <a:avLst/>
          </a:prstGeom>
          <a:solidFill>
            <a:srgbClr val="DBD4C4"/>
          </a:solidFill>
          <a:ln/>
        </p:spPr>
      </p:sp>
      <p:sp>
        <p:nvSpPr>
          <p:cNvPr id="47" name="s26-texto-46"/>
          <p:cNvSpPr txBox="1"/>
          <p:nvPr/>
        </p:nvSpPr>
        <p:spPr>
          <a:xfrm>
            <a:off x="1446478" y="3073186"/>
            <a:ext cx="1996559"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4</a:t>
            </a:r>
            <a:pPr algn="l" indent="0" marL="0">
              <a:lnSpc>
                <a:spcPts val="1404"/>
              </a:lnSpc>
              <a:buNone/>
            </a:pPr>
            <a:r>
              <a:rPr lang="en-US" sz="1170" dirty="0">
                <a:solidFill>
                  <a:srgbClr val="16181D"/>
                </a:solidFill>
                <a:latin typeface="Arial" pitchFamily="34" charset="0"/>
                <a:ea typeface="Arial" pitchFamily="34" charset="-122"/>
                <a:cs typeface="Arial" pitchFamily="34" charset="-120"/>
              </a:rPr>
              <a:t> Despliegue</a:t>
            </a:r>
            <a:endParaRPr lang="en-US" sz="1170" dirty="0"/>
          </a:p>
        </p:txBody>
      </p:sp>
      <p:sp>
        <p:nvSpPr>
          <p:cNvPr id="48" name="s26-forma-47"/>
          <p:cNvSpPr/>
          <p:nvPr/>
        </p:nvSpPr>
        <p:spPr>
          <a:xfrm>
            <a:off x="3434002" y="3003558"/>
            <a:ext cx="3232170" cy="316361"/>
          </a:xfrm>
          <a:prstGeom prst="rect">
            <a:avLst/>
          </a:prstGeom>
          <a:ln/>
        </p:spPr>
      </p:sp>
      <p:sp>
        <p:nvSpPr>
          <p:cNvPr id="49" name="s26-forma-48"/>
          <p:cNvSpPr/>
          <p:nvPr/>
        </p:nvSpPr>
        <p:spPr>
          <a:xfrm>
            <a:off x="3434002" y="3314207"/>
            <a:ext cx="3232170" cy="5713"/>
          </a:xfrm>
          <a:prstGeom prst="rect">
            <a:avLst/>
          </a:prstGeom>
          <a:solidFill>
            <a:srgbClr val="DBD4C4"/>
          </a:solidFill>
          <a:ln/>
        </p:spPr>
      </p:sp>
      <p:sp>
        <p:nvSpPr>
          <p:cNvPr id="50" name="s26-texto-49"/>
          <p:cNvSpPr txBox="1"/>
          <p:nvPr/>
        </p:nvSpPr>
        <p:spPr>
          <a:xfrm>
            <a:off x="3537909" y="3073186"/>
            <a:ext cx="3205743"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Dockerfiles y compose</a:t>
            </a:r>
            <a:endParaRPr lang="en-US" sz="1170" dirty="0"/>
          </a:p>
        </p:txBody>
      </p:sp>
      <p:sp>
        <p:nvSpPr>
          <p:cNvPr id="51" name="s26-forma-50"/>
          <p:cNvSpPr/>
          <p:nvPr/>
        </p:nvSpPr>
        <p:spPr>
          <a:xfrm>
            <a:off x="6666173" y="3003558"/>
            <a:ext cx="1901292" cy="316361"/>
          </a:xfrm>
          <a:prstGeom prst="rect">
            <a:avLst/>
          </a:prstGeom>
          <a:ln/>
        </p:spPr>
      </p:sp>
      <p:sp>
        <p:nvSpPr>
          <p:cNvPr id="52" name="s26-forma-51"/>
          <p:cNvSpPr/>
          <p:nvPr/>
        </p:nvSpPr>
        <p:spPr>
          <a:xfrm>
            <a:off x="6666173" y="3314207"/>
            <a:ext cx="1901292" cy="5713"/>
          </a:xfrm>
          <a:prstGeom prst="rect">
            <a:avLst/>
          </a:prstGeom>
          <a:solidFill>
            <a:srgbClr val="DBD4C4"/>
          </a:solidFill>
          <a:ln/>
        </p:spPr>
      </p:sp>
      <p:sp>
        <p:nvSpPr>
          <p:cNvPr id="53" name="s26-texto-52"/>
          <p:cNvSpPr txBox="1"/>
          <p:nvPr/>
        </p:nvSpPr>
        <p:spPr>
          <a:xfrm>
            <a:off x="6770079" y="3073186"/>
            <a:ext cx="1795013"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docker, curl</a:t>
            </a:r>
            <a:endParaRPr lang="en-US" sz="1170" dirty="0"/>
          </a:p>
        </p:txBody>
      </p:sp>
      <p:sp>
        <p:nvSpPr>
          <p:cNvPr id="54" name="s26-forma-53"/>
          <p:cNvSpPr/>
          <p:nvPr/>
        </p:nvSpPr>
        <p:spPr>
          <a:xfrm>
            <a:off x="8567465" y="3003558"/>
            <a:ext cx="2281658" cy="316361"/>
          </a:xfrm>
          <a:prstGeom prst="rect">
            <a:avLst/>
          </a:prstGeom>
          <a:ln/>
        </p:spPr>
      </p:sp>
      <p:sp>
        <p:nvSpPr>
          <p:cNvPr id="55" name="s26-forma-54"/>
          <p:cNvSpPr/>
          <p:nvPr/>
        </p:nvSpPr>
        <p:spPr>
          <a:xfrm>
            <a:off x="8567465" y="3314207"/>
            <a:ext cx="2281658" cy="5713"/>
          </a:xfrm>
          <a:prstGeom prst="rect">
            <a:avLst/>
          </a:prstGeom>
          <a:solidFill>
            <a:srgbClr val="DBD4C4"/>
          </a:solidFill>
          <a:ln/>
        </p:spPr>
      </p:sp>
      <p:sp>
        <p:nvSpPr>
          <p:cNvPr id="56" name="s26-texto-55"/>
          <p:cNvSpPr txBox="1"/>
          <p:nvPr/>
        </p:nvSpPr>
        <p:spPr>
          <a:xfrm>
            <a:off x="8671372" y="3073186"/>
            <a:ext cx="2198200"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Contenedores sanos</a:t>
            </a:r>
            <a:endParaRPr lang="en-US" sz="1170" dirty="0"/>
          </a:p>
        </p:txBody>
      </p:sp>
      <p:sp>
        <p:nvSpPr>
          <p:cNvPr id="57" name="s26-forma-56"/>
          <p:cNvSpPr/>
          <p:nvPr/>
        </p:nvSpPr>
        <p:spPr>
          <a:xfrm>
            <a:off x="1342572" y="3319920"/>
            <a:ext cx="9506551" cy="313505"/>
          </a:xfrm>
          <a:prstGeom prst="rect">
            <a:avLst/>
          </a:prstGeom>
          <a:solidFill>
            <a:srgbClr val="E2D3C2"/>
          </a:solidFill>
          <a:ln/>
        </p:spPr>
      </p:sp>
      <p:sp>
        <p:nvSpPr>
          <p:cNvPr id="58" name="s26-texto-57"/>
          <p:cNvSpPr txBox="1"/>
          <p:nvPr/>
        </p:nvSpPr>
        <p:spPr>
          <a:xfrm>
            <a:off x="1446478" y="3389548"/>
            <a:ext cx="1996559" cy="171392"/>
          </a:xfrm>
          <a:prstGeom prst="rect">
            <a:avLst/>
          </a:prstGeom>
          <a:noFill/>
          <a:ln/>
        </p:spPr>
        <p:txBody>
          <a:bodyPr wrap="none" lIns="0" tIns="0" rIns="0" bIns="0" rtlCol="0" anchor="t"/>
          <a:lstStyle/>
          <a:p>
            <a:pPr algn="l" indent="0" marL="0">
              <a:lnSpc>
                <a:spcPts val="1404"/>
              </a:lnSpc>
              <a:buNone/>
            </a:pPr>
            <a:r>
              <a:rPr lang="en-US" sz="1170" b="1" dirty="0">
                <a:solidFill>
                  <a:srgbClr val="0033A0"/>
                </a:solidFill>
                <a:latin typeface="Arial" pitchFamily="34" charset="0"/>
                <a:ea typeface="Arial" pitchFamily="34" charset="-122"/>
                <a:cs typeface="Arial" pitchFamily="34" charset="-120"/>
              </a:rPr>
              <a:t>5</a:t>
            </a:r>
            <a:pPr algn="l" indent="0" marL="0">
              <a:lnSpc>
                <a:spcPts val="1404"/>
              </a:lnSpc>
              <a:buNone/>
            </a:pPr>
            <a:r>
              <a:rPr lang="en-US" sz="1170" dirty="0">
                <a:solidFill>
                  <a:srgbClr val="16181D"/>
                </a:solidFill>
                <a:latin typeface="Arial" pitchFamily="34" charset="0"/>
                <a:ea typeface="Arial" pitchFamily="34" charset="-122"/>
                <a:cs typeface="Arial" pitchFamily="34" charset="-120"/>
              </a:rPr>
              <a:t> Automatizador</a:t>
            </a:r>
            <a:endParaRPr lang="en-US" sz="1170" dirty="0"/>
          </a:p>
        </p:txBody>
      </p:sp>
      <p:sp>
        <p:nvSpPr>
          <p:cNvPr id="59" name="s26-texto-58"/>
          <p:cNvSpPr txBox="1"/>
          <p:nvPr/>
        </p:nvSpPr>
        <p:spPr>
          <a:xfrm>
            <a:off x="3537909" y="3389548"/>
            <a:ext cx="3205743"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tests/*</a:t>
            </a:r>
            <a:endParaRPr lang="en-US" sz="1170" dirty="0"/>
          </a:p>
        </p:txBody>
      </p:sp>
      <p:sp>
        <p:nvSpPr>
          <p:cNvPr id="60" name="s26-texto-59"/>
          <p:cNvSpPr txBox="1"/>
          <p:nvPr/>
        </p:nvSpPr>
        <p:spPr>
          <a:xfrm>
            <a:off x="6770079" y="3389548"/>
            <a:ext cx="1795013"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python, pytest</a:t>
            </a:r>
            <a:endParaRPr lang="en-US" sz="1170" dirty="0"/>
          </a:p>
        </p:txBody>
      </p:sp>
      <p:sp>
        <p:nvSpPr>
          <p:cNvPr id="61" name="s26-texto-60"/>
          <p:cNvSpPr txBox="1"/>
          <p:nvPr/>
        </p:nvSpPr>
        <p:spPr>
          <a:xfrm>
            <a:off x="8671372" y="3389548"/>
            <a:ext cx="2198200" cy="171392"/>
          </a:xfrm>
          <a:prstGeom prst="rect">
            <a:avLst/>
          </a:prstGeom>
          <a:noFill/>
          <a:ln/>
        </p:spPr>
        <p:txBody>
          <a:bodyPr wrap="none" lIns="0" tIns="0" rIns="0" bIns="0" rtlCol="0" anchor="t"/>
          <a:lstStyle/>
          <a:p>
            <a:pPr algn="l" indent="0" marL="0">
              <a:lnSpc>
                <a:spcPts val="1404"/>
              </a:lnSpc>
              <a:buNone/>
            </a:pPr>
            <a:r>
              <a:rPr lang="en-US" sz="1170" dirty="0">
                <a:solidFill>
                  <a:srgbClr val="16181D"/>
                </a:solidFill>
                <a:latin typeface="Arial" pitchFamily="34" charset="0"/>
                <a:ea typeface="Arial" pitchFamily="34" charset="-122"/>
                <a:cs typeface="Arial" pitchFamily="34" charset="-120"/>
              </a:rPr>
              <a:t>Un test por caso</a:t>
            </a:r>
            <a:endParaRPr lang="en-US" sz="1170" dirty="0"/>
          </a:p>
        </p:txBody>
      </p:sp>
      <p:sp>
        <p:nvSpPr>
          <p:cNvPr id="62" name="s26-forma-61"/>
          <p:cNvSpPr/>
          <p:nvPr/>
        </p:nvSpPr>
        <p:spPr>
          <a:xfrm>
            <a:off x="1342572" y="3907652"/>
            <a:ext cx="9506551" cy="331358"/>
          </a:xfrm>
          <a:prstGeom prst="rect">
            <a:avLst/>
          </a:prstGeom>
          <a:ln/>
        </p:spPr>
      </p:sp>
      <p:sp>
        <p:nvSpPr>
          <p:cNvPr id="63" name="s26-forma-62"/>
          <p:cNvSpPr/>
          <p:nvPr/>
        </p:nvSpPr>
        <p:spPr>
          <a:xfrm>
            <a:off x="1342572" y="3907652"/>
            <a:ext cx="34278" cy="331358"/>
          </a:xfrm>
          <a:prstGeom prst="rect">
            <a:avLst/>
          </a:prstGeom>
          <a:solidFill>
            <a:srgbClr val="984514"/>
          </a:solidFill>
          <a:ln/>
        </p:spPr>
      </p:sp>
      <p:sp>
        <p:nvSpPr>
          <p:cNvPr id="64" name="s26-texto-63"/>
          <p:cNvSpPr txBox="1"/>
          <p:nvPr/>
        </p:nvSpPr>
        <p:spPr>
          <a:xfrm>
            <a:off x="1559669" y="3976209"/>
            <a:ext cx="9653035" cy="188531"/>
          </a:xfrm>
          <a:prstGeom prst="rect">
            <a:avLst/>
          </a:prstGeom>
          <a:noFill/>
          <a:ln/>
        </p:spPr>
        <p:txBody>
          <a:bodyPr wrap="none" lIns="0" tIns="0" rIns="0" bIns="0" rtlCol="0" anchor="t"/>
          <a:lstStyle/>
          <a:p>
            <a:pPr algn="l" indent="0" marL="0">
              <a:lnSpc>
                <a:spcPts val="1889"/>
              </a:lnSpc>
              <a:buNone/>
            </a:pPr>
            <a:r>
              <a:rPr lang="en-US" sz="1350" dirty="0">
                <a:solidFill>
                  <a:srgbClr val="16181D"/>
                </a:solidFill>
                <a:latin typeface="Arial" pitchFamily="34" charset="0"/>
                <a:ea typeface="Arial" pitchFamily="34" charset="-122"/>
                <a:cs typeface="Arial" pitchFamily="34" charset="-120"/>
              </a:rPr>
              <a:t>Los permisos viven en </a:t>
            </a:r>
            <a:pPr algn="l" indent="0" marL="0">
              <a:lnSpc>
                <a:spcPts val="1889"/>
              </a:lnSpc>
              <a:buNone/>
            </a:pPr>
            <a:r>
              <a:rPr lang="en-US" sz="1350" b="1" dirty="0">
                <a:solidFill>
                  <a:srgbClr val="0033A0"/>
                </a:solidFill>
                <a:latin typeface="Arial" pitchFamily="34" charset="0"/>
                <a:ea typeface="Arial" pitchFamily="34" charset="-122"/>
                <a:cs typeface="Arial" pitchFamily="34" charset="-120"/>
              </a:rPr>
              <a:t>hooks</a:t>
            </a:r>
            <a:pPr algn="l" indent="0" marL="0">
              <a:lnSpc>
                <a:spcPts val="1889"/>
              </a:lnSpc>
              <a:buNone/>
            </a:pPr>
            <a:r>
              <a:rPr lang="en-US" sz="1350" dirty="0">
                <a:solidFill>
                  <a:srgbClr val="16181D"/>
                </a:solidFill>
                <a:latin typeface="Arial" pitchFamily="34" charset="0"/>
                <a:ea typeface="Arial" pitchFamily="34" charset="-122"/>
                <a:cs typeface="Arial" pitchFamily="34" charset="-120"/>
              </a:rPr>
              <a:t>, no en el prompt. Los archivos de salida/ son el contrato.</a:t>
            </a:r>
            <a:endParaRPr lang="en-US" sz="1350" dirty="0"/>
          </a:p>
        </p:txBody>
      </p:sp>
      <p:sp>
        <p:nvSpPr>
          <p:cNvPr id="65" name="s26-texto-64"/>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Más allá de un disco compartido: MCP conecta agentes con herramientas (siguiente) y A2A, agentes entre sistemas</a:t>
            </a:r>
            <a:endParaRPr lang="en-US" sz="1080" dirty="0"/>
          </a:p>
        </p:txBody>
      </p:sp>
      <p:sp>
        <p:nvSpPr>
          <p:cNvPr id="66" name="s26-forma-65"/>
          <p:cNvSpPr/>
          <p:nvPr/>
        </p:nvSpPr>
        <p:spPr>
          <a:xfrm>
            <a:off x="853390" y="6411138"/>
            <a:ext cx="10484915" cy="5713"/>
          </a:xfrm>
          <a:prstGeom prst="rect">
            <a:avLst/>
          </a:prstGeom>
          <a:solidFill>
            <a:srgbClr val="DBD4C4"/>
          </a:solidFill>
          <a:ln/>
        </p:spPr>
      </p:sp>
      <p:pic>
        <p:nvPicPr>
          <p:cNvPr id="67" name="s26-logo-66"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68" name="s26-forma-67"/>
          <p:cNvSpPr/>
          <p:nvPr/>
        </p:nvSpPr>
        <p:spPr>
          <a:xfrm>
            <a:off x="1659380" y="6519865"/>
            <a:ext cx="2926878" cy="102835"/>
          </a:xfrm>
          <a:prstGeom prst="rect">
            <a:avLst/>
          </a:prstGeom>
          <a:ln/>
        </p:spPr>
      </p:sp>
      <p:sp>
        <p:nvSpPr>
          <p:cNvPr id="69" name="s26-forma-68"/>
          <p:cNvSpPr/>
          <p:nvPr/>
        </p:nvSpPr>
        <p:spPr>
          <a:xfrm>
            <a:off x="1659380" y="6519865"/>
            <a:ext cx="5713" cy="102835"/>
          </a:xfrm>
          <a:prstGeom prst="rect">
            <a:avLst/>
          </a:prstGeom>
          <a:solidFill>
            <a:srgbClr val="C6BFAE"/>
          </a:solidFill>
          <a:ln/>
        </p:spPr>
      </p:sp>
      <p:sp>
        <p:nvSpPr>
          <p:cNvPr id="70" name="s26-texto-69"/>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71" name="s26-texto-70"/>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26 / 36</a:t>
            </a:r>
            <a:endParaRPr lang="en-US" sz="745" dirty="0"/>
          </a:p>
        </p:txBody>
      </p:sp>
      <p:sp>
        <p:nvSpPr>
          <p:cNvPr id="72" name="s26-forma-71"/>
          <p:cNvSpPr/>
          <p:nvPr/>
        </p:nvSpPr>
        <p:spPr>
          <a:xfrm>
            <a:off x="0" y="0"/>
            <a:ext cx="8805093" cy="17139"/>
          </a:xfrm>
          <a:prstGeom prst="rect">
            <a:avLst/>
          </a:prstGeom>
          <a:solidFill>
            <a:srgbClr val="0033A0"/>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E8DC"/>
        </a:solidFill>
      </p:bgPr>
    </p:bg>
    <p:spTree>
      <p:nvGrpSpPr>
        <p:cNvPr id="1" name=""/>
        <p:cNvGrpSpPr/>
        <p:nvPr/>
      </p:nvGrpSpPr>
      <p:grpSpPr>
        <a:xfrm>
          <a:off x="0" y="0"/>
          <a:ext cx="0" cy="0"/>
          <a:chOff x="0" y="0"/>
          <a:chExt cx="0" cy="0"/>
        </a:xfrm>
      </p:grpSpPr>
      <p:sp>
        <p:nvSpPr>
          <p:cNvPr id="2" name="s27-forma-1"/>
          <p:cNvSpPr/>
          <p:nvPr/>
        </p:nvSpPr>
        <p:spPr>
          <a:xfrm>
            <a:off x="853390" y="331715"/>
            <a:ext cx="81411" cy="81411"/>
          </a:xfrm>
          <a:prstGeom prst="ellipse">
            <a:avLst/>
          </a:prstGeom>
          <a:solidFill>
            <a:srgbClr val="0033A0"/>
          </a:solidFill>
          <a:ln/>
        </p:spPr>
      </p:sp>
      <p:sp>
        <p:nvSpPr>
          <p:cNvPr id="3" name="s27-texto-2"/>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27-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1:00 · 10 min</a:t>
            </a:r>
            <a:endParaRPr lang="en-US" sz="807" dirty="0"/>
          </a:p>
        </p:txBody>
      </p:sp>
      <p:sp>
        <p:nvSpPr>
          <p:cNvPr id="5" name="s27-texto-4"/>
          <p:cNvSpPr txBox="1"/>
          <p:nvPr/>
        </p:nvSpPr>
        <p:spPr>
          <a:xfrm>
            <a:off x="853390" y="267987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BLOQUE 3.5</a:t>
            </a:r>
            <a:endParaRPr lang="en-US" sz="869" dirty="0"/>
          </a:p>
        </p:txBody>
      </p:sp>
      <p:sp>
        <p:nvSpPr>
          <p:cNvPr id="6" name="s27-forma-5"/>
          <p:cNvSpPr/>
          <p:nvPr/>
        </p:nvSpPr>
        <p:spPr>
          <a:xfrm>
            <a:off x="853390" y="3768306"/>
            <a:ext cx="722704" cy="22852"/>
          </a:xfrm>
          <a:prstGeom prst="rect">
            <a:avLst/>
          </a:prstGeom>
          <a:solidFill>
            <a:srgbClr val="0033A0"/>
          </a:solidFill>
          <a:ln/>
        </p:spPr>
      </p:sp>
      <p:sp>
        <p:nvSpPr>
          <p:cNvPr id="7" name="s27-texto-6"/>
          <p:cNvSpPr txBox="1"/>
          <p:nvPr/>
        </p:nvSpPr>
        <p:spPr>
          <a:xfrm>
            <a:off x="853390" y="2960889"/>
            <a:ext cx="7149222" cy="634151"/>
          </a:xfrm>
          <a:prstGeom prst="rect">
            <a:avLst/>
          </a:prstGeom>
          <a:noFill/>
          <a:ln/>
        </p:spPr>
        <p:txBody>
          <a:bodyPr wrap="non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MCP</a:t>
            </a:r>
            <a:endParaRPr lang="en-US" sz="4242" dirty="0"/>
          </a:p>
        </p:txBody>
      </p:sp>
      <p:sp>
        <p:nvSpPr>
          <p:cNvPr id="8" name="s27-texto-7"/>
          <p:cNvSpPr txBox="1"/>
          <p:nvPr/>
        </p:nvSpPr>
        <p:spPr>
          <a:xfrm>
            <a:off x="853390" y="3969960"/>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Herramientas que cualquier agente descubre.</a:t>
            </a:r>
            <a:endParaRPr lang="en-US" sz="1676" dirty="0"/>
          </a:p>
        </p:txBody>
      </p:sp>
      <p:pic>
        <p:nvPicPr>
          <p:cNvPr id="9" name="s27-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27-forma-9"/>
          <p:cNvSpPr/>
          <p:nvPr/>
        </p:nvSpPr>
        <p:spPr>
          <a:xfrm>
            <a:off x="1659380" y="6519865"/>
            <a:ext cx="2926878" cy="102835"/>
          </a:xfrm>
          <a:prstGeom prst="rect">
            <a:avLst/>
          </a:prstGeom>
          <a:ln/>
        </p:spPr>
      </p:sp>
      <p:sp>
        <p:nvSpPr>
          <p:cNvPr id="11" name="s27-forma-10"/>
          <p:cNvSpPr/>
          <p:nvPr/>
        </p:nvSpPr>
        <p:spPr>
          <a:xfrm>
            <a:off x="1659380" y="6519865"/>
            <a:ext cx="5713" cy="102835"/>
          </a:xfrm>
          <a:prstGeom prst="rect">
            <a:avLst/>
          </a:prstGeom>
          <a:solidFill>
            <a:srgbClr val="C6BFAE"/>
          </a:solidFill>
          <a:ln/>
        </p:spPr>
      </p:sp>
      <p:sp>
        <p:nvSpPr>
          <p:cNvPr id="12" name="s27-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27-texto-1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27 / 36</a:t>
            </a:r>
            <a:endParaRPr lang="en-US" sz="745" dirty="0"/>
          </a:p>
        </p:txBody>
      </p:sp>
      <p:sp>
        <p:nvSpPr>
          <p:cNvPr id="14" name="s27-forma-13"/>
          <p:cNvSpPr/>
          <p:nvPr/>
        </p:nvSpPr>
        <p:spPr>
          <a:xfrm>
            <a:off x="0" y="0"/>
            <a:ext cx="9143771" cy="17139"/>
          </a:xfrm>
          <a:prstGeom prst="rect">
            <a:avLst/>
          </a:prstGeom>
          <a:solidFill>
            <a:srgbClr val="0033A0"/>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DE8DC"/>
        </a:solidFill>
      </p:bgPr>
    </p:bg>
    <p:spTree>
      <p:nvGrpSpPr>
        <p:cNvPr id="1" name=""/>
        <p:cNvGrpSpPr/>
        <p:nvPr/>
      </p:nvGrpSpPr>
      <p:grpSpPr>
        <a:xfrm>
          <a:off x="0" y="0"/>
          <a:ext cx="0" cy="0"/>
          <a:chOff x="0" y="0"/>
          <a:chExt cx="0" cy="0"/>
        </a:xfrm>
      </p:grpSpPr>
      <p:sp>
        <p:nvSpPr>
          <p:cNvPr id="2" name="s28-forma-1"/>
          <p:cNvSpPr/>
          <p:nvPr/>
        </p:nvSpPr>
        <p:spPr>
          <a:xfrm>
            <a:off x="853390" y="520961"/>
            <a:ext cx="10484915" cy="5713"/>
          </a:xfrm>
          <a:prstGeom prst="rect">
            <a:avLst/>
          </a:prstGeom>
          <a:solidFill>
            <a:srgbClr val="C6BFAE"/>
          </a:solidFill>
          <a:ln/>
        </p:spPr>
      </p:sp>
      <p:sp>
        <p:nvSpPr>
          <p:cNvPr id="3" name="s28-forma-2"/>
          <p:cNvSpPr/>
          <p:nvPr/>
        </p:nvSpPr>
        <p:spPr>
          <a:xfrm>
            <a:off x="853390" y="331715"/>
            <a:ext cx="81411" cy="81411"/>
          </a:xfrm>
          <a:prstGeom prst="ellipse">
            <a:avLst/>
          </a:prstGeom>
          <a:solidFill>
            <a:srgbClr val="0033A0"/>
          </a:solidFill>
          <a:ln/>
        </p:spPr>
      </p:sp>
      <p:sp>
        <p:nvSpPr>
          <p:cNvPr id="4" name="s28-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8-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1:00 · 10 min</a:t>
            </a:r>
            <a:endParaRPr lang="en-US" sz="807" dirty="0"/>
          </a:p>
        </p:txBody>
      </p:sp>
      <p:sp>
        <p:nvSpPr>
          <p:cNvPr id="6" name="s28-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PROTOCOLOS · MCP</a:t>
            </a:r>
            <a:endParaRPr lang="en-US" sz="900" dirty="0"/>
          </a:p>
        </p:txBody>
      </p:sp>
      <p:sp>
        <p:nvSpPr>
          <p:cNvPr id="7" name="s28-texto-6"/>
          <p:cNvSpPr txBox="1"/>
          <p:nvPr/>
        </p:nvSpPr>
        <p:spPr>
          <a:xfrm>
            <a:off x="1342572" y="1451120"/>
            <a:ext cx="10076945" cy="394202"/>
          </a:xfrm>
          <a:prstGeom prst="rect">
            <a:avLst/>
          </a:prstGeom>
          <a:noFill/>
          <a:ln/>
        </p:spPr>
        <p:txBody>
          <a:bodyPr wrap="none" lIns="0" tIns="0" rIns="0" bIns="0" rtlCol="0" anchor="t"/>
          <a:lstStyle/>
          <a:p>
            <a:pPr algn="l" indent="0" marL="0">
              <a:lnSpc>
                <a:spcPts val="2920"/>
              </a:lnSpc>
              <a:buNone/>
            </a:pPr>
            <a:r>
              <a:rPr lang="en-US" sz="2654" b="1" spc="-27" kern="0" dirty="0">
                <a:solidFill>
                  <a:srgbClr val="16181D"/>
                </a:solidFill>
                <a:latin typeface="Georgia" pitchFamily="34" charset="0"/>
                <a:ea typeface="Georgia" pitchFamily="34" charset="-122"/>
                <a:cs typeface="Georgia" pitchFamily="34" charset="-120"/>
              </a:rPr>
              <a:t>MCP: herramientas que cualquier agente descubre</a:t>
            </a:r>
            <a:endParaRPr lang="en-US" sz="2654" dirty="0"/>
          </a:p>
        </p:txBody>
      </p:sp>
      <p:sp>
        <p:nvSpPr>
          <p:cNvPr id="8" name="s28-forma-7"/>
          <p:cNvSpPr/>
          <p:nvPr/>
        </p:nvSpPr>
        <p:spPr>
          <a:xfrm>
            <a:off x="1342572" y="2285229"/>
            <a:ext cx="1485399" cy="571307"/>
          </a:xfrm>
          <a:prstGeom prst="rect">
            <a:avLst/>
          </a:prstGeom>
          <a:solidFill>
            <a:srgbClr val="E3DCCB"/>
          </a:solidFill>
          <a:ln w="5713">
            <a:solidFill>
              <a:srgbClr val="585E6F"/>
            </a:solidFill>
            <a:prstDash val="solid"/>
          </a:ln>
        </p:spPr>
      </p:sp>
      <p:sp>
        <p:nvSpPr>
          <p:cNvPr id="9" name="s28-texto-8"/>
          <p:cNvSpPr txBox="1"/>
          <p:nvPr/>
        </p:nvSpPr>
        <p:spPr>
          <a:xfrm>
            <a:off x="1567025" y="2388064"/>
            <a:ext cx="1036403"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Claude Code</a:t>
            </a:r>
            <a:endParaRPr lang="en-US" sz="1260" dirty="0"/>
          </a:p>
        </p:txBody>
      </p:sp>
      <p:sp>
        <p:nvSpPr>
          <p:cNvPr id="10" name="s28-texto-9"/>
          <p:cNvSpPr txBox="1"/>
          <p:nvPr/>
        </p:nvSpPr>
        <p:spPr>
          <a:xfrm>
            <a:off x="1572135" y="2593735"/>
            <a:ext cx="1026184"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claude mcp add</a:t>
            </a:r>
            <a:endParaRPr lang="en-US" sz="1080" dirty="0"/>
          </a:p>
        </p:txBody>
      </p:sp>
      <p:sp>
        <p:nvSpPr>
          <p:cNvPr id="11" name="s28-forma-10"/>
          <p:cNvSpPr/>
          <p:nvPr/>
        </p:nvSpPr>
        <p:spPr>
          <a:xfrm>
            <a:off x="1342572" y="3199320"/>
            <a:ext cx="1485399" cy="571307"/>
          </a:xfrm>
          <a:prstGeom prst="rect">
            <a:avLst/>
          </a:prstGeom>
          <a:solidFill>
            <a:srgbClr val="E2D3C2"/>
          </a:solidFill>
          <a:ln w="5713">
            <a:solidFill>
              <a:srgbClr val="984514"/>
            </a:solidFill>
            <a:prstDash val="solid"/>
          </a:ln>
        </p:spPr>
      </p:sp>
      <p:sp>
        <p:nvSpPr>
          <p:cNvPr id="12" name="s28-texto-11"/>
          <p:cNvSpPr txBox="1"/>
          <p:nvPr/>
        </p:nvSpPr>
        <p:spPr>
          <a:xfrm>
            <a:off x="1472684" y="3302155"/>
            <a:ext cx="1225175"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mcp_cliente.py</a:t>
            </a:r>
            <a:endParaRPr lang="en-US" sz="1260" dirty="0"/>
          </a:p>
        </p:txBody>
      </p:sp>
      <p:sp>
        <p:nvSpPr>
          <p:cNvPr id="13" name="s28-texto-12"/>
          <p:cNvSpPr txBox="1"/>
          <p:nvPr/>
        </p:nvSpPr>
        <p:spPr>
          <a:xfrm>
            <a:off x="1776498" y="3507826"/>
            <a:ext cx="617547"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tu agente</a:t>
            </a:r>
            <a:endParaRPr lang="en-US" sz="1080" dirty="0"/>
          </a:p>
        </p:txBody>
      </p:sp>
      <p:sp>
        <p:nvSpPr>
          <p:cNvPr id="14" name="s28-forma-13"/>
          <p:cNvSpPr/>
          <p:nvPr/>
        </p:nvSpPr>
        <p:spPr>
          <a:xfrm>
            <a:off x="1342572" y="4113412"/>
            <a:ext cx="1485399" cy="571307"/>
          </a:xfrm>
          <a:prstGeom prst="rect">
            <a:avLst/>
          </a:prstGeom>
          <a:solidFill>
            <a:srgbClr val="E3DCCB"/>
          </a:solidFill>
          <a:ln w="5713">
            <a:solidFill>
              <a:srgbClr val="585E6F"/>
            </a:solidFill>
            <a:prstDash val="dash"/>
          </a:ln>
        </p:spPr>
      </p:sp>
      <p:sp>
        <p:nvSpPr>
          <p:cNvPr id="15" name="s28-texto-14"/>
          <p:cNvSpPr txBox="1"/>
          <p:nvPr/>
        </p:nvSpPr>
        <p:spPr>
          <a:xfrm>
            <a:off x="1609416" y="4216247"/>
            <a:ext cx="951621"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Otro agente</a:t>
            </a:r>
            <a:endParaRPr lang="en-US" sz="1260" dirty="0"/>
          </a:p>
        </p:txBody>
      </p:sp>
      <p:sp>
        <p:nvSpPr>
          <p:cNvPr id="16" name="s28-texto-15"/>
          <p:cNvSpPr txBox="1"/>
          <p:nvPr/>
        </p:nvSpPr>
        <p:spPr>
          <a:xfrm>
            <a:off x="1560115" y="4421918"/>
            <a:ext cx="1050313"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cualquier cliente</a:t>
            </a:r>
            <a:endParaRPr lang="en-US" sz="1080" dirty="0"/>
          </a:p>
        </p:txBody>
      </p:sp>
      <p:sp>
        <p:nvSpPr>
          <p:cNvPr id="17" name="s28-texto-16"/>
          <p:cNvSpPr txBox="1"/>
          <p:nvPr/>
        </p:nvSpPr>
        <p:spPr>
          <a:xfrm>
            <a:off x="3143332" y="3199320"/>
            <a:ext cx="968937" cy="154253"/>
          </a:xfrm>
          <a:prstGeom prst="rect">
            <a:avLst/>
          </a:prstGeom>
          <a:noFill/>
          <a:ln/>
        </p:spPr>
        <p:txBody>
          <a:bodyPr wrap="none" lIns="0" tIns="0" rIns="0" bIns="0" rtlCol="0" anchor="t"/>
          <a:lstStyle/>
          <a:p>
            <a:pPr algn="ctr" indent="0" marL="0">
              <a:lnSpc>
                <a:spcPts val="1296"/>
              </a:lnSpc>
              <a:buNone/>
            </a:pPr>
            <a:r>
              <a:rPr lang="en-US" sz="1080" dirty="0">
                <a:solidFill>
                  <a:srgbClr val="0033A0"/>
                </a:solidFill>
                <a:latin typeface="Arial" pitchFamily="34" charset="0"/>
                <a:ea typeface="Arial" pitchFamily="34" charset="-122"/>
                <a:cs typeface="Arial" pitchFamily="34" charset="-120"/>
              </a:rPr>
              <a:t>MCP · stdio</a:t>
            </a:r>
            <a:endParaRPr lang="en-US" sz="1080" dirty="0"/>
          </a:p>
        </p:txBody>
      </p:sp>
      <p:sp>
        <p:nvSpPr>
          <p:cNvPr id="18" name="s28-forma-17"/>
          <p:cNvSpPr/>
          <p:nvPr/>
        </p:nvSpPr>
        <p:spPr>
          <a:xfrm>
            <a:off x="4084846" y="3027928"/>
            <a:ext cx="1599660" cy="914091"/>
          </a:xfrm>
          <a:prstGeom prst="rect">
            <a:avLst/>
          </a:prstGeom>
          <a:solidFill>
            <a:srgbClr val="DCE3F2"/>
          </a:solidFill>
          <a:ln w="5713">
            <a:solidFill>
              <a:srgbClr val="0033A0"/>
            </a:solidFill>
            <a:prstDash val="solid"/>
          </a:ln>
        </p:spPr>
      </p:sp>
      <p:sp>
        <p:nvSpPr>
          <p:cNvPr id="19" name="s28-texto-18"/>
          <p:cNvSpPr txBox="1"/>
          <p:nvPr/>
        </p:nvSpPr>
        <p:spPr>
          <a:xfrm>
            <a:off x="4328676" y="3302155"/>
            <a:ext cx="1111912"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Servidor MCP</a:t>
            </a:r>
            <a:endParaRPr lang="en-US" sz="1260" dirty="0"/>
          </a:p>
        </p:txBody>
      </p:sp>
      <p:sp>
        <p:nvSpPr>
          <p:cNvPr id="20" name="s28-texto-19"/>
          <p:cNvSpPr txBox="1"/>
          <p:nvPr/>
        </p:nvSpPr>
        <p:spPr>
          <a:xfrm>
            <a:off x="4206045" y="3507826"/>
            <a:ext cx="1357174"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directorio-empleados</a:t>
            </a:r>
            <a:endParaRPr lang="en-US" sz="1080" dirty="0"/>
          </a:p>
        </p:txBody>
      </p:sp>
      <p:sp>
        <p:nvSpPr>
          <p:cNvPr id="21" name="s28-forma-20"/>
          <p:cNvSpPr/>
          <p:nvPr/>
        </p:nvSpPr>
        <p:spPr>
          <a:xfrm>
            <a:off x="6027291" y="3142189"/>
            <a:ext cx="799830" cy="685569"/>
          </a:xfrm>
          <a:prstGeom prst="rect">
            <a:avLst/>
          </a:prstGeom>
          <a:solidFill>
            <a:srgbClr val="E3DCCB"/>
          </a:solidFill>
          <a:ln w="5713">
            <a:solidFill>
              <a:srgbClr val="585E6F"/>
            </a:solidFill>
            <a:prstDash val="solid"/>
          </a:ln>
        </p:spPr>
      </p:sp>
      <p:sp>
        <p:nvSpPr>
          <p:cNvPr id="22" name="s28-texto-21"/>
          <p:cNvSpPr txBox="1"/>
          <p:nvPr/>
        </p:nvSpPr>
        <p:spPr>
          <a:xfrm>
            <a:off x="6182079" y="3302155"/>
            <a:ext cx="490164"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Datos</a:t>
            </a:r>
            <a:endParaRPr lang="en-US" sz="1260" dirty="0"/>
          </a:p>
        </p:txBody>
      </p:sp>
      <p:sp>
        <p:nvSpPr>
          <p:cNvPr id="23" name="s28-texto-22"/>
          <p:cNvSpPr txBox="1"/>
          <p:nvPr/>
        </p:nvSpPr>
        <p:spPr>
          <a:xfrm>
            <a:off x="6068978" y="3507826"/>
            <a:ext cx="716544"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empleados</a:t>
            </a:r>
            <a:endParaRPr lang="en-US" sz="1080" dirty="0"/>
          </a:p>
        </p:txBody>
      </p:sp>
      <p:sp>
        <p:nvSpPr>
          <p:cNvPr id="24" name="s28-forma-23"/>
          <p:cNvSpPr/>
          <p:nvPr/>
        </p:nvSpPr>
        <p:spPr>
          <a:xfrm>
            <a:off x="4084846" y="4170542"/>
            <a:ext cx="2742274" cy="566665"/>
          </a:xfrm>
          <a:prstGeom prst="rect">
            <a:avLst/>
          </a:prstGeom>
          <a:solidFill>
            <a:srgbClr val="E3DCCB"/>
          </a:solidFill>
          <a:ln/>
        </p:spPr>
      </p:sp>
      <p:sp>
        <p:nvSpPr>
          <p:cNvPr id="25" name="s28-texto-24"/>
          <p:cNvSpPr txBox="1"/>
          <p:nvPr/>
        </p:nvSpPr>
        <p:spPr>
          <a:xfrm>
            <a:off x="4221960" y="4279091"/>
            <a:ext cx="2616130" cy="346176"/>
          </a:xfrm>
          <a:prstGeom prst="rect">
            <a:avLst/>
          </a:prstGeom>
          <a:noFill/>
          <a:ln/>
        </p:spPr>
        <p:txBody>
          <a:bodyPr wrap="square" lIns="0" tIns="0" rIns="0" bIns="0" rtlCol="0" anchor="t"/>
          <a:lstStyle/>
          <a:p>
            <a:pPr algn="l" indent="0" marL="0">
              <a:lnSpc>
                <a:spcPts val="1512"/>
              </a:lnSpc>
              <a:buNone/>
            </a:pPr>
            <a:r>
              <a:rPr lang="en-US" sz="1080" dirty="0">
                <a:solidFill>
                  <a:srgbClr val="16181D"/>
                </a:solidFill>
                <a:latin typeface="Courier New" pitchFamily="34" charset="0"/>
                <a:ea typeface="Courier New" pitchFamily="34" charset="-122"/>
                <a:cs typeface="Courier New" pitchFamily="34" charset="-120"/>
              </a:rPr>
              <a:t>1 · list_tools() → descubre</a:t>
            </a:r>
            <a:endParaRPr lang="en-US" sz="1080" dirty="0"/>
          </a:p>
          <a:p>
            <a:pPr algn="l" indent="0" marL="0">
              <a:lnSpc>
                <a:spcPts val="1512"/>
              </a:lnSpc>
              <a:buNone/>
            </a:pPr>
            <a:r>
              <a:rPr lang="en-US" sz="1080" dirty="0">
                <a:solidFill>
                  <a:srgbClr val="16181D"/>
                </a:solidFill>
                <a:latin typeface="Courier New" pitchFamily="34" charset="0"/>
                <a:ea typeface="Courier New" pitchFamily="34" charset="-122"/>
                <a:cs typeface="Courier New" pitchFamily="34" charset="-120"/>
              </a:rPr>
              <a:t>2 · call_tool() → actúa</a:t>
            </a:r>
            <a:endParaRPr lang="en-US" sz="1080" dirty="0"/>
          </a:p>
        </p:txBody>
      </p:sp>
      <p:sp>
        <p:nvSpPr>
          <p:cNvPr id="26" name="s28-texto-25"/>
          <p:cNvSpPr txBox="1"/>
          <p:nvPr/>
        </p:nvSpPr>
        <p:spPr>
          <a:xfrm>
            <a:off x="1342572" y="5027503"/>
            <a:ext cx="5813622" cy="154253"/>
          </a:xfrm>
          <a:prstGeom prst="rect">
            <a:avLst/>
          </a:prstGeom>
          <a:noFill/>
          <a:ln/>
        </p:spPr>
        <p:txBody>
          <a:bodyPr wrap="none" lIns="0" tIns="0" rIns="0" bIns="0" rtlCol="0" anchor="t"/>
          <a:lstStyle/>
          <a:p>
            <a:pPr algn="l" indent="0" marL="0">
              <a:lnSpc>
                <a:spcPts val="1296"/>
              </a:lnSpc>
              <a:buNone/>
            </a:pPr>
            <a:r>
              <a:rPr lang="en-US" sz="1080" dirty="0">
                <a:solidFill>
                  <a:srgbClr val="984514"/>
                </a:solidFill>
                <a:latin typeface="Arial" pitchFamily="34" charset="0"/>
                <a:ea typeface="Arial" pitchFamily="34" charset="-122"/>
                <a:cs typeface="Arial" pitchFamily="34" charset="-120"/>
              </a:rPr>
              <a:t>Una herramienta, muchos agentes: nadie importa el código del otro</a:t>
            </a:r>
            <a:endParaRPr lang="en-US" sz="1080" dirty="0"/>
          </a:p>
        </p:txBody>
      </p:sp>
      <p:sp>
        <p:nvSpPr>
          <p:cNvPr id="27" name="s28-texto-26"/>
          <p:cNvSpPr txBox="1"/>
          <p:nvPr/>
        </p:nvSpPr>
        <p:spPr>
          <a:xfrm>
            <a:off x="7284167" y="2228098"/>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8" name="s28-texto-27"/>
          <p:cNvSpPr txBox="1"/>
          <p:nvPr/>
        </p:nvSpPr>
        <p:spPr>
          <a:xfrm>
            <a:off x="7284167" y="2428056"/>
            <a:ext cx="3778854" cy="624867"/>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Un servidor publica herramientas con nombre, descripción y esquema; el cliente las descubre y las llama por el protocolo.</a:t>
            </a:r>
            <a:endParaRPr lang="en-US" sz="1260" dirty="0"/>
          </a:p>
        </p:txBody>
      </p:sp>
      <p:sp>
        <p:nvSpPr>
          <p:cNvPr id="29" name="s28-texto-28"/>
          <p:cNvSpPr txBox="1"/>
          <p:nvPr/>
        </p:nvSpPr>
        <p:spPr>
          <a:xfrm>
            <a:off x="7284167" y="3236812"/>
            <a:ext cx="3778854"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30" name="s28-texto-29"/>
          <p:cNvSpPr txBox="1"/>
          <p:nvPr/>
        </p:nvSpPr>
        <p:spPr>
          <a:xfrm>
            <a:off x="7284167" y="3436770"/>
            <a:ext cx="3778854" cy="400986"/>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Varios agentes o apps necesitan las mismas herramientas o datos de la empresa.</a:t>
            </a:r>
            <a:endParaRPr lang="en-US" sz="1260" dirty="0"/>
          </a:p>
        </p:txBody>
      </p:sp>
      <p:sp>
        <p:nvSpPr>
          <p:cNvPr id="31" name="s28-forma-30"/>
          <p:cNvSpPr/>
          <p:nvPr/>
        </p:nvSpPr>
        <p:spPr>
          <a:xfrm>
            <a:off x="7284167" y="4021645"/>
            <a:ext cx="3564957" cy="1122976"/>
          </a:xfrm>
          <a:prstGeom prst="rect">
            <a:avLst/>
          </a:prstGeom>
          <a:solidFill>
            <a:srgbClr val="E2D3C2"/>
          </a:solidFill>
          <a:ln/>
        </p:spPr>
      </p:sp>
      <p:sp>
        <p:nvSpPr>
          <p:cNvPr id="32" name="s28-texto-31"/>
          <p:cNvSpPr txBox="1"/>
          <p:nvPr/>
        </p:nvSpPr>
        <p:spPr>
          <a:xfrm>
            <a:off x="7421280" y="4158759"/>
            <a:ext cx="3488173" cy="131401"/>
          </a:xfrm>
          <a:prstGeom prst="rect">
            <a:avLst/>
          </a:prstGeom>
          <a:noFill/>
          <a:ln/>
        </p:spPr>
        <p:txBody>
          <a:bodyPr wrap="none" lIns="0" tIns="0" rIns="0" bIns="0" rtlCol="0" anchor="t"/>
          <a:lstStyle/>
          <a:p>
            <a:pPr algn="l" indent="0" marL="0">
              <a:lnSpc>
                <a:spcPts val="1080"/>
              </a:lnSpc>
              <a:buNone/>
            </a:pPr>
            <a:r>
              <a:rPr lang="en-US" sz="900" b="1" spc="90" kern="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3" name="s28-texto-32"/>
          <p:cNvSpPr txBox="1"/>
          <p:nvPr/>
        </p:nvSpPr>
        <p:spPr>
          <a:xfrm>
            <a:off x="7421280" y="4358717"/>
            <a:ext cx="3488173" cy="624867"/>
          </a:xfrm>
          <a:prstGeom prst="rect">
            <a:avLst/>
          </a:prstGeom>
          <a:noFill/>
          <a:ln/>
        </p:spPr>
        <p:txBody>
          <a:bodyPr wrap="square" lIns="0" tIns="0" rIns="0" bIns="0" rtlCol="0" anchor="t"/>
          <a:lstStyle/>
          <a:p>
            <a:pPr algn="l" indent="0" marL="0">
              <a:lnSpc>
                <a:spcPts val="1763"/>
              </a:lnSpc>
              <a:buNone/>
            </a:pPr>
            <a:r>
              <a:rPr lang="en-US" sz="1260" dirty="0">
                <a:solidFill>
                  <a:srgbClr val="16181D"/>
                </a:solidFill>
                <a:latin typeface="Arial" pitchFamily="34" charset="0"/>
                <a:ea typeface="Arial" pitchFamily="34" charset="-122"/>
                <a:cs typeface="Arial" pitchFamily="34" charset="-120"/>
              </a:rPr>
              <a:t>Con claude mcp add, los agentes 3 a 5 podrían consultar el directorio sin cambiar su código.</a:t>
            </a:r>
            <a:endParaRPr lang="en-US" sz="1260" dirty="0"/>
          </a:p>
        </p:txBody>
      </p:sp>
      <p:sp>
        <p:nvSpPr>
          <p:cNvPr id="34" name="s28-texto-33"/>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Sesión 3 · Conectar agentes con herramientas · A2A hace lo mismo entre agentes de distintos sistemas</a:t>
            </a:r>
            <a:endParaRPr lang="en-US" sz="1080" dirty="0"/>
          </a:p>
        </p:txBody>
      </p:sp>
      <p:sp>
        <p:nvSpPr>
          <p:cNvPr id="35" name="s28-linea-34-0"/>
          <p:cNvSpPr/>
          <p:nvPr/>
        </p:nvSpPr>
        <p:spPr>
          <a:xfrm>
            <a:off x="2827971" y="2570882"/>
            <a:ext cx="342784" cy="0"/>
          </a:xfrm>
          <a:prstGeom prst="line">
            <a:avLst/>
          </a:prstGeom>
          <a:noFill/>
          <a:ln w="17140">
            <a:solidFill>
              <a:srgbClr val="585E6F"/>
            </a:solidFill>
            <a:prstDash val="solid"/>
          </a:ln>
        </p:spPr>
      </p:sp>
      <p:sp>
        <p:nvSpPr>
          <p:cNvPr id="36" name="s28-linea-35-0"/>
          <p:cNvSpPr/>
          <p:nvPr/>
        </p:nvSpPr>
        <p:spPr>
          <a:xfrm>
            <a:off x="2827971" y="3484974"/>
            <a:ext cx="342784" cy="0"/>
          </a:xfrm>
          <a:prstGeom prst="line">
            <a:avLst/>
          </a:prstGeom>
          <a:noFill/>
          <a:ln w="17140">
            <a:solidFill>
              <a:srgbClr val="585E6F"/>
            </a:solidFill>
            <a:prstDash val="solid"/>
          </a:ln>
        </p:spPr>
      </p:sp>
      <p:sp>
        <p:nvSpPr>
          <p:cNvPr id="37" name="s28-linea-36-0"/>
          <p:cNvSpPr/>
          <p:nvPr/>
        </p:nvSpPr>
        <p:spPr>
          <a:xfrm>
            <a:off x="2827971" y="4399065"/>
            <a:ext cx="342784" cy="0"/>
          </a:xfrm>
          <a:prstGeom prst="line">
            <a:avLst/>
          </a:prstGeom>
          <a:noFill/>
          <a:ln w="17140">
            <a:solidFill>
              <a:srgbClr val="585E6F"/>
            </a:solidFill>
            <a:prstDash val="solid"/>
          </a:ln>
        </p:spPr>
      </p:sp>
      <p:sp>
        <p:nvSpPr>
          <p:cNvPr id="38" name="s28-linea-37-0"/>
          <p:cNvSpPr/>
          <p:nvPr/>
        </p:nvSpPr>
        <p:spPr>
          <a:xfrm>
            <a:off x="3170755" y="2570882"/>
            <a:ext cx="0" cy="1828183"/>
          </a:xfrm>
          <a:prstGeom prst="line">
            <a:avLst/>
          </a:prstGeom>
          <a:noFill/>
          <a:ln w="17140">
            <a:solidFill>
              <a:srgbClr val="585E6F"/>
            </a:solidFill>
            <a:prstDash val="solid"/>
          </a:ln>
        </p:spPr>
      </p:sp>
      <p:sp>
        <p:nvSpPr>
          <p:cNvPr id="39" name="s28-linea-38-0"/>
          <p:cNvSpPr/>
          <p:nvPr/>
        </p:nvSpPr>
        <p:spPr>
          <a:xfrm>
            <a:off x="3170755" y="3484974"/>
            <a:ext cx="914091" cy="0"/>
          </a:xfrm>
          <a:prstGeom prst="line">
            <a:avLst/>
          </a:prstGeom>
          <a:noFill/>
          <a:ln w="17140">
            <a:solidFill>
              <a:srgbClr val="0033A0"/>
            </a:solidFill>
            <a:prstDash val="solid"/>
            <a:headEnd type="triangle"/>
            <a:tailEnd type="triangle"/>
          </a:ln>
        </p:spPr>
      </p:sp>
      <p:sp>
        <p:nvSpPr>
          <p:cNvPr id="40" name="s28-linea-39-0"/>
          <p:cNvSpPr/>
          <p:nvPr/>
        </p:nvSpPr>
        <p:spPr>
          <a:xfrm>
            <a:off x="5684506" y="3484974"/>
            <a:ext cx="342784" cy="0"/>
          </a:xfrm>
          <a:prstGeom prst="line">
            <a:avLst/>
          </a:prstGeom>
          <a:noFill/>
          <a:ln w="17140">
            <a:solidFill>
              <a:srgbClr val="585E6F"/>
            </a:solidFill>
            <a:prstDash val="solid"/>
            <a:tailEnd type="triangle"/>
          </a:ln>
        </p:spPr>
      </p:sp>
      <p:sp>
        <p:nvSpPr>
          <p:cNvPr id="41" name="s28-forma-40"/>
          <p:cNvSpPr/>
          <p:nvPr/>
        </p:nvSpPr>
        <p:spPr>
          <a:xfrm>
            <a:off x="853390" y="6411138"/>
            <a:ext cx="10484915" cy="5713"/>
          </a:xfrm>
          <a:prstGeom prst="rect">
            <a:avLst/>
          </a:prstGeom>
          <a:solidFill>
            <a:srgbClr val="DBD4C4"/>
          </a:solidFill>
          <a:ln/>
        </p:spPr>
      </p:sp>
      <p:pic>
        <p:nvPicPr>
          <p:cNvPr id="42" name="s28-logo-41"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3" name="s28-forma-42"/>
          <p:cNvSpPr/>
          <p:nvPr/>
        </p:nvSpPr>
        <p:spPr>
          <a:xfrm>
            <a:off x="1659380" y="6519865"/>
            <a:ext cx="2926878" cy="102835"/>
          </a:xfrm>
          <a:prstGeom prst="rect">
            <a:avLst/>
          </a:prstGeom>
          <a:ln/>
        </p:spPr>
      </p:sp>
      <p:sp>
        <p:nvSpPr>
          <p:cNvPr id="44" name="s28-forma-43"/>
          <p:cNvSpPr/>
          <p:nvPr/>
        </p:nvSpPr>
        <p:spPr>
          <a:xfrm>
            <a:off x="1659380" y="6519865"/>
            <a:ext cx="5713" cy="102835"/>
          </a:xfrm>
          <a:prstGeom prst="rect">
            <a:avLst/>
          </a:prstGeom>
          <a:solidFill>
            <a:srgbClr val="C6BFAE"/>
          </a:solidFill>
          <a:ln/>
        </p:spPr>
      </p:sp>
      <p:sp>
        <p:nvSpPr>
          <p:cNvPr id="45" name="s28-texto-44"/>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46" name="s28-texto-45"/>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28 / 36</a:t>
            </a:r>
            <a:endParaRPr lang="en-US" sz="745" dirty="0"/>
          </a:p>
        </p:txBody>
      </p:sp>
      <p:sp>
        <p:nvSpPr>
          <p:cNvPr id="47" name="s28-forma-46"/>
          <p:cNvSpPr/>
          <p:nvPr/>
        </p:nvSpPr>
        <p:spPr>
          <a:xfrm>
            <a:off x="0" y="0"/>
            <a:ext cx="9482360" cy="17139"/>
          </a:xfrm>
          <a:prstGeom prst="rect">
            <a:avLst/>
          </a:prstGeom>
          <a:solidFill>
            <a:srgbClr val="0033A0"/>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DE8DC"/>
        </a:solidFill>
      </p:bgPr>
    </p:bg>
    <p:spTree>
      <p:nvGrpSpPr>
        <p:cNvPr id="1" name=""/>
        <p:cNvGrpSpPr/>
        <p:nvPr/>
      </p:nvGrpSpPr>
      <p:grpSpPr>
        <a:xfrm>
          <a:off x="0" y="0"/>
          <a:ext cx="0" cy="0"/>
          <a:chOff x="0" y="0"/>
          <a:chExt cx="0" cy="0"/>
        </a:xfrm>
      </p:grpSpPr>
      <p:sp>
        <p:nvSpPr>
          <p:cNvPr id="2" name="s29-forma-1"/>
          <p:cNvSpPr/>
          <p:nvPr/>
        </p:nvSpPr>
        <p:spPr>
          <a:xfrm>
            <a:off x="853390" y="520961"/>
            <a:ext cx="10484915" cy="5713"/>
          </a:xfrm>
          <a:prstGeom prst="rect">
            <a:avLst/>
          </a:prstGeom>
          <a:solidFill>
            <a:srgbClr val="C6BFAE"/>
          </a:solidFill>
          <a:ln/>
        </p:spPr>
      </p:sp>
      <p:sp>
        <p:nvSpPr>
          <p:cNvPr id="3" name="s29-forma-2"/>
          <p:cNvSpPr/>
          <p:nvPr/>
        </p:nvSpPr>
        <p:spPr>
          <a:xfrm>
            <a:off x="853390" y="331715"/>
            <a:ext cx="81411" cy="81411"/>
          </a:xfrm>
          <a:prstGeom prst="ellipse">
            <a:avLst/>
          </a:prstGeom>
          <a:solidFill>
            <a:srgbClr val="0033A0"/>
          </a:solidFill>
          <a:ln/>
        </p:spPr>
      </p:sp>
      <p:sp>
        <p:nvSpPr>
          <p:cNvPr id="4" name="s29-texto-3"/>
          <p:cNvSpPr txBox="1"/>
          <p:nvPr/>
        </p:nvSpPr>
        <p:spPr>
          <a:xfrm>
            <a:off x="1007018" y="315290"/>
            <a:ext cx="450619"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9-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1:00 · 10 min</a:t>
            </a:r>
            <a:endParaRPr lang="en-US" sz="807" dirty="0"/>
          </a:p>
        </p:txBody>
      </p:sp>
      <p:sp>
        <p:nvSpPr>
          <p:cNvPr id="6" name="s29-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PROTOCOLOS · EN CÓDIGO</a:t>
            </a:r>
            <a:endParaRPr lang="en-US" sz="900" dirty="0"/>
          </a:p>
        </p:txBody>
      </p:sp>
      <p:sp>
        <p:nvSpPr>
          <p:cNvPr id="7" name="s29-texto-6"/>
          <p:cNvSpPr txBox="1"/>
          <p:nvPr/>
        </p:nvSpPr>
        <p:spPr>
          <a:xfrm>
            <a:off x="1342572" y="1451120"/>
            <a:ext cx="10076945" cy="377063"/>
          </a:xfrm>
          <a:prstGeom prst="rect">
            <a:avLst/>
          </a:prstGeom>
          <a:noFill/>
          <a:ln/>
        </p:spPr>
        <p:txBody>
          <a:bodyPr wrap="none" lIns="0" tIns="0" rIns="0" bIns="0" rtlCol="0" anchor="t"/>
          <a:lstStyle/>
          <a:p>
            <a:pPr algn="l" indent="0" marL="0">
              <a:lnSpc>
                <a:spcPts val="2771"/>
              </a:lnSpc>
              <a:buNone/>
            </a:pPr>
            <a:r>
              <a:rPr lang="en-US" sz="2519" b="1" spc="-25" kern="0" dirty="0">
                <a:solidFill>
                  <a:srgbClr val="16181D"/>
                </a:solidFill>
                <a:latin typeface="Georgia" pitchFamily="34" charset="0"/>
                <a:ea typeface="Georgia" pitchFamily="34" charset="-122"/>
                <a:cs typeface="Georgia" pitchFamily="34" charset="-120"/>
              </a:rPr>
              <a:t>MCP en código: publicar y descubrir</a:t>
            </a:r>
            <a:endParaRPr lang="en-US" sz="2519" dirty="0"/>
          </a:p>
        </p:txBody>
      </p:sp>
      <p:sp>
        <p:nvSpPr>
          <p:cNvPr id="8" name="s29-forma-7"/>
          <p:cNvSpPr/>
          <p:nvPr/>
        </p:nvSpPr>
        <p:spPr>
          <a:xfrm>
            <a:off x="1342572" y="2205246"/>
            <a:ext cx="5941595" cy="3159329"/>
          </a:xfrm>
          <a:prstGeom prst="rect">
            <a:avLst/>
          </a:prstGeom>
          <a:solidFill>
            <a:srgbClr val="E8E2D5"/>
          </a:solidFill>
          <a:ln/>
        </p:spPr>
      </p:sp>
      <p:sp>
        <p:nvSpPr>
          <p:cNvPr id="9" name="s29-forma-8"/>
          <p:cNvSpPr/>
          <p:nvPr/>
        </p:nvSpPr>
        <p:spPr>
          <a:xfrm>
            <a:off x="1342572" y="2205246"/>
            <a:ext cx="5941595" cy="5713"/>
          </a:xfrm>
          <a:prstGeom prst="rect">
            <a:avLst/>
          </a:prstGeom>
          <a:solidFill>
            <a:srgbClr val="DBD4C4"/>
          </a:solidFill>
          <a:ln/>
        </p:spPr>
      </p:sp>
      <p:sp>
        <p:nvSpPr>
          <p:cNvPr id="10" name="s29-forma-9"/>
          <p:cNvSpPr/>
          <p:nvPr/>
        </p:nvSpPr>
        <p:spPr>
          <a:xfrm>
            <a:off x="1342572" y="5358861"/>
            <a:ext cx="5941595" cy="5713"/>
          </a:xfrm>
          <a:prstGeom prst="rect">
            <a:avLst/>
          </a:prstGeom>
          <a:solidFill>
            <a:srgbClr val="DBD4C4"/>
          </a:solidFill>
          <a:ln/>
        </p:spPr>
      </p:sp>
      <p:sp>
        <p:nvSpPr>
          <p:cNvPr id="11" name="s29-forma-10"/>
          <p:cNvSpPr/>
          <p:nvPr/>
        </p:nvSpPr>
        <p:spPr>
          <a:xfrm>
            <a:off x="1342572" y="2205246"/>
            <a:ext cx="17139" cy="3159329"/>
          </a:xfrm>
          <a:prstGeom prst="rect">
            <a:avLst/>
          </a:prstGeom>
          <a:solidFill>
            <a:srgbClr val="C6BFAE"/>
          </a:solidFill>
          <a:ln/>
        </p:spPr>
      </p:sp>
      <p:sp>
        <p:nvSpPr>
          <p:cNvPr id="12" name="s29-forma-11"/>
          <p:cNvSpPr/>
          <p:nvPr/>
        </p:nvSpPr>
        <p:spPr>
          <a:xfrm>
            <a:off x="7278453" y="2205246"/>
            <a:ext cx="5713" cy="3159329"/>
          </a:xfrm>
          <a:prstGeom prst="rect">
            <a:avLst/>
          </a:prstGeom>
          <a:solidFill>
            <a:srgbClr val="DBD4C4"/>
          </a:solidFill>
          <a:ln/>
        </p:spPr>
      </p:sp>
      <p:sp>
        <p:nvSpPr>
          <p:cNvPr id="13" name="s29-texto-12"/>
          <p:cNvSpPr txBox="1"/>
          <p:nvPr/>
        </p:nvSpPr>
        <p:spPr>
          <a:xfrm>
            <a:off x="1542529" y="2370925"/>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servidor · mcp_directorio.py</a:t>
            </a:r>
            <a:endParaRPr lang="en-US" sz="990" dirty="0"/>
          </a:p>
        </p:txBody>
      </p:sp>
      <p:sp>
        <p:nvSpPr>
          <p:cNvPr id="14" name="s29-texto-13"/>
          <p:cNvSpPr txBox="1"/>
          <p:nvPr/>
        </p:nvSpPr>
        <p:spPr>
          <a:xfrm>
            <a:off x="1542529" y="255945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servidor =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FastMCP</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"directorio-empleados"</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5" name="s29-forma-14"/>
          <p:cNvSpPr/>
          <p:nvPr/>
        </p:nvSpPr>
        <p:spPr>
          <a:xfrm>
            <a:off x="1451120" y="2747988"/>
            <a:ext cx="5735924" cy="188531"/>
          </a:xfrm>
          <a:prstGeom prst="rect">
            <a:avLst/>
          </a:prstGeom>
          <a:solidFill>
            <a:srgbClr val="DCE3F2"/>
          </a:solidFill>
          <a:ln/>
        </p:spPr>
      </p:sp>
      <p:sp>
        <p:nvSpPr>
          <p:cNvPr id="16" name="s29-forma-15"/>
          <p:cNvSpPr/>
          <p:nvPr/>
        </p:nvSpPr>
        <p:spPr>
          <a:xfrm>
            <a:off x="1451120" y="2747988"/>
            <a:ext cx="22852" cy="188531"/>
          </a:xfrm>
          <a:prstGeom prst="rect">
            <a:avLst/>
          </a:prstGeom>
          <a:solidFill>
            <a:srgbClr val="AC321E"/>
          </a:solidFill>
          <a:ln/>
        </p:spPr>
      </p:sp>
      <p:sp>
        <p:nvSpPr>
          <p:cNvPr id="17" name="s29-texto-16"/>
          <p:cNvSpPr txBox="1"/>
          <p:nvPr/>
        </p:nvSpPr>
        <p:spPr>
          <a:xfrm>
            <a:off x="1542529" y="274798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@servidor.tool()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tipos + docstring = esquema</a:t>
            </a:r>
            <a:endParaRPr lang="en-US" sz="990" dirty="0"/>
          </a:p>
        </p:txBody>
      </p:sp>
      <p:sp>
        <p:nvSpPr>
          <p:cNvPr id="18" name="s29-texto-17"/>
          <p:cNvSpPr txBox="1"/>
          <p:nvPr/>
        </p:nvSpPr>
        <p:spPr>
          <a:xfrm>
            <a:off x="1542529" y="2936519"/>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buscar_empleados(departamento: str) -&gt; str:</a:t>
            </a:r>
            <a:endParaRPr lang="en-US" sz="990" dirty="0"/>
          </a:p>
        </p:txBody>
      </p:sp>
      <p:sp>
        <p:nvSpPr>
          <p:cNvPr id="19" name="s29-texto-18"/>
          <p:cNvSpPr txBox="1"/>
          <p:nvPr/>
        </p:nvSpPr>
        <p:spPr>
          <a:xfrm>
            <a:off x="1542529" y="3125050"/>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"Empleados de un departamento. Ej.: 'Tecnología'."</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a:t>
            </a:r>
            <a:endParaRPr lang="en-US" sz="990" dirty="0"/>
          </a:p>
        </p:txBody>
      </p:sp>
      <p:sp>
        <p:nvSpPr>
          <p:cNvPr id="20" name="s29-texto-19"/>
          <p:cNvSpPr txBox="1"/>
          <p:nvPr/>
        </p:nvSpPr>
        <p:spPr>
          <a:xfrm>
            <a:off x="1542529" y="3313582"/>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endParaRPr lang="en-US" sz="990" dirty="0"/>
          </a:p>
        </p:txBody>
      </p:sp>
      <p:sp>
        <p:nvSpPr>
          <p:cNvPr id="21" name="s29-texto-20"/>
          <p:cNvSpPr txBox="1"/>
          <p:nvPr/>
        </p:nvSpPr>
        <p:spPr>
          <a:xfrm>
            <a:off x="1542529" y="350211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servidor.run()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stdio</a:t>
            </a:r>
            <a:endParaRPr lang="en-US" sz="990" dirty="0"/>
          </a:p>
        </p:txBody>
      </p:sp>
      <p:sp>
        <p:nvSpPr>
          <p:cNvPr id="22" name="s29-texto-21"/>
          <p:cNvSpPr txBox="1"/>
          <p:nvPr/>
        </p:nvSpPr>
        <p:spPr>
          <a:xfrm>
            <a:off x="1542529" y="3879176"/>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cliente · mcp_cliente.py (el bucle es el de react.py)</a:t>
            </a:r>
            <a:endParaRPr lang="en-US" sz="990" dirty="0"/>
          </a:p>
        </p:txBody>
      </p:sp>
      <p:sp>
        <p:nvSpPr>
          <p:cNvPr id="23" name="s29-texto-22"/>
          <p:cNvSpPr txBox="1"/>
          <p:nvPr/>
        </p:nvSpPr>
        <p:spPr>
          <a:xfrm>
            <a:off x="1542529" y="4067707"/>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async</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with</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0033A0"/>
                </a:solidFill>
                <a:latin typeface="Courier New" pitchFamily="34" charset="0"/>
                <a:ea typeface="Courier New" pitchFamily="34" charset="-122"/>
                <a:cs typeface="Courier New" pitchFamily="34" charset="-120"/>
              </a:rPr>
              <a:t>ClientSession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(lectura, escritura) as sesion:</a:t>
            </a:r>
            <a:endParaRPr lang="en-US" sz="990" dirty="0"/>
          </a:p>
        </p:txBody>
      </p:sp>
      <p:sp>
        <p:nvSpPr>
          <p:cNvPr id="24" name="s29-forma-23"/>
          <p:cNvSpPr/>
          <p:nvPr/>
        </p:nvSpPr>
        <p:spPr>
          <a:xfrm>
            <a:off x="1451120" y="4256238"/>
            <a:ext cx="5735924" cy="188531"/>
          </a:xfrm>
          <a:prstGeom prst="rect">
            <a:avLst/>
          </a:prstGeom>
          <a:solidFill>
            <a:srgbClr val="DCE3F2"/>
          </a:solidFill>
          <a:ln/>
        </p:spPr>
      </p:sp>
      <p:sp>
        <p:nvSpPr>
          <p:cNvPr id="25" name="s29-forma-24"/>
          <p:cNvSpPr/>
          <p:nvPr/>
        </p:nvSpPr>
        <p:spPr>
          <a:xfrm>
            <a:off x="1451120" y="4256238"/>
            <a:ext cx="22852" cy="188531"/>
          </a:xfrm>
          <a:prstGeom prst="rect">
            <a:avLst/>
          </a:prstGeom>
          <a:solidFill>
            <a:srgbClr val="AC321E"/>
          </a:solidFill>
          <a:ln/>
        </p:spPr>
      </p:sp>
      <p:sp>
        <p:nvSpPr>
          <p:cNvPr id="26" name="s29-texto-25"/>
          <p:cNvSpPr txBox="1"/>
          <p:nvPr/>
        </p:nvSpPr>
        <p:spPr>
          <a:xfrm>
            <a:off x="1542529" y="4256238"/>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lista =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await</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sesion.list_tools()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DESCUBRIR</a:t>
            </a:r>
            <a:endParaRPr lang="en-US" sz="990" dirty="0"/>
          </a:p>
        </p:txBody>
      </p:sp>
      <p:sp>
        <p:nvSpPr>
          <p:cNvPr id="27" name="s29-texto-26"/>
          <p:cNvSpPr txBox="1"/>
          <p:nvPr/>
        </p:nvSpPr>
        <p:spPr>
          <a:xfrm>
            <a:off x="1542529" y="4444770"/>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esquemas =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"name"</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h.name,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"description"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h.description,</a:t>
            </a:r>
            <a:endParaRPr lang="en-US" sz="990" dirty="0"/>
          </a:p>
        </p:txBody>
      </p:sp>
      <p:sp>
        <p:nvSpPr>
          <p:cNvPr id="28" name="s29-texto-27"/>
          <p:cNvSpPr txBox="1"/>
          <p:nvPr/>
        </p:nvSpPr>
        <p:spPr>
          <a:xfrm>
            <a:off x="1542529" y="4633301"/>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pPr algn="l" indent="0" marL="0">
              <a:lnSpc>
                <a:spcPts val="1485"/>
              </a:lnSpc>
              <a:buNone/>
            </a:pPr>
            <a:r>
              <a:rPr lang="en-US" sz="990" dirty="0">
                <a:solidFill>
                  <a:srgbClr val="1B6A43"/>
                </a:solidFill>
                <a:latin typeface="Courier New" pitchFamily="34" charset="0"/>
                <a:ea typeface="Courier New" pitchFamily="34" charset="-122"/>
                <a:cs typeface="Courier New" pitchFamily="34" charset="-120"/>
              </a:rPr>
              <a:t>"input_schema"</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h.inputSchema}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for</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h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in</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lista.tools]</a:t>
            </a:r>
            <a:endParaRPr lang="en-US" sz="990" dirty="0"/>
          </a:p>
        </p:txBody>
      </p:sp>
      <p:sp>
        <p:nvSpPr>
          <p:cNvPr id="29" name="s29-texto-28"/>
          <p:cNvSpPr txBox="1"/>
          <p:nvPr/>
        </p:nvSpPr>
        <p:spPr>
          <a:xfrm>
            <a:off x="1542529" y="4821833"/>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a:t>
            </a:r>
            <a:endParaRPr lang="en-US" sz="990" dirty="0"/>
          </a:p>
        </p:txBody>
      </p:sp>
      <p:sp>
        <p:nvSpPr>
          <p:cNvPr id="30" name="s29-forma-29"/>
          <p:cNvSpPr/>
          <p:nvPr/>
        </p:nvSpPr>
        <p:spPr>
          <a:xfrm>
            <a:off x="1451120" y="5010364"/>
            <a:ext cx="5735924" cy="188531"/>
          </a:xfrm>
          <a:prstGeom prst="rect">
            <a:avLst/>
          </a:prstGeom>
          <a:solidFill>
            <a:srgbClr val="DCE3F2"/>
          </a:solidFill>
          <a:ln/>
        </p:spPr>
      </p:sp>
      <p:sp>
        <p:nvSpPr>
          <p:cNvPr id="31" name="s29-forma-30"/>
          <p:cNvSpPr/>
          <p:nvPr/>
        </p:nvSpPr>
        <p:spPr>
          <a:xfrm>
            <a:off x="1451120" y="5010364"/>
            <a:ext cx="22852" cy="188531"/>
          </a:xfrm>
          <a:prstGeom prst="rect">
            <a:avLst/>
          </a:prstGeom>
          <a:solidFill>
            <a:srgbClr val="AC321E"/>
          </a:solidFill>
          <a:ln/>
        </p:spPr>
      </p:sp>
      <p:sp>
        <p:nvSpPr>
          <p:cNvPr id="32" name="s29-texto-31"/>
          <p:cNvSpPr txBox="1"/>
          <p:nvPr/>
        </p:nvSpPr>
        <p:spPr>
          <a:xfrm>
            <a:off x="1542529" y="5010364"/>
            <a:ext cx="5553106" cy="188531"/>
          </a:xfrm>
          <a:prstGeom prst="rect">
            <a:avLst/>
          </a:prstGeom>
          <a:noFill/>
          <a:ln/>
        </p:spPr>
        <p:txBody>
          <a:bodyPr wrap="none" lIns="0" tIns="0" rIns="0" bIns="0" rtlCol="0" anchor="t"/>
          <a:lstStyle/>
          <a:p>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r = </a:t>
            </a:r>
            <a:pPr algn="l" indent="0" marL="0">
              <a:lnSpc>
                <a:spcPts val="1485"/>
              </a:lnSpc>
              <a:buNone/>
            </a:pPr>
            <a:r>
              <a:rPr lang="en-US" sz="990" dirty="0">
                <a:solidFill>
                  <a:srgbClr val="AC321E"/>
                </a:solidFill>
                <a:latin typeface="Courier New" pitchFamily="34" charset="0"/>
                <a:ea typeface="Courier New" pitchFamily="34" charset="-122"/>
                <a:cs typeface="Courier New" pitchFamily="34" charset="-120"/>
              </a:rPr>
              <a:t>await</a:t>
            </a:r>
            <a:pPr algn="l" indent="0" marL="0">
              <a:lnSpc>
                <a:spcPts val="1485"/>
              </a:lnSpc>
              <a:buNone/>
            </a:pPr>
            <a:r>
              <a:rPr lang="en-US" sz="990" dirty="0">
                <a:solidFill>
                  <a:srgbClr val="16181D"/>
                </a:solidFill>
                <a:latin typeface="Courier New" pitchFamily="34" charset="0"/>
                <a:ea typeface="Courier New" pitchFamily="34" charset="-122"/>
                <a:cs typeface="Courier New" pitchFamily="34" charset="-120"/>
              </a:rPr>
              <a:t> sesion.call_tool(b.name, b.input)   </a:t>
            </a:r>
            <a:pPr algn="l" indent="0" marL="0">
              <a:lnSpc>
                <a:spcPts val="1485"/>
              </a:lnSpc>
              <a:buNone/>
            </a:pPr>
            <a:r>
              <a:rPr lang="en-US" sz="990" dirty="0">
                <a:solidFill>
                  <a:srgbClr val="585E6F"/>
                </a:solidFill>
                <a:latin typeface="Courier New" pitchFamily="34" charset="0"/>
                <a:ea typeface="Courier New" pitchFamily="34" charset="-122"/>
                <a:cs typeface="Courier New" pitchFamily="34" charset="-120"/>
              </a:rPr>
              <a:t># ACTUAR</a:t>
            </a:r>
            <a:endParaRPr lang="en-US" sz="990" dirty="0"/>
          </a:p>
        </p:txBody>
      </p:sp>
      <p:sp>
        <p:nvSpPr>
          <p:cNvPr id="33" name="s29-texto-32"/>
          <p:cNvSpPr txBox="1"/>
          <p:nvPr/>
        </p:nvSpPr>
        <p:spPr>
          <a:xfrm>
            <a:off x="7558394" y="2205246"/>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4" name="s29-texto-33"/>
          <p:cNvSpPr txBox="1"/>
          <p:nvPr/>
        </p:nvSpPr>
        <p:spPr>
          <a:xfrm>
            <a:off x="7558394" y="2410916"/>
            <a:ext cx="3488173" cy="587197"/>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El agente no tiene ni un esquema escrito a mano: </a:t>
            </a:r>
            <a:pPr algn="l" indent="0" marL="0">
              <a:lnSpc>
                <a:spcPts val="1637"/>
              </a:lnSpc>
              <a:buNone/>
            </a:pPr>
            <a:r>
              <a:rPr lang="en-US" sz="1170" b="1" dirty="0">
                <a:solidFill>
                  <a:srgbClr val="0033A0"/>
                </a:solidFill>
                <a:latin typeface="Arial" pitchFamily="34" charset="0"/>
                <a:ea typeface="Arial" pitchFamily="34" charset="-122"/>
                <a:cs typeface="Arial" pitchFamily="34" charset="-120"/>
              </a:rPr>
              <a:t>list_tools()</a:t>
            </a:r>
            <a:pPr algn="l" indent="0" marL="0">
              <a:lnSpc>
                <a:spcPts val="1637"/>
              </a:lnSpc>
              <a:buNone/>
            </a:pPr>
            <a:r>
              <a:rPr lang="en-US" sz="1170" dirty="0">
                <a:solidFill>
                  <a:srgbClr val="16181D"/>
                </a:solidFill>
                <a:latin typeface="Arial" pitchFamily="34" charset="0"/>
                <a:ea typeface="Arial" pitchFamily="34" charset="-122"/>
                <a:cs typeface="Arial" pitchFamily="34" charset="-120"/>
              </a:rPr>
              <a:t> los descubre y </a:t>
            </a:r>
            <a:pPr algn="l" indent="0" marL="0">
              <a:lnSpc>
                <a:spcPts val="1637"/>
              </a:lnSpc>
              <a:buNone/>
            </a:pPr>
            <a:r>
              <a:rPr lang="en-US" sz="1170" b="1" dirty="0">
                <a:solidFill>
                  <a:srgbClr val="0033A0"/>
                </a:solidFill>
                <a:latin typeface="Arial" pitchFamily="34" charset="0"/>
                <a:ea typeface="Arial" pitchFamily="34" charset="-122"/>
                <a:cs typeface="Arial" pitchFamily="34" charset="-120"/>
              </a:rPr>
              <a:t>call_tool()</a:t>
            </a:r>
            <a:pPr algn="l" indent="0" marL="0">
              <a:lnSpc>
                <a:spcPts val="1637"/>
              </a:lnSpc>
              <a:buNone/>
            </a:pPr>
            <a:r>
              <a:rPr lang="en-US" sz="1170" dirty="0">
                <a:solidFill>
                  <a:srgbClr val="16181D"/>
                </a:solidFill>
                <a:latin typeface="Arial" pitchFamily="34" charset="0"/>
                <a:ea typeface="Arial" pitchFamily="34" charset="-122"/>
                <a:cs typeface="Arial" pitchFamily="34" charset="-120"/>
              </a:rPr>
              <a:t> los ejecuta en el servidor.</a:t>
            </a:r>
            <a:endParaRPr lang="en-US" sz="1170" dirty="0"/>
          </a:p>
        </p:txBody>
      </p:sp>
      <p:sp>
        <p:nvSpPr>
          <p:cNvPr id="35" name="s29-texto-34"/>
          <p:cNvSpPr txBox="1"/>
          <p:nvPr/>
        </p:nvSpPr>
        <p:spPr>
          <a:xfrm>
            <a:off x="7558394" y="3154598"/>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6" name="s29-texto-35"/>
          <p:cNvSpPr txBox="1"/>
          <p:nvPr/>
        </p:nvSpPr>
        <p:spPr>
          <a:xfrm>
            <a:off x="7558394" y="3360268"/>
            <a:ext cx="3488173"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react.py: la misma herramienta, pero escrita dentro del agente; solo él podía usarla.</a:t>
            </a:r>
            <a:endParaRPr lang="en-US" sz="1170" dirty="0"/>
          </a:p>
        </p:txBody>
      </p:sp>
      <p:sp>
        <p:nvSpPr>
          <p:cNvPr id="37" name="s29-texto-36"/>
          <p:cNvSpPr txBox="1"/>
          <p:nvPr/>
        </p:nvSpPr>
        <p:spPr>
          <a:xfrm>
            <a:off x="7558394" y="3896047"/>
            <a:ext cx="3488173"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8" name="s29-forma-37"/>
          <p:cNvSpPr/>
          <p:nvPr/>
        </p:nvSpPr>
        <p:spPr>
          <a:xfrm>
            <a:off x="7558394" y="4084579"/>
            <a:ext cx="3290729" cy="592910"/>
          </a:xfrm>
          <a:prstGeom prst="rect">
            <a:avLst/>
          </a:prstGeom>
          <a:solidFill>
            <a:srgbClr val="E3DCCB"/>
          </a:solidFill>
          <a:ln/>
        </p:spPr>
      </p:sp>
      <p:sp>
        <p:nvSpPr>
          <p:cNvPr id="39" name="s29-texto-38"/>
          <p:cNvSpPr txBox="1"/>
          <p:nvPr/>
        </p:nvSpPr>
        <p:spPr>
          <a:xfrm>
            <a:off x="7649803" y="4164562"/>
            <a:ext cx="3294386" cy="429552"/>
          </a:xfrm>
          <a:prstGeom prst="rect">
            <a:avLst/>
          </a:prstGeom>
          <a:noFill/>
          <a:ln/>
        </p:spPr>
        <p:txBody>
          <a:bodyPr wrap="square" lIns="0" tIns="0" rIns="0" bIns="0" rtlCol="0" anchor="t"/>
          <a:lstStyle/>
          <a:p>
            <a:pPr algn="l" indent="0" marL="0">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ejemplos.s3_topologias.mcp_cliente</a:t>
            </a:r>
            <a:endParaRPr lang="en-US" sz="855" dirty="0"/>
          </a:p>
          <a:p>
            <a:pPr algn="l" indent="0" marL="0">
              <a:lnSpc>
                <a:spcPts val="1197"/>
              </a:lnSpc>
              <a:buNone/>
            </a:pPr>
            <a:r>
              <a:rPr lang="en-US" sz="855" dirty="0">
                <a:solidFill>
                  <a:srgbClr val="16181D"/>
                </a:solidFill>
                <a:latin typeface="Courier New" pitchFamily="34" charset="0"/>
                <a:ea typeface="Courier New" pitchFamily="34" charset="-122"/>
                <a:cs typeface="Courier New" pitchFamily="34" charset="-120"/>
              </a:rPr>
              <a:t>claude mcp add directorio -- python -m ejemplos.s3_topologias.mcp_directorio</a:t>
            </a:r>
            <a:endParaRPr lang="en-US" sz="855" dirty="0"/>
          </a:p>
        </p:txBody>
      </p:sp>
      <p:sp>
        <p:nvSpPr>
          <p:cNvPr id="40" name="s29-forma-39"/>
          <p:cNvSpPr/>
          <p:nvPr/>
        </p:nvSpPr>
        <p:spPr>
          <a:xfrm>
            <a:off x="7558394" y="4814602"/>
            <a:ext cx="3290729" cy="832859"/>
          </a:xfrm>
          <a:prstGeom prst="rect">
            <a:avLst/>
          </a:prstGeom>
          <a:solidFill>
            <a:srgbClr val="E2D3C2"/>
          </a:solidFill>
          <a:ln/>
        </p:spPr>
      </p:sp>
      <p:sp>
        <p:nvSpPr>
          <p:cNvPr id="41" name="s29-texto-40"/>
          <p:cNvSpPr txBox="1"/>
          <p:nvPr/>
        </p:nvSpPr>
        <p:spPr>
          <a:xfrm>
            <a:off x="7695508" y="4928863"/>
            <a:ext cx="3197492" cy="142827"/>
          </a:xfrm>
          <a:prstGeom prst="rect">
            <a:avLst/>
          </a:prstGeom>
          <a:noFill/>
          <a:ln/>
        </p:spPr>
        <p:txBody>
          <a:bodyPr wrap="none" lIns="0" tIns="0" rIns="0" bIns="0" rtlCol="0" anchor="t"/>
          <a:lstStyle/>
          <a:p>
            <a:pPr algn="l" indent="0" marL="0">
              <a:lnSpc>
                <a:spcPts val="1188"/>
              </a:lnSpc>
              <a:buNone/>
            </a:pPr>
            <a:r>
              <a:rPr lang="en-US" sz="990" b="1" spc="90" kern="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2" name="s29-texto-41"/>
          <p:cNvSpPr txBox="1"/>
          <p:nvPr/>
        </p:nvSpPr>
        <p:spPr>
          <a:xfrm>
            <a:off x="7695508" y="5134534"/>
            <a:ext cx="3197492" cy="379294"/>
          </a:xfrm>
          <a:prstGeom prst="rect">
            <a:avLst/>
          </a:prstGeom>
          <a:noFill/>
          <a:ln/>
        </p:spPr>
        <p:txBody>
          <a:bodyPr wrap="square" lIns="0" tIns="0" rIns="0" bIns="0" rtlCol="0" anchor="t"/>
          <a:lstStyle/>
          <a:p>
            <a:pPr algn="l" indent="0" marL="0">
              <a:lnSpc>
                <a:spcPts val="1637"/>
              </a:lnSpc>
              <a:buNone/>
            </a:pPr>
            <a:r>
              <a:rPr lang="en-US" sz="1170" dirty="0">
                <a:solidFill>
                  <a:srgbClr val="16181D"/>
                </a:solidFill>
                <a:latin typeface="Arial" pitchFamily="34" charset="0"/>
                <a:ea typeface="Arial" pitchFamily="34" charset="-122"/>
                <a:cs typeface="Arial" pitchFamily="34" charset="-120"/>
              </a:rPr>
              <a:t>Claude Code hace list_tools y call_tool por ti en cuanto registras el servidor.</a:t>
            </a:r>
            <a:endParaRPr lang="en-US" sz="1170" dirty="0"/>
          </a:p>
        </p:txBody>
      </p:sp>
      <p:sp>
        <p:nvSpPr>
          <p:cNvPr id="43" name="s29-texto-42"/>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ejemplos/s3_topologias/mcp_directorio.py y mcp_cliente.py · las líneas resaltadas son el patrón</a:t>
            </a:r>
            <a:endParaRPr lang="en-US" sz="1080" dirty="0"/>
          </a:p>
        </p:txBody>
      </p:sp>
      <p:sp>
        <p:nvSpPr>
          <p:cNvPr id="44" name="s29-forma-43"/>
          <p:cNvSpPr/>
          <p:nvPr/>
        </p:nvSpPr>
        <p:spPr>
          <a:xfrm>
            <a:off x="853390" y="6411138"/>
            <a:ext cx="10484915" cy="5713"/>
          </a:xfrm>
          <a:prstGeom prst="rect">
            <a:avLst/>
          </a:prstGeom>
          <a:solidFill>
            <a:srgbClr val="DBD4C4"/>
          </a:solidFill>
          <a:ln/>
        </p:spPr>
      </p:sp>
      <p:pic>
        <p:nvPicPr>
          <p:cNvPr id="45" name="s29-logo-44"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6" name="s29-forma-45"/>
          <p:cNvSpPr/>
          <p:nvPr/>
        </p:nvSpPr>
        <p:spPr>
          <a:xfrm>
            <a:off x="1659380" y="6519865"/>
            <a:ext cx="2926878" cy="102835"/>
          </a:xfrm>
          <a:prstGeom prst="rect">
            <a:avLst/>
          </a:prstGeom>
          <a:ln/>
        </p:spPr>
      </p:sp>
      <p:sp>
        <p:nvSpPr>
          <p:cNvPr id="47" name="s29-forma-46"/>
          <p:cNvSpPr/>
          <p:nvPr/>
        </p:nvSpPr>
        <p:spPr>
          <a:xfrm>
            <a:off x="1659380" y="6519865"/>
            <a:ext cx="5713" cy="102835"/>
          </a:xfrm>
          <a:prstGeom prst="rect">
            <a:avLst/>
          </a:prstGeom>
          <a:solidFill>
            <a:srgbClr val="C6BFAE"/>
          </a:solidFill>
          <a:ln/>
        </p:spPr>
      </p:sp>
      <p:sp>
        <p:nvSpPr>
          <p:cNvPr id="48" name="s29-texto-47"/>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49" name="s29-texto-48"/>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29 / 36</a:t>
            </a:r>
            <a:endParaRPr lang="en-US" sz="745" dirty="0"/>
          </a:p>
        </p:txBody>
      </p:sp>
      <p:sp>
        <p:nvSpPr>
          <p:cNvPr id="50" name="s29-forma-49"/>
          <p:cNvSpPr/>
          <p:nvPr/>
        </p:nvSpPr>
        <p:spPr>
          <a:xfrm>
            <a:off x="0" y="0"/>
            <a:ext cx="9821038" cy="17139"/>
          </a:xfrm>
          <a:prstGeom prst="rect">
            <a:avLst/>
          </a:prstGeom>
          <a:solidFill>
            <a:srgbClr val="0033A0"/>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DE8DC"/>
        </a:solidFill>
      </p:bgPr>
    </p:bg>
    <p:spTree>
      <p:nvGrpSpPr>
        <p:cNvPr id="1" name=""/>
        <p:cNvGrpSpPr/>
        <p:nvPr/>
      </p:nvGrpSpPr>
      <p:grpSpPr>
        <a:xfrm>
          <a:off x="0" y="0"/>
          <a:ext cx="0" cy="0"/>
          <a:chOff x="0" y="0"/>
          <a:chExt cx="0" cy="0"/>
        </a:xfrm>
      </p:grpSpPr>
      <p:sp>
        <p:nvSpPr>
          <p:cNvPr id="2" name="s30-forma-1"/>
          <p:cNvSpPr/>
          <p:nvPr/>
        </p:nvSpPr>
        <p:spPr>
          <a:xfrm>
            <a:off x="853390" y="520961"/>
            <a:ext cx="10484915" cy="5713"/>
          </a:xfrm>
          <a:prstGeom prst="rect">
            <a:avLst/>
          </a:prstGeom>
          <a:solidFill>
            <a:srgbClr val="C6BFAE"/>
          </a:solidFill>
          <a:ln/>
        </p:spPr>
      </p:sp>
      <p:sp>
        <p:nvSpPr>
          <p:cNvPr id="3" name="s30-forma-2"/>
          <p:cNvSpPr/>
          <p:nvPr/>
        </p:nvSpPr>
        <p:spPr>
          <a:xfrm>
            <a:off x="853390" y="331715"/>
            <a:ext cx="81411" cy="81411"/>
          </a:xfrm>
          <a:prstGeom prst="ellipse">
            <a:avLst/>
          </a:prstGeom>
          <a:solidFill>
            <a:srgbClr val="0E6871"/>
          </a:solidFill>
          <a:ln/>
        </p:spPr>
      </p:sp>
      <p:sp>
        <p:nvSpPr>
          <p:cNvPr id="4" name="s30-texto-3"/>
          <p:cNvSpPr txBox="1"/>
          <p:nvPr/>
        </p:nvSpPr>
        <p:spPr>
          <a:xfrm>
            <a:off x="1007018" y="315290"/>
            <a:ext cx="693513"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0E6871"/>
                </a:solidFill>
                <a:latin typeface="Courier New" pitchFamily="34" charset="0"/>
                <a:ea typeface="Courier New" pitchFamily="34" charset="-122"/>
                <a:cs typeface="Courier New" pitchFamily="34" charset="-120"/>
              </a:rPr>
              <a:t>ACOMPAÑA</a:t>
            </a:r>
            <a:endParaRPr lang="en-US" sz="807" dirty="0"/>
          </a:p>
        </p:txBody>
      </p:sp>
      <p:sp>
        <p:nvSpPr>
          <p:cNvPr id="5" name="s30-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1:10 · 10 min</a:t>
            </a:r>
            <a:endParaRPr lang="en-US" sz="807" dirty="0"/>
          </a:p>
        </p:txBody>
      </p:sp>
      <p:sp>
        <p:nvSpPr>
          <p:cNvPr id="6" name="s30-forma-5"/>
          <p:cNvSpPr/>
          <p:nvPr/>
        </p:nvSpPr>
        <p:spPr>
          <a:xfrm>
            <a:off x="5885535" y="2400561"/>
            <a:ext cx="420446" cy="17139"/>
          </a:xfrm>
          <a:prstGeom prst="rect">
            <a:avLst/>
          </a:prstGeom>
          <a:solidFill>
            <a:srgbClr val="0033A0"/>
          </a:solidFill>
          <a:ln/>
        </p:spPr>
      </p:sp>
      <p:sp>
        <p:nvSpPr>
          <p:cNvPr id="7" name="s30-texto-6"/>
          <p:cNvSpPr txBox="1"/>
          <p:nvPr/>
        </p:nvSpPr>
        <p:spPr>
          <a:xfrm>
            <a:off x="538843" y="2543388"/>
            <a:ext cx="11114010" cy="377063"/>
          </a:xfrm>
          <a:prstGeom prst="rect">
            <a:avLst/>
          </a:prstGeom>
          <a:noFill/>
          <a:ln/>
        </p:spPr>
        <p:txBody>
          <a:bodyPr wrap="none" lIns="0" tIns="0" rIns="0" bIns="0" rtlCol="0" anchor="t"/>
          <a:lstStyle/>
          <a:p>
            <a:pPr algn="ctr" indent="0" marL="0">
              <a:lnSpc>
                <a:spcPts val="2890"/>
              </a:lnSpc>
              <a:buNone/>
            </a:pPr>
            <a:r>
              <a:rPr lang="en-US" sz="2535" b="1" spc="-38" kern="0" dirty="0">
                <a:solidFill>
                  <a:srgbClr val="16181D"/>
                </a:solidFill>
                <a:latin typeface="Georgia" pitchFamily="34" charset="0"/>
                <a:ea typeface="Georgia" pitchFamily="34" charset="-122"/>
                <a:cs typeface="Georgia" pitchFamily="34" charset="-120"/>
              </a:rPr>
              <a:t>DESCANSO</a:t>
            </a:r>
            <a:endParaRPr lang="en-US" sz="2535" dirty="0"/>
          </a:p>
        </p:txBody>
      </p:sp>
      <p:sp>
        <p:nvSpPr>
          <p:cNvPr id="8" name="s30-texto-7"/>
          <p:cNvSpPr txBox="1"/>
          <p:nvPr/>
        </p:nvSpPr>
        <p:spPr>
          <a:xfrm>
            <a:off x="538843" y="3270644"/>
            <a:ext cx="11114010" cy="816969"/>
          </a:xfrm>
          <a:prstGeom prst="rect">
            <a:avLst/>
          </a:prstGeom>
          <a:noFill/>
          <a:ln/>
        </p:spPr>
        <p:txBody>
          <a:bodyPr wrap="none" lIns="0" tIns="0" rIns="0" bIns="0" rtlCol="0" anchor="t"/>
          <a:lstStyle/>
          <a:p>
            <a:pPr algn="ctr" indent="0" marL="0">
              <a:lnSpc>
                <a:spcPts val="6829"/>
              </a:lnSpc>
              <a:buNone/>
            </a:pPr>
            <a:r>
              <a:rPr lang="en-US" sz="5691" b="1" dirty="0">
                <a:solidFill>
                  <a:srgbClr val="0E6871"/>
                </a:solidFill>
                <a:latin typeface="Courier New" pitchFamily="34" charset="0"/>
                <a:ea typeface="Courier New" pitchFamily="34" charset="-122"/>
                <a:cs typeface="Courier New" pitchFamily="34" charset="-120"/>
              </a:rPr>
              <a:t>10:00</a:t>
            </a:r>
            <a:endParaRPr lang="en-US" sz="5691" dirty="0"/>
          </a:p>
        </p:txBody>
      </p:sp>
      <p:sp>
        <p:nvSpPr>
          <p:cNvPr id="9" name="s30-texto-8"/>
          <p:cNvSpPr txBox="1"/>
          <p:nvPr/>
        </p:nvSpPr>
        <p:spPr>
          <a:xfrm>
            <a:off x="538843" y="4305782"/>
            <a:ext cx="11114010" cy="177105"/>
          </a:xfrm>
          <a:prstGeom prst="rect">
            <a:avLst/>
          </a:prstGeom>
          <a:noFill/>
          <a:ln/>
        </p:spPr>
        <p:txBody>
          <a:bodyPr wrap="none" lIns="0" tIns="0" rIns="0" bIns="0" rtlCol="0" anchor="t"/>
          <a:lstStyle/>
          <a:p>
            <a:pPr algn="ctr" indent="0" marL="0">
              <a:lnSpc>
                <a:spcPts val="1987"/>
              </a:lnSpc>
              <a:buNone/>
            </a:pPr>
            <a:r>
              <a:rPr lang="en-US" sz="1242" dirty="0">
                <a:solidFill>
                  <a:srgbClr val="585E6F"/>
                </a:solidFill>
                <a:latin typeface="Arial" pitchFamily="34" charset="0"/>
                <a:ea typeface="Arial" pitchFamily="34" charset="-122"/>
                <a:cs typeface="Arial" pitchFamily="34" charset="-120"/>
              </a:rPr>
              <a:t>Volvemos con el Lab 3: dos agentes en paralelo.</a:t>
            </a:r>
            <a:endParaRPr lang="en-US" sz="1242" dirty="0"/>
          </a:p>
        </p:txBody>
      </p:sp>
      <p:sp>
        <p:nvSpPr>
          <p:cNvPr id="10" name="s30-forma-9"/>
          <p:cNvSpPr/>
          <p:nvPr/>
        </p:nvSpPr>
        <p:spPr>
          <a:xfrm>
            <a:off x="853390" y="6411138"/>
            <a:ext cx="10484915" cy="5713"/>
          </a:xfrm>
          <a:prstGeom prst="rect">
            <a:avLst/>
          </a:prstGeom>
          <a:solidFill>
            <a:srgbClr val="DBD4C4"/>
          </a:solidFill>
          <a:ln/>
        </p:spPr>
      </p:sp>
      <p:pic>
        <p:nvPicPr>
          <p:cNvPr id="11" name="s30-logo-10"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2" name="s30-forma-11"/>
          <p:cNvSpPr/>
          <p:nvPr/>
        </p:nvSpPr>
        <p:spPr>
          <a:xfrm>
            <a:off x="1659380" y="6519865"/>
            <a:ext cx="2926878" cy="102835"/>
          </a:xfrm>
          <a:prstGeom prst="rect">
            <a:avLst/>
          </a:prstGeom>
          <a:ln/>
        </p:spPr>
      </p:sp>
      <p:sp>
        <p:nvSpPr>
          <p:cNvPr id="13" name="s30-forma-12"/>
          <p:cNvSpPr/>
          <p:nvPr/>
        </p:nvSpPr>
        <p:spPr>
          <a:xfrm>
            <a:off x="1659380" y="6519865"/>
            <a:ext cx="5713" cy="102835"/>
          </a:xfrm>
          <a:prstGeom prst="rect">
            <a:avLst/>
          </a:prstGeom>
          <a:solidFill>
            <a:srgbClr val="C6BFAE"/>
          </a:solidFill>
          <a:ln/>
        </p:spPr>
      </p:sp>
      <p:sp>
        <p:nvSpPr>
          <p:cNvPr id="14" name="s30-texto-13"/>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5" name="s30-texto-14"/>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30 / 36</a:t>
            </a:r>
            <a:endParaRPr lang="en-US" sz="745" dirty="0"/>
          </a:p>
        </p:txBody>
      </p:sp>
      <p:sp>
        <p:nvSpPr>
          <p:cNvPr id="16" name="s30-forma-15"/>
          <p:cNvSpPr/>
          <p:nvPr/>
        </p:nvSpPr>
        <p:spPr>
          <a:xfrm>
            <a:off x="0" y="0"/>
            <a:ext cx="10159716" cy="17139"/>
          </a:xfrm>
          <a:prstGeom prst="rect">
            <a:avLst/>
          </a:prstGeom>
          <a:solidFill>
            <a:srgbClr val="0033A0"/>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DE8DC"/>
        </a:solidFill>
      </p:bgPr>
    </p:bg>
    <p:spTree>
      <p:nvGrpSpPr>
        <p:cNvPr id="1" name=""/>
        <p:cNvGrpSpPr/>
        <p:nvPr/>
      </p:nvGrpSpPr>
      <p:grpSpPr>
        <a:xfrm>
          <a:off x="0" y="0"/>
          <a:ext cx="0" cy="0"/>
          <a:chOff x="0" y="0"/>
          <a:chExt cx="0" cy="0"/>
        </a:xfrm>
      </p:grpSpPr>
      <p:sp>
        <p:nvSpPr>
          <p:cNvPr id="2" name="s31-forma-1"/>
          <p:cNvSpPr/>
          <p:nvPr/>
        </p:nvSpPr>
        <p:spPr>
          <a:xfrm>
            <a:off x="853390" y="331715"/>
            <a:ext cx="81411" cy="81411"/>
          </a:xfrm>
          <a:prstGeom prst="ellipse">
            <a:avLst/>
          </a:prstGeom>
          <a:solidFill>
            <a:srgbClr val="1B6A43"/>
          </a:solidFill>
          <a:ln/>
        </p:spPr>
      </p:sp>
      <p:sp>
        <p:nvSpPr>
          <p:cNvPr id="3" name="s31-texto-2"/>
          <p:cNvSpPr txBox="1"/>
          <p:nvPr/>
        </p:nvSpPr>
        <p:spPr>
          <a:xfrm>
            <a:off x="1007018" y="315290"/>
            <a:ext cx="693513"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1-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1:20 · 10 min</a:t>
            </a:r>
            <a:endParaRPr lang="en-US" sz="807" dirty="0"/>
          </a:p>
        </p:txBody>
      </p:sp>
      <p:sp>
        <p:nvSpPr>
          <p:cNvPr id="5" name="s31-texto-4"/>
          <p:cNvSpPr txBox="1"/>
          <p:nvPr/>
        </p:nvSpPr>
        <p:spPr>
          <a:xfrm>
            <a:off x="853390" y="267987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LABORATORIO 3A</a:t>
            </a:r>
            <a:endParaRPr lang="en-US" sz="869" dirty="0"/>
          </a:p>
        </p:txBody>
      </p:sp>
      <p:sp>
        <p:nvSpPr>
          <p:cNvPr id="6" name="s31-forma-5"/>
          <p:cNvSpPr/>
          <p:nvPr/>
        </p:nvSpPr>
        <p:spPr>
          <a:xfrm>
            <a:off x="853390" y="3768306"/>
            <a:ext cx="722704" cy="22852"/>
          </a:xfrm>
          <a:prstGeom prst="rect">
            <a:avLst/>
          </a:prstGeom>
          <a:solidFill>
            <a:srgbClr val="0033A0"/>
          </a:solidFill>
          <a:ln/>
        </p:spPr>
      </p:sp>
      <p:sp>
        <p:nvSpPr>
          <p:cNvPr id="7" name="s31-texto-6"/>
          <p:cNvSpPr txBox="1"/>
          <p:nvPr/>
        </p:nvSpPr>
        <p:spPr>
          <a:xfrm>
            <a:off x="853390" y="2960889"/>
            <a:ext cx="7149222" cy="634151"/>
          </a:xfrm>
          <a:prstGeom prst="rect">
            <a:avLst/>
          </a:prstGeom>
          <a:noFill/>
          <a:ln/>
        </p:spPr>
        <p:txBody>
          <a:bodyPr wrap="non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Leer los agentes 4 y 5</a:t>
            </a:r>
            <a:endParaRPr lang="en-US" sz="4242" dirty="0"/>
          </a:p>
        </p:txBody>
      </p:sp>
      <p:sp>
        <p:nvSpPr>
          <p:cNvPr id="8" name="s31-texto-7"/>
          <p:cNvSpPr txBox="1"/>
          <p:nvPr/>
        </p:nvSpPr>
        <p:spPr>
          <a:xfrm>
            <a:off x="853390" y="3969960"/>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Instrucciones, permisos y la rama paralela de flujo_s3.</a:t>
            </a:r>
            <a:endParaRPr lang="en-US" sz="1676" dirty="0"/>
          </a:p>
        </p:txBody>
      </p:sp>
      <p:pic>
        <p:nvPicPr>
          <p:cNvPr id="9" name="s31-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31-forma-9"/>
          <p:cNvSpPr/>
          <p:nvPr/>
        </p:nvSpPr>
        <p:spPr>
          <a:xfrm>
            <a:off x="1659380" y="6519865"/>
            <a:ext cx="2926878" cy="102835"/>
          </a:xfrm>
          <a:prstGeom prst="rect">
            <a:avLst/>
          </a:prstGeom>
          <a:ln/>
        </p:spPr>
      </p:sp>
      <p:sp>
        <p:nvSpPr>
          <p:cNvPr id="11" name="s31-forma-10"/>
          <p:cNvSpPr/>
          <p:nvPr/>
        </p:nvSpPr>
        <p:spPr>
          <a:xfrm>
            <a:off x="1659380" y="6519865"/>
            <a:ext cx="5713" cy="102835"/>
          </a:xfrm>
          <a:prstGeom prst="rect">
            <a:avLst/>
          </a:prstGeom>
          <a:solidFill>
            <a:srgbClr val="C6BFAE"/>
          </a:solidFill>
          <a:ln/>
        </p:spPr>
      </p:sp>
      <p:sp>
        <p:nvSpPr>
          <p:cNvPr id="12" name="s31-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31-texto-1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31 / 36</a:t>
            </a:r>
            <a:endParaRPr lang="en-US" sz="745" dirty="0"/>
          </a:p>
        </p:txBody>
      </p:sp>
      <p:sp>
        <p:nvSpPr>
          <p:cNvPr id="14" name="s31-forma-13"/>
          <p:cNvSpPr/>
          <p:nvPr/>
        </p:nvSpPr>
        <p:spPr>
          <a:xfrm>
            <a:off x="0" y="0"/>
            <a:ext cx="10498394" cy="17139"/>
          </a:xfrm>
          <a:prstGeom prst="rect">
            <a:avLst/>
          </a:prstGeom>
          <a:solidFill>
            <a:srgbClr val="0033A0"/>
          </a:solid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E8DC"/>
        </a:solidFill>
      </p:bgPr>
    </p:bg>
    <p:spTree>
      <p:nvGrpSpPr>
        <p:cNvPr id="1" name=""/>
        <p:cNvGrpSpPr/>
        <p:nvPr/>
      </p:nvGrpSpPr>
      <p:grpSpPr>
        <a:xfrm>
          <a:off x="0" y="0"/>
          <a:ext cx="0" cy="0"/>
          <a:chOff x="0" y="0"/>
          <a:chExt cx="0" cy="0"/>
        </a:xfrm>
      </p:grpSpPr>
      <p:sp>
        <p:nvSpPr>
          <p:cNvPr id="2" name="s32-forma-1"/>
          <p:cNvSpPr/>
          <p:nvPr/>
        </p:nvSpPr>
        <p:spPr>
          <a:xfrm>
            <a:off x="853390" y="520961"/>
            <a:ext cx="10484915" cy="5713"/>
          </a:xfrm>
          <a:prstGeom prst="rect">
            <a:avLst/>
          </a:prstGeom>
          <a:solidFill>
            <a:srgbClr val="C6BFAE"/>
          </a:solidFill>
          <a:ln/>
        </p:spPr>
      </p:sp>
      <p:sp>
        <p:nvSpPr>
          <p:cNvPr id="3" name="s32-forma-2"/>
          <p:cNvSpPr/>
          <p:nvPr/>
        </p:nvSpPr>
        <p:spPr>
          <a:xfrm>
            <a:off x="853390" y="331715"/>
            <a:ext cx="81411" cy="81411"/>
          </a:xfrm>
          <a:prstGeom prst="ellipse">
            <a:avLst/>
          </a:prstGeom>
          <a:solidFill>
            <a:srgbClr val="1B6A43"/>
          </a:solidFill>
          <a:ln/>
        </p:spPr>
      </p:sp>
      <p:sp>
        <p:nvSpPr>
          <p:cNvPr id="4" name="s32-texto-3"/>
          <p:cNvSpPr txBox="1"/>
          <p:nvPr/>
        </p:nvSpPr>
        <p:spPr>
          <a:xfrm>
            <a:off x="1007018" y="315290"/>
            <a:ext cx="693513"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32-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1:20 · 10 min</a:t>
            </a:r>
            <a:endParaRPr lang="en-US" sz="807" dirty="0"/>
          </a:p>
        </p:txBody>
      </p:sp>
      <p:sp>
        <p:nvSpPr>
          <p:cNvPr id="6" name="s32-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LAB 3 · FLUJOS/FLUJO_S3.PY</a:t>
            </a:r>
            <a:endParaRPr lang="en-US" sz="900" dirty="0"/>
          </a:p>
        </p:txBody>
      </p:sp>
      <p:sp>
        <p:nvSpPr>
          <p:cNvPr id="7" name="s32-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Dos agentes en paralelo, una unión</a:t>
            </a:r>
            <a:endParaRPr lang="en-US" sz="2879" dirty="0"/>
          </a:p>
        </p:txBody>
      </p:sp>
      <p:sp>
        <p:nvSpPr>
          <p:cNvPr id="8" name="s32-forma-7"/>
          <p:cNvSpPr/>
          <p:nvPr/>
        </p:nvSpPr>
        <p:spPr>
          <a:xfrm>
            <a:off x="1342572" y="3199320"/>
            <a:ext cx="1599660" cy="685569"/>
          </a:xfrm>
          <a:prstGeom prst="rect">
            <a:avLst/>
          </a:prstGeom>
          <a:solidFill>
            <a:srgbClr val="DCE3F2"/>
          </a:solidFill>
          <a:ln w="5713">
            <a:solidFill>
              <a:srgbClr val="0033A0"/>
            </a:solidFill>
            <a:prstDash val="solid"/>
          </a:ln>
        </p:spPr>
      </p:sp>
      <p:sp>
        <p:nvSpPr>
          <p:cNvPr id="9" name="s32-texto-8"/>
          <p:cNvSpPr txBox="1"/>
          <p:nvPr/>
        </p:nvSpPr>
        <p:spPr>
          <a:xfrm>
            <a:off x="1803813" y="3359286"/>
            <a:ext cx="677178"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Verificar</a:t>
            </a:r>
            <a:endParaRPr lang="en-US" sz="1260" dirty="0"/>
          </a:p>
        </p:txBody>
      </p:sp>
      <p:sp>
        <p:nvSpPr>
          <p:cNvPr id="10" name="s32-texto-9"/>
          <p:cNvSpPr txBox="1"/>
          <p:nvPr/>
        </p:nvSpPr>
        <p:spPr>
          <a:xfrm>
            <a:off x="1564730" y="3564957"/>
            <a:ext cx="1155344"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app de HU-02 OK</a:t>
            </a:r>
            <a:endParaRPr lang="en-US" sz="1080" dirty="0"/>
          </a:p>
        </p:txBody>
      </p:sp>
      <p:sp>
        <p:nvSpPr>
          <p:cNvPr id="11" name="s32-forma-10"/>
          <p:cNvSpPr/>
          <p:nvPr/>
        </p:nvSpPr>
        <p:spPr>
          <a:xfrm>
            <a:off x="3856323" y="2399490"/>
            <a:ext cx="2285229" cy="799830"/>
          </a:xfrm>
          <a:prstGeom prst="rect">
            <a:avLst/>
          </a:prstGeom>
          <a:solidFill>
            <a:srgbClr val="E2D3C2"/>
          </a:solidFill>
          <a:ln w="5713">
            <a:solidFill>
              <a:srgbClr val="984514"/>
            </a:solidFill>
            <a:prstDash val="solid"/>
          </a:ln>
        </p:spPr>
      </p:sp>
      <p:sp>
        <p:nvSpPr>
          <p:cNvPr id="12" name="s32-texto-11"/>
          <p:cNvSpPr txBox="1"/>
          <p:nvPr/>
        </p:nvSpPr>
        <p:spPr>
          <a:xfrm>
            <a:off x="4424105" y="2528034"/>
            <a:ext cx="1149666"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4 · Despliegue</a:t>
            </a:r>
            <a:endParaRPr lang="en-US" sz="1260" dirty="0"/>
          </a:p>
        </p:txBody>
      </p:sp>
      <p:sp>
        <p:nvSpPr>
          <p:cNvPr id="13" name="s32-texto-12"/>
          <p:cNvSpPr txBox="1"/>
          <p:nvPr/>
        </p:nvSpPr>
        <p:spPr>
          <a:xfrm>
            <a:off x="4304123" y="2733705"/>
            <a:ext cx="1389630"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Docker · 8000 y 8080</a:t>
            </a:r>
            <a:endParaRPr lang="en-US" sz="1080" dirty="0"/>
          </a:p>
        </p:txBody>
      </p:sp>
      <p:sp>
        <p:nvSpPr>
          <p:cNvPr id="14" name="s32-texto-13"/>
          <p:cNvSpPr txBox="1"/>
          <p:nvPr/>
        </p:nvSpPr>
        <p:spPr>
          <a:xfrm>
            <a:off x="4126708" y="2916523"/>
            <a:ext cx="1744370"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Courier New" pitchFamily="34" charset="0"/>
                <a:ea typeface="Courier New" pitchFamily="34" charset="-122"/>
                <a:cs typeface="Courier New" pitchFamily="34" charset="-120"/>
              </a:rPr>
              <a:t>escribe: Dockerfiles</a:t>
            </a:r>
            <a:endParaRPr lang="en-US" sz="1080" dirty="0"/>
          </a:p>
        </p:txBody>
      </p:sp>
      <p:sp>
        <p:nvSpPr>
          <p:cNvPr id="15" name="s32-forma-14"/>
          <p:cNvSpPr/>
          <p:nvPr/>
        </p:nvSpPr>
        <p:spPr>
          <a:xfrm>
            <a:off x="3856323" y="3884889"/>
            <a:ext cx="2285229" cy="799830"/>
          </a:xfrm>
          <a:prstGeom prst="rect">
            <a:avLst/>
          </a:prstGeom>
          <a:solidFill>
            <a:srgbClr val="E2D3C2"/>
          </a:solidFill>
          <a:ln w="5713">
            <a:solidFill>
              <a:srgbClr val="984514"/>
            </a:solidFill>
            <a:prstDash val="solid"/>
          </a:ln>
        </p:spPr>
      </p:sp>
      <p:sp>
        <p:nvSpPr>
          <p:cNvPr id="16" name="s32-texto-15"/>
          <p:cNvSpPr txBox="1"/>
          <p:nvPr/>
        </p:nvSpPr>
        <p:spPr>
          <a:xfrm>
            <a:off x="4286053" y="4013433"/>
            <a:ext cx="1425681"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5 · Automatizador</a:t>
            </a:r>
            <a:endParaRPr lang="en-US" sz="1260" dirty="0"/>
          </a:p>
        </p:txBody>
      </p:sp>
      <p:sp>
        <p:nvSpPr>
          <p:cNvPr id="17" name="s32-texto-16"/>
          <p:cNvSpPr txBox="1"/>
          <p:nvPr/>
        </p:nvSpPr>
        <p:spPr>
          <a:xfrm>
            <a:off x="4387012" y="4219104"/>
            <a:ext cx="1223851"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pytest + Playwright</a:t>
            </a:r>
            <a:endParaRPr lang="en-US" sz="1080" dirty="0"/>
          </a:p>
        </p:txBody>
      </p:sp>
      <p:sp>
        <p:nvSpPr>
          <p:cNvPr id="18" name="s32-texto-17"/>
          <p:cNvSpPr txBox="1"/>
          <p:nvPr/>
        </p:nvSpPr>
        <p:spPr>
          <a:xfrm>
            <a:off x="4344719" y="4401922"/>
            <a:ext cx="1308349"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Courier New" pitchFamily="34" charset="0"/>
                <a:ea typeface="Courier New" pitchFamily="34" charset="-122"/>
                <a:cs typeface="Courier New" pitchFamily="34" charset="-120"/>
              </a:rPr>
              <a:t>escribe: tests/</a:t>
            </a:r>
            <a:endParaRPr lang="en-US" sz="1080" dirty="0"/>
          </a:p>
        </p:txBody>
      </p:sp>
      <p:sp>
        <p:nvSpPr>
          <p:cNvPr id="19" name="s32-forma-18"/>
          <p:cNvSpPr/>
          <p:nvPr/>
        </p:nvSpPr>
        <p:spPr>
          <a:xfrm>
            <a:off x="7055644" y="3199320"/>
            <a:ext cx="1599660" cy="685569"/>
          </a:xfrm>
          <a:prstGeom prst="rect">
            <a:avLst/>
          </a:prstGeom>
          <a:solidFill>
            <a:srgbClr val="EDE8DC"/>
          </a:solidFill>
          <a:ln w="5713">
            <a:solidFill>
              <a:srgbClr val="585E6F"/>
            </a:solidFill>
            <a:prstDash val="solid"/>
          </a:ln>
        </p:spPr>
      </p:sp>
      <p:sp>
        <p:nvSpPr>
          <p:cNvPr id="20" name="s32-texto-19"/>
          <p:cNvSpPr txBox="1"/>
          <p:nvPr/>
        </p:nvSpPr>
        <p:spPr>
          <a:xfrm>
            <a:off x="7641501" y="3359286"/>
            <a:ext cx="427856"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Listo</a:t>
            </a:r>
            <a:endParaRPr lang="en-US" sz="1260" dirty="0"/>
          </a:p>
        </p:txBody>
      </p:sp>
      <p:sp>
        <p:nvSpPr>
          <p:cNvPr id="21" name="s32-texto-20"/>
          <p:cNvSpPr txBox="1"/>
          <p:nvPr/>
        </p:nvSpPr>
        <p:spPr>
          <a:xfrm>
            <a:off x="7334294" y="3564957"/>
            <a:ext cx="1042270"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espera a ambos</a:t>
            </a:r>
            <a:endParaRPr lang="en-US" sz="1080" dirty="0"/>
          </a:p>
        </p:txBody>
      </p:sp>
      <p:sp>
        <p:nvSpPr>
          <p:cNvPr id="22" name="s32-forma-21"/>
          <p:cNvSpPr/>
          <p:nvPr/>
        </p:nvSpPr>
        <p:spPr>
          <a:xfrm>
            <a:off x="9112350" y="3199320"/>
            <a:ext cx="1736774" cy="685569"/>
          </a:xfrm>
          <a:prstGeom prst="rect">
            <a:avLst/>
          </a:prstGeom>
          <a:solidFill>
            <a:srgbClr val="E3DCCB"/>
          </a:solidFill>
          <a:ln w="5713">
            <a:solidFill>
              <a:srgbClr val="585E6F"/>
            </a:solidFill>
            <a:prstDash val="dash"/>
          </a:ln>
        </p:spPr>
      </p:sp>
      <p:sp>
        <p:nvSpPr>
          <p:cNvPr id="23" name="s32-texto-22"/>
          <p:cNvSpPr txBox="1"/>
          <p:nvPr/>
        </p:nvSpPr>
        <p:spPr>
          <a:xfrm>
            <a:off x="9462301" y="3359286"/>
            <a:ext cx="1036781" cy="177105"/>
          </a:xfrm>
          <a:prstGeom prst="rect">
            <a:avLst/>
          </a:prstGeom>
          <a:noFill/>
          <a:ln/>
        </p:spPr>
        <p:txBody>
          <a:bodyPr wrap="none" lIns="0" tIns="0" rIns="0" bIns="0" rtlCol="0" anchor="t"/>
          <a:lstStyle/>
          <a:p>
            <a:pPr algn="ctr" indent="0" marL="0">
              <a:lnSpc>
                <a:spcPts val="1512"/>
              </a:lnSpc>
              <a:buNone/>
            </a:pPr>
            <a:r>
              <a:rPr lang="en-US" sz="1260" b="1" dirty="0">
                <a:solidFill>
                  <a:srgbClr val="16181D"/>
                </a:solidFill>
                <a:latin typeface="Arial" pitchFamily="34" charset="0"/>
                <a:ea typeface="Arial" pitchFamily="34" charset="-122"/>
                <a:cs typeface="Arial" pitchFamily="34" charset="-120"/>
              </a:rPr>
              <a:t>Pruebas E2E</a:t>
            </a:r>
            <a:endParaRPr lang="en-US" sz="1260" dirty="0"/>
          </a:p>
        </p:txBody>
      </p:sp>
      <p:sp>
        <p:nvSpPr>
          <p:cNvPr id="24" name="s32-texto-23"/>
          <p:cNvSpPr txBox="1"/>
          <p:nvPr/>
        </p:nvSpPr>
        <p:spPr>
          <a:xfrm>
            <a:off x="9702492" y="3564957"/>
            <a:ext cx="556400" cy="154253"/>
          </a:xfrm>
          <a:prstGeom prst="rect">
            <a:avLst/>
          </a:prstGeom>
          <a:noFill/>
          <a:ln/>
        </p:spPr>
        <p:txBody>
          <a:bodyPr wrap="none" lIns="0" tIns="0" rIns="0" bIns="0" rtlCol="0" anchor="t"/>
          <a:lstStyle/>
          <a:p>
            <a:pPr algn="ctr" indent="0" marL="0">
              <a:lnSpc>
                <a:spcPts val="1296"/>
              </a:lnSpc>
              <a:buNone/>
            </a:pPr>
            <a:r>
              <a:rPr lang="en-US" sz="1080" dirty="0">
                <a:solidFill>
                  <a:srgbClr val="585E6F"/>
                </a:solidFill>
                <a:latin typeface="Arial" pitchFamily="34" charset="0"/>
                <a:ea typeface="Arial" pitchFamily="34" charset="-122"/>
                <a:cs typeface="Arial" pitchFamily="34" charset="-120"/>
              </a:rPr>
              <a:t>sesión 4</a:t>
            </a:r>
            <a:endParaRPr lang="en-US" sz="1080" dirty="0"/>
          </a:p>
        </p:txBody>
      </p:sp>
      <p:sp>
        <p:nvSpPr>
          <p:cNvPr id="25" name="s32-forma-24"/>
          <p:cNvSpPr/>
          <p:nvPr/>
        </p:nvSpPr>
        <p:spPr>
          <a:xfrm>
            <a:off x="1342572" y="4970372"/>
            <a:ext cx="4593310" cy="374742"/>
          </a:xfrm>
          <a:prstGeom prst="rect">
            <a:avLst/>
          </a:prstGeom>
          <a:solidFill>
            <a:srgbClr val="EDE8DC"/>
          </a:solidFill>
          <a:ln/>
        </p:spPr>
      </p:sp>
      <p:sp>
        <p:nvSpPr>
          <p:cNvPr id="26" name="s32-texto-25"/>
          <p:cNvSpPr txBox="1"/>
          <p:nvPr/>
        </p:nvSpPr>
        <p:spPr>
          <a:xfrm>
            <a:off x="1479686" y="5078921"/>
            <a:ext cx="4578227" cy="154253"/>
          </a:xfrm>
          <a:prstGeom prst="rect">
            <a:avLst/>
          </a:prstGeom>
          <a:noFill/>
          <a:ln/>
        </p:spPr>
        <p:txBody>
          <a:bodyPr wrap="none" lIns="0" tIns="0" rIns="0" bIns="0" rtlCol="0" anchor="t"/>
          <a:lstStyle/>
          <a:p>
            <a:pPr algn="l" indent="0" marL="0">
              <a:lnSpc>
                <a:spcPts val="1512"/>
              </a:lnSpc>
              <a:buNone/>
            </a:pPr>
            <a:r>
              <a:rPr lang="en-US" sz="1080" dirty="0">
                <a:solidFill>
                  <a:srgbClr val="16181D"/>
                </a:solidFill>
                <a:latin typeface="Arial" pitchFamily="34" charset="0"/>
                <a:ea typeface="Arial" pitchFamily="34" charset="-122"/>
                <a:cs typeface="Arial" pitchFamily="34" charset="-120"/>
              </a:rPr>
              <a:t>Ramas en paralelo: la ruta devuelve una lista de nodos</a:t>
            </a:r>
            <a:endParaRPr lang="en-US" sz="1080" dirty="0"/>
          </a:p>
        </p:txBody>
      </p:sp>
      <p:sp>
        <p:nvSpPr>
          <p:cNvPr id="27" name="s32-forma-26"/>
          <p:cNvSpPr/>
          <p:nvPr/>
        </p:nvSpPr>
        <p:spPr>
          <a:xfrm>
            <a:off x="6255814" y="4970372"/>
            <a:ext cx="4593310" cy="374742"/>
          </a:xfrm>
          <a:prstGeom prst="rect">
            <a:avLst/>
          </a:prstGeom>
          <a:solidFill>
            <a:srgbClr val="EDE8DC"/>
          </a:solidFill>
          <a:ln/>
        </p:spPr>
      </p:sp>
      <p:sp>
        <p:nvSpPr>
          <p:cNvPr id="28" name="s32-texto-27"/>
          <p:cNvSpPr txBox="1"/>
          <p:nvPr/>
        </p:nvSpPr>
        <p:spPr>
          <a:xfrm>
            <a:off x="6392927" y="5078921"/>
            <a:ext cx="4578227" cy="154253"/>
          </a:xfrm>
          <a:prstGeom prst="rect">
            <a:avLst/>
          </a:prstGeom>
          <a:noFill/>
          <a:ln/>
        </p:spPr>
        <p:txBody>
          <a:bodyPr wrap="none" lIns="0" tIns="0" rIns="0" bIns="0" rtlCol="0" anchor="t"/>
          <a:lstStyle/>
          <a:p>
            <a:pPr algn="l" indent="0" marL="0">
              <a:lnSpc>
                <a:spcPts val="1512"/>
              </a:lnSpc>
              <a:buNone/>
            </a:pPr>
            <a:r>
              <a:rPr lang="en-US" sz="1080" dirty="0">
                <a:solidFill>
                  <a:srgbClr val="16181D"/>
                </a:solidFill>
                <a:latin typeface="Arial" pitchFamily="34" charset="0"/>
                <a:ea typeface="Arial" pitchFamily="34" charset="-122"/>
                <a:cs typeface="Arial" pitchFamily="34" charset="-120"/>
              </a:rPr>
              <a:t>Unión: add_edge(["desplegar", "automatizar"], "listo")</a:t>
            </a:r>
            <a:endParaRPr lang="en-US" sz="1080" dirty="0"/>
          </a:p>
        </p:txBody>
      </p:sp>
      <p:sp>
        <p:nvSpPr>
          <p:cNvPr id="29" name="s32-texto-28"/>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python -m flujos.flujo_s3 historias/HU-02-consultar-directorio.md</a:t>
            </a:r>
            <a:endParaRPr lang="en-US" sz="1080" dirty="0"/>
          </a:p>
        </p:txBody>
      </p:sp>
      <p:sp>
        <p:nvSpPr>
          <p:cNvPr id="30" name="s32-linea-29-0"/>
          <p:cNvSpPr/>
          <p:nvPr/>
        </p:nvSpPr>
        <p:spPr>
          <a:xfrm>
            <a:off x="2942232" y="3542105"/>
            <a:ext cx="457046" cy="0"/>
          </a:xfrm>
          <a:prstGeom prst="line">
            <a:avLst/>
          </a:prstGeom>
          <a:noFill/>
          <a:ln w="17140">
            <a:solidFill>
              <a:srgbClr val="585E6F"/>
            </a:solidFill>
            <a:prstDash val="solid"/>
          </a:ln>
        </p:spPr>
      </p:sp>
      <p:sp>
        <p:nvSpPr>
          <p:cNvPr id="31" name="s32-linea-29-1"/>
          <p:cNvSpPr/>
          <p:nvPr/>
        </p:nvSpPr>
        <p:spPr>
          <a:xfrm flipV="1">
            <a:off x="3399278" y="2799405"/>
            <a:ext cx="0" cy="742699"/>
          </a:xfrm>
          <a:prstGeom prst="line">
            <a:avLst/>
          </a:prstGeom>
          <a:noFill/>
          <a:ln w="17140">
            <a:solidFill>
              <a:srgbClr val="585E6F"/>
            </a:solidFill>
            <a:prstDash val="solid"/>
          </a:ln>
        </p:spPr>
      </p:sp>
      <p:sp>
        <p:nvSpPr>
          <p:cNvPr id="32" name="s32-linea-29-2"/>
          <p:cNvSpPr/>
          <p:nvPr/>
        </p:nvSpPr>
        <p:spPr>
          <a:xfrm>
            <a:off x="3399278" y="2799405"/>
            <a:ext cx="457046" cy="0"/>
          </a:xfrm>
          <a:prstGeom prst="line">
            <a:avLst/>
          </a:prstGeom>
          <a:noFill/>
          <a:ln w="17140">
            <a:solidFill>
              <a:srgbClr val="585E6F"/>
            </a:solidFill>
            <a:prstDash val="solid"/>
            <a:tailEnd type="triangle"/>
          </a:ln>
        </p:spPr>
      </p:sp>
      <p:sp>
        <p:nvSpPr>
          <p:cNvPr id="33" name="s32-linea-30-0"/>
          <p:cNvSpPr/>
          <p:nvPr/>
        </p:nvSpPr>
        <p:spPr>
          <a:xfrm>
            <a:off x="2942232" y="3542105"/>
            <a:ext cx="457046" cy="0"/>
          </a:xfrm>
          <a:prstGeom prst="line">
            <a:avLst/>
          </a:prstGeom>
          <a:noFill/>
          <a:ln w="17140">
            <a:solidFill>
              <a:srgbClr val="585E6F"/>
            </a:solidFill>
            <a:prstDash val="solid"/>
          </a:ln>
        </p:spPr>
      </p:sp>
      <p:sp>
        <p:nvSpPr>
          <p:cNvPr id="34" name="s32-linea-30-1"/>
          <p:cNvSpPr/>
          <p:nvPr/>
        </p:nvSpPr>
        <p:spPr>
          <a:xfrm>
            <a:off x="3399278" y="3542105"/>
            <a:ext cx="0" cy="742699"/>
          </a:xfrm>
          <a:prstGeom prst="line">
            <a:avLst/>
          </a:prstGeom>
          <a:noFill/>
          <a:ln w="17140">
            <a:solidFill>
              <a:srgbClr val="585E6F"/>
            </a:solidFill>
            <a:prstDash val="solid"/>
          </a:ln>
        </p:spPr>
      </p:sp>
      <p:sp>
        <p:nvSpPr>
          <p:cNvPr id="35" name="s32-linea-30-2"/>
          <p:cNvSpPr/>
          <p:nvPr/>
        </p:nvSpPr>
        <p:spPr>
          <a:xfrm>
            <a:off x="3399278" y="4284804"/>
            <a:ext cx="457046" cy="0"/>
          </a:xfrm>
          <a:prstGeom prst="line">
            <a:avLst/>
          </a:prstGeom>
          <a:noFill/>
          <a:ln w="17140">
            <a:solidFill>
              <a:srgbClr val="585E6F"/>
            </a:solidFill>
            <a:prstDash val="solid"/>
            <a:tailEnd type="triangle"/>
          </a:ln>
        </p:spPr>
      </p:sp>
      <p:sp>
        <p:nvSpPr>
          <p:cNvPr id="36" name="s32-linea-31-0"/>
          <p:cNvSpPr/>
          <p:nvPr/>
        </p:nvSpPr>
        <p:spPr>
          <a:xfrm>
            <a:off x="6141552" y="2799405"/>
            <a:ext cx="457046" cy="0"/>
          </a:xfrm>
          <a:prstGeom prst="line">
            <a:avLst/>
          </a:prstGeom>
          <a:noFill/>
          <a:ln w="17140">
            <a:solidFill>
              <a:srgbClr val="585E6F"/>
            </a:solidFill>
            <a:prstDash val="solid"/>
          </a:ln>
        </p:spPr>
      </p:sp>
      <p:sp>
        <p:nvSpPr>
          <p:cNvPr id="37" name="s32-linea-31-1"/>
          <p:cNvSpPr/>
          <p:nvPr/>
        </p:nvSpPr>
        <p:spPr>
          <a:xfrm>
            <a:off x="6598598" y="2799405"/>
            <a:ext cx="0" cy="628438"/>
          </a:xfrm>
          <a:prstGeom prst="line">
            <a:avLst/>
          </a:prstGeom>
          <a:noFill/>
          <a:ln w="17140">
            <a:solidFill>
              <a:srgbClr val="585E6F"/>
            </a:solidFill>
            <a:prstDash val="solid"/>
          </a:ln>
        </p:spPr>
      </p:sp>
      <p:sp>
        <p:nvSpPr>
          <p:cNvPr id="38" name="s32-linea-31-2"/>
          <p:cNvSpPr/>
          <p:nvPr/>
        </p:nvSpPr>
        <p:spPr>
          <a:xfrm>
            <a:off x="6598598" y="3427843"/>
            <a:ext cx="457046" cy="0"/>
          </a:xfrm>
          <a:prstGeom prst="line">
            <a:avLst/>
          </a:prstGeom>
          <a:noFill/>
          <a:ln w="17140">
            <a:solidFill>
              <a:srgbClr val="585E6F"/>
            </a:solidFill>
            <a:prstDash val="solid"/>
            <a:tailEnd type="triangle"/>
          </a:ln>
        </p:spPr>
      </p:sp>
      <p:sp>
        <p:nvSpPr>
          <p:cNvPr id="39" name="s32-linea-32-0"/>
          <p:cNvSpPr/>
          <p:nvPr/>
        </p:nvSpPr>
        <p:spPr>
          <a:xfrm>
            <a:off x="6141552" y="4284804"/>
            <a:ext cx="457046" cy="0"/>
          </a:xfrm>
          <a:prstGeom prst="line">
            <a:avLst/>
          </a:prstGeom>
          <a:noFill/>
          <a:ln w="17140">
            <a:solidFill>
              <a:srgbClr val="585E6F"/>
            </a:solidFill>
            <a:prstDash val="solid"/>
          </a:ln>
        </p:spPr>
      </p:sp>
      <p:sp>
        <p:nvSpPr>
          <p:cNvPr id="40" name="s32-linea-32-1"/>
          <p:cNvSpPr/>
          <p:nvPr/>
        </p:nvSpPr>
        <p:spPr>
          <a:xfrm flipV="1">
            <a:off x="6598598" y="3656366"/>
            <a:ext cx="0" cy="628438"/>
          </a:xfrm>
          <a:prstGeom prst="line">
            <a:avLst/>
          </a:prstGeom>
          <a:noFill/>
          <a:ln w="17140">
            <a:solidFill>
              <a:srgbClr val="585E6F"/>
            </a:solidFill>
            <a:prstDash val="solid"/>
          </a:ln>
        </p:spPr>
      </p:sp>
      <p:sp>
        <p:nvSpPr>
          <p:cNvPr id="41" name="s32-linea-32-2"/>
          <p:cNvSpPr/>
          <p:nvPr/>
        </p:nvSpPr>
        <p:spPr>
          <a:xfrm>
            <a:off x="6598598" y="3656366"/>
            <a:ext cx="457046" cy="0"/>
          </a:xfrm>
          <a:prstGeom prst="line">
            <a:avLst/>
          </a:prstGeom>
          <a:noFill/>
          <a:ln w="17140">
            <a:solidFill>
              <a:srgbClr val="585E6F"/>
            </a:solidFill>
            <a:prstDash val="solid"/>
            <a:tailEnd type="triangle"/>
          </a:ln>
        </p:spPr>
      </p:sp>
      <p:sp>
        <p:nvSpPr>
          <p:cNvPr id="42" name="s32-linea-33-0"/>
          <p:cNvSpPr/>
          <p:nvPr/>
        </p:nvSpPr>
        <p:spPr>
          <a:xfrm>
            <a:off x="8655304" y="3542105"/>
            <a:ext cx="457046" cy="0"/>
          </a:xfrm>
          <a:prstGeom prst="line">
            <a:avLst/>
          </a:prstGeom>
          <a:noFill/>
          <a:ln w="17140">
            <a:solidFill>
              <a:srgbClr val="585E6F"/>
            </a:solidFill>
            <a:prstDash val="dash"/>
            <a:tailEnd type="triangle"/>
          </a:ln>
        </p:spPr>
      </p:sp>
      <p:sp>
        <p:nvSpPr>
          <p:cNvPr id="43" name="s32-forma-34"/>
          <p:cNvSpPr/>
          <p:nvPr/>
        </p:nvSpPr>
        <p:spPr>
          <a:xfrm>
            <a:off x="853390" y="6411138"/>
            <a:ext cx="10484915" cy="5713"/>
          </a:xfrm>
          <a:prstGeom prst="rect">
            <a:avLst/>
          </a:prstGeom>
          <a:solidFill>
            <a:srgbClr val="DBD4C4"/>
          </a:solidFill>
          <a:ln/>
        </p:spPr>
      </p:sp>
      <p:pic>
        <p:nvPicPr>
          <p:cNvPr id="44" name="s32-logo-35"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45" name="s32-forma-36"/>
          <p:cNvSpPr/>
          <p:nvPr/>
        </p:nvSpPr>
        <p:spPr>
          <a:xfrm>
            <a:off x="1659380" y="6519865"/>
            <a:ext cx="2926878" cy="102835"/>
          </a:xfrm>
          <a:prstGeom prst="rect">
            <a:avLst/>
          </a:prstGeom>
          <a:ln/>
        </p:spPr>
      </p:sp>
      <p:sp>
        <p:nvSpPr>
          <p:cNvPr id="46" name="s32-forma-37"/>
          <p:cNvSpPr/>
          <p:nvPr/>
        </p:nvSpPr>
        <p:spPr>
          <a:xfrm>
            <a:off x="1659380" y="6519865"/>
            <a:ext cx="5713" cy="102835"/>
          </a:xfrm>
          <a:prstGeom prst="rect">
            <a:avLst/>
          </a:prstGeom>
          <a:solidFill>
            <a:srgbClr val="C6BFAE"/>
          </a:solidFill>
          <a:ln/>
        </p:spPr>
      </p:sp>
      <p:sp>
        <p:nvSpPr>
          <p:cNvPr id="47" name="s32-texto-38"/>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48" name="s32-texto-39"/>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32 / 36</a:t>
            </a:r>
            <a:endParaRPr lang="en-US" sz="745" dirty="0"/>
          </a:p>
        </p:txBody>
      </p:sp>
      <p:sp>
        <p:nvSpPr>
          <p:cNvPr id="49" name="s32-forma-40"/>
          <p:cNvSpPr/>
          <p:nvPr/>
        </p:nvSpPr>
        <p:spPr>
          <a:xfrm>
            <a:off x="0" y="0"/>
            <a:ext cx="10836983" cy="17139"/>
          </a:xfrm>
          <a:prstGeom prst="rect">
            <a:avLst/>
          </a:prstGeom>
          <a:solidFill>
            <a:srgbClr val="0033A0"/>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DE8DC"/>
        </a:solidFill>
      </p:bgPr>
    </p:bg>
    <p:spTree>
      <p:nvGrpSpPr>
        <p:cNvPr id="1" name=""/>
        <p:cNvGrpSpPr/>
        <p:nvPr/>
      </p:nvGrpSpPr>
      <p:grpSpPr>
        <a:xfrm>
          <a:off x="0" y="0"/>
          <a:ext cx="0" cy="0"/>
          <a:chOff x="0" y="0"/>
          <a:chExt cx="0" cy="0"/>
        </a:xfrm>
      </p:grpSpPr>
      <p:sp>
        <p:nvSpPr>
          <p:cNvPr id="2" name="s33-forma-1"/>
          <p:cNvSpPr/>
          <p:nvPr/>
        </p:nvSpPr>
        <p:spPr>
          <a:xfrm>
            <a:off x="853390" y="331715"/>
            <a:ext cx="81411" cy="81411"/>
          </a:xfrm>
          <a:prstGeom prst="ellipse">
            <a:avLst/>
          </a:prstGeom>
          <a:solidFill>
            <a:srgbClr val="1B6A43"/>
          </a:solidFill>
          <a:ln/>
        </p:spPr>
      </p:sp>
      <p:sp>
        <p:nvSpPr>
          <p:cNvPr id="3" name="s33-texto-2"/>
          <p:cNvSpPr txBox="1"/>
          <p:nvPr/>
        </p:nvSpPr>
        <p:spPr>
          <a:xfrm>
            <a:off x="1007018" y="315290"/>
            <a:ext cx="693513"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3-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1:30 · 30 min</a:t>
            </a:r>
            <a:endParaRPr lang="en-US" sz="807" dirty="0"/>
          </a:p>
        </p:txBody>
      </p:sp>
      <p:sp>
        <p:nvSpPr>
          <p:cNvPr id="5" name="s33-texto-4"/>
          <p:cNvSpPr txBox="1"/>
          <p:nvPr/>
        </p:nvSpPr>
        <p:spPr>
          <a:xfrm>
            <a:off x="853390" y="267987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LABORATORIO 3B</a:t>
            </a:r>
            <a:endParaRPr lang="en-US" sz="869" dirty="0"/>
          </a:p>
        </p:txBody>
      </p:sp>
      <p:sp>
        <p:nvSpPr>
          <p:cNvPr id="6" name="s33-forma-5"/>
          <p:cNvSpPr/>
          <p:nvPr/>
        </p:nvSpPr>
        <p:spPr>
          <a:xfrm>
            <a:off x="853390" y="3768306"/>
            <a:ext cx="722704" cy="22852"/>
          </a:xfrm>
          <a:prstGeom prst="rect">
            <a:avLst/>
          </a:prstGeom>
          <a:solidFill>
            <a:srgbClr val="0033A0"/>
          </a:solidFill>
          <a:ln/>
        </p:spPr>
      </p:sp>
      <p:sp>
        <p:nvSpPr>
          <p:cNvPr id="7" name="s33-texto-6"/>
          <p:cNvSpPr txBox="1"/>
          <p:nvPr/>
        </p:nvSpPr>
        <p:spPr>
          <a:xfrm>
            <a:off x="853390" y="2960889"/>
            <a:ext cx="7149222" cy="634151"/>
          </a:xfrm>
          <a:prstGeom prst="rect">
            <a:avLst/>
          </a:prstGeom>
          <a:noFill/>
          <a:ln/>
        </p:spPr>
        <p:txBody>
          <a:bodyPr wrap="non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Ejecutar con HU-02</a:t>
            </a:r>
            <a:endParaRPr lang="en-US" sz="4242" dirty="0"/>
          </a:p>
        </p:txBody>
      </p:sp>
      <p:sp>
        <p:nvSpPr>
          <p:cNvPr id="8" name="s33-texto-7"/>
          <p:cNvSpPr txBox="1"/>
          <p:nvPr/>
        </p:nvSpPr>
        <p:spPr>
          <a:xfrm>
            <a:off x="853390" y="3969960"/>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La fábrica extiende la app y la despliega.</a:t>
            </a:r>
            <a:endParaRPr lang="en-US" sz="1676" dirty="0"/>
          </a:p>
        </p:txBody>
      </p:sp>
      <p:pic>
        <p:nvPicPr>
          <p:cNvPr id="9" name="s33-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33-forma-9"/>
          <p:cNvSpPr/>
          <p:nvPr/>
        </p:nvSpPr>
        <p:spPr>
          <a:xfrm>
            <a:off x="1659380" y="6519865"/>
            <a:ext cx="2926878" cy="102835"/>
          </a:xfrm>
          <a:prstGeom prst="rect">
            <a:avLst/>
          </a:prstGeom>
          <a:ln/>
        </p:spPr>
      </p:sp>
      <p:sp>
        <p:nvSpPr>
          <p:cNvPr id="11" name="s33-forma-10"/>
          <p:cNvSpPr/>
          <p:nvPr/>
        </p:nvSpPr>
        <p:spPr>
          <a:xfrm>
            <a:off x="1659380" y="6519865"/>
            <a:ext cx="5713" cy="102835"/>
          </a:xfrm>
          <a:prstGeom prst="rect">
            <a:avLst/>
          </a:prstGeom>
          <a:solidFill>
            <a:srgbClr val="C6BFAE"/>
          </a:solidFill>
          <a:ln/>
        </p:spPr>
      </p:sp>
      <p:sp>
        <p:nvSpPr>
          <p:cNvPr id="12" name="s33-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33-texto-1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33 / 36</a:t>
            </a:r>
            <a:endParaRPr lang="en-US" sz="745" dirty="0"/>
          </a:p>
        </p:txBody>
      </p:sp>
      <p:sp>
        <p:nvSpPr>
          <p:cNvPr id="14" name="s33-forma-13"/>
          <p:cNvSpPr/>
          <p:nvPr/>
        </p:nvSpPr>
        <p:spPr>
          <a:xfrm>
            <a:off x="0" y="0"/>
            <a:ext cx="11175661" cy="17139"/>
          </a:xfrm>
          <a:prstGeom prst="rect">
            <a:avLst/>
          </a:prstGeom>
          <a:solidFill>
            <a:srgbClr val="0033A0"/>
          </a:solid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DE8DC"/>
        </a:solidFill>
      </p:bgPr>
    </p:bg>
    <p:spTree>
      <p:nvGrpSpPr>
        <p:cNvPr id="1" name=""/>
        <p:cNvGrpSpPr/>
        <p:nvPr/>
      </p:nvGrpSpPr>
      <p:grpSpPr>
        <a:xfrm>
          <a:off x="0" y="0"/>
          <a:ext cx="0" cy="0"/>
          <a:chOff x="0" y="0"/>
          <a:chExt cx="0" cy="0"/>
        </a:xfrm>
      </p:grpSpPr>
      <p:sp>
        <p:nvSpPr>
          <p:cNvPr id="2" name="s34-forma-1"/>
          <p:cNvSpPr/>
          <p:nvPr/>
        </p:nvSpPr>
        <p:spPr>
          <a:xfrm>
            <a:off x="853390" y="520961"/>
            <a:ext cx="10484915" cy="5713"/>
          </a:xfrm>
          <a:prstGeom prst="rect">
            <a:avLst/>
          </a:prstGeom>
          <a:solidFill>
            <a:srgbClr val="C6BFAE"/>
          </a:solidFill>
          <a:ln/>
        </p:spPr>
      </p:sp>
      <p:sp>
        <p:nvSpPr>
          <p:cNvPr id="3" name="s34-forma-2"/>
          <p:cNvSpPr/>
          <p:nvPr/>
        </p:nvSpPr>
        <p:spPr>
          <a:xfrm>
            <a:off x="853390" y="331715"/>
            <a:ext cx="81411" cy="81411"/>
          </a:xfrm>
          <a:prstGeom prst="ellipse">
            <a:avLst/>
          </a:prstGeom>
          <a:solidFill>
            <a:srgbClr val="1B6A43"/>
          </a:solidFill>
          <a:ln/>
        </p:spPr>
      </p:sp>
      <p:sp>
        <p:nvSpPr>
          <p:cNvPr id="4" name="s34-texto-3"/>
          <p:cNvSpPr txBox="1"/>
          <p:nvPr/>
        </p:nvSpPr>
        <p:spPr>
          <a:xfrm>
            <a:off x="1007018" y="315290"/>
            <a:ext cx="693513"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34-texto-4"/>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1:30 · 30 min</a:t>
            </a:r>
            <a:endParaRPr lang="en-US" sz="807" dirty="0"/>
          </a:p>
        </p:txBody>
      </p:sp>
      <p:sp>
        <p:nvSpPr>
          <p:cNvPr id="6" name="s34-texto-5"/>
          <p:cNvSpPr txBox="1"/>
          <p:nvPr/>
        </p:nvSpPr>
        <p:spPr>
          <a:xfrm>
            <a:off x="1342572" y="1245450"/>
            <a:ext cx="10076945" cy="131401"/>
          </a:xfrm>
          <a:prstGeom prst="rect">
            <a:avLst/>
          </a:prstGeom>
          <a:noFill/>
          <a:ln/>
        </p:spPr>
        <p:txBody>
          <a:bodyPr wrap="none" lIns="0" tIns="0" rIns="0" bIns="0" rtlCol="0" anchor="t"/>
          <a:lstStyle/>
          <a:p>
            <a:pPr algn="l" indent="0" marL="0">
              <a:lnSpc>
                <a:spcPts val="1080"/>
              </a:lnSpc>
              <a:buNone/>
            </a:pPr>
            <a:r>
              <a:rPr lang="en-US" sz="900" b="1" spc="135" kern="0" dirty="0">
                <a:solidFill>
                  <a:srgbClr val="0033A0"/>
                </a:solidFill>
                <a:latin typeface="Courier New" pitchFamily="34" charset="0"/>
                <a:ea typeface="Courier New" pitchFamily="34" charset="-122"/>
                <a:cs typeface="Courier New" pitchFamily="34" charset="-120"/>
              </a:rPr>
              <a:t>LAB 3 · 65 MIN · INDIVIDUAL</a:t>
            </a:r>
            <a:endParaRPr lang="en-US" sz="900" dirty="0"/>
          </a:p>
        </p:txBody>
      </p:sp>
      <p:sp>
        <p:nvSpPr>
          <p:cNvPr id="7" name="s34-texto-6"/>
          <p:cNvSpPr txBox="1"/>
          <p:nvPr/>
        </p:nvSpPr>
        <p:spPr>
          <a:xfrm>
            <a:off x="1342572" y="1451120"/>
            <a:ext cx="10076945" cy="428480"/>
          </a:xfrm>
          <a:prstGeom prst="rect">
            <a:avLst/>
          </a:prstGeom>
          <a:noFill/>
          <a:ln/>
        </p:spPr>
        <p:txBody>
          <a:bodyPr wrap="none" lIns="0" tIns="0" rIns="0" bIns="0" rtlCol="0" anchor="t"/>
          <a:lstStyle/>
          <a:p>
            <a:pPr algn="l" indent="0" marL="0">
              <a:lnSpc>
                <a:spcPts val="3167"/>
              </a:lnSpc>
              <a:buNone/>
            </a:pPr>
            <a:r>
              <a:rPr lang="en-US" sz="2879" b="1" spc="-29" kern="0" dirty="0">
                <a:solidFill>
                  <a:srgbClr val="16181D"/>
                </a:solidFill>
                <a:latin typeface="Georgia" pitchFamily="34" charset="0"/>
                <a:ea typeface="Georgia" pitchFamily="34" charset="-122"/>
                <a:cs typeface="Georgia" pitchFamily="34" charset="-120"/>
              </a:rPr>
              <a:t>Desplegar, probar e inspeccionar</a:t>
            </a:r>
            <a:endParaRPr lang="en-US" sz="2879" dirty="0"/>
          </a:p>
        </p:txBody>
      </p:sp>
      <p:sp>
        <p:nvSpPr>
          <p:cNvPr id="8" name="s34-forma-7"/>
          <p:cNvSpPr/>
          <p:nvPr/>
        </p:nvSpPr>
        <p:spPr>
          <a:xfrm>
            <a:off x="1342572" y="2144634"/>
            <a:ext cx="5713072" cy="2319507"/>
          </a:xfrm>
          <a:prstGeom prst="rect">
            <a:avLst/>
          </a:prstGeom>
          <a:solidFill>
            <a:srgbClr val="E8E2D5"/>
          </a:solidFill>
          <a:ln/>
        </p:spPr>
      </p:sp>
      <p:sp>
        <p:nvSpPr>
          <p:cNvPr id="9" name="s34-forma-8"/>
          <p:cNvSpPr/>
          <p:nvPr/>
        </p:nvSpPr>
        <p:spPr>
          <a:xfrm>
            <a:off x="1342572" y="2144634"/>
            <a:ext cx="5713072" cy="5713"/>
          </a:xfrm>
          <a:prstGeom prst="rect">
            <a:avLst/>
          </a:prstGeom>
          <a:solidFill>
            <a:srgbClr val="DBD4C4"/>
          </a:solidFill>
          <a:ln/>
        </p:spPr>
      </p:sp>
      <p:sp>
        <p:nvSpPr>
          <p:cNvPr id="10" name="s34-forma-9"/>
          <p:cNvSpPr/>
          <p:nvPr/>
        </p:nvSpPr>
        <p:spPr>
          <a:xfrm>
            <a:off x="1342572" y="4458428"/>
            <a:ext cx="5713072" cy="5713"/>
          </a:xfrm>
          <a:prstGeom prst="rect">
            <a:avLst/>
          </a:prstGeom>
          <a:solidFill>
            <a:srgbClr val="DBD4C4"/>
          </a:solidFill>
          <a:ln/>
        </p:spPr>
      </p:sp>
      <p:sp>
        <p:nvSpPr>
          <p:cNvPr id="11" name="s34-forma-10"/>
          <p:cNvSpPr/>
          <p:nvPr/>
        </p:nvSpPr>
        <p:spPr>
          <a:xfrm>
            <a:off x="1342572" y="2144634"/>
            <a:ext cx="17139" cy="2319507"/>
          </a:xfrm>
          <a:prstGeom prst="rect">
            <a:avLst/>
          </a:prstGeom>
          <a:solidFill>
            <a:srgbClr val="C6BFAE"/>
          </a:solidFill>
          <a:ln/>
        </p:spPr>
      </p:sp>
      <p:sp>
        <p:nvSpPr>
          <p:cNvPr id="12" name="s34-forma-11"/>
          <p:cNvSpPr/>
          <p:nvPr/>
        </p:nvSpPr>
        <p:spPr>
          <a:xfrm>
            <a:off x="7049931" y="2144634"/>
            <a:ext cx="5713" cy="2319507"/>
          </a:xfrm>
          <a:prstGeom prst="rect">
            <a:avLst/>
          </a:prstGeom>
          <a:solidFill>
            <a:srgbClr val="DBD4C4"/>
          </a:solidFill>
          <a:ln/>
        </p:spPr>
      </p:sp>
      <p:sp>
        <p:nvSpPr>
          <p:cNvPr id="13" name="s34-texto-12"/>
          <p:cNvSpPr txBox="1"/>
          <p:nvPr/>
        </p:nvSpPr>
        <p:spPr>
          <a:xfrm>
            <a:off x="1588234" y="2401722"/>
            <a:ext cx="5547164" cy="1799618"/>
          </a:xfrm>
          <a:prstGeom prst="rect">
            <a:avLst/>
          </a:prstGeom>
          <a:noFill/>
          <a:ln/>
        </p:spPr>
        <p:txBody>
          <a:bodyPr wrap="square" lIns="0" tIns="0" rIns="0" bIns="0" rtlCol="0" anchor="t"/>
          <a:lstStyle/>
          <a:p>
            <a:pPr algn="l" indent="0" marL="0">
              <a:lnSpc>
                <a:spcPts val="1619"/>
              </a:lnSpc>
              <a:buNone/>
            </a:pPr>
            <a:r>
              <a:rPr lang="en-US" sz="1080" dirty="0">
                <a:solidFill>
                  <a:srgbClr val="585E6F"/>
                </a:solidFill>
                <a:latin typeface="Courier New" pitchFamily="34" charset="0"/>
                <a:ea typeface="Courier New" pitchFamily="34" charset="-122"/>
                <a:cs typeface="Courier New" pitchFamily="34" charset="-120"/>
              </a:rPr>
              <a:t># 3B · ejecutar con HU-02 (30 min)</a:t>
            </a:r>
            <a:endParaRPr lang="en-US" sz="1080" dirty="0"/>
          </a:p>
          <a:p>
            <a:pPr algn="l" indent="0" marL="0">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flujos.flujo_s3 \</a:t>
            </a:r>
            <a:endParaRPr lang="en-US" sz="1080" dirty="0"/>
          </a:p>
          <a:p>
            <a:pPr algn="l" indent="0" marL="0">
              <a:lnSpc>
                <a:spcPts val="1619"/>
              </a:lnSpc>
              <a:buNone/>
            </a:pPr>
            <a:r>
              <a:rPr lang="en-US" sz="1080" dirty="0">
                <a:solidFill>
                  <a:srgbClr val="16181D"/>
                </a:solidFill>
                <a:latin typeface="Courier New" pitchFamily="34" charset="0"/>
                <a:ea typeface="Courier New" pitchFamily="34" charset="-122"/>
                <a:cs typeface="Courier New" pitchFamily="34" charset="-120"/>
              </a:rPr>
              <a:t>  historias/HU-02-consultar-directorio.md</a:t>
            </a:r>
            <a:endParaRPr lang="en-US" sz="1080" dirty="0"/>
          </a:p>
          <a:p>
            <a:pPr algn="l" indent="0" marL="0">
              <a:lnSpc>
                <a:spcPts val="1619"/>
              </a:lnSpc>
              <a:buNone/>
            </a:pPr>
            <a:r>
              <a:rPr lang="en-US" sz="1080" dirty="0">
                <a:solidFill>
                  <a:srgbClr val="585E6F"/>
                </a:solidFill>
                <a:latin typeface="Courier New" pitchFamily="34" charset="0"/>
                <a:ea typeface="Courier New" pitchFamily="34" charset="-122"/>
                <a:cs typeface="Courier New" pitchFamily="34" charset="-120"/>
              </a:rPr>
              <a:t># 3C · inspeccionar (25 min)</a:t>
            </a:r>
            <a:endParaRPr lang="en-US" sz="1080" dirty="0"/>
          </a:p>
          <a:p>
            <a:pPr algn="l" indent="0" marL="0">
              <a:lnSpc>
                <a:spcPts val="1619"/>
              </a:lnSpc>
              <a:buNone/>
            </a:pPr>
            <a:r>
              <a:rPr lang="en-US" sz="1080" dirty="0">
                <a:solidFill>
                  <a:srgbClr val="16181D"/>
                </a:solidFill>
                <a:latin typeface="Courier New" pitchFamily="34" charset="0"/>
                <a:ea typeface="Courier New" pitchFamily="34" charset="-122"/>
                <a:cs typeface="Courier New" pitchFamily="34" charset="-120"/>
              </a:rPr>
              <a:t>cd app</a:t>
            </a:r>
            <a:endParaRPr lang="en-US" sz="1080" dirty="0"/>
          </a:p>
          <a:p>
            <a:pPr algn="l" indent="0" marL="0">
              <a:lnSpc>
                <a:spcPts val="1619"/>
              </a:lnSpc>
              <a:buNone/>
            </a:pPr>
            <a:r>
              <a:rPr lang="en-US" sz="1080" dirty="0">
                <a:solidFill>
                  <a:srgbClr val="16181D"/>
                </a:solidFill>
                <a:latin typeface="Courier New" pitchFamily="34" charset="0"/>
                <a:ea typeface="Courier New" pitchFamily="34" charset="-122"/>
                <a:cs typeface="Courier New" pitchFamily="34" charset="-120"/>
              </a:rPr>
              <a:t>docker compose ps</a:t>
            </a:r>
            <a:endParaRPr lang="en-US" sz="1080" dirty="0"/>
          </a:p>
          <a:p>
            <a:pPr algn="l" indent="0" marL="0">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pytest tests/api -q</a:t>
            </a:r>
            <a:endParaRPr lang="en-US" sz="1080" dirty="0"/>
          </a:p>
          <a:p>
            <a:pPr algn="l" indent="0" marL="0">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pytest tests/e2e -q --headed</a:t>
            </a:r>
            <a:endParaRPr lang="en-US" sz="1080" dirty="0"/>
          </a:p>
        </p:txBody>
      </p:sp>
      <p:sp>
        <p:nvSpPr>
          <p:cNvPr id="14" name="s34-texto-13"/>
          <p:cNvSpPr txBox="1"/>
          <p:nvPr/>
        </p:nvSpPr>
        <p:spPr>
          <a:xfrm>
            <a:off x="7329871" y="2167486"/>
            <a:ext cx="3730407" cy="400986"/>
          </a:xfrm>
          <a:prstGeom prst="rect">
            <a:avLst/>
          </a:prstGeom>
          <a:noFill/>
          <a:ln/>
        </p:spPr>
        <p:txBody>
          <a:bodyPr wrap="square" lIns="0" tIns="0" rIns="0" bIns="0" rtlCol="0" anchor="t"/>
          <a:lstStyle/>
          <a:p>
            <a:pPr algn="l" indent="0" marL="0">
              <a:lnSpc>
                <a:spcPts val="1763"/>
              </a:lnSpc>
              <a:buNone/>
            </a:pPr>
            <a:r>
              <a:rPr lang="en-US" sz="1260" b="1" dirty="0">
                <a:solidFill>
                  <a:srgbClr val="0033A0"/>
                </a:solidFill>
                <a:latin typeface="Arial" pitchFamily="34" charset="0"/>
                <a:ea typeface="Arial" pitchFamily="34" charset="-122"/>
                <a:cs typeface="Arial" pitchFamily="34" charset="-120"/>
              </a:rPr>
              <a:t>3A · 10 min:</a:t>
            </a:r>
            <a:pPr algn="l" indent="0" marL="0">
              <a:lnSpc>
                <a:spcPts val="1763"/>
              </a:lnSpc>
              <a:buNone/>
            </a:pPr>
            <a:r>
              <a:rPr lang="en-US" sz="1260" dirty="0">
                <a:solidFill>
                  <a:srgbClr val="16181D"/>
                </a:solidFill>
                <a:latin typeface="Arial" pitchFamily="34" charset="0"/>
                <a:ea typeface="Arial" pitchFamily="34" charset="-122"/>
                <a:cs typeface="Arial" pitchFamily="34" charset="-120"/>
              </a:rPr>
              <a:t> lee los agentes 4 y 5 y la rama paralela.</a:t>
            </a:r>
            <a:endParaRPr lang="en-US" sz="1260" dirty="0"/>
          </a:p>
        </p:txBody>
      </p:sp>
      <p:sp>
        <p:nvSpPr>
          <p:cNvPr id="15" name="s34-texto-14"/>
          <p:cNvSpPr txBox="1"/>
          <p:nvPr/>
        </p:nvSpPr>
        <p:spPr>
          <a:xfrm>
            <a:off x="7329871" y="2752362"/>
            <a:ext cx="3730407" cy="400986"/>
          </a:xfrm>
          <a:prstGeom prst="rect">
            <a:avLst/>
          </a:prstGeom>
          <a:noFill/>
          <a:ln/>
        </p:spPr>
        <p:txBody>
          <a:bodyPr wrap="square" lIns="0" tIns="0" rIns="0" bIns="0" rtlCol="0" anchor="t"/>
          <a:lstStyle/>
          <a:p>
            <a:pPr algn="l" indent="0" marL="0">
              <a:lnSpc>
                <a:spcPts val="1763"/>
              </a:lnSpc>
              <a:buNone/>
            </a:pPr>
            <a:r>
              <a:rPr lang="en-US" sz="1260" b="1" dirty="0">
                <a:solidFill>
                  <a:srgbClr val="0033A0"/>
                </a:solidFill>
                <a:latin typeface="Arial" pitchFamily="34" charset="0"/>
                <a:ea typeface="Arial" pitchFamily="34" charset="-122"/>
                <a:cs typeface="Arial" pitchFamily="34" charset="-120"/>
              </a:rPr>
              <a:t>Control:</a:t>
            </a:r>
            <a:pPr algn="l" indent="0" marL="0">
              <a:lnSpc>
                <a:spcPts val="1763"/>
              </a:lnSpc>
              <a:buNone/>
            </a:pPr>
            <a:r>
              <a:rPr lang="en-US" sz="1260" dirty="0">
                <a:solidFill>
                  <a:srgbClr val="16181D"/>
                </a:solidFill>
                <a:latin typeface="Arial" pitchFamily="34" charset="0"/>
                <a:ea typeface="Arial" pitchFamily="34" charset="-122"/>
                <a:cs typeface="Arial" pitchFamily="34" charset="-120"/>
              </a:rPr>
              <a:t> bitácora con «Despliegue: OK» y «Pruebas: OK».</a:t>
            </a:r>
            <a:endParaRPr lang="en-US" sz="1260" dirty="0"/>
          </a:p>
        </p:txBody>
      </p:sp>
      <p:sp>
        <p:nvSpPr>
          <p:cNvPr id="16" name="s34-texto-15"/>
          <p:cNvSpPr txBox="1"/>
          <p:nvPr/>
        </p:nvSpPr>
        <p:spPr>
          <a:xfrm>
            <a:off x="7329871" y="3337237"/>
            <a:ext cx="3730407" cy="400986"/>
          </a:xfrm>
          <a:prstGeom prst="rect">
            <a:avLst/>
          </a:prstGeom>
          <a:noFill/>
          <a:ln/>
        </p:spPr>
        <p:txBody>
          <a:bodyPr wrap="square" lIns="0" tIns="0" rIns="0" bIns="0" rtlCol="0" anchor="t"/>
          <a:lstStyle/>
          <a:p>
            <a:pPr algn="l" indent="0" marL="0">
              <a:lnSpc>
                <a:spcPts val="1763"/>
              </a:lnSpc>
              <a:buNone/>
            </a:pPr>
            <a:r>
              <a:rPr lang="en-US" sz="1260" b="1" dirty="0">
                <a:solidFill>
                  <a:srgbClr val="0033A0"/>
                </a:solidFill>
                <a:latin typeface="Arial" pitchFamily="34" charset="0"/>
                <a:ea typeface="Arial" pitchFamily="34" charset="-122"/>
                <a:cs typeface="Arial" pitchFamily="34" charset="-120"/>
              </a:rPr>
              <a:t>Compara</a:t>
            </a:r>
            <a:pPr algn="l" indent="0" marL="0">
              <a:lnSpc>
                <a:spcPts val="1763"/>
              </a:lnSpc>
              <a:buNone/>
            </a:pPr>
            <a:r>
              <a:rPr lang="en-US" sz="1260" dirty="0">
                <a:solidFill>
                  <a:srgbClr val="16181D"/>
                </a:solidFill>
                <a:latin typeface="Arial" pitchFamily="34" charset="0"/>
                <a:ea typeface="Arial" pitchFamily="34" charset="-122"/>
                <a:cs typeface="Arial" pitchFamily="34" charset="-120"/>
              </a:rPr>
              <a:t> las pruebas con tu tabla manual de la sesión 2.</a:t>
            </a:r>
            <a:endParaRPr lang="en-US" sz="1260" dirty="0"/>
          </a:p>
        </p:txBody>
      </p:sp>
      <p:sp>
        <p:nvSpPr>
          <p:cNvPr id="17" name="s34-texto-16"/>
          <p:cNvSpPr txBox="1"/>
          <p:nvPr/>
        </p:nvSpPr>
        <p:spPr>
          <a:xfrm>
            <a:off x="7329871" y="3922113"/>
            <a:ext cx="3730407" cy="177105"/>
          </a:xfrm>
          <a:prstGeom prst="rect">
            <a:avLst/>
          </a:prstGeom>
          <a:noFill/>
          <a:ln/>
        </p:spPr>
        <p:txBody>
          <a:bodyPr wrap="none" lIns="0" tIns="0" rIns="0" bIns="0" rtlCol="0" anchor="t"/>
          <a:lstStyle/>
          <a:p>
            <a:pPr algn="l" indent="0" marL="0">
              <a:lnSpc>
                <a:spcPts val="1763"/>
              </a:lnSpc>
              <a:buNone/>
            </a:pPr>
            <a:r>
              <a:rPr lang="en-US" sz="1260" b="1" dirty="0">
                <a:solidFill>
                  <a:srgbClr val="0033A0"/>
                </a:solidFill>
                <a:latin typeface="Arial" pitchFamily="34" charset="0"/>
                <a:ea typeface="Arial" pitchFamily="34" charset="-122"/>
                <a:cs typeface="Arial" pitchFamily="34" charset="-120"/>
              </a:rPr>
              <a:t>Busca</a:t>
            </a:r>
            <a:pPr algn="l" indent="0" marL="0">
              <a:lnSpc>
                <a:spcPts val="1763"/>
              </a:lnSpc>
              <a:buNone/>
            </a:pPr>
            <a:r>
              <a:rPr lang="en-US" sz="1260" dirty="0">
                <a:solidFill>
                  <a:srgbClr val="984514"/>
                </a:solidFill>
                <a:latin typeface="Arial" pitchFamily="34" charset="0"/>
                <a:ea typeface="Arial" pitchFamily="34" charset="-122"/>
                <a:cs typeface="Arial" pitchFamily="34" charset="-120"/>
              </a:rPr>
              <a:t> en auditoria.jsonl un intento fuera de rol.</a:t>
            </a:r>
            <a:endParaRPr lang="en-US" sz="1260" dirty="0"/>
          </a:p>
        </p:txBody>
      </p:sp>
      <p:sp>
        <p:nvSpPr>
          <p:cNvPr id="18" name="s34-texto-17"/>
          <p:cNvSpPr txBox="1"/>
          <p:nvPr/>
        </p:nvSpPr>
        <p:spPr>
          <a:xfrm>
            <a:off x="1342572" y="6158691"/>
            <a:ext cx="10076945" cy="154253"/>
          </a:xfrm>
          <a:prstGeom prst="rect">
            <a:avLst/>
          </a:prstGeom>
          <a:noFill/>
          <a:ln/>
        </p:spPr>
        <p:txBody>
          <a:bodyPr wrap="none" lIns="0" tIns="0" rIns="0" bIns="0" rtlCol="0" anchor="t"/>
          <a:lstStyle/>
          <a:p>
            <a:pPr algn="l" indent="0" marL="0">
              <a:lnSpc>
                <a:spcPts val="1296"/>
              </a:lnSpc>
              <a:buNone/>
            </a:pPr>
            <a:r>
              <a:rPr lang="en-US" sz="1080" dirty="0">
                <a:solidFill>
                  <a:srgbClr val="585E6F"/>
                </a:solidFill>
                <a:latin typeface="Arial" pitchFamily="34" charset="0"/>
                <a:ea typeface="Arial" pitchFamily="34" charset="-122"/>
                <a:cs typeface="Arial" pitchFamily="34" charset="-120"/>
              </a:rPr>
              <a:t>Cierre 15 min: quiz · commit con Docker, tests/, salida/HU-02/ y notas_s3.md</a:t>
            </a:r>
            <a:endParaRPr lang="en-US" sz="1080" dirty="0"/>
          </a:p>
        </p:txBody>
      </p:sp>
      <p:sp>
        <p:nvSpPr>
          <p:cNvPr id="19" name="s34-forma-18"/>
          <p:cNvSpPr/>
          <p:nvPr/>
        </p:nvSpPr>
        <p:spPr>
          <a:xfrm>
            <a:off x="853390" y="6411138"/>
            <a:ext cx="10484915" cy="5713"/>
          </a:xfrm>
          <a:prstGeom prst="rect">
            <a:avLst/>
          </a:prstGeom>
          <a:solidFill>
            <a:srgbClr val="DBD4C4"/>
          </a:solidFill>
          <a:ln/>
        </p:spPr>
      </p:sp>
      <p:pic>
        <p:nvPicPr>
          <p:cNvPr id="20" name="s34-logo-19"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21" name="s34-forma-20"/>
          <p:cNvSpPr/>
          <p:nvPr/>
        </p:nvSpPr>
        <p:spPr>
          <a:xfrm>
            <a:off x="1659380" y="6519865"/>
            <a:ext cx="2926878" cy="102835"/>
          </a:xfrm>
          <a:prstGeom prst="rect">
            <a:avLst/>
          </a:prstGeom>
          <a:ln/>
        </p:spPr>
      </p:sp>
      <p:sp>
        <p:nvSpPr>
          <p:cNvPr id="22" name="s34-forma-21"/>
          <p:cNvSpPr/>
          <p:nvPr/>
        </p:nvSpPr>
        <p:spPr>
          <a:xfrm>
            <a:off x="1659380" y="6519865"/>
            <a:ext cx="5713" cy="102835"/>
          </a:xfrm>
          <a:prstGeom prst="rect">
            <a:avLst/>
          </a:prstGeom>
          <a:solidFill>
            <a:srgbClr val="C6BFAE"/>
          </a:solidFill>
          <a:ln/>
        </p:spPr>
      </p:sp>
      <p:sp>
        <p:nvSpPr>
          <p:cNvPr id="23" name="s34-texto-22"/>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24" name="s34-texto-23"/>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34 / 36</a:t>
            </a:r>
            <a:endParaRPr lang="en-US" sz="745" dirty="0"/>
          </a:p>
        </p:txBody>
      </p:sp>
      <p:sp>
        <p:nvSpPr>
          <p:cNvPr id="25" name="s34-forma-24"/>
          <p:cNvSpPr/>
          <p:nvPr/>
        </p:nvSpPr>
        <p:spPr>
          <a:xfrm>
            <a:off x="0" y="0"/>
            <a:ext cx="11514339" cy="17139"/>
          </a:xfrm>
          <a:prstGeom prst="rect">
            <a:avLst/>
          </a:prstGeom>
          <a:solidFill>
            <a:srgbClr val="0033A0"/>
          </a:solidFill>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DE8DC"/>
        </a:solidFill>
      </p:bgPr>
    </p:bg>
    <p:spTree>
      <p:nvGrpSpPr>
        <p:cNvPr id="1" name=""/>
        <p:cNvGrpSpPr/>
        <p:nvPr/>
      </p:nvGrpSpPr>
      <p:grpSpPr>
        <a:xfrm>
          <a:off x="0" y="0"/>
          <a:ext cx="0" cy="0"/>
          <a:chOff x="0" y="0"/>
          <a:chExt cx="0" cy="0"/>
        </a:xfrm>
      </p:grpSpPr>
      <p:sp>
        <p:nvSpPr>
          <p:cNvPr id="2" name="s35-forma-1"/>
          <p:cNvSpPr/>
          <p:nvPr/>
        </p:nvSpPr>
        <p:spPr>
          <a:xfrm>
            <a:off x="853390" y="331715"/>
            <a:ext cx="81411" cy="81411"/>
          </a:xfrm>
          <a:prstGeom prst="ellipse">
            <a:avLst/>
          </a:prstGeom>
          <a:solidFill>
            <a:srgbClr val="1B6A43"/>
          </a:solidFill>
          <a:ln/>
        </p:spPr>
      </p:sp>
      <p:sp>
        <p:nvSpPr>
          <p:cNvPr id="3" name="s35-texto-2"/>
          <p:cNvSpPr txBox="1"/>
          <p:nvPr/>
        </p:nvSpPr>
        <p:spPr>
          <a:xfrm>
            <a:off x="1007018" y="315290"/>
            <a:ext cx="693513"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5-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2:00 · 15 min</a:t>
            </a:r>
            <a:endParaRPr lang="en-US" sz="807" dirty="0"/>
          </a:p>
        </p:txBody>
      </p:sp>
      <p:sp>
        <p:nvSpPr>
          <p:cNvPr id="5" name="s35-texto-4"/>
          <p:cNvSpPr txBox="1"/>
          <p:nvPr/>
        </p:nvSpPr>
        <p:spPr>
          <a:xfrm>
            <a:off x="853390" y="267987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LABORATORIO 3C</a:t>
            </a:r>
            <a:endParaRPr lang="en-US" sz="869" dirty="0"/>
          </a:p>
        </p:txBody>
      </p:sp>
      <p:sp>
        <p:nvSpPr>
          <p:cNvPr id="6" name="s35-forma-5"/>
          <p:cNvSpPr/>
          <p:nvPr/>
        </p:nvSpPr>
        <p:spPr>
          <a:xfrm>
            <a:off x="853390" y="3768306"/>
            <a:ext cx="722704" cy="22852"/>
          </a:xfrm>
          <a:prstGeom prst="rect">
            <a:avLst/>
          </a:prstGeom>
          <a:solidFill>
            <a:srgbClr val="0033A0"/>
          </a:solidFill>
          <a:ln/>
        </p:spPr>
      </p:sp>
      <p:sp>
        <p:nvSpPr>
          <p:cNvPr id="7" name="s35-texto-6"/>
          <p:cNvSpPr txBox="1"/>
          <p:nvPr/>
        </p:nvSpPr>
        <p:spPr>
          <a:xfrm>
            <a:off x="853390" y="2960889"/>
            <a:ext cx="7149222" cy="634151"/>
          </a:xfrm>
          <a:prstGeom prst="rect">
            <a:avLst/>
          </a:prstGeom>
          <a:noFill/>
          <a:ln/>
        </p:spPr>
        <p:txBody>
          <a:bodyPr wrap="non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Inspeccionar</a:t>
            </a:r>
            <a:endParaRPr lang="en-US" sz="4242" dirty="0"/>
          </a:p>
        </p:txBody>
      </p:sp>
      <p:sp>
        <p:nvSpPr>
          <p:cNvPr id="8" name="s35-texto-7"/>
          <p:cNvSpPr txBox="1"/>
          <p:nvPr/>
        </p:nvSpPr>
        <p:spPr>
          <a:xfrm>
            <a:off x="853390" y="3969960"/>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Contenedores, pruebas y auditoría por agente.</a:t>
            </a:r>
            <a:endParaRPr lang="en-US" sz="1676" dirty="0"/>
          </a:p>
        </p:txBody>
      </p:sp>
      <p:pic>
        <p:nvPicPr>
          <p:cNvPr id="9" name="s35-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35-forma-9"/>
          <p:cNvSpPr/>
          <p:nvPr/>
        </p:nvSpPr>
        <p:spPr>
          <a:xfrm>
            <a:off x="1659380" y="6519865"/>
            <a:ext cx="2926878" cy="102835"/>
          </a:xfrm>
          <a:prstGeom prst="rect">
            <a:avLst/>
          </a:prstGeom>
          <a:ln/>
        </p:spPr>
      </p:sp>
      <p:sp>
        <p:nvSpPr>
          <p:cNvPr id="11" name="s35-forma-10"/>
          <p:cNvSpPr/>
          <p:nvPr/>
        </p:nvSpPr>
        <p:spPr>
          <a:xfrm>
            <a:off x="1659380" y="6519865"/>
            <a:ext cx="5713" cy="102835"/>
          </a:xfrm>
          <a:prstGeom prst="rect">
            <a:avLst/>
          </a:prstGeom>
          <a:solidFill>
            <a:srgbClr val="C6BFAE"/>
          </a:solidFill>
          <a:ln/>
        </p:spPr>
      </p:sp>
      <p:sp>
        <p:nvSpPr>
          <p:cNvPr id="12" name="s35-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35-texto-1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35 / 36</a:t>
            </a:r>
            <a:endParaRPr lang="en-US" sz="745" dirty="0"/>
          </a:p>
        </p:txBody>
      </p:sp>
      <p:sp>
        <p:nvSpPr>
          <p:cNvPr id="14" name="s35-forma-13"/>
          <p:cNvSpPr/>
          <p:nvPr/>
        </p:nvSpPr>
        <p:spPr>
          <a:xfrm>
            <a:off x="0" y="0"/>
            <a:ext cx="11853017" cy="17139"/>
          </a:xfrm>
          <a:prstGeom prst="rect">
            <a:avLst/>
          </a:prstGeom>
          <a:solidFill>
            <a:srgbClr val="0033A0"/>
          </a:solidFill>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DE8DC"/>
        </a:solidFill>
      </p:bgPr>
    </p:bg>
    <p:spTree>
      <p:nvGrpSpPr>
        <p:cNvPr id="1" name=""/>
        <p:cNvGrpSpPr/>
        <p:nvPr/>
      </p:nvGrpSpPr>
      <p:grpSpPr>
        <a:xfrm>
          <a:off x="0" y="0"/>
          <a:ext cx="0" cy="0"/>
          <a:chOff x="0" y="0"/>
          <a:chExt cx="0" cy="0"/>
        </a:xfrm>
      </p:grpSpPr>
      <p:sp>
        <p:nvSpPr>
          <p:cNvPr id="2" name="s36-forma-1"/>
          <p:cNvSpPr/>
          <p:nvPr/>
        </p:nvSpPr>
        <p:spPr>
          <a:xfrm>
            <a:off x="853390" y="331715"/>
            <a:ext cx="81411" cy="81411"/>
          </a:xfrm>
          <a:prstGeom prst="ellipse">
            <a:avLst/>
          </a:prstGeom>
          <a:solidFill>
            <a:srgbClr val="7C560C"/>
          </a:solidFill>
          <a:ln/>
        </p:spPr>
      </p:sp>
      <p:sp>
        <p:nvSpPr>
          <p:cNvPr id="3" name="s36-texto-2"/>
          <p:cNvSpPr txBox="1"/>
          <p:nvPr/>
        </p:nvSpPr>
        <p:spPr>
          <a:xfrm>
            <a:off x="1007018" y="315290"/>
            <a:ext cx="612548" cy="114261"/>
          </a:xfrm>
          <a:prstGeom prst="rect">
            <a:avLst/>
          </a:prstGeom>
          <a:noFill/>
          <a:ln/>
        </p:spPr>
        <p:txBody>
          <a:bodyPr wrap="none" lIns="0" tIns="0" rIns="0" bIns="0" rtlCol="0" anchor="t"/>
          <a:lstStyle/>
          <a:p>
            <a:pPr algn="l" indent="0" marL="0">
              <a:lnSpc>
                <a:spcPts val="968"/>
              </a:lnSpc>
              <a:buNone/>
            </a:pPr>
            <a:r>
              <a:rPr lang="en-US" sz="807" b="1" spc="153" kern="0"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36-texto-3"/>
          <p:cNvSpPr txBox="1"/>
          <p:nvPr/>
        </p:nvSpPr>
        <p:spPr>
          <a:xfrm>
            <a:off x="10405557" y="315290"/>
            <a:ext cx="988713" cy="114261"/>
          </a:xfrm>
          <a:prstGeom prst="rect">
            <a:avLst/>
          </a:prstGeom>
          <a:noFill/>
          <a:ln/>
        </p:spPr>
        <p:txBody>
          <a:bodyPr wrap="none" lIns="0" tIns="0" rIns="0" bIns="0" rtlCol="0" anchor="t"/>
          <a:lstStyle/>
          <a:p>
            <a:pPr algn="l" indent="0" marL="0">
              <a:lnSpc>
                <a:spcPts val="968"/>
              </a:lnSpc>
              <a:buNone/>
            </a:pPr>
            <a:r>
              <a:rPr lang="en-US" sz="807" spc="81" kern="0" dirty="0">
                <a:solidFill>
                  <a:srgbClr val="585E6F"/>
                </a:solidFill>
                <a:latin typeface="Courier New" pitchFamily="34" charset="0"/>
                <a:ea typeface="Courier New" pitchFamily="34" charset="-122"/>
                <a:cs typeface="Courier New" pitchFamily="34" charset="-120"/>
              </a:rPr>
              <a:t>2:15 · 15 min</a:t>
            </a:r>
            <a:endParaRPr lang="en-US" sz="807" dirty="0"/>
          </a:p>
        </p:txBody>
      </p:sp>
      <p:sp>
        <p:nvSpPr>
          <p:cNvPr id="5" name="s36-texto-4"/>
          <p:cNvSpPr txBox="1"/>
          <p:nvPr/>
        </p:nvSpPr>
        <p:spPr>
          <a:xfrm>
            <a:off x="853390" y="2388957"/>
            <a:ext cx="11114010" cy="125688"/>
          </a:xfrm>
          <a:prstGeom prst="rect">
            <a:avLst/>
          </a:prstGeom>
          <a:noFill/>
          <a:ln/>
        </p:spPr>
        <p:txBody>
          <a:bodyPr wrap="none" lIns="0" tIns="0" rIns="0" bIns="0" rtlCol="0" anchor="t"/>
          <a:lstStyle/>
          <a:p>
            <a:pPr algn="l" indent="0" marL="0">
              <a:lnSpc>
                <a:spcPts val="1043"/>
              </a:lnSpc>
              <a:buNone/>
            </a:pPr>
            <a:r>
              <a:rPr lang="en-US" sz="869" b="1" spc="209" kern="0" dirty="0">
                <a:solidFill>
                  <a:srgbClr val="0033A0"/>
                </a:solidFill>
                <a:latin typeface="Courier New" pitchFamily="34" charset="0"/>
                <a:ea typeface="Courier New" pitchFamily="34" charset="-122"/>
                <a:cs typeface="Courier New" pitchFamily="34" charset="-120"/>
              </a:rPr>
              <a:t>CIERRE</a:t>
            </a:r>
            <a:endParaRPr lang="en-US" sz="869" dirty="0"/>
          </a:p>
        </p:txBody>
      </p:sp>
      <p:sp>
        <p:nvSpPr>
          <p:cNvPr id="6" name="s36-forma-5"/>
          <p:cNvSpPr/>
          <p:nvPr/>
        </p:nvSpPr>
        <p:spPr>
          <a:xfrm>
            <a:off x="853390" y="4059138"/>
            <a:ext cx="722704" cy="22852"/>
          </a:xfrm>
          <a:prstGeom prst="rect">
            <a:avLst/>
          </a:prstGeom>
          <a:solidFill>
            <a:srgbClr val="0033A0"/>
          </a:solidFill>
          <a:ln/>
        </p:spPr>
      </p:sp>
      <p:sp>
        <p:nvSpPr>
          <p:cNvPr id="7" name="s36-texto-6"/>
          <p:cNvSpPr txBox="1"/>
          <p:nvPr/>
        </p:nvSpPr>
        <p:spPr>
          <a:xfrm>
            <a:off x="853390" y="2669968"/>
            <a:ext cx="7149222" cy="1215902"/>
          </a:xfrm>
          <a:prstGeom prst="rect">
            <a:avLst/>
          </a:prstGeom>
          <a:noFill/>
          <a:ln/>
        </p:spPr>
        <p:txBody>
          <a:bodyPr wrap="square" lIns="0" tIns="0" rIns="0" bIns="0" rtlCol="0" anchor="t"/>
          <a:lstStyle/>
          <a:p>
            <a:pPr algn="l" indent="0" marL="0">
              <a:lnSpc>
                <a:spcPts val="4582"/>
              </a:lnSpc>
              <a:buNone/>
            </a:pPr>
            <a:r>
              <a:rPr lang="en-US" sz="4242" b="1" spc="-64" kern="0" dirty="0">
                <a:solidFill>
                  <a:srgbClr val="16181D"/>
                </a:solidFill>
                <a:latin typeface="Georgia" pitchFamily="34" charset="0"/>
                <a:ea typeface="Georgia" pitchFamily="34" charset="-122"/>
                <a:cs typeface="Georgia" pitchFamily="34" charset="-120"/>
              </a:rPr>
              <a:t>Preguntas, quiz y entrega</a:t>
            </a:r>
            <a:endParaRPr lang="en-US" sz="4242" dirty="0"/>
          </a:p>
        </p:txBody>
      </p:sp>
      <p:sp>
        <p:nvSpPr>
          <p:cNvPr id="8" name="s36-texto-7"/>
          <p:cNvSpPr txBox="1"/>
          <p:nvPr/>
        </p:nvSpPr>
        <p:spPr>
          <a:xfrm>
            <a:off x="853390" y="4260791"/>
            <a:ext cx="7778274" cy="239949"/>
          </a:xfrm>
          <a:prstGeom prst="rect">
            <a:avLst/>
          </a:prstGeom>
          <a:noFill/>
          <a:ln/>
        </p:spPr>
        <p:txBody>
          <a:bodyPr wrap="none" lIns="0" tIns="0" rIns="0" bIns="0" rtlCol="0" anchor="t"/>
          <a:lstStyle/>
          <a:p>
            <a:pPr algn="l" indent="0" marL="0">
              <a:lnSpc>
                <a:spcPts val="2430"/>
              </a:lnSpc>
              <a:buNone/>
            </a:pPr>
            <a:r>
              <a:rPr lang="en-US" sz="1676" dirty="0">
                <a:solidFill>
                  <a:srgbClr val="585E6F"/>
                </a:solidFill>
                <a:latin typeface="Arial" pitchFamily="34" charset="0"/>
                <a:ea typeface="Arial" pitchFamily="34" charset="-122"/>
                <a:cs typeface="Arial" pitchFamily="34" charset="-120"/>
              </a:rPr>
              <a:t>docker-compose.yml, app/tests/ y notas_s3.md en un commit.</a:t>
            </a:r>
            <a:endParaRPr lang="en-US" sz="1676" dirty="0"/>
          </a:p>
        </p:txBody>
      </p:sp>
      <p:pic>
        <p:nvPicPr>
          <p:cNvPr id="9" name="s36-logo-8" descr="preencoded.png">    </p:cNvPr>
          <p:cNvPicPr>
            <a:picLocks noChangeAspect="1"/>
          </p:cNvPicPr>
          <p:nvPr/>
        </p:nvPicPr>
        <p:blipFill>
          <a:blip r:embed="rId1"/>
          <a:stretch>
            <a:fillRect/>
          </a:stretch>
        </p:blipFill>
        <p:spPr>
          <a:xfrm>
            <a:off x="853390" y="6465055"/>
            <a:ext cx="687800" cy="212455"/>
          </a:xfrm>
          <a:prstGeom prst="rect">
            <a:avLst/>
          </a:prstGeom>
        </p:spPr>
      </p:pic>
      <p:sp>
        <p:nvSpPr>
          <p:cNvPr id="10" name="s36-forma-9"/>
          <p:cNvSpPr/>
          <p:nvPr/>
        </p:nvSpPr>
        <p:spPr>
          <a:xfrm>
            <a:off x="1659380" y="6519865"/>
            <a:ext cx="2926878" cy="102835"/>
          </a:xfrm>
          <a:prstGeom prst="rect">
            <a:avLst/>
          </a:prstGeom>
          <a:ln/>
        </p:spPr>
      </p:sp>
      <p:sp>
        <p:nvSpPr>
          <p:cNvPr id="11" name="s36-forma-10"/>
          <p:cNvSpPr/>
          <p:nvPr/>
        </p:nvSpPr>
        <p:spPr>
          <a:xfrm>
            <a:off x="1659380" y="6519865"/>
            <a:ext cx="5713" cy="102835"/>
          </a:xfrm>
          <a:prstGeom prst="rect">
            <a:avLst/>
          </a:prstGeom>
          <a:solidFill>
            <a:srgbClr val="C6BFAE"/>
          </a:solidFill>
          <a:ln/>
        </p:spPr>
      </p:sp>
      <p:sp>
        <p:nvSpPr>
          <p:cNvPr id="12" name="s36-texto-11"/>
          <p:cNvSpPr txBox="1"/>
          <p:nvPr/>
        </p:nvSpPr>
        <p:spPr>
          <a:xfrm>
            <a:off x="1783282" y="6519865"/>
            <a:ext cx="2971154" cy="102835"/>
          </a:xfrm>
          <a:prstGeom prst="rect">
            <a:avLst/>
          </a:prstGeom>
          <a:noFill/>
          <a:ln/>
        </p:spPr>
        <p:txBody>
          <a:bodyPr wrap="none" lIns="0" tIns="0" rIns="0" bIns="0" rtlCol="0" anchor="t"/>
          <a:lstStyle/>
          <a:p>
            <a:pPr algn="l" indent="0" marL="0">
              <a:lnSpc>
                <a:spcPts val="844"/>
              </a:lnSpc>
              <a:buNone/>
            </a:pPr>
            <a:r>
              <a:rPr lang="en-US" sz="704" spc="91" kern="0" dirty="0">
                <a:solidFill>
                  <a:srgbClr val="585E6F"/>
                </a:solidFill>
                <a:latin typeface="Courier New" pitchFamily="34" charset="0"/>
                <a:ea typeface="Courier New" pitchFamily="34" charset="-122"/>
                <a:cs typeface="Courier New" pitchFamily="34" charset="-120"/>
              </a:rPr>
              <a:t>MÓDULO 3 · SESIÓN 3 — SISTEMAS MULTI-AGENTE</a:t>
            </a:r>
            <a:endParaRPr lang="en-US" sz="704" dirty="0"/>
          </a:p>
        </p:txBody>
      </p:sp>
      <p:sp>
        <p:nvSpPr>
          <p:cNvPr id="13" name="s36-texto-12"/>
          <p:cNvSpPr txBox="1"/>
          <p:nvPr/>
        </p:nvSpPr>
        <p:spPr>
          <a:xfrm>
            <a:off x="10874921" y="6517008"/>
            <a:ext cx="509088" cy="108548"/>
          </a:xfrm>
          <a:prstGeom prst="rect">
            <a:avLst/>
          </a:prstGeom>
          <a:noFill/>
          <a:ln/>
        </p:spPr>
        <p:txBody>
          <a:bodyPr wrap="none" lIns="0" tIns="0" rIns="0" bIns="0" rtlCol="0" anchor="t"/>
          <a:lstStyle/>
          <a:p>
            <a:pPr algn="l" indent="0" marL="0">
              <a:lnSpc>
                <a:spcPts val="894"/>
              </a:lnSpc>
              <a:buNone/>
            </a:pPr>
            <a:r>
              <a:rPr lang="en-US" sz="745" spc="74" kern="0" dirty="0">
                <a:solidFill>
                  <a:srgbClr val="585E6F"/>
                </a:solidFill>
                <a:latin typeface="Courier New" pitchFamily="34" charset="0"/>
                <a:ea typeface="Courier New" pitchFamily="34" charset="-122"/>
                <a:cs typeface="Courier New" pitchFamily="34" charset="-120"/>
              </a:rPr>
              <a:t>36 / 36</a:t>
            </a:r>
            <a:endParaRPr lang="en-US" sz="745" dirty="0"/>
          </a:p>
        </p:txBody>
      </p:sp>
      <p:sp>
        <p:nvSpPr>
          <p:cNvPr id="14" name="s36-forma-13"/>
          <p:cNvSpPr/>
          <p:nvPr/>
        </p:nvSpPr>
        <p:spPr>
          <a:xfrm>
            <a:off x="0" y="0"/>
            <a:ext cx="12191695" cy="17139"/>
          </a:xfrm>
          <a:prstGeom prst="rect">
            <a:avLst/>
          </a:prstGeom>
          <a:solidFill>
            <a:srgbClr val="0033A0"/>
          </a:solidFill>
          <a:ln/>
        </p:spPr>
      </p:sp>
    </p:spTree>
  </p:cSld>
  <p:clrMapOvr>
    <a:masterClrMapping/>
  </p:clrMapOvr>
</p:sld>
</file>

<file path=ppt/theme/theme1.xml><?xml version="1.0" encoding="utf-8"?>
<a:theme xmlns:a="http://schemas.openxmlformats.org/drawingml/2006/main" name="Tec Editorial · INSPIRA">
  <a:themeElements>
    <a:clrScheme name="Tec Editorial · INSPIRA">
      <a:dk1>
        <a:srgbClr val="16181D"/>
      </a:dk1>
      <a:lt1>
        <a:srgbClr val="EDE8DC"/>
      </a:lt1>
      <a:dk2>
        <a:srgbClr val="585E6F"/>
      </a:dk2>
      <a:lt2>
        <a:srgbClr val="E3DCCB"/>
      </a:lt2>
      <a:accent1>
        <a:srgbClr val="0033A0"/>
      </a:accent1>
      <a:accent2>
        <a:srgbClr val="AC321E"/>
      </a:accent2>
      <a:accent3>
        <a:srgbClr val="6B3FA0"/>
      </a:accent3>
      <a:accent4>
        <a:srgbClr val="1B6A43"/>
      </a:accent4>
      <a:accent5>
        <a:srgbClr val="7C560C"/>
      </a:accent5>
      <a:accent6>
        <a:srgbClr val="0E6871"/>
      </a:accent6>
      <a:hlink>
        <a:srgbClr val="0033A0"/>
      </a:hlink>
      <a:folHlink>
        <a:srgbClr val="984514"/>
      </a:folHlink>
    </a:clrScheme>
    <a:fontScheme name="Tec Editorial · INSPIR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 · Sesión 3 · Sistemas multi-agente</dc:title>
  <dc:subject>PptxGenJS Presentation</dc:subject>
  <dc:creator>Tecnológico de Monterrey · Next-Gen Coding</dc:creator>
  <cp:lastModifiedBy>Tecnológico de Monterrey · Next-Gen Coding</cp:lastModifiedBy>
  <cp:revision>1</cp:revision>
  <dcterms:created xsi:type="dcterms:W3CDTF">2026-10-15T02:23:11Z</dcterms:created>
  <dcterms:modified xsi:type="dcterms:W3CDTF">2026-10-15T02:23:11Z</dcterms:modified>
</cp:coreProperties>
</file>