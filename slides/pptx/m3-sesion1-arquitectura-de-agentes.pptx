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91" r:id="rId4"/>
    <p:sldId id="258" r:id="rId5"/>
    <p:sldId id="259" r:id="rId6"/>
    <p:sldId id="260" r:id="rId7"/>
    <p:sldId id="261" r:id="rId8"/>
    <p:sldId id="262" r:id="rId9"/>
    <p:sldId id="263" r:id="rId10"/>
    <p:sldId id="264" r:id="rId11"/>
    <p:sldId id="265" r:id="rId12"/>
    <p:sldId id="292" r:id="rId13"/>
    <p:sldId id="267" r:id="rId14"/>
    <p:sldId id="268" r:id="rId15"/>
    <p:sldId id="270" r:id="rId16"/>
    <p:sldId id="271" r:id="rId17"/>
    <p:sldId id="293" r:id="rId18"/>
    <p:sldId id="272" r:id="rId19"/>
    <p:sldId id="273" r:id="rId20"/>
    <p:sldId id="274" r:id="rId21"/>
    <p:sldId id="275" r:id="rId22"/>
    <p:sldId id="276" r:id="rId23"/>
    <p:sldId id="277" r:id="rId24"/>
    <p:sldId id="295" r:id="rId25"/>
    <p:sldId id="278" r:id="rId26"/>
    <p:sldId id="294" r:id="rId27"/>
    <p:sldId id="279" r:id="rId28"/>
    <p:sldId id="280" r:id="rId29"/>
    <p:sldId id="281" r:id="rId30"/>
    <p:sldId id="296" r:id="rId31"/>
    <p:sldId id="282" r:id="rId32"/>
    <p:sldId id="283" r:id="rId33"/>
    <p:sldId id="284" r:id="rId34"/>
    <p:sldId id="286" r:id="rId35"/>
    <p:sldId id="285" r:id="rId36"/>
    <p:sldId id="287" r:id="rId37"/>
    <p:sldId id="288" r:id="rId38"/>
    <p:sldId id="289" r:id="rId39"/>
    <p:sldId id="297" r:id="rId40"/>
    <p:sldId id="298" r:id="rId41"/>
    <p:sldId id="290"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2"/>
    <p:restoredTop sz="72603"/>
  </p:normalViewPr>
  <p:slideViewPr>
    <p:cSldViewPr snapToGrid="0" snapToObjects="1">
      <p:cViewPr varScale="1">
        <p:scale>
          <a:sx n="86" d="100"/>
          <a:sy n="86" d="100"/>
        </p:scale>
        <p:origin x="15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508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s.linkedin.com/pulse/esc%C3%A1ndalo-en-deloitte-por-usar-la-ia-le-entreg%C3%B3-informe-terrera-rq0xf"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theimpactlawyers.com/es/articulos/escandalo-deloitte-el-informe-de-440000-dolares-generado-con-ia-abre-un-debate-sobre-la-responsabilidad-profesional"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verificación de audio y pantalla. En este módulo cada estudiante construye su propia fábrica de software: seis agentes que toman una historia de usuario y entregan una aplicación de gestión de empleados probada de punta a punta. Hoy: qué es un agente y cómo validar lo que produce.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Reparto: objetivos 3 min, la fábrica y el dominio 3 min, agenda y Claude Code 2 min, entorno 2 min. El entorno se envió una semana antes: aquí solo se verifica.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del módulo. Los cinco objetivos son conceptuales: entender qué es un agente y en qué se diferencia de un workflow; diseñar salidas estructuradas y validarlas con código; orquestar agentes y decidir dónde interviene una persona; elegir la arquitectura de orquestación adecuada; y aplicarlo todo en un caso práctico. La fábrica de agentes que construyen en los laboratorios es el medio para anclar esos conceptos, no el fin. Por eso cada concepto se ve primero con su definición, un diagrama y un ejemplo corto en código, y después en la fábrica. La seguridad, en la sesión 4, hace que el caso práctico sea realista. La evaluación sigue la misma lógica: un examen sobre los conceptos y un reto que aplica la fábrica a una historia nueva.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hilo de todo el módulo. La historia entra a la izquierda. El analista escribe criterios de aceptación en Gherkin; el diseñador los convierte en casos de prueba; el desarrollador, que es Claude Code, genera base de datos, API y front-end. Luego dos agentes trabajan en paralelo: uno despliega con Docker Compose y otro convierte los casos en pruebas automatizadas con pytest y Playwright, como en el módulo anterior. Al final, un flujo ejecuta las pruebas de punta a punta y, si algo falla, un agente de triage decide a quién regresar el error. Sesión 1: agentes 1 y 2. Sesión 2: agente 3. Sesión 3: agentes 4 y 5. Sesión 4: el flujo E2E y la seguridad.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dominio es la gestión de empleados de una empresa: es familiar para todos y crece de forma natural, así que la fábrica puede seguir recibiendo historias después del módulo. Reglas principales, en contexto/reglas_negocio.md: correo corporativo @empresa.com y único, número de empleado EMP-0001 asignado por el sistema, fecha de ingreso no futura, cinco departamentos fijos y prohibido editar a un empleado dado de baja. Las convenciones técnicas, incluidos los data-testid que usarán las pruebas, se copian como app/CLAUDE.md. El archivo historias/backlog.md trae seis historias más para retos extra o para el proyecto final; cada una se procesa igual, agregando antes sus reglas.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sesión dura 150 minutos e incluye un descanso de 10. La estructura se repite: revisión del entregable anterior, exposición con demostración, laboratorio individual con puntos de control y cierre con quiz. Cada entregable se revisa al inicio de la sesión siguiente, así que la fábrica de cada estudiante debe funcionar antes de agregarle agentes.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aparece en tres papeles. Como asistente, en la terminal, ayuda a entender y depurar el código de la fábrica. Como caso de estudio, es un agente real cuyo diseño analizamos. Y como motor: los agentes desarrollador, despliegue y automatizador no usan un bucle propio, sino que delegan en Claude Code mediante el Claude Agent SDK, con una carpeta, herramientas, permisos y presupuesto que definimos nosotros. La regla del módulo: nada dentro de app/ se edita a mano; si algo falla, se corrigen las instrucciones, las convenciones o el plan, y se vuelve a ejecutar.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Envíen esta lista una semana antes. El archivo .python-version fija Python 3.12; con uv, el entorno se crea con esa versión aunque haya otra más nueva instalada. Docker Desktop y Playwright corren a la vez en la sesión 3, por eso conviene una máquina con al menos 8 GB de RAM. Pidan a los estudiantes revisar su consumo en la consola de Anthropic al final de cada sesión. Reserven los primeros minutos de la sesión 1 para los rezagados.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0:00 bienvenida y objetivos; 0:10 qué es un agente; 0:25 componentes y bucle con ReAct en código; 0:40 Plan-and-Execute en código; 0:50 salidas estructuradas y validación con código; 1:10 descanso; 1:20 Lab 1A el bucle; 1:40 Lab 1B analista; 2:00 Lab 1C diseñador; 2:15 cierre con preguntas que conectan el lab con los conceptos y quiz. Objetivos 1 y 2 del módulo; los agentes 1 y 2 son el lugar donde se aplican.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contra agente y el bucle. Pide a la clase un ejemplo de su trabajo para cada columna.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94BD6-F55D-01F8-F752-1074C7271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2A6CD-E652-A4F3-03C6-690BBA91B5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9F549-219C-2DC4-2D91-6A2060FCB92F}"/>
              </a:ext>
            </a:extLst>
          </p:cNvPr>
          <p:cNvSpPr>
            <a:spLocks noGrp="1"/>
          </p:cNvSpPr>
          <p:nvPr>
            <p:ph type="body" idx="1"/>
          </p:nvPr>
        </p:nvSpPr>
        <p:spPr/>
        <p:txBody>
          <a:bodyPr/>
          <a:lstStyle/>
          <a:p>
            <a:r>
              <a:rPr lang="en-US" dirty="0"/>
              <a:t>20 minutos. Pregunta de apertura: ¿quién decide el siguiente paso? En un workflow lo decide el código; en un agente, el modelo. Discutir en clase los dos ejemplos y pedir a los alumnos un caso de su trabajo para cada columna. Enfatizar que el agente no es "mejor": es más flexible a cambio de costo, latencia y dificultad para probarlo. Claude Code es un agente porque la tarea (programar) es abierta.</a:t>
            </a:r>
          </a:p>
        </p:txBody>
      </p:sp>
      <p:sp>
        <p:nvSpPr>
          <p:cNvPr id="4" name="Slide Number Placeholder 3">
            <a:extLst>
              <a:ext uri="{FF2B5EF4-FFF2-40B4-BE49-F238E27FC236}">
                <a16:creationId xmlns:a16="http://schemas.microsoft.com/office/drawing/2014/main" id="{DC444E20-773E-A221-40D6-B653C1CD6CE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683416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corazón de cualquier agente, incluido Claude Code. El usuario da un objetivo; el modelo responde con texto o con una petición de herramienta (stop_reason = tool_use). Si pidió herramienta, el código la ejecuta y devuelve el resultado, o el error, como un nuevo mensaje. Se repite hasta que el modelo responde sin pedir herramientas o se alcanza el límite de pasos. Mostrar en vivo una sesión de Claude Code y señalar cada vuelta del bucle en su salida.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Componentes con el código abierto; después ReAct: la idea, el diagrama, la ejecución en vivo y el código.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sz="1200" b="0" u="none" strike="noStrike" kern="1200" dirty="0">
                <a:solidFill>
                  <a:schemeClr val="tx1"/>
                </a:solidFill>
                <a:effectLst/>
                <a:latin typeface="+mn-lt"/>
                <a:ea typeface="+mn-ea"/>
                <a:cs typeface="+mn-cs"/>
              </a:rPr>
              <a:t>Empezar platicando sobre el diseño intrínseco de un LLM: que es siempre responder, si no lo sabe, lo inventa. </a:t>
            </a:r>
          </a:p>
          <a:p>
            <a:endParaRPr lang="es-MX" sz="1200" b="0" u="none" strike="noStrike" kern="1200" dirty="0">
              <a:solidFill>
                <a:schemeClr val="tx1"/>
              </a:solidFill>
              <a:effectLst/>
              <a:latin typeface="+mn-lt"/>
              <a:ea typeface="+mn-ea"/>
              <a:cs typeface="+mn-cs"/>
            </a:endParaRPr>
          </a:p>
          <a:p>
            <a:r>
              <a:rPr lang="es-MX" sz="1200" b="0" u="none" strike="noStrike" kern="1200" dirty="0">
                <a:solidFill>
                  <a:schemeClr val="tx1"/>
                </a:solidFill>
                <a:effectLst/>
                <a:latin typeface="+mn-lt"/>
                <a:ea typeface="+mn-ea"/>
                <a:cs typeface="+mn-cs"/>
              </a:rPr>
              <a:t>En 2025, la consultora Deloitte Australia cobró </a:t>
            </a:r>
            <a:r>
              <a:rPr lang="es-MX" sz="1200" b="1" u="none" strike="noStrike" kern="1200" dirty="0">
                <a:solidFill>
                  <a:schemeClr val="tx1"/>
                </a:solidFill>
                <a:effectLst/>
                <a:latin typeface="+mn-lt"/>
                <a:ea typeface="+mn-ea"/>
                <a:cs typeface="+mn-cs"/>
              </a:rPr>
              <a:t>440,000 dólares australianos</a:t>
            </a:r>
            <a:r>
              <a:rPr lang="es-MX" sz="1200" b="0" u="none" strike="noStrike" kern="1200" dirty="0">
                <a:solidFill>
                  <a:schemeClr val="tx1"/>
                </a:solidFill>
                <a:effectLst/>
                <a:latin typeface="+mn-lt"/>
                <a:ea typeface="+mn-ea"/>
                <a:cs typeface="+mn-cs"/>
              </a:rPr>
              <a:t> (unos 290,000 USD) al gobierno de ese país por elaborar un informe de 237 páginas sobre el sistema de cumplimiento de bienestar social. [</a:t>
            </a:r>
            <a:r>
              <a:rPr lang="es-MX" sz="1200" b="0" u="none" strike="noStrike" kern="1200" dirty="0">
                <a:solidFill>
                  <a:schemeClr val="tx1"/>
                </a:solidFill>
                <a:effectLst/>
                <a:latin typeface="+mn-lt"/>
                <a:ea typeface="+mn-ea"/>
                <a:cs typeface="+mn-cs"/>
                <a:hlinkClick r:id="rId3"/>
              </a:rPr>
              <a:t>1</a:t>
            </a:r>
            <a:r>
              <a:rPr lang="es-MX" sz="1200" b="0" u="none" strike="noStrike" kern="1200" dirty="0">
                <a:solidFill>
                  <a:schemeClr val="tx1"/>
                </a:solidFill>
                <a:effectLst/>
                <a:latin typeface="+mn-lt"/>
                <a:ea typeface="+mn-ea"/>
                <a:cs typeface="+mn-cs"/>
              </a:rPr>
              <a:t>, </a:t>
            </a:r>
            <a:r>
              <a:rPr lang="es-MX" sz="1200" b="0" u="none" strike="noStrike" kern="1200" dirty="0">
                <a:solidFill>
                  <a:schemeClr val="tx1"/>
                </a:solidFill>
                <a:effectLst/>
                <a:latin typeface="+mn-lt"/>
                <a:ea typeface="+mn-ea"/>
                <a:cs typeface="+mn-cs"/>
                <a:hlinkClick r:id="rId4"/>
              </a:rPr>
              <a:t>2</a:t>
            </a:r>
            <a:r>
              <a:rPr lang="es-MX" sz="1200" b="0" u="none" strike="noStrike" kern="1200" dirty="0">
                <a:solidFill>
                  <a:schemeClr val="tx1"/>
                </a:solidFill>
                <a:effectLst/>
                <a:latin typeface="+mn-lt"/>
                <a:ea typeface="+mn-ea"/>
                <a:cs typeface="+mn-cs"/>
              </a:rPr>
              <a:t>]</a:t>
            </a:r>
          </a:p>
          <a:p>
            <a:r>
              <a:rPr lang="es-MX" sz="1200" b="0" u="none" strike="noStrike" kern="1200" dirty="0">
                <a:solidFill>
                  <a:schemeClr val="tx1"/>
                </a:solidFill>
                <a:effectLst/>
                <a:latin typeface="+mn-lt"/>
                <a:ea typeface="+mn-ea"/>
                <a:cs typeface="+mn-cs"/>
              </a:rPr>
              <a:t>Un investigador de la Universidad de Sídney revisó el documento y descubrió que </a:t>
            </a:r>
            <a:r>
              <a:rPr lang="es-MX" sz="1200" b="1" u="none" strike="noStrike" kern="1200" dirty="0">
                <a:solidFill>
                  <a:schemeClr val="tx1"/>
                </a:solidFill>
                <a:effectLst/>
                <a:latin typeface="+mn-lt"/>
                <a:ea typeface="+mn-ea"/>
                <a:cs typeface="+mn-cs"/>
              </a:rPr>
              <a:t>tenía más de 20 alucinaciones graves de IA:</a:t>
            </a:r>
            <a:br>
              <a:rPr lang="es-MX" sz="1200" b="1" u="none" strike="noStrike" kern="1200" dirty="0">
                <a:solidFill>
                  <a:schemeClr val="tx1"/>
                </a:solidFill>
                <a:effectLst/>
                <a:latin typeface="+mn-lt"/>
                <a:ea typeface="+mn-ea"/>
                <a:cs typeface="+mn-cs"/>
              </a:rPr>
            </a:br>
            <a:br>
              <a:rPr lang="es-MX" sz="1200" b="1" u="none" strike="noStrike" kern="1200" dirty="0">
                <a:solidFill>
                  <a:schemeClr val="tx1"/>
                </a:solidFill>
                <a:effectLst/>
                <a:latin typeface="+mn-lt"/>
                <a:ea typeface="+mn-ea"/>
                <a:cs typeface="+mn-cs"/>
              </a:rPr>
            </a:br>
            <a:r>
              <a:rPr lang="es-MX" sz="1200" b="0" u="none" strike="noStrike" kern="1200" dirty="0">
                <a:solidFill>
                  <a:schemeClr val="tx1"/>
                </a:solidFill>
                <a:effectLst/>
                <a:latin typeface="+mn-lt"/>
                <a:ea typeface="+mn-ea"/>
                <a:cs typeface="+mn-cs"/>
              </a:rPr>
              <a:t>Citas y sentencias falsas atribuidas a un juez de la Corte Federal.</a:t>
            </a:r>
          </a:p>
          <a:p>
            <a:r>
              <a:rPr lang="es-MX" sz="1200" b="0" u="none" strike="noStrike" kern="1200" dirty="0">
                <a:solidFill>
                  <a:schemeClr val="tx1"/>
                </a:solidFill>
                <a:effectLst/>
                <a:latin typeface="+mn-lt"/>
                <a:ea typeface="+mn-ea"/>
                <a:cs typeface="+mn-cs"/>
              </a:rPr>
              <a:t>Referencias a libros y artículos académicos que nunca existieron.</a:t>
            </a:r>
          </a:p>
          <a:p>
            <a:r>
              <a:rPr lang="es-MX" sz="1200" b="0" u="none" strike="noStrike" kern="1200" dirty="0">
                <a:solidFill>
                  <a:schemeClr val="tx1"/>
                </a:solidFill>
                <a:effectLst/>
                <a:latin typeface="+mn-lt"/>
                <a:ea typeface="+mn-ea"/>
                <a:cs typeface="+mn-cs"/>
              </a:rPr>
              <a:t>Nombres de profesores universitarios inventados por completo. </a:t>
            </a:r>
          </a:p>
          <a:p>
            <a:endParaRPr lang="es-MX" sz="1200" b="1"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 </a:t>
            </a:r>
            <a:r>
              <a:rPr lang="en-US" dirty="0" err="1"/>
              <a:t>minutos</a:t>
            </a:r>
            <a:r>
              <a:rPr lang="en-US" dirty="0"/>
              <a:t>, antes del </a:t>
            </a:r>
            <a:r>
              <a:rPr lang="en-US" dirty="0" err="1"/>
              <a:t>diagrama</a:t>
            </a:r>
            <a:r>
              <a:rPr lang="en-US" dirty="0"/>
              <a:t> de </a:t>
            </a:r>
            <a:r>
              <a:rPr lang="en-US" dirty="0" err="1"/>
              <a:t>ReAct</a:t>
            </a:r>
            <a:r>
              <a:rPr lang="en-US" dirty="0"/>
              <a:t>. La idea </a:t>
            </a:r>
            <a:r>
              <a:rPr lang="en-US" dirty="0" err="1"/>
              <a:t>viene</a:t>
            </a:r>
            <a:r>
              <a:rPr lang="en-US" dirty="0"/>
              <a:t> de un </a:t>
            </a:r>
            <a:r>
              <a:rPr lang="en-US" dirty="0" err="1"/>
              <a:t>artículo</a:t>
            </a:r>
            <a:r>
              <a:rPr lang="en-US" dirty="0"/>
              <a:t> de 2022 de Yao y </a:t>
            </a:r>
            <a:r>
              <a:rPr lang="en-US" dirty="0" err="1"/>
              <a:t>colegas</a:t>
            </a:r>
            <a:r>
              <a:rPr lang="en-US" dirty="0"/>
              <a:t>. Antes </a:t>
            </a:r>
            <a:r>
              <a:rPr lang="en-US" dirty="0" err="1"/>
              <a:t>había</a:t>
            </a:r>
            <a:r>
              <a:rPr lang="en-US" dirty="0"/>
              <a:t> dos </a:t>
            </a:r>
            <a:r>
              <a:rPr lang="en-US" dirty="0" err="1"/>
              <a:t>enfoques</a:t>
            </a:r>
            <a:r>
              <a:rPr lang="en-US" dirty="0"/>
              <a:t> </a:t>
            </a:r>
            <a:r>
              <a:rPr lang="en-US" dirty="0" err="1"/>
              <a:t>separados</a:t>
            </a:r>
            <a:r>
              <a:rPr lang="en-US" dirty="0"/>
              <a:t>. Solo </a:t>
            </a:r>
            <a:r>
              <a:rPr lang="en-US" dirty="0" err="1"/>
              <a:t>razonar</a:t>
            </a:r>
            <a:r>
              <a:rPr lang="en-US" dirty="0"/>
              <a:t>, la </a:t>
            </a:r>
            <a:r>
              <a:rPr lang="en-US" dirty="0" err="1"/>
              <a:t>cadena</a:t>
            </a:r>
            <a:r>
              <a:rPr lang="en-US" dirty="0"/>
              <a:t> de </a:t>
            </a:r>
            <a:r>
              <a:rPr lang="en-US" dirty="0" err="1"/>
              <a:t>pensamiento</a:t>
            </a:r>
            <a:r>
              <a:rPr lang="en-US" dirty="0"/>
              <a:t>: </a:t>
            </a:r>
            <a:r>
              <a:rPr lang="en-US" dirty="0" err="1"/>
              <a:t>el</a:t>
            </a:r>
            <a:r>
              <a:rPr lang="en-US" dirty="0"/>
              <a:t> </a:t>
            </a:r>
            <a:r>
              <a:rPr lang="en-US" dirty="0" err="1"/>
              <a:t>modelo</a:t>
            </a:r>
            <a:r>
              <a:rPr lang="en-US" dirty="0"/>
              <a:t> </a:t>
            </a:r>
            <a:r>
              <a:rPr lang="en-US" dirty="0" err="1"/>
              <a:t>piensa</a:t>
            </a:r>
            <a:r>
              <a:rPr lang="en-US" dirty="0"/>
              <a:t> paso a paso, </a:t>
            </a:r>
            <a:r>
              <a:rPr lang="en-US" dirty="0" err="1"/>
              <a:t>pero</a:t>
            </a:r>
            <a:r>
              <a:rPr lang="en-US" dirty="0"/>
              <a:t> </a:t>
            </a:r>
            <a:r>
              <a:rPr lang="en-US" dirty="0" err="1"/>
              <a:t>todo</a:t>
            </a:r>
            <a:r>
              <a:rPr lang="en-US" dirty="0"/>
              <a:t> </a:t>
            </a:r>
            <a:r>
              <a:rPr lang="en-US" dirty="0" err="1"/>
              <a:t>ocurre</a:t>
            </a:r>
            <a:r>
              <a:rPr lang="en-US" dirty="0"/>
              <a:t> </a:t>
            </a:r>
            <a:r>
              <a:rPr lang="en-US" dirty="0" err="1"/>
              <a:t>en</a:t>
            </a:r>
            <a:r>
              <a:rPr lang="en-US" dirty="0"/>
              <a:t> </a:t>
            </a:r>
            <a:r>
              <a:rPr lang="en-US" dirty="0" err="1"/>
              <a:t>su</a:t>
            </a:r>
            <a:r>
              <a:rPr lang="en-US" dirty="0"/>
              <a:t> cabeza; </a:t>
            </a:r>
            <a:r>
              <a:rPr lang="en-US" dirty="0" err="1"/>
              <a:t>si</a:t>
            </a:r>
            <a:r>
              <a:rPr lang="en-US" dirty="0"/>
              <a:t> le </a:t>
            </a:r>
            <a:r>
              <a:rPr lang="en-US" dirty="0" err="1"/>
              <a:t>falta</a:t>
            </a:r>
            <a:r>
              <a:rPr lang="en-US" dirty="0"/>
              <a:t> un </a:t>
            </a:r>
            <a:r>
              <a:rPr lang="en-US" dirty="0" err="1"/>
              <a:t>dato</a:t>
            </a:r>
            <a:r>
              <a:rPr lang="en-US" dirty="0"/>
              <a:t>, lo </a:t>
            </a:r>
            <a:r>
              <a:rPr lang="en-US" dirty="0" err="1"/>
              <a:t>inventa</a:t>
            </a:r>
            <a:r>
              <a:rPr lang="en-US" dirty="0"/>
              <a:t> con </a:t>
            </a:r>
            <a:r>
              <a:rPr lang="en-US" dirty="0" err="1"/>
              <a:t>mucha</a:t>
            </a:r>
            <a:r>
              <a:rPr lang="en-US" dirty="0"/>
              <a:t> </a:t>
            </a:r>
            <a:r>
              <a:rPr lang="en-US" dirty="0" err="1"/>
              <a:t>seguridad</a:t>
            </a:r>
            <a:r>
              <a:rPr lang="en-US" dirty="0"/>
              <a:t>. Solo </a:t>
            </a:r>
            <a:r>
              <a:rPr lang="en-US" dirty="0" err="1"/>
              <a:t>actuar</a:t>
            </a:r>
            <a:r>
              <a:rPr lang="en-US" dirty="0"/>
              <a:t>: </a:t>
            </a:r>
            <a:r>
              <a:rPr lang="en-US" dirty="0" err="1"/>
              <a:t>el</a:t>
            </a:r>
            <a:r>
              <a:rPr lang="en-US" dirty="0"/>
              <a:t> </a:t>
            </a:r>
            <a:r>
              <a:rPr lang="en-US" dirty="0" err="1"/>
              <a:t>modelo</a:t>
            </a:r>
            <a:r>
              <a:rPr lang="en-US" dirty="0"/>
              <a:t> </a:t>
            </a:r>
            <a:r>
              <a:rPr lang="en-US" dirty="0" err="1"/>
              <a:t>usa</a:t>
            </a:r>
            <a:r>
              <a:rPr lang="en-US" dirty="0"/>
              <a:t> </a:t>
            </a:r>
            <a:r>
              <a:rPr lang="en-US" dirty="0" err="1"/>
              <a:t>herramientas</a:t>
            </a:r>
            <a:r>
              <a:rPr lang="en-US" dirty="0"/>
              <a:t>, </a:t>
            </a:r>
            <a:r>
              <a:rPr lang="en-US" dirty="0" err="1"/>
              <a:t>pero</a:t>
            </a:r>
            <a:r>
              <a:rPr lang="en-US" dirty="0"/>
              <a:t> sin </a:t>
            </a:r>
            <a:r>
              <a:rPr lang="en-US" dirty="0" err="1"/>
              <a:t>explicar</a:t>
            </a:r>
            <a:r>
              <a:rPr lang="en-US" dirty="0"/>
              <a:t> </a:t>
            </a:r>
            <a:r>
              <a:rPr lang="en-US" dirty="0" err="1"/>
              <a:t>el</a:t>
            </a:r>
            <a:r>
              <a:rPr lang="en-US" dirty="0"/>
              <a:t> plan, </a:t>
            </a:r>
            <a:r>
              <a:rPr lang="en-US" dirty="0" err="1"/>
              <a:t>así</a:t>
            </a:r>
            <a:r>
              <a:rPr lang="en-US" dirty="0"/>
              <a:t> </a:t>
            </a:r>
            <a:r>
              <a:rPr lang="en-US" dirty="0" err="1"/>
              <a:t>que</a:t>
            </a:r>
            <a:r>
              <a:rPr lang="en-US" dirty="0"/>
              <a:t> no sabe </a:t>
            </a:r>
            <a:r>
              <a:rPr lang="en-US" dirty="0" err="1"/>
              <a:t>por</a:t>
            </a:r>
            <a:r>
              <a:rPr lang="en-US" dirty="0"/>
              <a:t> </a:t>
            </a:r>
            <a:r>
              <a:rPr lang="en-US" dirty="0" err="1"/>
              <a:t>qué</a:t>
            </a:r>
            <a:r>
              <a:rPr lang="en-US" dirty="0"/>
              <a:t> </a:t>
            </a:r>
            <a:r>
              <a:rPr lang="en-US" dirty="0" err="1"/>
              <a:t>eligió</a:t>
            </a:r>
            <a:r>
              <a:rPr lang="en-US" dirty="0"/>
              <a:t> </a:t>
            </a:r>
            <a:r>
              <a:rPr lang="en-US" dirty="0" err="1"/>
              <a:t>una</a:t>
            </a:r>
            <a:r>
              <a:rPr lang="en-US" dirty="0"/>
              <a:t> </a:t>
            </a:r>
            <a:r>
              <a:rPr lang="en-US" dirty="0" err="1"/>
              <a:t>acción</a:t>
            </a:r>
            <a:r>
              <a:rPr lang="en-US" dirty="0"/>
              <a:t> </a:t>
            </a:r>
            <a:r>
              <a:rPr lang="en-US" dirty="0" err="1"/>
              <a:t>ni</a:t>
            </a:r>
            <a:r>
              <a:rPr lang="en-US" dirty="0"/>
              <a:t> </a:t>
            </a:r>
            <a:r>
              <a:rPr lang="en-US" dirty="0" err="1"/>
              <a:t>cuándo</a:t>
            </a:r>
            <a:r>
              <a:rPr lang="en-US" dirty="0"/>
              <a:t> </a:t>
            </a:r>
            <a:r>
              <a:rPr lang="en-US" dirty="0" err="1"/>
              <a:t>detenerse</a:t>
            </a:r>
            <a:r>
              <a:rPr lang="en-US" dirty="0"/>
              <a:t>. </a:t>
            </a:r>
            <a:r>
              <a:rPr lang="en-US" dirty="0" err="1"/>
              <a:t>ReAct</a:t>
            </a:r>
            <a:r>
              <a:rPr lang="en-US" dirty="0"/>
              <a:t> </a:t>
            </a:r>
            <a:r>
              <a:rPr lang="en-US" dirty="0" err="1"/>
              <a:t>intercala</a:t>
            </a:r>
            <a:r>
              <a:rPr lang="en-US" dirty="0"/>
              <a:t> las dos </a:t>
            </a:r>
            <a:r>
              <a:rPr lang="en-US" dirty="0" err="1"/>
              <a:t>cosas</a:t>
            </a:r>
            <a:r>
              <a:rPr lang="en-US" dirty="0"/>
              <a:t>: un </a:t>
            </a:r>
            <a:r>
              <a:rPr lang="en-US" dirty="0" err="1"/>
              <a:t>pensamiento</a:t>
            </a:r>
            <a:r>
              <a:rPr lang="en-US" dirty="0"/>
              <a:t> decide la </a:t>
            </a:r>
            <a:r>
              <a:rPr lang="en-US" dirty="0" err="1"/>
              <a:t>acción</a:t>
            </a:r>
            <a:r>
              <a:rPr lang="en-US" dirty="0"/>
              <a:t>, la </a:t>
            </a:r>
            <a:r>
              <a:rPr lang="en-US" dirty="0" err="1"/>
              <a:t>acción</a:t>
            </a:r>
            <a:r>
              <a:rPr lang="en-US" dirty="0"/>
              <a:t> produce </a:t>
            </a:r>
            <a:r>
              <a:rPr lang="en-US" dirty="0" err="1"/>
              <a:t>una</a:t>
            </a:r>
            <a:r>
              <a:rPr lang="en-US" dirty="0"/>
              <a:t> </a:t>
            </a:r>
            <a:r>
              <a:rPr lang="en-US" dirty="0" err="1"/>
              <a:t>observación</a:t>
            </a:r>
            <a:r>
              <a:rPr lang="en-US" dirty="0"/>
              <a:t> real, y </a:t>
            </a:r>
            <a:r>
              <a:rPr lang="en-US" dirty="0" err="1"/>
              <a:t>esa</a:t>
            </a:r>
            <a:r>
              <a:rPr lang="en-US" dirty="0"/>
              <a:t> </a:t>
            </a:r>
            <a:r>
              <a:rPr lang="en-US" dirty="0" err="1"/>
              <a:t>observación</a:t>
            </a:r>
            <a:r>
              <a:rPr lang="en-US" dirty="0"/>
              <a:t> </a:t>
            </a:r>
            <a:r>
              <a:rPr lang="en-US" dirty="0" err="1"/>
              <a:t>alimenta</a:t>
            </a:r>
            <a:r>
              <a:rPr lang="en-US" dirty="0"/>
              <a:t> </a:t>
            </a:r>
            <a:r>
              <a:rPr lang="en-US" dirty="0" err="1"/>
              <a:t>el</a:t>
            </a:r>
            <a:r>
              <a:rPr lang="en-US" dirty="0"/>
              <a:t> </a:t>
            </a:r>
            <a:r>
              <a:rPr lang="en-US" dirty="0" err="1"/>
              <a:t>siguiente</a:t>
            </a:r>
            <a:r>
              <a:rPr lang="en-US" dirty="0"/>
              <a:t> </a:t>
            </a:r>
            <a:r>
              <a:rPr lang="en-US" dirty="0" err="1"/>
              <a:t>pensamiento</a:t>
            </a:r>
            <a:r>
              <a:rPr lang="en-US" dirty="0"/>
              <a:t>. </a:t>
            </a:r>
            <a:r>
              <a:rPr lang="en-US" dirty="0" err="1"/>
              <a:t>Así</a:t>
            </a:r>
            <a:r>
              <a:rPr lang="en-US" dirty="0"/>
              <a:t> </a:t>
            </a:r>
            <a:r>
              <a:rPr lang="en-US" dirty="0" err="1"/>
              <a:t>el</a:t>
            </a:r>
            <a:r>
              <a:rPr lang="en-US" dirty="0"/>
              <a:t> </a:t>
            </a:r>
            <a:r>
              <a:rPr lang="en-US" dirty="0" err="1"/>
              <a:t>razonamiento</a:t>
            </a:r>
            <a:r>
              <a:rPr lang="en-US" dirty="0"/>
              <a:t> </a:t>
            </a:r>
            <a:r>
              <a:rPr lang="en-US" dirty="0" err="1"/>
              <a:t>queda</a:t>
            </a:r>
            <a:r>
              <a:rPr lang="en-US" dirty="0"/>
              <a:t> </a:t>
            </a:r>
            <a:r>
              <a:rPr lang="en-US" dirty="0" err="1"/>
              <a:t>anclado</a:t>
            </a:r>
            <a:r>
              <a:rPr lang="en-US" dirty="0"/>
              <a:t> </a:t>
            </a:r>
            <a:r>
              <a:rPr lang="en-US" dirty="0" err="1"/>
              <a:t>en</a:t>
            </a:r>
            <a:r>
              <a:rPr lang="en-US" dirty="0"/>
              <a:t> </a:t>
            </a:r>
            <a:r>
              <a:rPr lang="en-US" dirty="0" err="1"/>
              <a:t>datos</a:t>
            </a:r>
            <a:r>
              <a:rPr lang="en-US" dirty="0"/>
              <a:t> y no </a:t>
            </a:r>
            <a:r>
              <a:rPr lang="en-US" dirty="0" err="1"/>
              <a:t>en</a:t>
            </a:r>
            <a:r>
              <a:rPr lang="en-US" dirty="0"/>
              <a:t> </a:t>
            </a:r>
            <a:r>
              <a:rPr lang="en-US" dirty="0" err="1"/>
              <a:t>suposiciones</a:t>
            </a:r>
            <a:r>
              <a:rPr lang="en-US" dirty="0"/>
              <a:t>. Leer la </a:t>
            </a:r>
            <a:r>
              <a:rPr lang="en-US" dirty="0" err="1"/>
              <a:t>traza</a:t>
            </a:r>
            <a:r>
              <a:rPr lang="en-US" dirty="0"/>
              <a:t> de la </a:t>
            </a:r>
            <a:r>
              <a:rPr lang="en-US" dirty="0" err="1"/>
              <a:t>derecha</a:t>
            </a:r>
            <a:r>
              <a:rPr lang="en-US" dirty="0"/>
              <a:t>: es </a:t>
            </a:r>
            <a:r>
              <a:rPr lang="en-US" dirty="0" err="1"/>
              <a:t>exactamente</a:t>
            </a:r>
            <a:r>
              <a:rPr lang="en-US" dirty="0"/>
              <a:t> la </a:t>
            </a:r>
            <a:r>
              <a:rPr lang="en-US" dirty="0" err="1"/>
              <a:t>salida</a:t>
            </a:r>
            <a:r>
              <a:rPr lang="en-US" dirty="0"/>
              <a:t> de python -m ejemplos.s1_razonamiento.react. </a:t>
            </a:r>
            <a:r>
              <a:rPr lang="en-US" dirty="0" err="1"/>
              <a:t>Pregunta</a:t>
            </a:r>
            <a:r>
              <a:rPr lang="en-US" dirty="0"/>
              <a:t> para </a:t>
            </a:r>
            <a:r>
              <a:rPr lang="en-US" dirty="0" err="1"/>
              <a:t>el</a:t>
            </a:r>
            <a:r>
              <a:rPr lang="en-US" dirty="0"/>
              <a:t> </a:t>
            </a:r>
            <a:r>
              <a:rPr lang="en-US" dirty="0" err="1"/>
              <a:t>grupo</a:t>
            </a:r>
            <a:r>
              <a:rPr lang="en-US" dirty="0"/>
              <a:t>: ¿</a:t>
            </a:r>
            <a:r>
              <a:rPr lang="en-US" dirty="0" err="1"/>
              <a:t>por</a:t>
            </a:r>
            <a:r>
              <a:rPr lang="en-US" dirty="0"/>
              <a:t> </a:t>
            </a:r>
            <a:r>
              <a:rPr lang="en-US" dirty="0" err="1"/>
              <a:t>qué</a:t>
            </a:r>
            <a:r>
              <a:rPr lang="en-US" dirty="0"/>
              <a:t> al </a:t>
            </a:r>
            <a:r>
              <a:rPr lang="en-US" dirty="0" err="1"/>
              <a:t>ejecutarlo</a:t>
            </a:r>
            <a:r>
              <a:rPr lang="en-US" dirty="0"/>
              <a:t> no </a:t>
            </a:r>
            <a:r>
              <a:rPr lang="en-US" dirty="0" err="1"/>
              <a:t>aparece</a:t>
            </a:r>
            <a:r>
              <a:rPr lang="en-US" dirty="0"/>
              <a:t> «</a:t>
            </a:r>
            <a:r>
              <a:rPr lang="en-US" dirty="0" err="1"/>
              <a:t>razona</a:t>
            </a:r>
            <a:r>
              <a:rPr lang="en-US" dirty="0"/>
              <a:t> · </a:t>
            </a:r>
            <a:r>
              <a:rPr lang="en-US" dirty="0" err="1"/>
              <a:t>vuelta</a:t>
            </a:r>
            <a:r>
              <a:rPr lang="en-US" dirty="0"/>
              <a:t> 0»? </a:t>
            </a:r>
            <a:r>
              <a:rPr lang="en-US" dirty="0" err="1"/>
              <a:t>Porque</a:t>
            </a:r>
            <a:r>
              <a:rPr lang="en-US" dirty="0"/>
              <a:t> </a:t>
            </a:r>
            <a:r>
              <a:rPr lang="en-US" dirty="0" err="1"/>
              <a:t>el</a:t>
            </a:r>
            <a:r>
              <a:rPr lang="en-US" dirty="0"/>
              <a:t> </a:t>
            </a:r>
            <a:r>
              <a:rPr lang="en-US" dirty="0" err="1"/>
              <a:t>pensamiento</a:t>
            </a:r>
            <a:r>
              <a:rPr lang="en-US" dirty="0"/>
              <a:t> 1 no </a:t>
            </a:r>
            <a:r>
              <a:rPr lang="en-US" dirty="0" err="1"/>
              <a:t>llegó</a:t>
            </a:r>
            <a:r>
              <a:rPr lang="en-US" dirty="0"/>
              <a:t> </a:t>
            </a:r>
            <a:r>
              <a:rPr lang="en-US" dirty="0" err="1"/>
              <a:t>como</a:t>
            </a:r>
            <a:r>
              <a:rPr lang="en-US" dirty="0"/>
              <a:t> </a:t>
            </a:r>
            <a:r>
              <a:rPr lang="en-US" dirty="0" err="1"/>
              <a:t>texto</a:t>
            </a:r>
            <a:r>
              <a:rPr lang="en-US" dirty="0"/>
              <a:t>: </a:t>
            </a:r>
            <a:r>
              <a:rPr lang="en-US" dirty="0" err="1"/>
              <a:t>el</a:t>
            </a:r>
            <a:r>
              <a:rPr lang="en-US" dirty="0"/>
              <a:t> </a:t>
            </a:r>
            <a:r>
              <a:rPr lang="en-US" dirty="0" err="1"/>
              <a:t>modelo</a:t>
            </a:r>
            <a:r>
              <a:rPr lang="en-US" dirty="0"/>
              <a:t> lo </a:t>
            </a:r>
            <a:r>
              <a:rPr lang="en-US" dirty="0" err="1"/>
              <a:t>hizo</a:t>
            </a:r>
            <a:r>
              <a:rPr lang="en-US" dirty="0"/>
              <a:t> </a:t>
            </a:r>
            <a:r>
              <a:rPr lang="en-US" dirty="0" err="1"/>
              <a:t>en</a:t>
            </a:r>
            <a:r>
              <a:rPr lang="en-US" dirty="0"/>
              <a:t> un </a:t>
            </a:r>
            <a:r>
              <a:rPr lang="en-US" dirty="0" err="1"/>
              <a:t>bloque</a:t>
            </a:r>
            <a:r>
              <a:rPr lang="en-US" dirty="0"/>
              <a:t> thinking, </a:t>
            </a:r>
            <a:r>
              <a:rPr lang="en-US" dirty="0" err="1"/>
              <a:t>que</a:t>
            </a:r>
            <a:r>
              <a:rPr lang="en-US" dirty="0"/>
              <a:t> </a:t>
            </a:r>
            <a:r>
              <a:rPr lang="en-US" dirty="0" err="1"/>
              <a:t>el</a:t>
            </a:r>
            <a:r>
              <a:rPr lang="en-US" dirty="0"/>
              <a:t> </a:t>
            </a:r>
            <a:r>
              <a:rPr lang="en-US" dirty="0" err="1"/>
              <a:t>programa</a:t>
            </a:r>
            <a:r>
              <a:rPr lang="en-US" dirty="0"/>
              <a:t> no </a:t>
            </a:r>
            <a:r>
              <a:rPr lang="en-US" dirty="0" err="1"/>
              <a:t>imprime</a:t>
            </a:r>
            <a:r>
              <a:rPr lang="en-US" dirty="0"/>
              <a:t>, o </a:t>
            </a:r>
            <a:r>
              <a:rPr lang="en-US" dirty="0" err="1"/>
              <a:t>fue</a:t>
            </a:r>
            <a:r>
              <a:rPr lang="en-US" dirty="0"/>
              <a:t> </a:t>
            </a:r>
            <a:r>
              <a:rPr lang="en-US" dirty="0" err="1"/>
              <a:t>directo</a:t>
            </a:r>
            <a:r>
              <a:rPr lang="en-US" dirty="0"/>
              <a:t> a la </a:t>
            </a:r>
            <a:r>
              <a:rPr lang="en-US" dirty="0" err="1"/>
              <a:t>herramienta</a:t>
            </a:r>
            <a:r>
              <a:rPr lang="en-US" dirty="0"/>
              <a:t>. </a:t>
            </a:r>
            <a:r>
              <a:rPr lang="en-US" dirty="0" err="1"/>
              <a:t>Lección</a:t>
            </a:r>
            <a:r>
              <a:rPr lang="en-US" dirty="0"/>
              <a:t>: </a:t>
            </a:r>
            <a:r>
              <a:rPr lang="en-US" dirty="0" err="1"/>
              <a:t>el</a:t>
            </a:r>
            <a:r>
              <a:rPr lang="en-US" dirty="0"/>
              <a:t> </a:t>
            </a:r>
            <a:r>
              <a:rPr lang="en-US" dirty="0" err="1"/>
              <a:t>bucle</a:t>
            </a:r>
            <a:r>
              <a:rPr lang="en-US" dirty="0"/>
              <a:t> decide con </a:t>
            </a:r>
            <a:r>
              <a:rPr lang="en-US" dirty="0" err="1"/>
              <a:t>los</a:t>
            </a:r>
            <a:r>
              <a:rPr lang="en-US" dirty="0"/>
              <a:t> </a:t>
            </a:r>
            <a:r>
              <a:rPr lang="en-US" dirty="0" err="1"/>
              <a:t>bloques</a:t>
            </a:r>
            <a:r>
              <a:rPr lang="en-US" dirty="0"/>
              <a:t> </a:t>
            </a:r>
            <a:r>
              <a:rPr lang="en-US" dirty="0" err="1"/>
              <a:t>tool_use</a:t>
            </a:r>
            <a:r>
              <a:rPr lang="en-US" dirty="0"/>
              <a:t> y con </a:t>
            </a:r>
            <a:r>
              <a:rPr lang="en-US" dirty="0" err="1"/>
              <a:t>stop_reason</a:t>
            </a:r>
            <a:r>
              <a:rPr lang="en-US" dirty="0"/>
              <a:t>, </a:t>
            </a:r>
            <a:r>
              <a:rPr lang="en-US" dirty="0" err="1"/>
              <a:t>nunca</a:t>
            </a:r>
            <a:r>
              <a:rPr lang="en-US" dirty="0"/>
              <a:t> </a:t>
            </a:r>
            <a:r>
              <a:rPr lang="en-US" dirty="0" err="1"/>
              <a:t>leyendo</a:t>
            </a:r>
            <a:r>
              <a:rPr lang="en-US" dirty="0"/>
              <a:t> lo </a:t>
            </a:r>
            <a:r>
              <a:rPr lang="en-US" dirty="0" err="1"/>
              <a:t>que</a:t>
            </a:r>
            <a:r>
              <a:rPr lang="en-US" dirty="0"/>
              <a:t> </a:t>
            </a:r>
            <a:r>
              <a:rPr lang="en-US" dirty="0" err="1"/>
              <a:t>el</a:t>
            </a:r>
            <a:r>
              <a:rPr lang="en-US" dirty="0"/>
              <a:t> </a:t>
            </a:r>
            <a:r>
              <a:rPr lang="en-US" dirty="0" err="1"/>
              <a:t>modelo</a:t>
            </a:r>
            <a:r>
              <a:rPr lang="en-US" dirty="0"/>
              <a:t> dice </a:t>
            </a:r>
            <a:r>
              <a:rPr lang="en-US" dirty="0" err="1"/>
              <a:t>que</a:t>
            </a:r>
            <a:r>
              <a:rPr lang="en-US" dirty="0"/>
              <a:t> </a:t>
            </a:r>
            <a:r>
              <a:rPr lang="en-US" dirty="0" err="1"/>
              <a:t>hará</a:t>
            </a:r>
            <a:r>
              <a:rPr lang="en-US" dirty="0"/>
              <a:t>.</a:t>
            </a:r>
          </a:p>
          <a:p>
            <a:endParaRPr lang="es-MX" sz="1200" b="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es el patrón por defecto de un agente con herramientas: razonar qué hacer, actuar con una herramienta, observar el resultado y volver a razonar con esa información. Termina cuando el modelo decide que ya puede responder, o cuando se alcanza el límite de pasos. Es exactamente el bucle que los estudiantes escriben en el Lab 1A. Ejemplo en la fábrica: el analista razona que necesita las reglas de negocio, actúa leyendo contexto/reglas_negocio.md, observa el contenido y entonces escribe los criterios.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1E8D3-D60F-DB20-EF8F-28CD916EE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425BB-7780-0066-DFF3-7A7F8F982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951FF-7BF8-3B50-4F67-F279C04AAE99}"/>
              </a:ext>
            </a:extLst>
          </p:cNvPr>
          <p:cNvSpPr>
            <a:spLocks noGrp="1"/>
          </p:cNvSpPr>
          <p:nvPr>
            <p:ph type="body" idx="1"/>
          </p:nvPr>
        </p:nvSpPr>
        <p:spPr/>
        <p:txBody>
          <a:bodyPr/>
          <a:lstStyle/>
          <a:p>
            <a:pPr rtl="0"/>
            <a:r>
              <a:rPr lang="en-US" dirty="0"/>
              <a:t>En Claude, </a:t>
            </a:r>
            <a:r>
              <a:rPr lang="en-US" dirty="0" err="1"/>
              <a:t>esto</a:t>
            </a:r>
            <a:r>
              <a:rPr lang="en-US" dirty="0"/>
              <a:t> se </a:t>
            </a:r>
            <a:r>
              <a:rPr lang="en-US" dirty="0" err="1"/>
              <a:t>resuelve</a:t>
            </a:r>
            <a:r>
              <a:rPr lang="en-US" dirty="0"/>
              <a:t> a traves del </a:t>
            </a:r>
            <a:r>
              <a:rPr lang="en-US" dirty="0" err="1"/>
              <a:t>estado</a:t>
            </a:r>
            <a:r>
              <a:rPr lang="en-US" dirty="0"/>
              <a:t> </a:t>
            </a:r>
            <a:r>
              <a:rPr lang="en-US" dirty="0" err="1"/>
              <a:t>en</a:t>
            </a:r>
            <a:r>
              <a:rPr lang="en-US" dirty="0"/>
              <a:t> </a:t>
            </a:r>
            <a:r>
              <a:rPr lang="en-US" dirty="0" err="1"/>
              <a:t>el</a:t>
            </a:r>
            <a:r>
              <a:rPr lang="en-US" dirty="0"/>
              <a:t> </a:t>
            </a:r>
            <a:r>
              <a:rPr lang="en-US" dirty="0" err="1"/>
              <a:t>que</a:t>
            </a:r>
            <a:r>
              <a:rPr lang="en-US" dirty="0"/>
              <a:t> se </a:t>
            </a:r>
            <a:r>
              <a:rPr lang="en-US" dirty="0" err="1"/>
              <a:t>encuentre</a:t>
            </a:r>
            <a:r>
              <a:rPr lang="en-US" dirty="0"/>
              <a:t> </a:t>
            </a:r>
            <a:r>
              <a:rPr lang="en-US" dirty="0" err="1"/>
              <a:t>el</a:t>
            </a:r>
            <a:r>
              <a:rPr lang="en-US" dirty="0"/>
              <a:t> </a:t>
            </a:r>
            <a:r>
              <a:rPr lang="en-US" dirty="0" err="1"/>
              <a:t>modelo</a:t>
            </a:r>
            <a:r>
              <a:rPr lang="en-US" dirty="0"/>
              <a:t>:</a:t>
            </a:r>
            <a:br>
              <a:rPr lang="en-US" dirty="0"/>
            </a:br>
            <a:br>
              <a:rPr lang="en-US" dirty="0"/>
            </a:br>
            <a:r>
              <a:rPr lang="es-MX" dirty="0"/>
              <a:t>Este diagrama muestra una vuelta del bucle ReAct. Hay dos ideas que conviene que los alumnos distingan:</a:t>
            </a:r>
          </a:p>
          <a:p>
            <a:pPr rtl="0"/>
            <a:r>
              <a:rPr lang="es-MX" b="1" dirty="0"/>
              <a:t>Los bloques</a:t>
            </a:r>
            <a:r>
              <a:rPr lang="es-MX" dirty="0"/>
              <a:t> (en morado) son lo que </a:t>
            </a:r>
            <a:r>
              <a:rPr lang="es-MX" i="1" dirty="0"/>
              <a:t>contiene</a:t>
            </a:r>
            <a:r>
              <a:rPr lang="es-MX" dirty="0"/>
              <a:t> la respuesta. En una misma respuesta pueden venir varios a la vez, como vimos en tus trazas: </a:t>
            </a:r>
            <a:r>
              <a:rPr lang="es-MX" sz="1200" kern="1200" dirty="0">
                <a:solidFill>
                  <a:schemeClr val="tx1"/>
                </a:solidFill>
                <a:latin typeface="+mn-lt"/>
                <a:ea typeface="+mn-ea"/>
                <a:cs typeface="+mn-cs"/>
              </a:rPr>
              <a:t>['thinking', 'text', 'tool_use']</a:t>
            </a:r>
            <a:r>
              <a:rPr lang="es-MX" dirty="0"/>
              <a:t>.</a:t>
            </a:r>
          </a:p>
          <a:p>
            <a:pPr rtl="0"/>
            <a:r>
              <a:rPr lang="es-MX" b="1" dirty="0"/>
              <a:t>El </a:t>
            </a:r>
            <a:r>
              <a:rPr lang="es-MX" sz="1200" b="1" kern="1200" dirty="0">
                <a:solidFill>
                  <a:schemeClr val="tx1"/>
                </a:solidFill>
                <a:latin typeface="+mn-lt"/>
                <a:ea typeface="+mn-ea"/>
                <a:cs typeface="+mn-cs"/>
              </a:rPr>
              <a:t>stop_reason</a:t>
            </a:r>
            <a:r>
              <a:rPr lang="es-MX" dirty="0"/>
              <a:t> es </a:t>
            </a:r>
            <a:r>
              <a:rPr lang="es-MX" i="1" dirty="0"/>
              <a:t>por qué se detuvo</a:t>
            </a:r>
            <a:r>
              <a:rPr lang="es-MX" dirty="0"/>
              <a:t> el modelo, y decide qué hace el bucle a continuación.</a:t>
            </a:r>
          </a:p>
          <a:p>
            <a:endParaRPr lang="en-US" dirty="0"/>
          </a:p>
        </p:txBody>
      </p:sp>
      <p:sp>
        <p:nvSpPr>
          <p:cNvPr id="4" name="Slide Number Placeholder 3">
            <a:extLst>
              <a:ext uri="{FF2B5EF4-FFF2-40B4-BE49-F238E27FC236}">
                <a16:creationId xmlns:a16="http://schemas.microsoft.com/office/drawing/2014/main" id="{D18DA117-B884-C747-C09B-A137D474434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0332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en vivo antes de mostrar el código. Pregunta: «¿cuántas vueltas dio y por qué?». Luego señalar las cuatro líneas resaltadas: el for con tope, la condición de salida (stop_reason distinto de tool_use), la ejecución de la herramienta y la observación que regresa como mensaje de usuario. Esa última es la que más se olvida: sin ella el modelo no ve lo que pasó. Puente al lab: abrir agentes/base.py y encontrar las mismas cuatro líneas; la diferencia es que ahí los errores de herramienta regresan con </a:t>
            </a:r>
            <a:r>
              <a:rPr lang="en-US" dirty="0" err="1"/>
              <a:t>is_error</a:t>
            </a:r>
            <a:r>
              <a:rPr lang="en-US" dirty="0"/>
              <a:t>.</a:t>
            </a:r>
          </a:p>
          <a:p>
            <a:endParaRPr lang="en-US" dirty="0"/>
          </a:p>
          <a:p>
            <a:r>
              <a:rPr lang="en-US" dirty="0"/>
              <a:t>IMPORTANTE: COMO ES EL PRIMERO, EXPLICAR LA ESTRUCTURA DEL REPOSITORIO, DONDE ESTÁN LOS EJERCICIOS, ETC. POR EJEMPLO EXPLICAR PARA </a:t>
            </a:r>
            <a:r>
              <a:rPr lang="en-US" dirty="0" err="1"/>
              <a:t>react.py</a:t>
            </a:r>
            <a:r>
              <a:rPr lang="en-US" dirty="0"/>
              <a:t>:</a:t>
            </a:r>
            <a:br>
              <a:rPr lang="en-US" dirty="0"/>
            </a:br>
            <a:br>
              <a:rPr lang="en-US" dirty="0"/>
            </a:br>
            <a:r>
              <a:rPr lang="en-US" dirty="0"/>
              <a:t>1) </a:t>
            </a:r>
            <a:r>
              <a:rPr lang="en-US" dirty="0" err="1"/>
              <a:t>Qué</a:t>
            </a:r>
            <a:r>
              <a:rPr lang="en-US" dirty="0"/>
              <a:t> es </a:t>
            </a:r>
            <a:r>
              <a:rPr lang="en-US" dirty="0" err="1"/>
              <a:t>comun.py</a:t>
            </a:r>
            <a:r>
              <a:rPr lang="en-US" dirty="0"/>
              <a:t> y </a:t>
            </a:r>
            <a:r>
              <a:rPr lang="en-US" dirty="0" err="1"/>
              <a:t>cuales</a:t>
            </a:r>
            <a:r>
              <a:rPr lang="en-US" dirty="0"/>
              <a:t> son </a:t>
            </a:r>
            <a:r>
              <a:rPr lang="en-US" dirty="0" err="1"/>
              <a:t>los</a:t>
            </a:r>
            <a:r>
              <a:rPr lang="en-US" dirty="0"/>
              <a:t> </a:t>
            </a:r>
            <a:r>
              <a:rPr lang="en-US" dirty="0" err="1"/>
              <a:t>principales</a:t>
            </a:r>
            <a:r>
              <a:rPr lang="en-US" dirty="0"/>
              <a:t> </a:t>
            </a:r>
            <a:r>
              <a:rPr lang="en-US" dirty="0" err="1"/>
              <a:t>atributos</a:t>
            </a:r>
            <a:r>
              <a:rPr lang="en-US" dirty="0"/>
              <a:t> y </a:t>
            </a:r>
            <a:r>
              <a:rPr lang="en-US" dirty="0" err="1"/>
              <a:t>funciones</a:t>
            </a:r>
            <a:r>
              <a:rPr lang="en-US" dirty="0"/>
              <a:t>. </a:t>
            </a:r>
          </a:p>
          <a:p>
            <a:endParaRPr lang="en-US" dirty="0"/>
          </a:p>
          <a:p>
            <a:r>
              <a:rPr lang="en-US" dirty="0"/>
              <a:t>2) </a:t>
            </a:r>
            <a:r>
              <a:rPr lang="en-US" dirty="0" err="1"/>
              <a:t>Explicar</a:t>
            </a:r>
            <a:r>
              <a:rPr lang="en-US" dirty="0"/>
              <a:t> </a:t>
            </a:r>
            <a:r>
              <a:rPr lang="en-US" dirty="0" err="1"/>
              <a:t>een</a:t>
            </a:r>
            <a:r>
              <a:rPr lang="en-US" dirty="0"/>
              <a:t> </a:t>
            </a:r>
            <a:r>
              <a:rPr lang="en-US" dirty="0" err="1"/>
              <a:t>el</a:t>
            </a:r>
            <a:r>
              <a:rPr lang="en-US" dirty="0"/>
              <a:t> paso a paso, </a:t>
            </a:r>
            <a:r>
              <a:rPr lang="en-US" dirty="0" err="1"/>
              <a:t>como</a:t>
            </a:r>
            <a:r>
              <a:rPr lang="en-US" dirty="0"/>
              <a:t> </a:t>
            </a:r>
            <a:r>
              <a:rPr lang="en-US" dirty="0" err="1"/>
              <a:t>funciona</a:t>
            </a:r>
            <a:r>
              <a:rPr lang="en-US" dirty="0"/>
              <a:t> lo </a:t>
            </a:r>
            <a:r>
              <a:rPr lang="en-US" dirty="0" err="1"/>
              <a:t>que</a:t>
            </a:r>
            <a:r>
              <a:rPr lang="en-US" dirty="0"/>
              <a:t> </a:t>
            </a:r>
            <a:r>
              <a:rPr lang="en-US" dirty="0" err="1"/>
              <a:t>regresa</a:t>
            </a:r>
            <a:r>
              <a:rPr lang="en-US" dirty="0"/>
              <a:t> </a:t>
            </a:r>
            <a:r>
              <a:rPr lang="en-US" dirty="0" err="1"/>
              <a:t>el</a:t>
            </a:r>
            <a:r>
              <a:rPr lang="en-US" dirty="0"/>
              <a:t> </a:t>
            </a:r>
            <a:r>
              <a:rPr lang="en-US" dirty="0" err="1"/>
              <a:t>modelo</a:t>
            </a:r>
            <a:r>
              <a:rPr lang="en-US" dirty="0"/>
              <a:t>, y </a:t>
            </a:r>
            <a:r>
              <a:rPr lang="en-US" dirty="0" err="1"/>
              <a:t>como</a:t>
            </a:r>
            <a:r>
              <a:rPr lang="en-US" dirty="0"/>
              <a:t> decide </a:t>
            </a:r>
            <a:r>
              <a:rPr lang="en-US" dirty="0" err="1"/>
              <a:t>que</a:t>
            </a:r>
            <a:r>
              <a:rPr lang="en-US" dirty="0"/>
              <a:t> para. IMPORTANTE: </a:t>
            </a:r>
            <a:r>
              <a:rPr lang="en-US" dirty="0" err="1"/>
              <a:t>poner</a:t>
            </a:r>
            <a:r>
              <a:rPr lang="en-US" dirty="0"/>
              <a:t> un try/</a:t>
            </a:r>
            <a:r>
              <a:rPr lang="en-US" dirty="0" err="1"/>
              <a:t>excepcion</a:t>
            </a:r>
            <a:r>
              <a:rPr lang="en-US" dirty="0"/>
              <a:t> para </a:t>
            </a:r>
            <a:r>
              <a:rPr lang="en-US" dirty="0" err="1"/>
              <a:t>asegurarnos</a:t>
            </a:r>
            <a:r>
              <a:rPr lang="en-US" dirty="0"/>
              <a:t> de </a:t>
            </a:r>
            <a:r>
              <a:rPr lang="en-US" dirty="0" err="1"/>
              <a:t>manejar</a:t>
            </a:r>
            <a:r>
              <a:rPr lang="en-US" dirty="0"/>
              <a:t> </a:t>
            </a:r>
            <a:r>
              <a:rPr lang="en-US" dirty="0" err="1"/>
              <a:t>cualquier</a:t>
            </a:r>
            <a:r>
              <a:rPr lang="en-US" dirty="0"/>
              <a:t> </a:t>
            </a:r>
            <a:r>
              <a:rPr lang="en-US" dirty="0" err="1"/>
              <a:t>problema</a:t>
            </a:r>
            <a:r>
              <a:rPr lang="en-US" dirty="0"/>
              <a:t> </a:t>
            </a:r>
            <a:r>
              <a:rPr lang="en-US" dirty="0" err="1"/>
              <a:t>en</a:t>
            </a:r>
            <a:r>
              <a:rPr lang="en-US" dirty="0"/>
              <a:t> </a:t>
            </a:r>
            <a:r>
              <a:rPr lang="en-US" dirty="0" err="1"/>
              <a:t>ejecución</a:t>
            </a:r>
            <a:r>
              <a:rPr lang="en-US" dirty="0"/>
              <a:t> de </a:t>
            </a:r>
            <a:r>
              <a:rPr lang="en-US" dirty="0" err="1"/>
              <a:t>una</a:t>
            </a:r>
            <a:r>
              <a:rPr lang="en-US" dirty="0"/>
              <a:t> </a:t>
            </a:r>
            <a:r>
              <a:rPr lang="en-US" dirty="0" err="1"/>
              <a:t>herramienta</a:t>
            </a:r>
            <a:r>
              <a:rPr lang="en-US" dirty="0"/>
              <a:t>. </a:t>
            </a:r>
            <a:r>
              <a:rPr lang="en-US" dirty="0" err="1"/>
              <a:t>Imagínate</a:t>
            </a:r>
            <a:r>
              <a:rPr lang="en-US" dirty="0"/>
              <a:t> </a:t>
            </a:r>
            <a:r>
              <a:rPr lang="en-US" dirty="0" err="1"/>
              <a:t>que</a:t>
            </a:r>
            <a:r>
              <a:rPr lang="en-US" dirty="0"/>
              <a:t> </a:t>
            </a:r>
            <a:r>
              <a:rPr lang="en-US" dirty="0" err="1"/>
              <a:t>viene</a:t>
            </a:r>
            <a:r>
              <a:rPr lang="en-US" dirty="0"/>
              <a:t> </a:t>
            </a:r>
            <a:r>
              <a:rPr lang="en-US" dirty="0" err="1"/>
              <a:t>malformado</a:t>
            </a:r>
            <a:r>
              <a:rPr lang="en-US" dirty="0"/>
              <a:t> </a:t>
            </a:r>
            <a:r>
              <a:rPr lang="en-US" dirty="0" err="1"/>
              <a:t>el</a:t>
            </a:r>
            <a:r>
              <a:rPr lang="en-US" dirty="0"/>
              <a:t> </a:t>
            </a:r>
            <a:r>
              <a:rPr lang="en-US" dirty="0" err="1"/>
              <a:t>contrato</a:t>
            </a:r>
            <a:r>
              <a:rPr lang="en-US" dirty="0"/>
              <a:t>, se </a:t>
            </a:r>
            <a:r>
              <a:rPr lang="en-US" dirty="0" err="1"/>
              <a:t>debe</a:t>
            </a:r>
            <a:r>
              <a:rPr lang="en-US" dirty="0"/>
              <a:t> capturer </a:t>
            </a:r>
            <a:r>
              <a:rPr lang="en-US" dirty="0" err="1"/>
              <a:t>el</a:t>
            </a:r>
            <a:r>
              <a:rPr lang="en-US" dirty="0"/>
              <a:t> error.  El error también es </a:t>
            </a:r>
            <a:r>
              <a:rPr lang="en-US" dirty="0" err="1"/>
              <a:t>una</a:t>
            </a:r>
            <a:r>
              <a:rPr lang="en-US" dirty="0"/>
              <a:t> </a:t>
            </a:r>
            <a:r>
              <a:rPr lang="en-US" dirty="0" err="1"/>
              <a:t>observación</a:t>
            </a:r>
            <a:r>
              <a:rPr lang="en-US" dirty="0"/>
              <a:t>.  De lo </a:t>
            </a:r>
            <a:r>
              <a:rPr lang="en-US" dirty="0" err="1"/>
              <a:t>contrario</a:t>
            </a:r>
            <a:r>
              <a:rPr lang="en-US" dirty="0"/>
              <a:t> termina la </a:t>
            </a:r>
            <a:r>
              <a:rPr lang="en-US" dirty="0" err="1"/>
              <a:t>ejecución</a:t>
            </a:r>
            <a:r>
              <a:rPr lang="en-US" dirty="0"/>
              <a:t> del </a:t>
            </a:r>
            <a:r>
              <a:rPr lang="en-US" dirty="0" err="1"/>
              <a:t>programa</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el diagrama y el código. Ejecuta el ejemplo y responde «no» la primera vez.</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FOCO: </a:t>
            </a:r>
            <a:r>
              <a:rPr lang="en-US" dirty="0" err="1"/>
              <a:t>Explicar</a:t>
            </a:r>
            <a:r>
              <a:rPr lang="en-US" dirty="0"/>
              <a:t> </a:t>
            </a:r>
            <a:r>
              <a:rPr lang="en-US" dirty="0" err="1"/>
              <a:t>que</a:t>
            </a:r>
            <a:r>
              <a:rPr lang="en-US" dirty="0"/>
              <a:t> Plan-and-Execute </a:t>
            </a:r>
            <a:r>
              <a:rPr lang="en-US" dirty="0" err="1"/>
              <a:t>resuelve</a:t>
            </a:r>
            <a:r>
              <a:rPr lang="en-US" dirty="0"/>
              <a:t> un </a:t>
            </a:r>
            <a:r>
              <a:rPr lang="en-US" dirty="0" err="1"/>
              <a:t>problema</a:t>
            </a:r>
            <a:r>
              <a:rPr lang="en-US" dirty="0"/>
              <a:t> de </a:t>
            </a:r>
            <a:r>
              <a:rPr lang="en-US" dirty="0" err="1"/>
              <a:t>ReAct</a:t>
            </a:r>
            <a:r>
              <a:rPr lang="en-US" dirty="0"/>
              <a:t>, </a:t>
            </a:r>
            <a:r>
              <a:rPr lang="en-US" dirty="0" err="1"/>
              <a:t>el</a:t>
            </a:r>
            <a:r>
              <a:rPr lang="en-US" dirty="0"/>
              <a:t> </a:t>
            </a:r>
            <a:r>
              <a:rPr lang="en-US" dirty="0" err="1"/>
              <a:t>modelo</a:t>
            </a:r>
            <a:r>
              <a:rPr lang="en-US" dirty="0"/>
              <a:t> </a:t>
            </a:r>
            <a:r>
              <a:rPr lang="en-US" dirty="0" err="1"/>
              <a:t>toma</a:t>
            </a:r>
            <a:r>
              <a:rPr lang="en-US" dirty="0"/>
              <a:t> </a:t>
            </a:r>
            <a:r>
              <a:rPr lang="en-US" dirty="0" err="1"/>
              <a:t>todas</a:t>
            </a:r>
            <a:r>
              <a:rPr lang="en-US" dirty="0"/>
              <a:t> las decisions sin supervision </a:t>
            </a:r>
          </a:p>
          <a:p>
            <a:endParaRPr lang="en-US" dirty="0"/>
          </a:p>
          <a:p>
            <a:r>
              <a:rPr lang="en-US" dirty="0"/>
              <a:t>3 minutos, antes del diagrama. Contrastar con ReAct, que acabamos de ver: en ReAct el modelo decide el siguiente paso en cada vuelta y nadie conoce el camino completo hasta el final. Plan-and-Execute separa dos papeles: un planificador que escribe toda la lista de pasos de una vez, y un ejecutor que los recorre en orden, cada uno con el resultado de los anteriores. Ventajas: el plan se puede revisar y aprobar antes de gastar, el costo es más predecible y el ejecutor puede ser un modelo más barato. Riesgo: si el mundo cambia a mitad del camino, el plan queda viejo; por eso existe la variante que replanifica cuando un paso falla. Pregunta para el grupo: ¿qué tarea de su trabajo conviene planificar completa antes de empezar, y cuál conviene improvisar?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Plan-and-Execute separa pensar el qué de hacerlo. Un planificador escribe el plan completo, por ejemplo modelo de datos, endpoints y pantallas; un ejecutor lo cumple paso a paso. Si un paso falla, se vuelve a planificar con lo aprendido. La ventaja principal es que el plan se puede revisar antes de gastar en ejecutarlo. En la sesión 2, el agente desarrollador primero planifica con herramientas de solo lectura, una persona aprueba o comenta el plan, y solo entonces construye. Es lo mismo que hace el modo plan de Claude Code.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y, cuando pregunte, responder «no» la primera vez: el programa termina sin gastar en la fase 2. Ese es el valor del patrón. Señalar tool_choice: forzar una herramienta es la forma clásica de obtener salida estructurada con el SDK de Anthropic; el esquema sale de Pydantic. Puente: en la sesión 2 la aprobación ya no es input(), sino interrupt() de LangGraph, que permite pausar y reanudar el flujo.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2 del módulo: el contrato, los tres niveles de validación y la reflexión con tope.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E9CE0-C8AA-BF3A-C347-B8AB35B08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54639-E3BA-60BE-8448-AA90180E1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09ED76-5049-5EF7-1113-5DA3C6F7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a:t>
            </a:r>
            <a:r>
              <a:rPr lang="en-US" dirty="0" err="1"/>
              <a:t>minutos</a:t>
            </a:r>
            <a:r>
              <a:rPr lang="en-US" dirty="0"/>
              <a:t> </a:t>
            </a:r>
            <a:r>
              <a:rPr lang="en-US" sz="1200" dirty="0">
                <a:solidFill>
                  <a:srgbClr val="585E6F"/>
                </a:solidFill>
                <a:latin typeface="Arial" pitchFamily="34" charset="0"/>
                <a:ea typeface="Arial" pitchFamily="34" charset="-122"/>
                <a:cs typeface="Arial" pitchFamily="34" charset="-120"/>
              </a:rPr>
              <a:t>Un </a:t>
            </a:r>
            <a:r>
              <a:rPr lang="en-US" sz="1200" dirty="0" err="1">
                <a:solidFill>
                  <a:srgbClr val="585E6F"/>
                </a:solidFill>
                <a:latin typeface="Arial" pitchFamily="34" charset="0"/>
                <a:ea typeface="Arial" pitchFamily="34" charset="-122"/>
                <a:cs typeface="Arial" pitchFamily="34" charset="-120"/>
              </a:rPr>
              <a:t>agente</a:t>
            </a:r>
            <a:r>
              <a:rPr lang="en-US" sz="1200" dirty="0">
                <a:solidFill>
                  <a:srgbClr val="585E6F"/>
                </a:solidFill>
                <a:latin typeface="Arial" pitchFamily="34" charset="0"/>
                <a:ea typeface="Arial" pitchFamily="34" charset="-122"/>
                <a:cs typeface="Arial" pitchFamily="34" charset="-120"/>
              </a:rPr>
              <a:t> de IA </a:t>
            </a:r>
            <a:r>
              <a:rPr lang="en-US" sz="1200" dirty="0" err="1">
                <a:solidFill>
                  <a:srgbClr val="585E6F"/>
                </a:solidFill>
                <a:latin typeface="Arial" pitchFamily="34" charset="0"/>
                <a:ea typeface="Arial" pitchFamily="34" charset="-122"/>
                <a:cs typeface="Arial" pitchFamily="34" charset="-120"/>
              </a:rPr>
              <a:t>recibe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instrucción</a:t>
            </a:r>
            <a:r>
              <a:rPr lang="en-US" sz="1200" dirty="0">
                <a:solidFill>
                  <a:srgbClr val="585E6F"/>
                </a:solidFill>
                <a:latin typeface="Arial" pitchFamily="34" charset="0"/>
                <a:ea typeface="Arial" pitchFamily="34" charset="-122"/>
                <a:cs typeface="Arial" pitchFamily="34" charset="-120"/>
              </a:rPr>
              <a:t>: e.g. </a:t>
            </a:r>
            <a:r>
              <a:rPr lang="en-US" sz="1200" dirty="0" err="1">
                <a:solidFill>
                  <a:srgbClr val="585E6F"/>
                </a:solidFill>
                <a:latin typeface="Arial" pitchFamily="34" charset="0"/>
                <a:ea typeface="Arial" pitchFamily="34" charset="-122"/>
                <a:cs typeface="Arial" pitchFamily="34" charset="-120"/>
              </a:rPr>
              <a:t>dar</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empleada</a:t>
            </a:r>
            <a:r>
              <a:rPr lang="en-US" sz="1200" dirty="0">
                <a:solidFill>
                  <a:srgbClr val="585E6F"/>
                </a:solidFill>
                <a:latin typeface="Arial" pitchFamily="34" charset="0"/>
                <a:ea typeface="Arial" pitchFamily="34" charset="-122"/>
                <a:cs typeface="Arial" pitchFamily="34" charset="-120"/>
              </a:rPr>
              <a:t>: “da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Ana </a:t>
            </a:r>
            <a:r>
              <a:rPr lang="en-US" sz="1200" dirty="0" err="1">
                <a:solidFill>
                  <a:srgbClr val="585E6F"/>
                </a:solidFill>
                <a:latin typeface="Arial" pitchFamily="34" charset="0"/>
                <a:ea typeface="Arial" pitchFamily="34" charset="-122"/>
                <a:cs typeface="Arial" pitchFamily="34" charset="-120"/>
              </a:rPr>
              <a:t>entró</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en</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marzo</a:t>
            </a:r>
            <a:r>
              <a:rPr lang="en-US" sz="1200" dirty="0">
                <a:solidFill>
                  <a:srgbClr val="585E6F"/>
                </a:solidFill>
                <a:latin typeface="Arial" pitchFamily="34" charset="0"/>
                <a:ea typeface="Arial" pitchFamily="34" charset="-122"/>
                <a:cs typeface="Arial" pitchFamily="34" charset="-120"/>
              </a:rPr>
              <a:t>”. Pero </a:t>
            </a:r>
            <a:r>
              <a:rPr lang="en-US" sz="1200" dirty="0" err="1">
                <a:solidFill>
                  <a:srgbClr val="585E6F"/>
                </a:solidFill>
                <a:latin typeface="Arial" pitchFamily="34" charset="0"/>
                <a:ea typeface="Arial" pitchFamily="34" charset="-122"/>
                <a:cs typeface="Arial" pitchFamily="34" charset="-120"/>
              </a:rPr>
              <a:t>existe</a:t>
            </a:r>
            <a:r>
              <a:rPr lang="en-US" sz="1200" dirty="0">
                <a:solidFill>
                  <a:srgbClr val="585E6F"/>
                </a:solidFill>
                <a:latin typeface="Arial" pitchFamily="34" charset="0"/>
                <a:ea typeface="Arial" pitchFamily="34" charset="-122"/>
                <a:cs typeface="Arial" pitchFamily="34" charset="-120"/>
              </a:rPr>
              <a:t> un API con un </a:t>
            </a:r>
            <a:r>
              <a:rPr lang="en-US" sz="1200" dirty="0" err="1">
                <a:solidFill>
                  <a:srgbClr val="585E6F"/>
                </a:solidFill>
                <a:latin typeface="Arial" pitchFamily="34" charset="0"/>
                <a:ea typeface="Arial" pitchFamily="34" charset="-122"/>
                <a:cs typeface="Arial" pitchFamily="34" charset="-120"/>
              </a:rPr>
              <a:t>contrato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definido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que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necesita</a:t>
            </a:r>
            <a:r>
              <a:rPr lang="en-US" sz="1200"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datos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exactos</a:t>
            </a:r>
            <a:r>
              <a:rPr lang="en-US" sz="1200" b="1" dirty="0">
                <a:solidFill>
                  <a:srgbClr val="585E6F"/>
                </a:solidFill>
                <a:latin typeface="Arial" pitchFamily="34" charset="0"/>
                <a:ea typeface="Arial" pitchFamily="34" charset="-122"/>
                <a:cs typeface="Arial" pitchFamily="34" charset="-120"/>
              </a:rPr>
              <a:t> y </a:t>
            </a:r>
            <a:r>
              <a:rPr lang="en-US" sz="1200" b="1" dirty="0" err="1">
                <a:solidFill>
                  <a:srgbClr val="585E6F"/>
                </a:solidFill>
                <a:latin typeface="Arial" pitchFamily="34" charset="0"/>
                <a:ea typeface="Arial" pitchFamily="34" charset="-122"/>
                <a:cs typeface="Arial" pitchFamily="34" charset="-120"/>
              </a:rPr>
              <a:t>estructurados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conforme</a:t>
            </a:r>
            <a:r>
              <a:rPr lang="en-US" sz="1200" b="1" dirty="0">
                <a:solidFill>
                  <a:srgbClr val="585E6F"/>
                </a:solidFill>
                <a:latin typeface="Arial" pitchFamily="34" charset="0"/>
                <a:ea typeface="Arial" pitchFamily="34" charset="-122"/>
                <a:cs typeface="Arial" pitchFamily="34" charset="-120"/>
              </a:rPr>
              <a:t> a un </a:t>
            </a:r>
            <a:r>
              <a:rPr lang="en-US" sz="1200" b="1" dirty="0" err="1">
                <a:solidFill>
                  <a:srgbClr val="585E6F"/>
                </a:solidFill>
                <a:latin typeface="Arial" pitchFamily="34" charset="0"/>
                <a:ea typeface="Arial" pitchFamily="34" charset="-122"/>
                <a:cs typeface="Arial" pitchFamily="34" charset="-120"/>
              </a:rPr>
              <a:t>contrato</a:t>
            </a:r>
            <a:r>
              <a:rPr lang="en-US" sz="1200" b="1" dirty="0">
                <a:solidFill>
                  <a:srgbClr val="585E6F"/>
                </a:solidFill>
                <a:latin typeface="Arial" pitchFamily="34" charset="0"/>
                <a:ea typeface="Arial" pitchFamily="34" charset="-122"/>
                <a:cs typeface="Arial" pitchFamily="34" charset="-120"/>
              </a:rPr>
              <a:t>. </a:t>
            </a:r>
            <a:r>
              <a:rPr lang="en-US" sz="1200" dirty="0">
                <a:solidFill>
                  <a:srgbClr val="585E6F"/>
                </a:solidFill>
                <a:latin typeface="Arial" pitchFamily="34" charset="0"/>
                <a:ea typeface="Arial" pitchFamily="34" charset="-122"/>
                <a:cs typeface="Arial" pitchFamily="34" charset="-120"/>
              </a:rPr>
              <a:t>Este patron </a:t>
            </a:r>
            <a:r>
              <a:rPr lang="en-US" sz="1200" dirty="0" err="1">
                <a:solidFill>
                  <a:srgbClr val="585E6F"/>
                </a:solidFill>
                <a:latin typeface="Arial" pitchFamily="34" charset="0"/>
                <a:ea typeface="Arial" pitchFamily="34" charset="-122"/>
                <a:cs typeface="Arial" pitchFamily="34" charset="-120"/>
              </a:rPr>
              <a:t>resuelte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el</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problema</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conectar</a:t>
            </a:r>
            <a:r>
              <a:rPr lang="en-US" sz="1200" dirty="0">
                <a:solidFill>
                  <a:srgbClr val="585E6F"/>
                </a:solidFill>
                <a:latin typeface="Arial" pitchFamily="34" charset="0"/>
                <a:ea typeface="Arial" pitchFamily="34" charset="-122"/>
                <a:cs typeface="Arial" pitchFamily="34" charset="-120"/>
              </a:rPr>
              <a:t> ambos </a:t>
            </a:r>
            <a:r>
              <a:rPr lang="en-US" sz="1200" dirty="0" err="1">
                <a:solidFill>
                  <a:srgbClr val="585E6F"/>
                </a:solidFill>
                <a:latin typeface="Arial" pitchFamily="34" charset="0"/>
                <a:ea typeface="Arial" pitchFamily="34" charset="-122"/>
                <a:cs typeface="Arial" pitchFamily="34" charset="-120"/>
              </a:rPr>
              <a:t>mundos</a:t>
            </a:r>
            <a:r>
              <a:rPr lang="en-US" sz="1200" dirty="0">
                <a:solidFill>
                  <a:srgbClr val="585E6F"/>
                </a:solidFill>
                <a:latin typeface="Arial" pitchFamily="34" charset="0"/>
                <a:ea typeface="Arial" pitchFamily="34" charset="-122"/>
                <a:cs typeface="Arial" pitchFamily="34" charset="-120"/>
              </a:rPr>
              <a:t>: </a:t>
            </a:r>
          </a:p>
          <a:p>
            <a:pPr marL="171450" indent="-171450" rtl="0">
              <a:buFont typeface="Arial" panose="020B0604020202020204" pitchFamily="34" charset="0"/>
              <a:buChar char="•"/>
            </a:pPr>
            <a:r>
              <a:rPr lang="es-MX" b="1" dirty="0"/>
              <a:t>El LLM</a:t>
            </a:r>
            <a:r>
              <a:rPr lang="es-MX" dirty="0"/>
              <a:t> entiende el texto libre y extrae los datos.</a:t>
            </a:r>
          </a:p>
          <a:p>
            <a:pPr marL="171450" indent="-171450" rtl="0">
              <a:buFont typeface="Arial" panose="020B0604020202020204" pitchFamily="34" charset="0"/>
              <a:buChar char="•"/>
            </a:pPr>
            <a:r>
              <a:rPr lang="es-MX" b="1" dirty="0"/>
              <a:t>El código</a:t>
            </a:r>
            <a:r>
              <a:rPr lang="es-MX" dirty="0"/>
              <a:t> comprueba que lo extraído sea correcto antes de usarlo.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85E6F"/>
              </a:solidFill>
              <a:latin typeface="Arial" pitchFamily="34" charset="0"/>
              <a:ea typeface="Arial" pitchFamily="34" charset="-122"/>
              <a:cs typeface="Arial" pitchFamily="34" charset="-120"/>
            </a:endParaRPr>
          </a:p>
          <a:p>
            <a:r>
              <a:rPr lang="en-US" dirty="0"/>
              <a:t>. </a:t>
            </a:r>
          </a:p>
          <a:p>
            <a:r>
              <a:rPr lang="en-US" dirty="0"/>
              <a:t>Este es el principio que guía todo el módulo: cada agente termina en una verificación hecha por código. Los artefactos tienen formato fijo porque son el contrato entre agentes: el diseñador lee el Gherkin del analista, y el automatizador de la sesión 3 leerá el JSON del diseñador. El validador no es otro modelo: son reglas verificables, como que cada escenario tenga Dado, Cuando y Entonces, o que cada escenario tenga al menos un caso. Si falla, los problemas regresan al agente; eso es el patrón de reflexión, con un límite de intentos.</a:t>
            </a:r>
          </a:p>
        </p:txBody>
      </p:sp>
      <p:sp>
        <p:nvSpPr>
          <p:cNvPr id="4" name="Slide Number Placeholder 3">
            <a:extLst>
              <a:ext uri="{FF2B5EF4-FFF2-40B4-BE49-F238E27FC236}">
                <a16:creationId xmlns:a16="http://schemas.microsoft.com/office/drawing/2014/main" id="{F5BF3AC3-93B9-1851-06C7-BDFF6821869E}"/>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7733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a:t>
            </a:r>
            <a:r>
              <a:rPr lang="en-US" dirty="0" err="1"/>
              <a:t>minutos</a:t>
            </a:r>
            <a:r>
              <a:rPr lang="en-US" dirty="0"/>
              <a:t> </a:t>
            </a:r>
            <a:r>
              <a:rPr lang="en-US" sz="1200" dirty="0">
                <a:solidFill>
                  <a:srgbClr val="585E6F"/>
                </a:solidFill>
                <a:latin typeface="Arial" pitchFamily="34" charset="0"/>
                <a:ea typeface="Arial" pitchFamily="34" charset="-122"/>
                <a:cs typeface="Arial" pitchFamily="34" charset="-120"/>
              </a:rPr>
              <a:t>Un </a:t>
            </a:r>
            <a:r>
              <a:rPr lang="en-US" sz="1200" dirty="0" err="1">
                <a:solidFill>
                  <a:srgbClr val="585E6F"/>
                </a:solidFill>
                <a:latin typeface="Arial" pitchFamily="34" charset="0"/>
                <a:ea typeface="Arial" pitchFamily="34" charset="-122"/>
                <a:cs typeface="Arial" pitchFamily="34" charset="-120"/>
              </a:rPr>
              <a:t>agente</a:t>
            </a:r>
            <a:r>
              <a:rPr lang="en-US" sz="1200" dirty="0">
                <a:solidFill>
                  <a:srgbClr val="585E6F"/>
                </a:solidFill>
                <a:latin typeface="Arial" pitchFamily="34" charset="0"/>
                <a:ea typeface="Arial" pitchFamily="34" charset="-122"/>
                <a:cs typeface="Arial" pitchFamily="34" charset="-120"/>
              </a:rPr>
              <a:t> de IA </a:t>
            </a:r>
            <a:r>
              <a:rPr lang="en-US" sz="1200" dirty="0" err="1">
                <a:solidFill>
                  <a:srgbClr val="585E6F"/>
                </a:solidFill>
                <a:latin typeface="Arial" pitchFamily="34" charset="0"/>
                <a:ea typeface="Arial" pitchFamily="34" charset="-122"/>
                <a:cs typeface="Arial" pitchFamily="34" charset="-120"/>
              </a:rPr>
              <a:t>recibe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instrucción</a:t>
            </a:r>
            <a:r>
              <a:rPr lang="en-US" sz="1200" dirty="0">
                <a:solidFill>
                  <a:srgbClr val="585E6F"/>
                </a:solidFill>
                <a:latin typeface="Arial" pitchFamily="34" charset="0"/>
                <a:ea typeface="Arial" pitchFamily="34" charset="-122"/>
                <a:cs typeface="Arial" pitchFamily="34" charset="-120"/>
              </a:rPr>
              <a:t>: e.g. </a:t>
            </a:r>
            <a:r>
              <a:rPr lang="en-US" sz="1200" dirty="0" err="1">
                <a:solidFill>
                  <a:srgbClr val="585E6F"/>
                </a:solidFill>
                <a:latin typeface="Arial" pitchFamily="34" charset="0"/>
                <a:ea typeface="Arial" pitchFamily="34" charset="-122"/>
                <a:cs typeface="Arial" pitchFamily="34" charset="-120"/>
              </a:rPr>
              <a:t>dar</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empleada</a:t>
            </a:r>
            <a:r>
              <a:rPr lang="en-US" sz="1200" dirty="0">
                <a:solidFill>
                  <a:srgbClr val="585E6F"/>
                </a:solidFill>
                <a:latin typeface="Arial" pitchFamily="34" charset="0"/>
                <a:ea typeface="Arial" pitchFamily="34" charset="-122"/>
                <a:cs typeface="Arial" pitchFamily="34" charset="-120"/>
              </a:rPr>
              <a:t>: “da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Ana </a:t>
            </a:r>
            <a:r>
              <a:rPr lang="en-US" sz="1200" dirty="0" err="1">
                <a:solidFill>
                  <a:srgbClr val="585E6F"/>
                </a:solidFill>
                <a:latin typeface="Arial" pitchFamily="34" charset="0"/>
                <a:ea typeface="Arial" pitchFamily="34" charset="-122"/>
                <a:cs typeface="Arial" pitchFamily="34" charset="-120"/>
              </a:rPr>
              <a:t>entró</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en</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marzo</a:t>
            </a:r>
            <a:r>
              <a:rPr lang="en-US" sz="1200" dirty="0">
                <a:solidFill>
                  <a:srgbClr val="585E6F"/>
                </a:solidFill>
                <a:latin typeface="Arial" pitchFamily="34" charset="0"/>
                <a:ea typeface="Arial" pitchFamily="34" charset="-122"/>
                <a:cs typeface="Arial" pitchFamily="34" charset="-120"/>
              </a:rPr>
              <a:t>”. Pero </a:t>
            </a:r>
            <a:r>
              <a:rPr lang="en-US" sz="1200" dirty="0" err="1">
                <a:solidFill>
                  <a:srgbClr val="585E6F"/>
                </a:solidFill>
                <a:latin typeface="Arial" pitchFamily="34" charset="0"/>
                <a:ea typeface="Arial" pitchFamily="34" charset="-122"/>
                <a:cs typeface="Arial" pitchFamily="34" charset="-120"/>
              </a:rPr>
              <a:t>existe</a:t>
            </a:r>
            <a:r>
              <a:rPr lang="en-US" sz="1200" dirty="0">
                <a:solidFill>
                  <a:srgbClr val="585E6F"/>
                </a:solidFill>
                <a:latin typeface="Arial" pitchFamily="34" charset="0"/>
                <a:ea typeface="Arial" pitchFamily="34" charset="-122"/>
                <a:cs typeface="Arial" pitchFamily="34" charset="-120"/>
              </a:rPr>
              <a:t> un API con un </a:t>
            </a:r>
            <a:r>
              <a:rPr lang="en-US" sz="1200" dirty="0" err="1">
                <a:solidFill>
                  <a:srgbClr val="585E6F"/>
                </a:solidFill>
                <a:latin typeface="Arial" pitchFamily="34" charset="0"/>
                <a:ea typeface="Arial" pitchFamily="34" charset="-122"/>
                <a:cs typeface="Arial" pitchFamily="34" charset="-120"/>
              </a:rPr>
              <a:t>contrato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definido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que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necesita</a:t>
            </a:r>
            <a:r>
              <a:rPr lang="en-US" sz="1200"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datos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exactos</a:t>
            </a:r>
            <a:r>
              <a:rPr lang="en-US" sz="1200" b="1" dirty="0">
                <a:solidFill>
                  <a:srgbClr val="585E6F"/>
                </a:solidFill>
                <a:latin typeface="Arial" pitchFamily="34" charset="0"/>
                <a:ea typeface="Arial" pitchFamily="34" charset="-122"/>
                <a:cs typeface="Arial" pitchFamily="34" charset="-120"/>
              </a:rPr>
              <a:t> y </a:t>
            </a:r>
            <a:r>
              <a:rPr lang="en-US" sz="1200" b="1" dirty="0" err="1">
                <a:solidFill>
                  <a:srgbClr val="585E6F"/>
                </a:solidFill>
                <a:latin typeface="Arial" pitchFamily="34" charset="0"/>
                <a:ea typeface="Arial" pitchFamily="34" charset="-122"/>
                <a:cs typeface="Arial" pitchFamily="34" charset="-120"/>
              </a:rPr>
              <a:t>estructurados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conforme</a:t>
            </a:r>
            <a:r>
              <a:rPr lang="en-US" sz="1200" b="1" dirty="0">
                <a:solidFill>
                  <a:srgbClr val="585E6F"/>
                </a:solidFill>
                <a:latin typeface="Arial" pitchFamily="34" charset="0"/>
                <a:ea typeface="Arial" pitchFamily="34" charset="-122"/>
                <a:cs typeface="Arial" pitchFamily="34" charset="-120"/>
              </a:rPr>
              <a:t> a un </a:t>
            </a:r>
            <a:r>
              <a:rPr lang="en-US" sz="1200" b="1" dirty="0" err="1">
                <a:solidFill>
                  <a:srgbClr val="585E6F"/>
                </a:solidFill>
                <a:latin typeface="Arial" pitchFamily="34" charset="0"/>
                <a:ea typeface="Arial" pitchFamily="34" charset="-122"/>
                <a:cs typeface="Arial" pitchFamily="34" charset="-120"/>
              </a:rPr>
              <a:t>contrato</a:t>
            </a:r>
            <a:r>
              <a:rPr lang="en-US" sz="1200" b="1" dirty="0">
                <a:solidFill>
                  <a:srgbClr val="585E6F"/>
                </a:solidFill>
                <a:latin typeface="Arial" pitchFamily="34" charset="0"/>
                <a:ea typeface="Arial" pitchFamily="34" charset="-122"/>
                <a:cs typeface="Arial" pitchFamily="34" charset="-120"/>
              </a:rPr>
              <a:t>. </a:t>
            </a:r>
            <a:r>
              <a:rPr lang="en-US" sz="1200" dirty="0">
                <a:solidFill>
                  <a:srgbClr val="585E6F"/>
                </a:solidFill>
                <a:latin typeface="Arial" pitchFamily="34" charset="0"/>
                <a:ea typeface="Arial" pitchFamily="34" charset="-122"/>
                <a:cs typeface="Arial" pitchFamily="34" charset="-120"/>
              </a:rPr>
              <a:t>Este patron </a:t>
            </a:r>
            <a:r>
              <a:rPr lang="en-US" sz="1200" dirty="0" err="1">
                <a:solidFill>
                  <a:srgbClr val="585E6F"/>
                </a:solidFill>
                <a:latin typeface="Arial" pitchFamily="34" charset="0"/>
                <a:ea typeface="Arial" pitchFamily="34" charset="-122"/>
                <a:cs typeface="Arial" pitchFamily="34" charset="-120"/>
              </a:rPr>
              <a:t>resuelte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el</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problema</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conectar</a:t>
            </a:r>
            <a:r>
              <a:rPr lang="en-US" sz="1200" dirty="0">
                <a:solidFill>
                  <a:srgbClr val="585E6F"/>
                </a:solidFill>
                <a:latin typeface="Arial" pitchFamily="34" charset="0"/>
                <a:ea typeface="Arial" pitchFamily="34" charset="-122"/>
                <a:cs typeface="Arial" pitchFamily="34" charset="-120"/>
              </a:rPr>
              <a:t> ambos </a:t>
            </a:r>
            <a:r>
              <a:rPr lang="en-US" sz="1200" dirty="0" err="1">
                <a:solidFill>
                  <a:srgbClr val="585E6F"/>
                </a:solidFill>
                <a:latin typeface="Arial" pitchFamily="34" charset="0"/>
                <a:ea typeface="Arial" pitchFamily="34" charset="-122"/>
                <a:cs typeface="Arial" pitchFamily="34" charset="-120"/>
              </a:rPr>
              <a:t>mundos</a:t>
            </a:r>
            <a:r>
              <a:rPr lang="en-US" sz="1200" dirty="0">
                <a:solidFill>
                  <a:srgbClr val="585E6F"/>
                </a:solidFill>
                <a:latin typeface="Arial" pitchFamily="34" charset="0"/>
                <a:ea typeface="Arial" pitchFamily="34" charset="-122"/>
                <a:cs typeface="Arial" pitchFamily="34" charset="-120"/>
              </a:rPr>
              <a:t>: </a:t>
            </a:r>
          </a:p>
          <a:p>
            <a:pPr marL="171450" indent="-171450" rtl="0">
              <a:buFont typeface="Arial" panose="020B0604020202020204" pitchFamily="34" charset="0"/>
              <a:buChar char="•"/>
            </a:pPr>
            <a:r>
              <a:rPr lang="es-MX" b="1" dirty="0"/>
              <a:t>El LLM</a:t>
            </a:r>
            <a:r>
              <a:rPr lang="es-MX" dirty="0"/>
              <a:t> entiende el texto libre y extrae los datos.</a:t>
            </a:r>
          </a:p>
          <a:p>
            <a:pPr marL="171450" indent="-171450" rtl="0">
              <a:buFont typeface="Arial" panose="020B0604020202020204" pitchFamily="34" charset="0"/>
              <a:buChar char="•"/>
            </a:pPr>
            <a:r>
              <a:rPr lang="es-MX" b="1" dirty="0"/>
              <a:t>El código</a:t>
            </a:r>
            <a:r>
              <a:rPr lang="es-MX" dirty="0"/>
              <a:t> comprueba que lo extraído sea correcto antes de usarlo.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85E6F"/>
              </a:solidFill>
              <a:latin typeface="Arial" pitchFamily="34" charset="0"/>
              <a:ea typeface="Arial" pitchFamily="34" charset="-122"/>
              <a:cs typeface="Arial" pitchFamily="34" charset="-120"/>
            </a:endParaRPr>
          </a:p>
          <a:p>
            <a:r>
              <a:rPr lang="en-US" dirty="0"/>
              <a:t>. </a:t>
            </a:r>
          </a:p>
          <a:p>
            <a:r>
              <a:rPr lang="en-US" dirty="0"/>
              <a:t>Este es el principio que guía todo el módulo: cada agente termina en una verificación hecha por código. Los artefactos tienen formato fijo porque son el contrato entre agentes: el diseñador lee el Gherkin del analista, y el automatizador de la sesión 3 leerá el JSON del diseñador. El validador no es otro modelo: son reglas verificables, como que cada escenario tenga Dado, Cuando y Entonces, o que cada escenario tenga al menos un caso. Si falla, los problemas regresan al agente; eso es el patrón de reflexión, con un límite de intentos.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621EE-2D1C-8E1E-1B8E-999DB590B0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A86AE-D478-DE77-5A85-04E970E7B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3B2CA-BA42-4CB3-4440-AC6B7E0D8D6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a:t>
            </a:r>
            <a:r>
              <a:rPr lang="en-US" dirty="0" err="1"/>
              <a:t>minutos</a:t>
            </a:r>
            <a:r>
              <a:rPr lang="en-US" dirty="0"/>
              <a:t> </a:t>
            </a:r>
            <a:r>
              <a:rPr lang="en-US" sz="1200" dirty="0">
                <a:solidFill>
                  <a:srgbClr val="585E6F"/>
                </a:solidFill>
                <a:latin typeface="Arial" pitchFamily="34" charset="0"/>
                <a:ea typeface="Arial" pitchFamily="34" charset="-122"/>
                <a:cs typeface="Arial" pitchFamily="34" charset="-120"/>
              </a:rPr>
              <a:t>Un </a:t>
            </a:r>
            <a:r>
              <a:rPr lang="en-US" sz="1200" dirty="0" err="1">
                <a:solidFill>
                  <a:srgbClr val="585E6F"/>
                </a:solidFill>
                <a:latin typeface="Arial" pitchFamily="34" charset="0"/>
                <a:ea typeface="Arial" pitchFamily="34" charset="-122"/>
                <a:cs typeface="Arial" pitchFamily="34" charset="-120"/>
              </a:rPr>
              <a:t>agente</a:t>
            </a:r>
            <a:r>
              <a:rPr lang="en-US" sz="1200" dirty="0">
                <a:solidFill>
                  <a:srgbClr val="585E6F"/>
                </a:solidFill>
                <a:latin typeface="Arial" pitchFamily="34" charset="0"/>
                <a:ea typeface="Arial" pitchFamily="34" charset="-122"/>
                <a:cs typeface="Arial" pitchFamily="34" charset="-120"/>
              </a:rPr>
              <a:t> de IA </a:t>
            </a:r>
            <a:r>
              <a:rPr lang="en-US" sz="1200" dirty="0" err="1">
                <a:solidFill>
                  <a:srgbClr val="585E6F"/>
                </a:solidFill>
                <a:latin typeface="Arial" pitchFamily="34" charset="0"/>
                <a:ea typeface="Arial" pitchFamily="34" charset="-122"/>
                <a:cs typeface="Arial" pitchFamily="34" charset="-120"/>
              </a:rPr>
              <a:t>recibe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instrucción</a:t>
            </a:r>
            <a:r>
              <a:rPr lang="en-US" sz="1200" dirty="0">
                <a:solidFill>
                  <a:srgbClr val="585E6F"/>
                </a:solidFill>
                <a:latin typeface="Arial" pitchFamily="34" charset="0"/>
                <a:ea typeface="Arial" pitchFamily="34" charset="-122"/>
                <a:cs typeface="Arial" pitchFamily="34" charset="-120"/>
              </a:rPr>
              <a:t>: e.g. </a:t>
            </a:r>
            <a:r>
              <a:rPr lang="en-US" sz="1200" dirty="0" err="1">
                <a:solidFill>
                  <a:srgbClr val="585E6F"/>
                </a:solidFill>
                <a:latin typeface="Arial" pitchFamily="34" charset="0"/>
                <a:ea typeface="Arial" pitchFamily="34" charset="-122"/>
                <a:cs typeface="Arial" pitchFamily="34" charset="-120"/>
              </a:rPr>
              <a:t>dar</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t>
            </a:r>
            <a:r>
              <a:rPr lang="en-US" sz="1200" dirty="0" err="1">
                <a:solidFill>
                  <a:srgbClr val="585E6F"/>
                </a:solidFill>
                <a:latin typeface="Arial" pitchFamily="34" charset="0"/>
                <a:ea typeface="Arial" pitchFamily="34" charset="-122"/>
                <a:cs typeface="Arial" pitchFamily="34" charset="-120"/>
              </a:rPr>
              <a:t>una</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empleada</a:t>
            </a:r>
            <a:r>
              <a:rPr lang="en-US" sz="1200" dirty="0">
                <a:solidFill>
                  <a:srgbClr val="585E6F"/>
                </a:solidFill>
                <a:latin typeface="Arial" pitchFamily="34" charset="0"/>
                <a:ea typeface="Arial" pitchFamily="34" charset="-122"/>
                <a:cs typeface="Arial" pitchFamily="34" charset="-120"/>
              </a:rPr>
              <a:t>: “da de </a:t>
            </a:r>
            <a:r>
              <a:rPr lang="en-US" sz="1200" dirty="0" err="1">
                <a:solidFill>
                  <a:srgbClr val="585E6F"/>
                </a:solidFill>
                <a:latin typeface="Arial" pitchFamily="34" charset="0"/>
                <a:ea typeface="Arial" pitchFamily="34" charset="-122"/>
                <a:cs typeface="Arial" pitchFamily="34" charset="-120"/>
              </a:rPr>
              <a:t>alta</a:t>
            </a:r>
            <a:r>
              <a:rPr lang="en-US" sz="1200" dirty="0">
                <a:solidFill>
                  <a:srgbClr val="585E6F"/>
                </a:solidFill>
                <a:latin typeface="Arial" pitchFamily="34" charset="0"/>
                <a:ea typeface="Arial" pitchFamily="34" charset="-122"/>
                <a:cs typeface="Arial" pitchFamily="34" charset="-120"/>
              </a:rPr>
              <a:t> a Ana </a:t>
            </a:r>
            <a:r>
              <a:rPr lang="en-US" sz="1200" dirty="0" err="1">
                <a:solidFill>
                  <a:srgbClr val="585E6F"/>
                </a:solidFill>
                <a:latin typeface="Arial" pitchFamily="34" charset="0"/>
                <a:ea typeface="Arial" pitchFamily="34" charset="-122"/>
                <a:cs typeface="Arial" pitchFamily="34" charset="-120"/>
              </a:rPr>
              <a:t>entró</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en</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marzo</a:t>
            </a:r>
            <a:r>
              <a:rPr lang="en-US" sz="1200" dirty="0">
                <a:solidFill>
                  <a:srgbClr val="585E6F"/>
                </a:solidFill>
                <a:latin typeface="Arial" pitchFamily="34" charset="0"/>
                <a:ea typeface="Arial" pitchFamily="34" charset="-122"/>
                <a:cs typeface="Arial" pitchFamily="34" charset="-120"/>
              </a:rPr>
              <a:t>”. Pero </a:t>
            </a:r>
            <a:r>
              <a:rPr lang="en-US" sz="1200" dirty="0" err="1">
                <a:solidFill>
                  <a:srgbClr val="585E6F"/>
                </a:solidFill>
                <a:latin typeface="Arial" pitchFamily="34" charset="0"/>
                <a:ea typeface="Arial" pitchFamily="34" charset="-122"/>
                <a:cs typeface="Arial" pitchFamily="34" charset="-120"/>
              </a:rPr>
              <a:t>existe</a:t>
            </a:r>
            <a:r>
              <a:rPr lang="en-US" sz="1200" dirty="0">
                <a:solidFill>
                  <a:srgbClr val="585E6F"/>
                </a:solidFill>
                <a:latin typeface="Arial" pitchFamily="34" charset="0"/>
                <a:ea typeface="Arial" pitchFamily="34" charset="-122"/>
                <a:cs typeface="Arial" pitchFamily="34" charset="-120"/>
              </a:rPr>
              <a:t> un API con un </a:t>
            </a:r>
            <a:r>
              <a:rPr lang="en-US" sz="1200" dirty="0" err="1">
                <a:solidFill>
                  <a:srgbClr val="585E6F"/>
                </a:solidFill>
                <a:latin typeface="Arial" pitchFamily="34" charset="0"/>
                <a:ea typeface="Arial" pitchFamily="34" charset="-122"/>
                <a:cs typeface="Arial" pitchFamily="34" charset="-120"/>
              </a:rPr>
              <a:t>contrato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definido</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que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necesita</a:t>
            </a:r>
            <a:r>
              <a:rPr lang="en-US" sz="1200"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datos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exactos</a:t>
            </a:r>
            <a:r>
              <a:rPr lang="en-US" sz="1200" b="1" dirty="0">
                <a:solidFill>
                  <a:srgbClr val="585E6F"/>
                </a:solidFill>
                <a:latin typeface="Arial" pitchFamily="34" charset="0"/>
                <a:ea typeface="Arial" pitchFamily="34" charset="-122"/>
                <a:cs typeface="Arial" pitchFamily="34" charset="-120"/>
              </a:rPr>
              <a:t> y </a:t>
            </a:r>
            <a:r>
              <a:rPr lang="en-US" sz="1200" b="1" dirty="0" err="1">
                <a:solidFill>
                  <a:srgbClr val="585E6F"/>
                </a:solidFill>
                <a:latin typeface="Arial" pitchFamily="34" charset="0"/>
                <a:ea typeface="Arial" pitchFamily="34" charset="-122"/>
                <a:cs typeface="Arial" pitchFamily="34" charset="-120"/>
              </a:rPr>
              <a:t>estructurados</a:t>
            </a:r>
            <a:r>
              <a:rPr lang="en-US" sz="1200" b="1" dirty="0">
                <a:solidFill>
                  <a:srgbClr val="585E6F"/>
                </a:solidFill>
                <a:latin typeface="Arial" pitchFamily="34" charset="0"/>
                <a:ea typeface="Arial" pitchFamily="34" charset="-122"/>
                <a:cs typeface="Arial" pitchFamily="34" charset="-120"/>
              </a:rPr>
              <a:t> </a:t>
            </a:r>
            <a:r>
              <a:rPr lang="en-US" sz="1200" b="1" dirty="0" err="1">
                <a:solidFill>
                  <a:srgbClr val="585E6F"/>
                </a:solidFill>
                <a:latin typeface="Arial" pitchFamily="34" charset="0"/>
                <a:ea typeface="Arial" pitchFamily="34" charset="-122"/>
                <a:cs typeface="Arial" pitchFamily="34" charset="-120"/>
              </a:rPr>
              <a:t>conforme</a:t>
            </a:r>
            <a:r>
              <a:rPr lang="en-US" sz="1200" b="1" dirty="0">
                <a:solidFill>
                  <a:srgbClr val="585E6F"/>
                </a:solidFill>
                <a:latin typeface="Arial" pitchFamily="34" charset="0"/>
                <a:ea typeface="Arial" pitchFamily="34" charset="-122"/>
                <a:cs typeface="Arial" pitchFamily="34" charset="-120"/>
              </a:rPr>
              <a:t> a un </a:t>
            </a:r>
            <a:r>
              <a:rPr lang="en-US" sz="1200" b="1" dirty="0" err="1">
                <a:solidFill>
                  <a:srgbClr val="585E6F"/>
                </a:solidFill>
                <a:latin typeface="Arial" pitchFamily="34" charset="0"/>
                <a:ea typeface="Arial" pitchFamily="34" charset="-122"/>
                <a:cs typeface="Arial" pitchFamily="34" charset="-120"/>
              </a:rPr>
              <a:t>contrato</a:t>
            </a:r>
            <a:r>
              <a:rPr lang="en-US" sz="1200" b="1" dirty="0">
                <a:solidFill>
                  <a:srgbClr val="585E6F"/>
                </a:solidFill>
                <a:latin typeface="Arial" pitchFamily="34" charset="0"/>
                <a:ea typeface="Arial" pitchFamily="34" charset="-122"/>
                <a:cs typeface="Arial" pitchFamily="34" charset="-120"/>
              </a:rPr>
              <a:t>. </a:t>
            </a:r>
            <a:r>
              <a:rPr lang="en-US" sz="1200" dirty="0">
                <a:solidFill>
                  <a:srgbClr val="585E6F"/>
                </a:solidFill>
                <a:latin typeface="Arial" pitchFamily="34" charset="0"/>
                <a:ea typeface="Arial" pitchFamily="34" charset="-122"/>
                <a:cs typeface="Arial" pitchFamily="34" charset="-120"/>
              </a:rPr>
              <a:t>Este patron </a:t>
            </a:r>
            <a:r>
              <a:rPr lang="en-US" sz="1200" dirty="0" err="1">
                <a:solidFill>
                  <a:srgbClr val="585E6F"/>
                </a:solidFill>
                <a:latin typeface="Arial" pitchFamily="34" charset="0"/>
                <a:ea typeface="Arial" pitchFamily="34" charset="-122"/>
                <a:cs typeface="Arial" pitchFamily="34" charset="-120"/>
              </a:rPr>
              <a:t>resuelte</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el</a:t>
            </a:r>
            <a:r>
              <a:rPr lang="en-US" sz="1200" dirty="0">
                <a:solidFill>
                  <a:srgbClr val="585E6F"/>
                </a:solidFill>
                <a:latin typeface="Arial" pitchFamily="34" charset="0"/>
                <a:ea typeface="Arial" pitchFamily="34" charset="-122"/>
                <a:cs typeface="Arial" pitchFamily="34" charset="-120"/>
              </a:rPr>
              <a:t> </a:t>
            </a:r>
            <a:r>
              <a:rPr lang="en-US" sz="1200" dirty="0" err="1">
                <a:solidFill>
                  <a:srgbClr val="585E6F"/>
                </a:solidFill>
                <a:latin typeface="Arial" pitchFamily="34" charset="0"/>
                <a:ea typeface="Arial" pitchFamily="34" charset="-122"/>
                <a:cs typeface="Arial" pitchFamily="34" charset="-120"/>
              </a:rPr>
              <a:t>problema</a:t>
            </a:r>
            <a:r>
              <a:rPr lang="en-US" sz="1200" dirty="0">
                <a:solidFill>
                  <a:srgbClr val="585E6F"/>
                </a:solidFill>
                <a:latin typeface="Arial" pitchFamily="34" charset="0"/>
                <a:ea typeface="Arial" pitchFamily="34" charset="-122"/>
                <a:cs typeface="Arial" pitchFamily="34" charset="-120"/>
              </a:rPr>
              <a:t> de </a:t>
            </a:r>
            <a:r>
              <a:rPr lang="en-US" sz="1200" dirty="0" err="1">
                <a:solidFill>
                  <a:srgbClr val="585E6F"/>
                </a:solidFill>
                <a:latin typeface="Arial" pitchFamily="34" charset="0"/>
                <a:ea typeface="Arial" pitchFamily="34" charset="-122"/>
                <a:cs typeface="Arial" pitchFamily="34" charset="-120"/>
              </a:rPr>
              <a:t>conectar</a:t>
            </a:r>
            <a:r>
              <a:rPr lang="en-US" sz="1200" dirty="0">
                <a:solidFill>
                  <a:srgbClr val="585E6F"/>
                </a:solidFill>
                <a:latin typeface="Arial" pitchFamily="34" charset="0"/>
                <a:ea typeface="Arial" pitchFamily="34" charset="-122"/>
                <a:cs typeface="Arial" pitchFamily="34" charset="-120"/>
              </a:rPr>
              <a:t> ambos </a:t>
            </a:r>
            <a:r>
              <a:rPr lang="en-US" sz="1200" dirty="0" err="1">
                <a:solidFill>
                  <a:srgbClr val="585E6F"/>
                </a:solidFill>
                <a:latin typeface="Arial" pitchFamily="34" charset="0"/>
                <a:ea typeface="Arial" pitchFamily="34" charset="-122"/>
                <a:cs typeface="Arial" pitchFamily="34" charset="-120"/>
              </a:rPr>
              <a:t>mundos</a:t>
            </a:r>
            <a:r>
              <a:rPr lang="en-US" sz="1200" dirty="0">
                <a:solidFill>
                  <a:srgbClr val="585E6F"/>
                </a:solidFill>
                <a:latin typeface="Arial" pitchFamily="34" charset="0"/>
                <a:ea typeface="Arial" pitchFamily="34" charset="-122"/>
                <a:cs typeface="Arial" pitchFamily="34" charset="-120"/>
              </a:rPr>
              <a:t>: </a:t>
            </a:r>
          </a:p>
          <a:p>
            <a:pPr marL="171450" indent="-171450" rtl="0">
              <a:buFont typeface="Arial" panose="020B0604020202020204" pitchFamily="34" charset="0"/>
              <a:buChar char="•"/>
            </a:pPr>
            <a:r>
              <a:rPr lang="es-MX" b="1" dirty="0"/>
              <a:t>El LLM</a:t>
            </a:r>
            <a:r>
              <a:rPr lang="es-MX" dirty="0"/>
              <a:t> entiende el texto libre y extrae los datos.</a:t>
            </a:r>
          </a:p>
          <a:p>
            <a:pPr marL="171450" indent="-171450" rtl="0">
              <a:buFont typeface="Arial" panose="020B0604020202020204" pitchFamily="34" charset="0"/>
              <a:buChar char="•"/>
            </a:pPr>
            <a:r>
              <a:rPr lang="es-MX" b="1" dirty="0"/>
              <a:t>El código</a:t>
            </a:r>
            <a:r>
              <a:rPr lang="es-MX" dirty="0"/>
              <a:t> comprueba que lo extraído sea correcto antes de usarlo.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85E6F"/>
              </a:solidFill>
              <a:latin typeface="Arial" pitchFamily="34" charset="0"/>
              <a:ea typeface="Arial" pitchFamily="34" charset="-122"/>
              <a:cs typeface="Arial" pitchFamily="34" charset="-120"/>
            </a:endParaRPr>
          </a:p>
          <a:p>
            <a:r>
              <a:rPr lang="en-US" dirty="0"/>
              <a:t>. </a:t>
            </a:r>
          </a:p>
          <a:p>
            <a:r>
              <a:rPr lang="en-US" dirty="0"/>
              <a:t>Este es el principio que guía todo el módulo: cada agente termina en una verificación hecha por código. Los artefactos tienen formato fijo porque son el contrato entre agentes: el diseñador lee el Gherkin del analista, y el automatizador de la sesión 3 leerá el JSON del diseñador. El validador no es otro modelo: son reglas verificables, como que cada escenario tenga Dado, Cuando y Entonces, o que cada escenario tenga al menos un caso. Si falla, los problemas regresan al agente; eso es el patrón de reflexión, con un límite de intentos.</a:t>
            </a:r>
          </a:p>
        </p:txBody>
      </p:sp>
      <p:sp>
        <p:nvSpPr>
          <p:cNvPr id="4" name="Slide Number Placeholder 3">
            <a:extLst>
              <a:ext uri="{FF2B5EF4-FFF2-40B4-BE49-F238E27FC236}">
                <a16:creationId xmlns:a16="http://schemas.microsoft.com/office/drawing/2014/main" id="{694363F2-3FBC-BD24-C123-4AC5E3D2C27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1757309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2 del módulo. Un agente que entrega texto libre no se puede encadenar ni verificar. La salida se diseña como un contrato: un modelo Pydantic con tipos, campos obligatorios y valores permitidos, más un campo de dudas para que el modelo diga lo que no sabe en lugar de inventarlo. El modelo lo llena forzando una herramienta cuyo esquema es el contrato. Después, el código valida en tres niveles: el esquema, las reglas de negocio que el tipo no expresa, y pruebas ejecutables que confirman que el resultado funciona. Si algo falla, el problema regresa al modelo como contexto, con un tope de intentos. Si se agota el tope, decide una persona: ese es el puente con el objetivo 3.</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con los dos correos de Recursos Humanos. El primero produce un alta válida al primer intento. El segundo tiene un correo de Gmail, un departamento ambiguo y una fecha futura: el modelo no puede corregirlo porque los datos no existen, y después de dos intentos el programa lo envía a una persona con la lista de problemas. Señalar las tres piezas: el contrato con Literal y el campo dudas; la herramienta forzada con tool_choice, cuyo esquema sale de Pydantic; y los dos niveles de validación, primero el esquema y luego las reglas de negocio. El tercer nivel, las pruebas ejecutables, se ve en la sesión 2 con verificar_app.</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antes del diagrama. La reflexión agrega memoria de los errores: el agente genera, una crítica revisa el resultado contra criterios explícitos, y esa crítica se agrega al siguiente intento. La diferencia con reintentar es justamente esa: el segundo intento sabe qué estuvo mal. El artículo original, Reflexion de Shinn y colegas, guarda las lecciones en lenguaje natural; Self-Refine hace lo mismo dentro de una sola tarea. Dos reglas prácticas: la crítica debe ser lo más objetiva posible, idealmente código, como validar_gherkin, y siempre hay un tope de intentos; si se agota, decide una persona. Pregunta para el grupo: si el mismo modelo genera y se critica, ¿qué riesgo hay? Que apruebe su propio trabajo; por eso, en la sesión 2, veremos el evaluador independiente.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E3754-5451-71BE-8E02-F851ED616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282D4-4E63-FF4E-ABAA-8A8FB5BADE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119A8-B8AB-DEF0-A731-50C52C7E75D4}"/>
              </a:ext>
            </a:extLst>
          </p:cNvPr>
          <p:cNvSpPr>
            <a:spLocks noGrp="1"/>
          </p:cNvSpPr>
          <p:nvPr>
            <p:ph type="body" idx="1"/>
          </p:nvPr>
        </p:nvSpPr>
        <p:spPr/>
        <p:txBody>
          <a:bodyPr/>
          <a:lstStyle/>
          <a:p>
            <a:r>
              <a:rPr lang="en-US" dirty="0"/>
              <a:t>3 minutos, antes del diagrama. La reflexión agrega memoria de los errores: el agente genera, una crítica revisa el resultado contra criterios explícitos, y esa crítica se agrega al siguiente intento. La diferencia con reintentar es justamente esa: el segundo intento sabe qué estuvo mal. El artículo original, Reflexion de Shinn y colegas, guarda las lecciones en lenguaje natural; Self-Refine hace lo mismo dentro de una sola tarea. Dos reglas prácticas: la crítica debe ser lo más objetiva posible, idealmente código, como validar_gherkin, y siempre hay un tope de intentos; si se agota, decide una persona. Pregunta para el grupo: si el mismo modelo genera y se critica, ¿qué riesgo hay? Que apruebe su propio trabajo; por eso, en la sesión 2, veremos el evaluador independiente.</a:t>
            </a:r>
          </a:p>
        </p:txBody>
      </p:sp>
      <p:sp>
        <p:nvSpPr>
          <p:cNvPr id="4" name="Slide Number Placeholder 3">
            <a:extLst>
              <a:ext uri="{FF2B5EF4-FFF2-40B4-BE49-F238E27FC236}">
                <a16:creationId xmlns:a16="http://schemas.microsoft.com/office/drawing/2014/main" id="{A69BF03C-782D-EB40-CA80-9DBF2C8CAE54}"/>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0588195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Reflexión: el resultado se revisa contra criterios y, si hay problemas, regresa al agente para que corrija, con un límite de intentos. El revisor puede ser el mismo modelo, otro modelo o código. En la fábrica preferimos código siempre que las reglas sean verificables: validar_gherkin comprueba que cada escenario tenga Dado, Cuando y Entonces, y validar_plan que cada escenario tenga al menos un caso de prueba. El mensaje del validador se agrega a la tarea y el agente lo corrige en el siguiente intento.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Suele fallar el primer intento porque el revisor exige el mensaje exacto del correo corporativo, que viene de las reglas de negocio y no de la historia. Mostrar la salida: intento 1 con problemas, intento 2 sin problemas. Discutir: ¿por qué el revisor es código y no otro modelo? Porque estas reglas se pueden comprobar sin ambigüedad, cuesta cero y nunca se equivoca. Puente: validar_gherkin del analista hace exactamente esto.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Quédate en la sala los primeros 2 minutos: ahí llegan las dudas 1:1.</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individual. 1A: en la rama del estudiante el cuerpo de ejecutar_agente está vacío; lo escriben siguiendo el diagrama del bucle. Luego, en una consola de Python, comprueban que herramientas_archivos permite leer la historia y rechaza secretos_demo.txt. 1B: leen SISTEMA y validar_gherkin y ejecutan el analista. Reto: borrar las notas de la historia y ver si aparecen preguntas abiertas en vez de reglas inventadas. 1C: el contrato es el modelo Pydantic CasoPrueba; los casos e2e deben mencionar los data-testid de las convenciones. Errores frecuentes: falta .env (KeyError MODEL), ejecutar el archivo en vez del módulo (ModuleNotFoundError), clave sin créditos.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Riesgos: falta .env (KeyError MODEL), ejecutar el archivo en vez del módulo, clave sin </a:t>
            </a:r>
            <a:r>
              <a:rPr lang="en-US" dirty="0" err="1"/>
              <a:t>créditos</a:t>
            </a:r>
            <a:r>
              <a:rPr lang="en-US" dirty="0"/>
              <a:t>.</a:t>
            </a:r>
          </a:p>
          <a:p>
            <a:endParaRPr lang="en-US" dirty="0"/>
          </a:p>
          <a:p>
            <a:r>
              <a:rPr lang="en-US" dirty="0" err="1"/>
              <a:t>Ir</a:t>
            </a:r>
            <a:r>
              <a:rPr lang="en-US" dirty="0"/>
              <a:t> a la </a:t>
            </a:r>
            <a:r>
              <a:rPr lang="en-US" dirty="0" err="1"/>
              <a:t>guia</a:t>
            </a:r>
            <a:r>
              <a:rPr lang="en-US" dirty="0"/>
              <a:t> de </a:t>
            </a:r>
            <a:r>
              <a:rPr lang="en-US" dirty="0" err="1"/>
              <a:t>ejecución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el ejemplo de criterios antes de que ejecuten el analista.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este ejemplo antes de que los estudiantes ejecuten el analista. Dos detalles para señalar. Primero, los datos son concretos: un nombre, un departamento, un correo, no "un empleado válido". Segundo, el escenario del correo no corporativo no está en la historia: el analista lo agrega porque leyó las reglas de negocio. Lo mismo debería pasar con el correo duplicado y la fecha de ingreso futura. Eso es lo que pide su prompt: un escenario de error por cada regla que aplique. Si el analista inventa reglas que no están en ningún lado, el estudiante debe ajustar sus instrucciones.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contrato es el modelo Pydantic CasoPrueba; los casos e2e usan los data-testid de las convenciones.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5C430-205F-35DD-9247-A58495F54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E21EF-4C17-376B-8DE4-C54C4DA0B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30E07-15BA-DF28-52D4-34BA5DE141D1}"/>
              </a:ext>
            </a:extLst>
          </p:cNvPr>
          <p:cNvSpPr>
            <a:spLocks noGrp="1"/>
          </p:cNvSpPr>
          <p:nvPr>
            <p:ph type="body" idx="1"/>
          </p:nvPr>
        </p:nvSpPr>
        <p:spPr/>
        <p:txBody>
          <a:bodyPr/>
          <a:lstStyle/>
          <a:p>
            <a:r>
              <a:rPr lang="en-US" dirty="0"/>
              <a:t>Preguntas que conectan el lab con los conceptos: ¿por qué tu analista no se cayó con el PermissionError? ¿Qué parte de tu fábrica es workflow y cuál agente?</a:t>
            </a:r>
          </a:p>
        </p:txBody>
      </p:sp>
      <p:sp>
        <p:nvSpPr>
          <p:cNvPr id="4" name="Slide Number Placeholder 3">
            <a:extLst>
              <a:ext uri="{FF2B5EF4-FFF2-40B4-BE49-F238E27FC236}">
                <a16:creationId xmlns:a16="http://schemas.microsoft.com/office/drawing/2014/main" id="{5305E5E9-54B0-6C94-12A5-A05DA53480E7}"/>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1801423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D88D6-3307-4C79-82BE-38EF7A088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6B570-BDE9-88E7-78BA-534AD1878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E21AE0-BBF4-D7C4-AF30-C1648B7F0B83}"/>
              </a:ext>
            </a:extLst>
          </p:cNvPr>
          <p:cNvSpPr>
            <a:spLocks noGrp="1"/>
          </p:cNvSpPr>
          <p:nvPr>
            <p:ph type="body" idx="1"/>
          </p:nvPr>
        </p:nvSpPr>
        <p:spPr/>
        <p:txBody>
          <a:bodyPr/>
          <a:lstStyle/>
          <a:p>
            <a:r>
              <a:rPr lang="en-US" dirty="0"/>
              <a:t>Mostrar este ejemplo antes de que los estudiantes ejecuten el analista. Dos detalles para señalar. Primero, los datos son concretos: un nombre, un departamento, un correo, no "un empleado válido". Segundo, el escenario del correo no corporativo no está en la historia: el analista lo agrega porque leyó las reglas de negocio. Lo mismo debería pasar con el correo duplicado y la fecha de ingreso futura. Eso es lo que pide su prompt: un escenario de error por cada regla que aplique. Si el analista inventa reglas que no están en ningún lado, el estudiante debe ajustar sus instrucciones.</a:t>
            </a:r>
          </a:p>
        </p:txBody>
      </p:sp>
      <p:sp>
        <p:nvSpPr>
          <p:cNvPr id="4" name="Slide Number Placeholder 3">
            <a:extLst>
              <a:ext uri="{FF2B5EF4-FFF2-40B4-BE49-F238E27FC236}">
                <a16:creationId xmlns:a16="http://schemas.microsoft.com/office/drawing/2014/main" id="{E4AEBB18-5122-E55E-4550-743E443F979E}"/>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9080360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que conectan el lab con los conceptos: ¿por qué tu analista no se cayó con el PermissionError? ¿Qué parte de tu fábrica es workflow y cuál agente?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1-forma-1"/>
          <p:cNvSpPr/>
          <p:nvPr/>
        </p:nvSpPr>
        <p:spPr>
          <a:xfrm>
            <a:off x="853390" y="331715"/>
            <a:ext cx="81411" cy="81411"/>
          </a:xfrm>
          <a:prstGeom prst="ellipse">
            <a:avLst/>
          </a:prstGeom>
          <a:solidFill>
            <a:srgbClr val="E8ECF5"/>
          </a:solidFill>
          <a:ln/>
        </p:spPr>
        <p:txBody>
          <a:bodyPr/>
          <a:lstStyle/>
          <a:p>
            <a:endParaRPr lang="es-MX"/>
          </a:p>
        </p:txBody>
      </p:sp>
      <p:sp>
        <p:nvSpPr>
          <p:cNvPr id="3" name="s1-texto-2"/>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E8ECF5"/>
                </a:solidFill>
                <a:latin typeface="Courier New" pitchFamily="34" charset="0"/>
                <a:ea typeface="Courier New" pitchFamily="34" charset="-122"/>
                <a:cs typeface="Courier New" pitchFamily="34" charset="-120"/>
              </a:rPr>
              <a:t>INTRODUCE</a:t>
            </a:r>
            <a:endParaRPr lang="en-US" sz="807" dirty="0"/>
          </a:p>
        </p:txBody>
      </p:sp>
      <p:sp>
        <p:nvSpPr>
          <p:cNvPr id="4" name="s1-texto-3"/>
          <p:cNvSpPr txBox="1"/>
          <p:nvPr/>
        </p:nvSpPr>
        <p:spPr>
          <a:xfrm>
            <a:off x="10262105" y="315290"/>
            <a:ext cx="1140772"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96A2B8"/>
                </a:solidFill>
                <a:latin typeface="Courier New" pitchFamily="34" charset="0"/>
                <a:ea typeface="Courier New" pitchFamily="34" charset="-122"/>
                <a:cs typeface="Courier New" pitchFamily="34" charset="-120"/>
              </a:rPr>
              <a:t>0:00 · Apertura</a:t>
            </a:r>
            <a:endParaRPr lang="en-US" sz="807" dirty="0"/>
          </a:p>
        </p:txBody>
      </p:sp>
      <p:sp>
        <p:nvSpPr>
          <p:cNvPr id="5" name="s1-texto-4"/>
          <p:cNvSpPr txBox="1"/>
          <p:nvPr/>
        </p:nvSpPr>
        <p:spPr>
          <a:xfrm>
            <a:off x="853390" y="2142313"/>
            <a:ext cx="7204103" cy="217097"/>
          </a:xfrm>
          <a:prstGeom prst="rect">
            <a:avLst/>
          </a:prstGeom>
          <a:noFill/>
          <a:ln/>
        </p:spPr>
        <p:txBody>
          <a:bodyPr wrap="none" lIns="0" tIns="0" rIns="0" bIns="0" rtlCol="0" anchor="t"/>
          <a:lstStyle/>
          <a:p>
            <a:pPr marL="0" indent="0" algn="l">
              <a:lnSpc>
                <a:spcPts val="2483"/>
              </a:lnSpc>
              <a:buNone/>
            </a:pPr>
            <a:r>
              <a:rPr lang="en-US" sz="1552" kern="0" spc="16" dirty="0">
                <a:solidFill>
                  <a:srgbClr val="DDE4F2"/>
                </a:solidFill>
                <a:latin typeface="Arial" pitchFamily="34" charset="0"/>
                <a:ea typeface="Arial" pitchFamily="34" charset="-122"/>
                <a:cs typeface="Arial" pitchFamily="34" charset="-120"/>
              </a:rPr>
              <a:t>Certificado</a:t>
            </a:r>
            <a:endParaRPr lang="en-US" sz="1552" dirty="0"/>
          </a:p>
        </p:txBody>
      </p:sp>
      <p:sp>
        <p:nvSpPr>
          <p:cNvPr id="6" name="s1-forma-5"/>
          <p:cNvSpPr/>
          <p:nvPr/>
        </p:nvSpPr>
        <p:spPr>
          <a:xfrm>
            <a:off x="853390" y="3410525"/>
            <a:ext cx="446691" cy="17139"/>
          </a:xfrm>
          <a:prstGeom prst="rect">
            <a:avLst/>
          </a:prstGeom>
          <a:solidFill>
            <a:srgbClr val="FFFFFF"/>
          </a:solidFill>
          <a:ln/>
        </p:spPr>
        <p:txBody>
          <a:bodyPr/>
          <a:lstStyle/>
          <a:p>
            <a:endParaRPr lang="es-MX"/>
          </a:p>
        </p:txBody>
      </p:sp>
      <p:sp>
        <p:nvSpPr>
          <p:cNvPr id="7" name="s1-texto-6"/>
          <p:cNvSpPr txBox="1"/>
          <p:nvPr/>
        </p:nvSpPr>
        <p:spPr>
          <a:xfrm>
            <a:off x="853390" y="2463584"/>
            <a:ext cx="6197033" cy="743413"/>
          </a:xfrm>
          <a:prstGeom prst="rect">
            <a:avLst/>
          </a:prstGeom>
          <a:noFill/>
          <a:ln/>
        </p:spPr>
        <p:txBody>
          <a:bodyPr wrap="square" lIns="0" tIns="0" rIns="0" bIns="0" rtlCol="0" anchor="t"/>
          <a:lstStyle/>
          <a:p>
            <a:pPr marL="0" indent="0" algn="l">
              <a:lnSpc>
                <a:spcPts val="2975"/>
              </a:lnSpc>
              <a:buNone/>
            </a:pPr>
            <a:r>
              <a:rPr lang="en-US" sz="2587" b="1" kern="0" spc="-52" dirty="0">
                <a:solidFill>
                  <a:srgbClr val="FFFFFF"/>
                </a:solidFill>
                <a:latin typeface="Arial" pitchFamily="34" charset="0"/>
                <a:ea typeface="Arial" pitchFamily="34" charset="-122"/>
                <a:cs typeface="Arial" pitchFamily="34" charset="-120"/>
              </a:rPr>
              <a:t>Next-Gen Coding: Desarrollo de Software con IA Generativa (Virtual)</a:t>
            </a:r>
            <a:endParaRPr lang="en-US" sz="2587" dirty="0"/>
          </a:p>
        </p:txBody>
      </p:sp>
      <p:sp>
        <p:nvSpPr>
          <p:cNvPr id="8" name="s1-texto-7"/>
          <p:cNvSpPr txBox="1"/>
          <p:nvPr/>
        </p:nvSpPr>
        <p:spPr>
          <a:xfrm>
            <a:off x="853390" y="3611554"/>
            <a:ext cx="11114010" cy="331358"/>
          </a:xfrm>
          <a:prstGeom prst="rect">
            <a:avLst/>
          </a:prstGeom>
          <a:noFill/>
          <a:ln/>
        </p:spPr>
        <p:txBody>
          <a:bodyPr wrap="none" lIns="0" tIns="0" rIns="0" bIns="0" rtlCol="0" anchor="t"/>
          <a:lstStyle/>
          <a:p>
            <a:pPr marL="0" indent="0" algn="l">
              <a:lnSpc>
                <a:spcPts val="2669"/>
              </a:lnSpc>
              <a:buNone/>
            </a:pPr>
            <a:r>
              <a:rPr lang="en-US" sz="2225" b="1" kern="0" spc="-33" dirty="0">
                <a:solidFill>
                  <a:srgbClr val="FFFFFF"/>
                </a:solidFill>
                <a:latin typeface="Georgia" pitchFamily="34" charset="0"/>
                <a:ea typeface="Georgia" pitchFamily="34" charset="-122"/>
                <a:cs typeface="Georgia" pitchFamily="34" charset="-120"/>
              </a:rPr>
              <a:t>Arquitectura de agentes</a:t>
            </a:r>
            <a:endParaRPr lang="en-US" sz="2225" dirty="0"/>
          </a:p>
        </p:txBody>
      </p:sp>
      <p:sp>
        <p:nvSpPr>
          <p:cNvPr id="9" name="s1-texto-8"/>
          <p:cNvSpPr txBox="1"/>
          <p:nvPr/>
        </p:nvSpPr>
        <p:spPr>
          <a:xfrm>
            <a:off x="853390" y="4022806"/>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7FA8F0"/>
                </a:solidFill>
                <a:latin typeface="Courier New" pitchFamily="34" charset="0"/>
                <a:ea typeface="Courier New" pitchFamily="34" charset="-122"/>
                <a:cs typeface="Courier New" pitchFamily="34" charset="-120"/>
              </a:rPr>
              <a:t>MÓDULO 3 · CONSTRUCCIÓN DE SISTEMAS AGÉNTICOS</a:t>
            </a:r>
            <a:endParaRPr lang="en-US" sz="869" dirty="0"/>
          </a:p>
        </p:txBody>
      </p:sp>
      <p:sp>
        <p:nvSpPr>
          <p:cNvPr id="10" name="s1-texto-9"/>
          <p:cNvSpPr txBox="1"/>
          <p:nvPr/>
        </p:nvSpPr>
        <p:spPr>
          <a:xfrm>
            <a:off x="853390" y="430096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96A2B8"/>
                </a:solidFill>
                <a:latin typeface="Arial" pitchFamily="34" charset="0"/>
                <a:ea typeface="Arial" pitchFamily="34" charset="-122"/>
                <a:cs typeface="Arial" pitchFamily="34" charset="-120"/>
              </a:rPr>
              <a:t>Sesión 1 · 2 h 30 min · Nivel profesional</a:t>
            </a:r>
            <a:endParaRPr lang="en-US" sz="1676" dirty="0"/>
          </a:p>
        </p:txBody>
      </p:sp>
      <p:sp>
        <p:nvSpPr>
          <p:cNvPr id="11" name="s1-texto-10"/>
          <p:cNvSpPr txBox="1"/>
          <p:nvPr/>
        </p:nvSpPr>
        <p:spPr>
          <a:xfrm>
            <a:off x="853390" y="4609646"/>
            <a:ext cx="5761958" cy="177105"/>
          </a:xfrm>
          <a:prstGeom prst="rect">
            <a:avLst/>
          </a:prstGeom>
          <a:noFill/>
          <a:ln/>
        </p:spPr>
        <p:txBody>
          <a:bodyPr wrap="none" lIns="0" tIns="0" rIns="0" bIns="0" rtlCol="0" anchor="t"/>
          <a:lstStyle/>
          <a:p>
            <a:pPr marL="0" indent="0" algn="l">
              <a:lnSpc>
                <a:spcPts val="1987"/>
              </a:lnSpc>
              <a:buNone/>
            </a:pPr>
            <a:r>
              <a:rPr lang="en-US" sz="1242" dirty="0">
                <a:solidFill>
                  <a:srgbClr val="96A2B8"/>
                </a:solidFill>
                <a:latin typeface="Arial" pitchFamily="34" charset="0"/>
                <a:ea typeface="Arial" pitchFamily="34" charset="-122"/>
                <a:cs typeface="Arial" pitchFamily="34" charset="-120"/>
              </a:rPr>
              <a:t>Qué puede ver un agente, qué puede hacer y cuándo se detiene.</a:t>
            </a:r>
            <a:endParaRPr lang="en-US" sz="1242" dirty="0"/>
          </a:p>
        </p:txBody>
      </p:sp>
      <p:pic>
        <p:nvPicPr>
          <p:cNvPr id="12" name="s1-logo-11" descr="preencoded.png"/>
          <p:cNvPicPr>
            <a:picLocks noChangeAspect="1"/>
          </p:cNvPicPr>
          <p:nvPr/>
        </p:nvPicPr>
        <p:blipFill>
          <a:blip r:embed="rId4"/>
          <a:stretch>
            <a:fillRect/>
          </a:stretch>
        </p:blipFill>
        <p:spPr>
          <a:xfrm>
            <a:off x="853390" y="6465055"/>
            <a:ext cx="687800" cy="212455"/>
          </a:xfrm>
          <a:prstGeom prst="rect">
            <a:avLst/>
          </a:prstGeom>
        </p:spPr>
      </p:pic>
      <p:sp>
        <p:nvSpPr>
          <p:cNvPr id="13" name="s1-forma-12"/>
          <p:cNvSpPr/>
          <p:nvPr/>
        </p:nvSpPr>
        <p:spPr>
          <a:xfrm>
            <a:off x="1659380" y="6519865"/>
            <a:ext cx="3057208" cy="102835"/>
          </a:xfrm>
          <a:prstGeom prst="rect">
            <a:avLst/>
          </a:prstGeom>
          <a:ln/>
        </p:spPr>
        <p:txBody>
          <a:bodyPr/>
          <a:lstStyle/>
          <a:p>
            <a:endParaRPr lang="es-MX"/>
          </a:p>
        </p:txBody>
      </p:sp>
      <p:sp>
        <p:nvSpPr>
          <p:cNvPr id="14" name="s1-forma-13"/>
          <p:cNvSpPr/>
          <p:nvPr/>
        </p:nvSpPr>
        <p:spPr>
          <a:xfrm>
            <a:off x="1659380" y="6519865"/>
            <a:ext cx="5713" cy="102835"/>
          </a:xfrm>
          <a:prstGeom prst="rect">
            <a:avLst/>
          </a:prstGeom>
          <a:solidFill>
            <a:srgbClr val="2A3550"/>
          </a:solidFill>
          <a:ln/>
        </p:spPr>
        <p:txBody>
          <a:bodyPr/>
          <a:lstStyle/>
          <a:p>
            <a:endParaRPr lang="es-MX"/>
          </a:p>
        </p:txBody>
      </p:sp>
      <p:sp>
        <p:nvSpPr>
          <p:cNvPr id="15" name="s1-texto-14"/>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96A2B8"/>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6" name="s1-texto-15"/>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96A2B8"/>
                </a:solidFill>
                <a:latin typeface="Courier New" pitchFamily="34" charset="0"/>
                <a:ea typeface="Courier New" pitchFamily="34" charset="-122"/>
                <a:cs typeface="Courier New" pitchFamily="34" charset="-120"/>
              </a:rPr>
              <a:t>1 / 35</a:t>
            </a:r>
            <a:endParaRPr lang="en-US" sz="745" dirty="0"/>
          </a:p>
        </p:txBody>
      </p:sp>
      <p:sp>
        <p:nvSpPr>
          <p:cNvPr id="17" name="s1-forma-16"/>
          <p:cNvSpPr/>
          <p:nvPr/>
        </p:nvSpPr>
        <p:spPr>
          <a:xfrm>
            <a:off x="0" y="0"/>
            <a:ext cx="348319" cy="17139"/>
          </a:xfrm>
          <a:prstGeom prst="rect">
            <a:avLst/>
          </a:prstGeom>
          <a:solidFill>
            <a:srgbClr val="7FA8F0"/>
          </a:solidFill>
          <a:ln/>
        </p:spPr>
        <p:txBody>
          <a:bodyPr/>
          <a:lstStyle/>
          <a:p>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8DC"/>
        </a:solidFill>
        <a:effectLst/>
      </p:bgPr>
    </p:bg>
    <p:spTree>
      <p:nvGrpSpPr>
        <p:cNvPr id="1" name=""/>
        <p:cNvGrpSpPr/>
        <p:nvPr/>
      </p:nvGrpSpPr>
      <p:grpSpPr>
        <a:xfrm>
          <a:off x="0" y="0"/>
          <a:ext cx="0" cy="0"/>
          <a:chOff x="0" y="0"/>
          <a:chExt cx="0" cy="0"/>
        </a:xfrm>
      </p:grpSpPr>
      <p:sp>
        <p:nvSpPr>
          <p:cNvPr id="2" name="s2-forma-1"/>
          <p:cNvSpPr/>
          <p:nvPr/>
        </p:nvSpPr>
        <p:spPr>
          <a:xfrm>
            <a:off x="853390" y="331715"/>
            <a:ext cx="81411" cy="81411"/>
          </a:xfrm>
          <a:prstGeom prst="ellipse">
            <a:avLst/>
          </a:prstGeom>
          <a:solidFill>
            <a:srgbClr val="AC321E"/>
          </a:solidFill>
          <a:ln/>
        </p:spPr>
        <p:txBody>
          <a:bodyPr/>
          <a:lstStyle/>
          <a:p>
            <a:endParaRPr lang="es-MX"/>
          </a:p>
        </p:txBody>
      </p:sp>
      <p:sp>
        <p:nvSpPr>
          <p:cNvPr id="3" name="s2-texto-2"/>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4" name="s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5" name="s2-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1.0</a:t>
            </a:r>
            <a:endParaRPr lang="en-US" sz="869" dirty="0"/>
          </a:p>
        </p:txBody>
      </p:sp>
      <p:sp>
        <p:nvSpPr>
          <p:cNvPr id="6" name="s2-forma-5"/>
          <p:cNvSpPr/>
          <p:nvPr/>
        </p:nvSpPr>
        <p:spPr>
          <a:xfrm>
            <a:off x="853390" y="3768306"/>
            <a:ext cx="722704" cy="22852"/>
          </a:xfrm>
          <a:prstGeom prst="rect">
            <a:avLst/>
          </a:prstGeom>
          <a:solidFill>
            <a:srgbClr val="0033A0"/>
          </a:solidFill>
          <a:ln/>
        </p:spPr>
        <p:txBody>
          <a:bodyPr/>
          <a:lstStyle/>
          <a:p>
            <a:endParaRPr lang="es-MX"/>
          </a:p>
        </p:txBody>
      </p:sp>
      <p:sp>
        <p:nvSpPr>
          <p:cNvPr id="7" name="s2-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Bienvenida y objetivos</a:t>
            </a:r>
            <a:endParaRPr lang="en-US" sz="4242" dirty="0"/>
          </a:p>
        </p:txBody>
      </p:sp>
      <p:sp>
        <p:nvSpPr>
          <p:cNvPr id="8" name="s2-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Cinco objetivos, un caso práctico y el entorno listo.</a:t>
            </a:r>
            <a:endParaRPr lang="en-US" sz="1676" dirty="0"/>
          </a:p>
        </p:txBody>
      </p:sp>
      <p:pic>
        <p:nvPicPr>
          <p:cNvPr id="9" name="s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forma-9"/>
          <p:cNvSpPr/>
          <p:nvPr/>
        </p:nvSpPr>
        <p:spPr>
          <a:xfrm>
            <a:off x="1659380" y="6519865"/>
            <a:ext cx="3057208" cy="102835"/>
          </a:xfrm>
          <a:prstGeom prst="rect">
            <a:avLst/>
          </a:prstGeom>
          <a:ln/>
        </p:spPr>
        <p:txBody>
          <a:bodyPr/>
          <a:lstStyle/>
          <a:p>
            <a:endParaRPr lang="es-MX"/>
          </a:p>
        </p:txBody>
      </p:sp>
      <p:sp>
        <p:nvSpPr>
          <p:cNvPr id="11" name="s2-forma-10"/>
          <p:cNvSpPr/>
          <p:nvPr/>
        </p:nvSpPr>
        <p:spPr>
          <a:xfrm>
            <a:off x="1659380" y="6519865"/>
            <a:ext cx="5713" cy="102835"/>
          </a:xfrm>
          <a:prstGeom prst="rect">
            <a:avLst/>
          </a:prstGeom>
          <a:solidFill>
            <a:srgbClr val="C6BFAE"/>
          </a:solidFill>
          <a:ln/>
        </p:spPr>
        <p:txBody>
          <a:bodyPr/>
          <a:lstStyle/>
          <a:p>
            <a:endParaRPr lang="es-MX"/>
          </a:p>
        </p:txBody>
      </p:sp>
      <p:sp>
        <p:nvSpPr>
          <p:cNvPr id="12" name="s2-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2-texto-12"/>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 / 35</a:t>
            </a:r>
            <a:endParaRPr lang="en-US" sz="745" dirty="0"/>
          </a:p>
        </p:txBody>
      </p:sp>
      <p:sp>
        <p:nvSpPr>
          <p:cNvPr id="14" name="s2-forma-13"/>
          <p:cNvSpPr/>
          <p:nvPr/>
        </p:nvSpPr>
        <p:spPr>
          <a:xfrm>
            <a:off x="0" y="0"/>
            <a:ext cx="696638" cy="17139"/>
          </a:xfrm>
          <a:prstGeom prst="rect">
            <a:avLst/>
          </a:prstGeom>
          <a:solidFill>
            <a:srgbClr val="0033A0"/>
          </a:solidFill>
          <a:ln/>
        </p:spPr>
        <p:txBody>
          <a:bodyPr/>
          <a:lstStyle/>
          <a:p>
            <a:endParaRPr lang="es-MX"/>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3-forma-1">
            <a:extLst>
              <a:ext uri="{FF2B5EF4-FFF2-40B4-BE49-F238E27FC236}">
                <a16:creationId xmlns:a16="http://schemas.microsoft.com/office/drawing/2014/main" id="{991A6F7C-E19B-5241-0E61-39962E4E930A}"/>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3-texto-3">
            <a:extLst>
              <a:ext uri="{FF2B5EF4-FFF2-40B4-BE49-F238E27FC236}">
                <a16:creationId xmlns:a16="http://schemas.microsoft.com/office/drawing/2014/main" id="{7AFFAC68-BCE1-6AD7-2644-3F36A51D9E9F}"/>
              </a:ext>
            </a:extLst>
          </p:cNvPr>
          <p:cNvSpPr txBox="1"/>
          <p:nvPr/>
        </p:nvSpPr>
        <p:spPr>
          <a:xfrm>
            <a:off x="1007018" y="315290"/>
            <a:ext cx="774478" cy="114261"/>
          </a:xfrm>
          <a:prstGeom prst="rect">
            <a:avLst/>
          </a:prstGeom>
          <a:noFill/>
          <a:ln/>
        </p:spPr>
        <p:txBody>
          <a:bodyPr wrap="none" lIns="0" tIns="0" rIns="0" bIns="0" rtlCol="0" anchor="t"/>
          <a:lstStyle/>
          <a:p>
            <a:pPr>
              <a:lnSpc>
                <a:spcPts val="968"/>
              </a:lnSpc>
            </a:pPr>
            <a:r>
              <a:rPr lang="en-US" sz="807" b="1" kern="0" spc="153" dirty="0">
                <a:solidFill>
                  <a:srgbClr val="AC321E"/>
                </a:solidFill>
                <a:latin typeface="Courier New" pitchFamily="34" charset="0"/>
                <a:ea typeface="Courier New" pitchFamily="34" charset="-122"/>
                <a:cs typeface="Courier New" pitchFamily="34" charset="-120"/>
              </a:rPr>
              <a:t>Presentación. - </a:t>
            </a:r>
            <a:r>
              <a:rPr lang="es-MX" sz="900" dirty="0"/>
              <a:t>https://www.linkedin.com/in/ricardoivison/</a:t>
            </a:r>
          </a:p>
          <a:p>
            <a:pPr marL="0" indent="0" algn="l">
              <a:lnSpc>
                <a:spcPts val="968"/>
              </a:lnSpc>
              <a:buNone/>
            </a:pPr>
            <a:endParaRPr lang="en-US" sz="807" dirty="0"/>
          </a:p>
        </p:txBody>
      </p:sp>
      <p:sp>
        <p:nvSpPr>
          <p:cNvPr id="5" name="CuadroTexto 4">
            <a:extLst>
              <a:ext uri="{FF2B5EF4-FFF2-40B4-BE49-F238E27FC236}">
                <a16:creationId xmlns:a16="http://schemas.microsoft.com/office/drawing/2014/main" id="{209FF8C4-6B11-CD04-B21F-3607F9180157}"/>
              </a:ext>
            </a:extLst>
          </p:cNvPr>
          <p:cNvSpPr txBox="1"/>
          <p:nvPr/>
        </p:nvSpPr>
        <p:spPr>
          <a:xfrm>
            <a:off x="713516" y="1074509"/>
            <a:ext cx="8776761" cy="5324535"/>
          </a:xfrm>
          <a:prstGeom prst="rect">
            <a:avLst/>
          </a:prstGeom>
          <a:noFill/>
        </p:spPr>
        <p:txBody>
          <a:bodyPr wrap="square">
            <a:spAutoFit/>
          </a:bodyPr>
          <a:lstStyle/>
          <a:p>
            <a:pPr marL="342900" indent="-342900">
              <a:buFont typeface="Wingdings" pitchFamily="2" charset="2"/>
              <a:buChar char="ü"/>
            </a:pPr>
            <a:r>
              <a:rPr lang="es-MX" sz="2000" dirty="0">
                <a:latin typeface="Arial" panose="020B0604020202020204" pitchFamily="34" charset="0"/>
                <a:cs typeface="Arial" panose="020B0604020202020204" pitchFamily="34" charset="0"/>
              </a:rPr>
              <a:t>Ingeniero en Electrónica y Computación por la UAM</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Maestría en Negocios Globales por parte del EGADE ITESM y Thunderbird School of Global Management</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25+ años de carrera profesional</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23+ años liderando equipos de ingeniería, arquitectura y diseño de software, SRE, etc.</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Experiencia en Puestos de Chief Technical Officer, Head of Delivery, Chief Technology Architect, etc. Para diversas empresas globales</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Egresado del programa de Chief Technology Officer, Haas School of Business, Berkeley </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Certificado en Applied Gen-AI for Digital Transformation por el MIT</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Experiencia profesional viviendo en Malasia, Alemania y asignaciones en Reino Unido, Korea, Chile y Estados Unidos. </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Actualmente Director de Ingeniería de Software para Walmart México</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Aplicando Agentic AI para full automation regional de pruebas E2E para puntos de venta</a:t>
            </a:r>
          </a:p>
          <a:p>
            <a:pPr marL="342900" indent="-342900">
              <a:buFont typeface="Wingdings" pitchFamily="2" charset="2"/>
              <a:buChar char="ü"/>
            </a:pPr>
            <a:r>
              <a:rPr lang="es-MX" sz="2000" dirty="0">
                <a:latin typeface="Arial" panose="020B0604020202020204" pitchFamily="34" charset="0"/>
                <a:cs typeface="Arial" panose="020B0604020202020204" pitchFamily="34" charset="0"/>
              </a:rPr>
              <a:t>Me encanta enseñar, crecer gente y construir gran software</a:t>
            </a:r>
          </a:p>
        </p:txBody>
      </p:sp>
      <p:pic>
        <p:nvPicPr>
          <p:cNvPr id="1026" name="Picture 2">
            <a:extLst>
              <a:ext uri="{FF2B5EF4-FFF2-40B4-BE49-F238E27FC236}">
                <a16:creationId xmlns:a16="http://schemas.microsoft.com/office/drawing/2014/main" id="{6726B73B-C9F1-CD86-D4D5-B0A348370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277" y="850616"/>
            <a:ext cx="1848028" cy="1848028"/>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F0B41171-F217-B0B4-C0AD-9C4EA5FB9788}"/>
              </a:ext>
            </a:extLst>
          </p:cNvPr>
          <p:cNvSpPr txBox="1"/>
          <p:nvPr/>
        </p:nvSpPr>
        <p:spPr>
          <a:xfrm>
            <a:off x="2327564" y="290945"/>
            <a:ext cx="184731" cy="369332"/>
          </a:xfrm>
          <a:prstGeom prst="rect">
            <a:avLst/>
          </a:prstGeom>
          <a:noFill/>
        </p:spPr>
        <p:txBody>
          <a:bodyPr wrap="none" rtlCol="0">
            <a:spAutoFit/>
          </a:bodyPr>
          <a:lstStyle/>
          <a:p>
            <a:endParaRPr lang="es-MX" dirty="0"/>
          </a:p>
        </p:txBody>
      </p:sp>
      <p:sp>
        <p:nvSpPr>
          <p:cNvPr id="8" name="CuadroTexto 7">
            <a:extLst>
              <a:ext uri="{FF2B5EF4-FFF2-40B4-BE49-F238E27FC236}">
                <a16:creationId xmlns:a16="http://schemas.microsoft.com/office/drawing/2014/main" id="{F9449F23-32FE-1D78-2167-4B192632E44A}"/>
              </a:ext>
            </a:extLst>
          </p:cNvPr>
          <p:cNvSpPr txBox="1"/>
          <p:nvPr/>
        </p:nvSpPr>
        <p:spPr>
          <a:xfrm>
            <a:off x="739089" y="637582"/>
            <a:ext cx="6099462" cy="400110"/>
          </a:xfrm>
          <a:prstGeom prst="rect">
            <a:avLst/>
          </a:prstGeom>
          <a:noFill/>
        </p:spPr>
        <p:txBody>
          <a:bodyPr wrap="square">
            <a:spAutoFit/>
          </a:bodyPr>
          <a:lstStyle/>
          <a:p>
            <a:r>
              <a:rPr lang="en-US" sz="2000" b="1" dirty="0"/>
              <a:t>Ricardo Ivison</a:t>
            </a:r>
            <a:endParaRPr lang="es-MX" sz="2000" b="1" dirty="0"/>
          </a:p>
        </p:txBody>
      </p:sp>
    </p:spTree>
    <p:extLst>
      <p:ext uri="{BB962C8B-B14F-4D97-AF65-F5344CB8AC3E}">
        <p14:creationId xmlns:p14="http://schemas.microsoft.com/office/powerpoint/2010/main" val="338209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EDE8DC"/>
        </a:solidFill>
        <a:effectLst/>
      </p:bgPr>
    </p:bg>
    <p:spTree>
      <p:nvGrpSpPr>
        <p:cNvPr id="1" name=""/>
        <p:cNvGrpSpPr/>
        <p:nvPr/>
      </p:nvGrpSpPr>
      <p:grpSpPr>
        <a:xfrm>
          <a:off x="0" y="0"/>
          <a:ext cx="0" cy="0"/>
          <a:chOff x="0" y="0"/>
          <a:chExt cx="0" cy="0"/>
        </a:xfrm>
      </p:grpSpPr>
      <p:sp>
        <p:nvSpPr>
          <p:cNvPr id="2" name="s3-forma-1"/>
          <p:cNvSpPr/>
          <p:nvPr/>
        </p:nvSpPr>
        <p:spPr>
          <a:xfrm>
            <a:off x="853390" y="520961"/>
            <a:ext cx="10484915" cy="5713"/>
          </a:xfrm>
          <a:prstGeom prst="rect">
            <a:avLst/>
          </a:prstGeom>
          <a:solidFill>
            <a:srgbClr val="C6BFAE"/>
          </a:solidFill>
          <a:ln/>
        </p:spPr>
        <p:txBody>
          <a:bodyPr/>
          <a:lstStyle/>
          <a:p>
            <a:endParaRPr lang="es-MX"/>
          </a:p>
        </p:txBody>
      </p:sp>
      <p:sp>
        <p:nvSpPr>
          <p:cNvPr id="3" name="s3-forma-2"/>
          <p:cNvSpPr/>
          <p:nvPr/>
        </p:nvSpPr>
        <p:spPr>
          <a:xfrm>
            <a:off x="853390" y="331715"/>
            <a:ext cx="81411" cy="81411"/>
          </a:xfrm>
          <a:prstGeom prst="ellipse">
            <a:avLst/>
          </a:prstGeom>
          <a:solidFill>
            <a:srgbClr val="AC321E"/>
          </a:solidFill>
          <a:ln/>
        </p:spPr>
        <p:txBody>
          <a:bodyPr/>
          <a:lstStyle/>
          <a:p>
            <a:endParaRPr lang="es-MX"/>
          </a:p>
        </p:txBody>
      </p:sp>
      <p:sp>
        <p:nvSpPr>
          <p:cNvPr id="4" name="s3-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3-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OBJETIVOS DEL MÓDULO</a:t>
            </a:r>
            <a:endParaRPr lang="en-US" sz="900" dirty="0"/>
          </a:p>
        </p:txBody>
      </p:sp>
      <p:sp>
        <p:nvSpPr>
          <p:cNvPr id="7" name="s3-texto-6"/>
          <p:cNvSpPr txBox="1"/>
          <p:nvPr/>
        </p:nvSpPr>
        <p:spPr>
          <a:xfrm>
            <a:off x="1342572" y="1451120"/>
            <a:ext cx="10076945" cy="331358"/>
          </a:xfrm>
          <a:prstGeom prst="rect">
            <a:avLst/>
          </a:prstGeom>
          <a:noFill/>
          <a:ln/>
        </p:spPr>
        <p:txBody>
          <a:bodyPr wrap="none" lIns="0" tIns="0" rIns="0" bIns="0" rtlCol="0" anchor="t"/>
          <a:lstStyle/>
          <a:p>
            <a:pPr marL="0" indent="0" algn="l">
              <a:lnSpc>
                <a:spcPts val="2425"/>
              </a:lnSpc>
              <a:buNone/>
            </a:pPr>
            <a:r>
              <a:rPr lang="en-US" sz="2204" b="1" kern="0" spc="-22" dirty="0">
                <a:solidFill>
                  <a:srgbClr val="16181D"/>
                </a:solidFill>
                <a:latin typeface="Georgia" pitchFamily="34" charset="0"/>
                <a:ea typeface="Georgia" pitchFamily="34" charset="-122"/>
                <a:cs typeface="Georgia" pitchFamily="34" charset="-120"/>
              </a:rPr>
              <a:t>Cinco objetivos; la fábrica es el medio para aprenderlos</a:t>
            </a:r>
            <a:endParaRPr lang="en-US" sz="2204" dirty="0"/>
          </a:p>
        </p:txBody>
      </p:sp>
      <p:sp>
        <p:nvSpPr>
          <p:cNvPr id="8" name="s3-forma-7"/>
          <p:cNvSpPr/>
          <p:nvPr/>
        </p:nvSpPr>
        <p:spPr>
          <a:xfrm>
            <a:off x="1342572" y="2050368"/>
            <a:ext cx="1495754" cy="2666576"/>
          </a:xfrm>
          <a:prstGeom prst="rect">
            <a:avLst/>
          </a:prstGeom>
          <a:solidFill>
            <a:srgbClr val="E3DCCB"/>
          </a:solidFill>
          <a:ln w="5713">
            <a:solidFill>
              <a:srgbClr val="C6BFAE"/>
            </a:solidFill>
            <a:prstDash val="solid"/>
          </a:ln>
        </p:spPr>
        <p:txBody>
          <a:bodyPr/>
          <a:lstStyle/>
          <a:p>
            <a:endParaRPr lang="es-MX"/>
          </a:p>
        </p:txBody>
      </p:sp>
      <p:sp>
        <p:nvSpPr>
          <p:cNvPr id="9" name="s3-texto-8"/>
          <p:cNvSpPr txBox="1"/>
          <p:nvPr/>
        </p:nvSpPr>
        <p:spPr>
          <a:xfrm>
            <a:off x="1531103" y="2210334"/>
            <a:ext cx="1185812"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01</a:t>
            </a:r>
            <a:endParaRPr lang="en-US" sz="2519" dirty="0"/>
          </a:p>
        </p:txBody>
      </p:sp>
      <p:sp>
        <p:nvSpPr>
          <p:cNvPr id="10" name="s3-texto-9"/>
          <p:cNvSpPr txBox="1"/>
          <p:nvPr/>
        </p:nvSpPr>
        <p:spPr>
          <a:xfrm>
            <a:off x="1531103" y="2650240"/>
            <a:ext cx="1185812" cy="217097"/>
          </a:xfrm>
          <a:prstGeom prst="rect">
            <a:avLst/>
          </a:prstGeom>
          <a:noFill/>
          <a:ln/>
        </p:spPr>
        <p:txBody>
          <a:bodyPr wrap="non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AGENTES</a:t>
            </a:r>
            <a:endParaRPr lang="en-US" sz="1440" dirty="0"/>
          </a:p>
        </p:txBody>
      </p:sp>
      <p:sp>
        <p:nvSpPr>
          <p:cNvPr id="11" name="s3-texto-10"/>
          <p:cNvSpPr txBox="1"/>
          <p:nvPr/>
        </p:nvSpPr>
        <p:spPr>
          <a:xfrm>
            <a:off x="1531103" y="2978117"/>
            <a:ext cx="1185812" cy="921947"/>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Qué es un agente, en qué se diferencia de un workflow y sus componentes</a:t>
            </a:r>
            <a:endParaRPr lang="en-US" sz="1080" dirty="0"/>
          </a:p>
        </p:txBody>
      </p:sp>
      <p:sp>
        <p:nvSpPr>
          <p:cNvPr id="12" name="s3-texto-11"/>
          <p:cNvSpPr txBox="1"/>
          <p:nvPr/>
        </p:nvSpPr>
        <p:spPr>
          <a:xfrm>
            <a:off x="1531103" y="4012005"/>
            <a:ext cx="1185812" cy="142827"/>
          </a:xfrm>
          <a:prstGeom prst="rect">
            <a:avLst/>
          </a:prstGeom>
          <a:noFill/>
          <a:ln/>
        </p:spPr>
        <p:txBody>
          <a:bodyPr wrap="non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Sesión 1</a:t>
            </a:r>
            <a:endParaRPr lang="en-US" sz="990" dirty="0"/>
          </a:p>
        </p:txBody>
      </p:sp>
      <p:sp>
        <p:nvSpPr>
          <p:cNvPr id="13" name="s3-forma-12"/>
          <p:cNvSpPr/>
          <p:nvPr/>
        </p:nvSpPr>
        <p:spPr>
          <a:xfrm>
            <a:off x="2975439" y="2050368"/>
            <a:ext cx="2050100" cy="2666576"/>
          </a:xfrm>
          <a:prstGeom prst="rect">
            <a:avLst/>
          </a:prstGeom>
          <a:solidFill>
            <a:srgbClr val="E3DCCB"/>
          </a:solidFill>
          <a:ln w="5713">
            <a:solidFill>
              <a:srgbClr val="C6BFAE"/>
            </a:solidFill>
            <a:prstDash val="solid"/>
          </a:ln>
        </p:spPr>
        <p:txBody>
          <a:bodyPr/>
          <a:lstStyle/>
          <a:p>
            <a:endParaRPr lang="es-MX"/>
          </a:p>
        </p:txBody>
      </p:sp>
      <p:sp>
        <p:nvSpPr>
          <p:cNvPr id="14" name="s3-texto-13"/>
          <p:cNvSpPr txBox="1"/>
          <p:nvPr/>
        </p:nvSpPr>
        <p:spPr>
          <a:xfrm>
            <a:off x="3163971" y="2210334"/>
            <a:ext cx="1773420"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02</a:t>
            </a:r>
            <a:endParaRPr lang="en-US" sz="2519" dirty="0"/>
          </a:p>
        </p:txBody>
      </p:sp>
      <p:sp>
        <p:nvSpPr>
          <p:cNvPr id="15" name="s3-texto-14"/>
          <p:cNvSpPr txBox="1"/>
          <p:nvPr/>
        </p:nvSpPr>
        <p:spPr>
          <a:xfrm>
            <a:off x="3163971" y="2650240"/>
            <a:ext cx="1773420" cy="436425"/>
          </a:xfrm>
          <a:prstGeom prst="rect">
            <a:avLst/>
          </a:prstGeom>
          <a:noFill/>
          <a:ln/>
        </p:spPr>
        <p:txBody>
          <a:bodyPr wrap="squar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PATRONES DE </a:t>
            </a:r>
          </a:p>
          <a:p>
            <a:pPr marL="0" indent="0" algn="l">
              <a:lnSpc>
                <a:spcPts val="1727"/>
              </a:lnSpc>
              <a:buNone/>
            </a:pPr>
            <a:r>
              <a:rPr lang="en-US" sz="1440" b="1" kern="0" spc="-14" dirty="0">
                <a:solidFill>
                  <a:srgbClr val="16181D"/>
                </a:solidFill>
                <a:latin typeface="Georgia" pitchFamily="34" charset="0"/>
              </a:rPr>
              <a:t>RAZONAMIENTO</a:t>
            </a:r>
            <a:endParaRPr lang="en-US" sz="1440" dirty="0"/>
          </a:p>
        </p:txBody>
      </p:sp>
      <p:sp>
        <p:nvSpPr>
          <p:cNvPr id="16" name="s3-texto-15"/>
          <p:cNvSpPr txBox="1"/>
          <p:nvPr/>
        </p:nvSpPr>
        <p:spPr>
          <a:xfrm>
            <a:off x="3163971" y="3197446"/>
            <a:ext cx="1773420" cy="538100"/>
          </a:xfrm>
          <a:prstGeom prst="rect">
            <a:avLst/>
          </a:prstGeom>
          <a:noFill/>
          <a:ln/>
        </p:spPr>
        <p:txBody>
          <a:bodyPr wrap="square" lIns="0" tIns="0" rIns="0" bIns="0" rtlCol="0" anchor="t"/>
          <a:lstStyle/>
          <a:p>
            <a:pPr marL="0" indent="0" algn="l">
              <a:lnSpc>
                <a:spcPts val="1512"/>
              </a:lnSpc>
              <a:buNone/>
            </a:pPr>
            <a:r>
              <a:rPr lang="en-US" sz="1080" dirty="0" err="1">
                <a:solidFill>
                  <a:srgbClr val="585E6F"/>
                </a:solidFill>
                <a:latin typeface="Arial" pitchFamily="34" charset="0"/>
                <a:ea typeface="Arial" pitchFamily="34" charset="-122"/>
                <a:cs typeface="Arial" pitchFamily="34" charset="-120"/>
              </a:rPr>
              <a:t>Entender</a:t>
            </a:r>
            <a:r>
              <a:rPr lang="en-US" sz="1080" dirty="0">
                <a:solidFill>
                  <a:srgbClr val="585E6F"/>
                </a:solidFill>
                <a:latin typeface="Arial" pitchFamily="34" charset="0"/>
                <a:ea typeface="Arial" pitchFamily="34" charset="-122"/>
                <a:cs typeface="Arial" pitchFamily="34" charset="-120"/>
              </a:rPr>
              <a:t> y </a:t>
            </a:r>
            <a:r>
              <a:rPr lang="en-US" sz="1080" dirty="0" err="1">
                <a:solidFill>
                  <a:srgbClr val="585E6F"/>
                </a:solidFill>
                <a:latin typeface="Arial" pitchFamily="34" charset="0"/>
                <a:ea typeface="Arial" pitchFamily="34" charset="-122"/>
                <a:cs typeface="Arial" pitchFamily="34" charset="-120"/>
              </a:rPr>
              <a:t>seleccionar</a:t>
            </a:r>
            <a:r>
              <a:rPr lang="en-US" sz="1080" dirty="0">
                <a:solidFill>
                  <a:srgbClr val="585E6F"/>
                </a:solidFill>
                <a:latin typeface="Arial" pitchFamily="34" charset="0"/>
                <a:ea typeface="Arial" pitchFamily="34" charset="-122"/>
                <a:cs typeface="Arial" pitchFamily="34" charset="-120"/>
              </a:rPr>
              <a:t> </a:t>
            </a:r>
            <a:r>
              <a:rPr lang="en-US" sz="1080" dirty="0" err="1">
                <a:solidFill>
                  <a:srgbClr val="585E6F"/>
                </a:solidFill>
                <a:latin typeface="Arial" pitchFamily="34" charset="0"/>
                <a:ea typeface="Arial" pitchFamily="34" charset="-122"/>
                <a:cs typeface="Arial" pitchFamily="34" charset="-120"/>
              </a:rPr>
              <a:t>el</a:t>
            </a:r>
            <a:r>
              <a:rPr lang="en-US" sz="1080" dirty="0">
                <a:solidFill>
                  <a:srgbClr val="585E6F"/>
                </a:solidFill>
                <a:latin typeface="Arial" pitchFamily="34" charset="0"/>
                <a:ea typeface="Arial" pitchFamily="34" charset="-122"/>
                <a:cs typeface="Arial" pitchFamily="34" charset="-120"/>
              </a:rPr>
              <a:t> patron de </a:t>
            </a:r>
            <a:r>
              <a:rPr lang="en-US" sz="1080" dirty="0" err="1">
                <a:solidFill>
                  <a:srgbClr val="585E6F"/>
                </a:solidFill>
                <a:latin typeface="Arial" pitchFamily="34" charset="0"/>
                <a:ea typeface="Arial" pitchFamily="34" charset="-122"/>
                <a:cs typeface="Arial" pitchFamily="34" charset="-120"/>
              </a:rPr>
              <a:t>razonamiento</a:t>
            </a:r>
            <a:r>
              <a:rPr lang="en-US" sz="1080" dirty="0">
                <a:solidFill>
                  <a:srgbClr val="585E6F"/>
                </a:solidFill>
                <a:latin typeface="Arial" pitchFamily="34" charset="0"/>
                <a:ea typeface="Arial" pitchFamily="34" charset="-122"/>
                <a:cs typeface="Arial" pitchFamily="34" charset="-120"/>
              </a:rPr>
              <a:t> de un </a:t>
            </a:r>
            <a:r>
              <a:rPr lang="en-US" sz="1080" dirty="0" err="1">
                <a:solidFill>
                  <a:srgbClr val="585E6F"/>
                </a:solidFill>
                <a:latin typeface="Arial" pitchFamily="34" charset="0"/>
                <a:ea typeface="Arial" pitchFamily="34" charset="-122"/>
                <a:cs typeface="Arial" pitchFamily="34" charset="-120"/>
              </a:rPr>
              <a:t>agente</a:t>
            </a:r>
            <a:endParaRPr lang="en-US" sz="1080" dirty="0"/>
          </a:p>
        </p:txBody>
      </p:sp>
      <p:sp>
        <p:nvSpPr>
          <p:cNvPr id="17" name="s3-texto-16"/>
          <p:cNvSpPr txBox="1"/>
          <p:nvPr/>
        </p:nvSpPr>
        <p:spPr>
          <a:xfrm>
            <a:off x="3163971" y="3847486"/>
            <a:ext cx="1773420" cy="142827"/>
          </a:xfrm>
          <a:prstGeom prst="rect">
            <a:avLst/>
          </a:prstGeom>
          <a:noFill/>
          <a:ln/>
        </p:spPr>
        <p:txBody>
          <a:bodyPr wrap="non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Sesión 1</a:t>
            </a:r>
            <a:endParaRPr lang="en-US" sz="990" dirty="0"/>
          </a:p>
        </p:txBody>
      </p:sp>
      <p:sp>
        <p:nvSpPr>
          <p:cNvPr id="18" name="s3-forma-17"/>
          <p:cNvSpPr/>
          <p:nvPr/>
        </p:nvSpPr>
        <p:spPr>
          <a:xfrm>
            <a:off x="5162653" y="2050368"/>
            <a:ext cx="1907541" cy="2666576"/>
          </a:xfrm>
          <a:prstGeom prst="rect">
            <a:avLst/>
          </a:prstGeom>
          <a:solidFill>
            <a:srgbClr val="E3DCCB"/>
          </a:solidFill>
          <a:ln w="5713">
            <a:solidFill>
              <a:srgbClr val="C6BFAE"/>
            </a:solidFill>
            <a:prstDash val="solid"/>
          </a:ln>
        </p:spPr>
        <p:txBody>
          <a:bodyPr/>
          <a:lstStyle/>
          <a:p>
            <a:endParaRPr lang="es-MX"/>
          </a:p>
        </p:txBody>
      </p:sp>
      <p:sp>
        <p:nvSpPr>
          <p:cNvPr id="19" name="s3-texto-18"/>
          <p:cNvSpPr txBox="1"/>
          <p:nvPr/>
        </p:nvSpPr>
        <p:spPr>
          <a:xfrm>
            <a:off x="5351184" y="2210334"/>
            <a:ext cx="1622307"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03</a:t>
            </a:r>
            <a:endParaRPr lang="en-US" sz="2519" dirty="0"/>
          </a:p>
        </p:txBody>
      </p:sp>
      <p:sp>
        <p:nvSpPr>
          <p:cNvPr id="20" name="s3-texto-19"/>
          <p:cNvSpPr txBox="1"/>
          <p:nvPr/>
        </p:nvSpPr>
        <p:spPr>
          <a:xfrm>
            <a:off x="5351184" y="2650240"/>
            <a:ext cx="1622307" cy="436425"/>
          </a:xfrm>
          <a:prstGeom prst="rect">
            <a:avLst/>
          </a:prstGeom>
          <a:noFill/>
          <a:ln/>
        </p:spPr>
        <p:txBody>
          <a:bodyPr wrap="squar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ORQUESTACIÓN Y HUMANO</a:t>
            </a:r>
            <a:endParaRPr lang="en-US" sz="1440" dirty="0"/>
          </a:p>
        </p:txBody>
      </p:sp>
      <p:sp>
        <p:nvSpPr>
          <p:cNvPr id="21" name="s3-texto-20"/>
          <p:cNvSpPr txBox="1"/>
          <p:nvPr/>
        </p:nvSpPr>
        <p:spPr>
          <a:xfrm>
            <a:off x="5351184" y="3197446"/>
            <a:ext cx="1622307" cy="538100"/>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Orquestar agentes y decidir dónde interviene una persona</a:t>
            </a:r>
            <a:endParaRPr lang="en-US" sz="1080" dirty="0"/>
          </a:p>
        </p:txBody>
      </p:sp>
      <p:sp>
        <p:nvSpPr>
          <p:cNvPr id="22" name="s3-texto-21"/>
          <p:cNvSpPr txBox="1"/>
          <p:nvPr/>
        </p:nvSpPr>
        <p:spPr>
          <a:xfrm>
            <a:off x="5351184" y="3847486"/>
            <a:ext cx="1622307" cy="142827"/>
          </a:xfrm>
          <a:prstGeom prst="rect">
            <a:avLst/>
          </a:prstGeom>
          <a:noFill/>
          <a:ln/>
        </p:spPr>
        <p:txBody>
          <a:bodyPr wrap="non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Sesión 2</a:t>
            </a:r>
            <a:endParaRPr lang="en-US" sz="990" dirty="0"/>
          </a:p>
        </p:txBody>
      </p:sp>
      <p:sp>
        <p:nvSpPr>
          <p:cNvPr id="23" name="s3-forma-22"/>
          <p:cNvSpPr/>
          <p:nvPr/>
        </p:nvSpPr>
        <p:spPr>
          <a:xfrm>
            <a:off x="7207308" y="2050368"/>
            <a:ext cx="2008948" cy="2666576"/>
          </a:xfrm>
          <a:prstGeom prst="rect">
            <a:avLst/>
          </a:prstGeom>
          <a:solidFill>
            <a:srgbClr val="E3DCCB"/>
          </a:solidFill>
          <a:ln w="5713">
            <a:solidFill>
              <a:srgbClr val="C6BFAE"/>
            </a:solidFill>
            <a:prstDash val="solid"/>
          </a:ln>
        </p:spPr>
        <p:txBody>
          <a:bodyPr/>
          <a:lstStyle/>
          <a:p>
            <a:endParaRPr lang="es-MX"/>
          </a:p>
        </p:txBody>
      </p:sp>
      <p:sp>
        <p:nvSpPr>
          <p:cNvPr id="24" name="s3-texto-23"/>
          <p:cNvSpPr txBox="1"/>
          <p:nvPr/>
        </p:nvSpPr>
        <p:spPr>
          <a:xfrm>
            <a:off x="7395839" y="2210334"/>
            <a:ext cx="1729799"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04</a:t>
            </a:r>
            <a:endParaRPr lang="en-US" sz="2519" dirty="0"/>
          </a:p>
        </p:txBody>
      </p:sp>
      <p:sp>
        <p:nvSpPr>
          <p:cNvPr id="25" name="s3-texto-24"/>
          <p:cNvSpPr txBox="1"/>
          <p:nvPr/>
        </p:nvSpPr>
        <p:spPr>
          <a:xfrm>
            <a:off x="7395839" y="2650240"/>
            <a:ext cx="1729799" cy="217097"/>
          </a:xfrm>
          <a:prstGeom prst="rect">
            <a:avLst/>
          </a:prstGeom>
          <a:noFill/>
          <a:ln/>
        </p:spPr>
        <p:txBody>
          <a:bodyPr wrap="non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ARQUITECTURAS</a:t>
            </a:r>
            <a:endParaRPr lang="en-US" sz="1440" dirty="0"/>
          </a:p>
        </p:txBody>
      </p:sp>
      <p:sp>
        <p:nvSpPr>
          <p:cNvPr id="26" name="s3-texto-25"/>
          <p:cNvSpPr txBox="1"/>
          <p:nvPr/>
        </p:nvSpPr>
        <p:spPr>
          <a:xfrm>
            <a:off x="7395839" y="2978117"/>
            <a:ext cx="1729799" cy="538100"/>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Elegir la arquitectura de orquestación y justificar su costo</a:t>
            </a:r>
            <a:endParaRPr lang="en-US" sz="1080" dirty="0"/>
          </a:p>
        </p:txBody>
      </p:sp>
      <p:sp>
        <p:nvSpPr>
          <p:cNvPr id="27" name="s3-texto-26"/>
          <p:cNvSpPr txBox="1"/>
          <p:nvPr/>
        </p:nvSpPr>
        <p:spPr>
          <a:xfrm>
            <a:off x="7395839" y="3628158"/>
            <a:ext cx="1729799" cy="142827"/>
          </a:xfrm>
          <a:prstGeom prst="rect">
            <a:avLst/>
          </a:prstGeom>
          <a:noFill/>
          <a:ln/>
        </p:spPr>
        <p:txBody>
          <a:bodyPr wrap="non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Sesiones 2 y 3</a:t>
            </a:r>
            <a:endParaRPr lang="en-US" sz="990" dirty="0"/>
          </a:p>
        </p:txBody>
      </p:sp>
      <p:sp>
        <p:nvSpPr>
          <p:cNvPr id="28" name="s3-forma-27"/>
          <p:cNvSpPr/>
          <p:nvPr/>
        </p:nvSpPr>
        <p:spPr>
          <a:xfrm>
            <a:off x="9353370" y="2050368"/>
            <a:ext cx="1495754" cy="2666576"/>
          </a:xfrm>
          <a:prstGeom prst="rect">
            <a:avLst/>
          </a:prstGeom>
          <a:solidFill>
            <a:srgbClr val="E3DCCB"/>
          </a:solidFill>
          <a:ln w="5713">
            <a:solidFill>
              <a:srgbClr val="C6BFAE"/>
            </a:solidFill>
            <a:prstDash val="solid"/>
          </a:ln>
        </p:spPr>
        <p:txBody>
          <a:bodyPr/>
          <a:lstStyle/>
          <a:p>
            <a:endParaRPr lang="es-MX"/>
          </a:p>
        </p:txBody>
      </p:sp>
      <p:sp>
        <p:nvSpPr>
          <p:cNvPr id="29" name="s3-texto-28"/>
          <p:cNvSpPr txBox="1"/>
          <p:nvPr/>
        </p:nvSpPr>
        <p:spPr>
          <a:xfrm>
            <a:off x="9541901" y="2210334"/>
            <a:ext cx="1185812" cy="377063"/>
          </a:xfrm>
          <a:prstGeom prst="rect">
            <a:avLst/>
          </a:prstGeom>
          <a:noFill/>
          <a:ln/>
        </p:spPr>
        <p:txBody>
          <a:bodyPr wrap="none" lIns="0" tIns="0" rIns="0" bIns="0" rtlCol="0" anchor="t"/>
          <a:lstStyle/>
          <a:p>
            <a:pPr marL="0" indent="0" algn="l">
              <a:lnSpc>
                <a:spcPts val="2519"/>
              </a:lnSpc>
              <a:buNone/>
            </a:pPr>
            <a:r>
              <a:rPr lang="en-US" sz="2519" b="1" dirty="0">
                <a:solidFill>
                  <a:srgbClr val="984514"/>
                </a:solidFill>
                <a:latin typeface="Georgia" pitchFamily="34" charset="0"/>
                <a:ea typeface="Georgia" pitchFamily="34" charset="-122"/>
                <a:cs typeface="Georgia" pitchFamily="34" charset="-120"/>
              </a:rPr>
              <a:t>05</a:t>
            </a:r>
            <a:endParaRPr lang="en-US" sz="2519" dirty="0"/>
          </a:p>
        </p:txBody>
      </p:sp>
      <p:sp>
        <p:nvSpPr>
          <p:cNvPr id="30" name="s3-texto-29"/>
          <p:cNvSpPr txBox="1"/>
          <p:nvPr/>
        </p:nvSpPr>
        <p:spPr>
          <a:xfrm>
            <a:off x="9541901" y="2650240"/>
            <a:ext cx="1185812" cy="436425"/>
          </a:xfrm>
          <a:prstGeom prst="rect">
            <a:avLst/>
          </a:prstGeom>
          <a:noFill/>
          <a:ln/>
        </p:spPr>
        <p:txBody>
          <a:bodyPr wrap="square" lIns="0" tIns="0" rIns="0" bIns="0" rtlCol="0" anchor="t"/>
          <a:lstStyle/>
          <a:p>
            <a:pPr marL="0" indent="0" algn="l">
              <a:lnSpc>
                <a:spcPts val="1727"/>
              </a:lnSpc>
              <a:buNone/>
            </a:pPr>
            <a:r>
              <a:rPr lang="en-US" sz="1440" b="1" kern="0" spc="-14" dirty="0">
                <a:solidFill>
                  <a:srgbClr val="16181D"/>
                </a:solidFill>
                <a:latin typeface="Georgia" pitchFamily="34" charset="0"/>
                <a:ea typeface="Georgia" pitchFamily="34" charset="-122"/>
                <a:cs typeface="Georgia" pitchFamily="34" charset="-120"/>
              </a:rPr>
              <a:t>CASO PRÁCTICO</a:t>
            </a:r>
            <a:endParaRPr lang="en-US" sz="1440" dirty="0"/>
          </a:p>
        </p:txBody>
      </p:sp>
      <p:sp>
        <p:nvSpPr>
          <p:cNvPr id="31" name="s3-texto-30"/>
          <p:cNvSpPr txBox="1"/>
          <p:nvPr/>
        </p:nvSpPr>
        <p:spPr>
          <a:xfrm>
            <a:off x="9541901" y="3197446"/>
            <a:ext cx="1185812" cy="921947"/>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Aplicarlo de forma segura: de la historia de usuario al código probado</a:t>
            </a:r>
            <a:endParaRPr lang="en-US" sz="1080" dirty="0"/>
          </a:p>
        </p:txBody>
      </p:sp>
      <p:sp>
        <p:nvSpPr>
          <p:cNvPr id="32" name="s3-texto-31"/>
          <p:cNvSpPr txBox="1"/>
          <p:nvPr/>
        </p:nvSpPr>
        <p:spPr>
          <a:xfrm>
            <a:off x="9541901" y="4231333"/>
            <a:ext cx="1185812" cy="291367"/>
          </a:xfrm>
          <a:prstGeom prst="rect">
            <a:avLst/>
          </a:prstGeom>
          <a:noFill/>
          <a:ln/>
        </p:spPr>
        <p:txBody>
          <a:bodyPr wrap="square" lIns="0" tIns="0" rIns="0" bIns="0" rtlCol="0" anchor="t"/>
          <a:lstStyle/>
          <a:p>
            <a:pPr marL="0" indent="0" algn="l">
              <a:lnSpc>
                <a:spcPts val="1188"/>
              </a:lnSpc>
              <a:buNone/>
            </a:pPr>
            <a:r>
              <a:rPr lang="en-US" sz="990" b="1" dirty="0">
                <a:solidFill>
                  <a:srgbClr val="0033A0"/>
                </a:solidFill>
                <a:latin typeface="Arial" pitchFamily="34" charset="0"/>
                <a:ea typeface="Arial" pitchFamily="34" charset="-122"/>
                <a:cs typeface="Arial" pitchFamily="34" charset="-120"/>
              </a:rPr>
              <a:t>Todas · seguridad en la 4</a:t>
            </a:r>
            <a:endParaRPr lang="en-US" sz="990" dirty="0"/>
          </a:p>
        </p:txBody>
      </p:sp>
      <p:sp>
        <p:nvSpPr>
          <p:cNvPr id="33" name="s3-forma-32"/>
          <p:cNvSpPr/>
          <p:nvPr/>
        </p:nvSpPr>
        <p:spPr>
          <a:xfrm>
            <a:off x="1342572" y="4991172"/>
            <a:ext cx="9506551" cy="452404"/>
          </a:xfrm>
          <a:prstGeom prst="rect">
            <a:avLst/>
          </a:prstGeom>
          <a:solidFill>
            <a:srgbClr val="E2D3C2"/>
          </a:solidFill>
          <a:ln/>
        </p:spPr>
        <p:txBody>
          <a:bodyPr/>
          <a:lstStyle/>
          <a:p>
            <a:endParaRPr lang="es-MX"/>
          </a:p>
        </p:txBody>
      </p:sp>
      <p:sp>
        <p:nvSpPr>
          <p:cNvPr id="34" name="s3-texto-33"/>
          <p:cNvSpPr txBox="1"/>
          <p:nvPr/>
        </p:nvSpPr>
        <p:spPr>
          <a:xfrm>
            <a:off x="1502538" y="5128285"/>
            <a:ext cx="9737817" cy="177105"/>
          </a:xfrm>
          <a:prstGeom prst="rect">
            <a:avLst/>
          </a:prstGeom>
          <a:noFill/>
          <a:ln/>
        </p:spPr>
        <p:txBody>
          <a:bodyPr wrap="non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Cada concepto se presenta con su definición, un diagrama y un ejemplo en código; después se aplica en la fábrica.</a:t>
            </a:r>
            <a:endParaRPr lang="en-US" sz="1260" dirty="0"/>
          </a:p>
        </p:txBody>
      </p:sp>
      <p:sp>
        <p:nvSpPr>
          <p:cNvPr id="35" name="s3-texto-3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Módulo 3 · Construcción de Sistemas Agénticos</a:t>
            </a:r>
            <a:endParaRPr lang="en-US" sz="1080" dirty="0"/>
          </a:p>
        </p:txBody>
      </p:sp>
      <p:sp>
        <p:nvSpPr>
          <p:cNvPr id="36" name="s3-forma-35"/>
          <p:cNvSpPr/>
          <p:nvPr/>
        </p:nvSpPr>
        <p:spPr>
          <a:xfrm>
            <a:off x="853390" y="6411138"/>
            <a:ext cx="10484915" cy="5713"/>
          </a:xfrm>
          <a:prstGeom prst="rect">
            <a:avLst/>
          </a:prstGeom>
          <a:solidFill>
            <a:srgbClr val="DBD4C4"/>
          </a:solidFill>
          <a:ln/>
        </p:spPr>
        <p:txBody>
          <a:bodyPr/>
          <a:lstStyle/>
          <a:p>
            <a:endParaRPr lang="es-MX"/>
          </a:p>
        </p:txBody>
      </p:sp>
      <p:pic>
        <p:nvPicPr>
          <p:cNvPr id="37" name="s3-logo-36" descr="preencoded.png"/>
          <p:cNvPicPr>
            <a:picLocks noChangeAspect="1"/>
          </p:cNvPicPr>
          <p:nvPr/>
        </p:nvPicPr>
        <p:blipFill>
          <a:blip r:embed="rId3"/>
          <a:stretch>
            <a:fillRect/>
          </a:stretch>
        </p:blipFill>
        <p:spPr>
          <a:xfrm>
            <a:off x="853390" y="6465055"/>
            <a:ext cx="687800" cy="212455"/>
          </a:xfrm>
          <a:prstGeom prst="rect">
            <a:avLst/>
          </a:prstGeom>
        </p:spPr>
      </p:pic>
      <p:sp>
        <p:nvSpPr>
          <p:cNvPr id="38" name="s3-forma-37"/>
          <p:cNvSpPr/>
          <p:nvPr/>
        </p:nvSpPr>
        <p:spPr>
          <a:xfrm>
            <a:off x="1659380" y="6519865"/>
            <a:ext cx="3057208" cy="102835"/>
          </a:xfrm>
          <a:prstGeom prst="rect">
            <a:avLst/>
          </a:prstGeom>
          <a:ln/>
        </p:spPr>
        <p:txBody>
          <a:bodyPr/>
          <a:lstStyle/>
          <a:p>
            <a:endParaRPr lang="es-MX"/>
          </a:p>
        </p:txBody>
      </p:sp>
      <p:sp>
        <p:nvSpPr>
          <p:cNvPr id="39" name="s3-forma-38"/>
          <p:cNvSpPr/>
          <p:nvPr/>
        </p:nvSpPr>
        <p:spPr>
          <a:xfrm>
            <a:off x="1659380" y="6519865"/>
            <a:ext cx="5713" cy="102835"/>
          </a:xfrm>
          <a:prstGeom prst="rect">
            <a:avLst/>
          </a:prstGeom>
          <a:solidFill>
            <a:srgbClr val="C6BFAE"/>
          </a:solidFill>
          <a:ln/>
        </p:spPr>
        <p:txBody>
          <a:bodyPr/>
          <a:lstStyle/>
          <a:p>
            <a:endParaRPr lang="es-MX"/>
          </a:p>
        </p:txBody>
      </p:sp>
      <p:sp>
        <p:nvSpPr>
          <p:cNvPr id="40" name="s3-texto-39"/>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1" name="s3-texto-40"/>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 / 35</a:t>
            </a:r>
            <a:endParaRPr lang="en-US" sz="745" dirty="0"/>
          </a:p>
        </p:txBody>
      </p:sp>
      <p:sp>
        <p:nvSpPr>
          <p:cNvPr id="42" name="s3-forma-41"/>
          <p:cNvSpPr/>
          <p:nvPr/>
        </p:nvSpPr>
        <p:spPr>
          <a:xfrm>
            <a:off x="0" y="0"/>
            <a:ext cx="1044957" cy="17139"/>
          </a:xfrm>
          <a:prstGeom prst="rect">
            <a:avLst/>
          </a:prstGeom>
          <a:solidFill>
            <a:srgbClr val="0033A0"/>
          </a:solidFill>
          <a:ln/>
        </p:spPr>
        <p:txBody>
          <a:bodyPr/>
          <a:lstStyle/>
          <a:p>
            <a:endParaRPr lang="es-MX"/>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EDE8DC"/>
        </a:solidFill>
        <a:effectLst/>
      </p:bgPr>
    </p:bg>
    <p:spTree>
      <p:nvGrpSpPr>
        <p:cNvPr id="1" name=""/>
        <p:cNvGrpSpPr/>
        <p:nvPr/>
      </p:nvGrpSpPr>
      <p:grpSpPr>
        <a:xfrm>
          <a:off x="0" y="0"/>
          <a:ext cx="0" cy="0"/>
          <a:chOff x="0" y="0"/>
          <a:chExt cx="0" cy="0"/>
        </a:xfrm>
      </p:grpSpPr>
      <p:sp>
        <p:nvSpPr>
          <p:cNvPr id="2" name="s4-forma-1"/>
          <p:cNvSpPr/>
          <p:nvPr/>
        </p:nvSpPr>
        <p:spPr>
          <a:xfrm>
            <a:off x="853390" y="520961"/>
            <a:ext cx="10484915" cy="5713"/>
          </a:xfrm>
          <a:prstGeom prst="rect">
            <a:avLst/>
          </a:prstGeom>
          <a:solidFill>
            <a:srgbClr val="C6BFAE"/>
          </a:solidFill>
          <a:ln/>
        </p:spPr>
        <p:txBody>
          <a:bodyPr/>
          <a:lstStyle/>
          <a:p>
            <a:endParaRPr lang="es-MX"/>
          </a:p>
        </p:txBody>
      </p:sp>
      <p:sp>
        <p:nvSpPr>
          <p:cNvPr id="3" name="s4-forma-2"/>
          <p:cNvSpPr/>
          <p:nvPr/>
        </p:nvSpPr>
        <p:spPr>
          <a:xfrm>
            <a:off x="853390" y="331715"/>
            <a:ext cx="81411" cy="81411"/>
          </a:xfrm>
          <a:prstGeom prst="ellipse">
            <a:avLst/>
          </a:prstGeom>
          <a:solidFill>
            <a:srgbClr val="AC321E"/>
          </a:solidFill>
          <a:ln/>
        </p:spPr>
        <p:txBody>
          <a:bodyPr/>
          <a:lstStyle/>
          <a:p>
            <a:endParaRPr lang="es-MX"/>
          </a:p>
        </p:txBody>
      </p:sp>
      <p:sp>
        <p:nvSpPr>
          <p:cNvPr id="4" name="s4-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4-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4-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EL PROYECTO · TU FÁBRICA DE SOFTWARE</a:t>
            </a:r>
            <a:endParaRPr lang="en-US" sz="900" dirty="0"/>
          </a:p>
        </p:txBody>
      </p:sp>
      <p:sp>
        <p:nvSpPr>
          <p:cNvPr id="7" name="s4-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Seis agentes, de la historia a la app</a:t>
            </a:r>
            <a:endParaRPr lang="en-US" sz="2879" dirty="0"/>
          </a:p>
        </p:txBody>
      </p:sp>
      <p:sp>
        <p:nvSpPr>
          <p:cNvPr id="8" name="s4-forma-7"/>
          <p:cNvSpPr/>
          <p:nvPr/>
        </p:nvSpPr>
        <p:spPr>
          <a:xfrm>
            <a:off x="1342572" y="2342359"/>
            <a:ext cx="1713922" cy="628438"/>
          </a:xfrm>
          <a:prstGeom prst="rect">
            <a:avLst/>
          </a:prstGeom>
          <a:solidFill>
            <a:srgbClr val="E3DCCB"/>
          </a:solidFill>
          <a:ln w="5713">
            <a:solidFill>
              <a:srgbClr val="585E6F"/>
            </a:solidFill>
            <a:prstDash val="solid"/>
          </a:ln>
        </p:spPr>
        <p:txBody>
          <a:bodyPr/>
          <a:lstStyle/>
          <a:p>
            <a:endParaRPr lang="es-MX"/>
          </a:p>
        </p:txBody>
      </p:sp>
      <p:sp>
        <p:nvSpPr>
          <p:cNvPr id="9" name="s4-texto-8"/>
          <p:cNvSpPr txBox="1"/>
          <p:nvPr/>
        </p:nvSpPr>
        <p:spPr>
          <a:xfrm>
            <a:off x="1878886" y="2473760"/>
            <a:ext cx="64129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Historia</a:t>
            </a:r>
            <a:endParaRPr lang="en-US" sz="1260" dirty="0"/>
          </a:p>
        </p:txBody>
      </p:sp>
      <p:sp>
        <p:nvSpPr>
          <p:cNvPr id="10" name="s4-texto-9"/>
          <p:cNvSpPr txBox="1"/>
          <p:nvPr/>
        </p:nvSpPr>
        <p:spPr>
          <a:xfrm>
            <a:off x="1856481" y="2679431"/>
            <a:ext cx="68601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de usuario</a:t>
            </a:r>
            <a:endParaRPr lang="en-US" sz="1080" dirty="0"/>
          </a:p>
        </p:txBody>
      </p:sp>
      <p:sp>
        <p:nvSpPr>
          <p:cNvPr id="11" name="s4-forma-10"/>
          <p:cNvSpPr/>
          <p:nvPr/>
        </p:nvSpPr>
        <p:spPr>
          <a:xfrm>
            <a:off x="3559244" y="2342359"/>
            <a:ext cx="1713922" cy="628438"/>
          </a:xfrm>
          <a:prstGeom prst="rect">
            <a:avLst/>
          </a:prstGeom>
          <a:solidFill>
            <a:srgbClr val="E3DCCB"/>
          </a:solidFill>
          <a:ln w="5713">
            <a:solidFill>
              <a:srgbClr val="585E6F"/>
            </a:solidFill>
            <a:prstDash val="solid"/>
          </a:ln>
        </p:spPr>
        <p:txBody>
          <a:bodyPr/>
          <a:lstStyle/>
          <a:p>
            <a:endParaRPr lang="es-MX"/>
          </a:p>
        </p:txBody>
      </p:sp>
      <p:sp>
        <p:nvSpPr>
          <p:cNvPr id="12" name="s4-texto-11"/>
          <p:cNvSpPr txBox="1"/>
          <p:nvPr/>
        </p:nvSpPr>
        <p:spPr>
          <a:xfrm>
            <a:off x="3967030" y="2473760"/>
            <a:ext cx="89834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1 · Analista</a:t>
            </a:r>
            <a:endParaRPr lang="en-US" sz="1260" dirty="0"/>
          </a:p>
        </p:txBody>
      </p:sp>
      <p:sp>
        <p:nvSpPr>
          <p:cNvPr id="13" name="s4-texto-12"/>
          <p:cNvSpPr txBox="1"/>
          <p:nvPr/>
        </p:nvSpPr>
        <p:spPr>
          <a:xfrm>
            <a:off x="3887169" y="2679431"/>
            <a:ext cx="1058072"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criterios Gherkin</a:t>
            </a:r>
            <a:endParaRPr lang="en-US" sz="1080" dirty="0"/>
          </a:p>
        </p:txBody>
      </p:sp>
      <p:sp>
        <p:nvSpPr>
          <p:cNvPr id="14" name="s4-forma-13"/>
          <p:cNvSpPr/>
          <p:nvPr/>
        </p:nvSpPr>
        <p:spPr>
          <a:xfrm>
            <a:off x="5775916" y="2342359"/>
            <a:ext cx="1713922" cy="628438"/>
          </a:xfrm>
          <a:prstGeom prst="rect">
            <a:avLst/>
          </a:prstGeom>
          <a:solidFill>
            <a:srgbClr val="E3DCCB"/>
          </a:solidFill>
          <a:ln w="5713">
            <a:solidFill>
              <a:srgbClr val="585E6F"/>
            </a:solidFill>
            <a:prstDash val="solid"/>
          </a:ln>
        </p:spPr>
        <p:txBody>
          <a:bodyPr/>
          <a:lstStyle/>
          <a:p>
            <a:endParaRPr lang="es-MX"/>
          </a:p>
        </p:txBody>
      </p:sp>
      <p:sp>
        <p:nvSpPr>
          <p:cNvPr id="15" name="s4-texto-14"/>
          <p:cNvSpPr txBox="1"/>
          <p:nvPr/>
        </p:nvSpPr>
        <p:spPr>
          <a:xfrm>
            <a:off x="6095706" y="2473760"/>
            <a:ext cx="107425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2 · Diseñador</a:t>
            </a:r>
            <a:endParaRPr lang="en-US" sz="1260" dirty="0"/>
          </a:p>
        </p:txBody>
      </p:sp>
      <p:sp>
        <p:nvSpPr>
          <p:cNvPr id="16" name="s4-texto-15"/>
          <p:cNvSpPr txBox="1"/>
          <p:nvPr/>
        </p:nvSpPr>
        <p:spPr>
          <a:xfrm>
            <a:off x="6095514" y="2679431"/>
            <a:ext cx="107472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casos de prueba</a:t>
            </a:r>
            <a:endParaRPr lang="en-US" sz="1080" dirty="0"/>
          </a:p>
        </p:txBody>
      </p:sp>
      <p:sp>
        <p:nvSpPr>
          <p:cNvPr id="17" name="s4-forma-16"/>
          <p:cNvSpPr/>
          <p:nvPr/>
        </p:nvSpPr>
        <p:spPr>
          <a:xfrm>
            <a:off x="7992587" y="2342359"/>
            <a:ext cx="1713922" cy="628438"/>
          </a:xfrm>
          <a:prstGeom prst="rect">
            <a:avLst/>
          </a:prstGeom>
          <a:solidFill>
            <a:srgbClr val="E2D3C2"/>
          </a:solidFill>
          <a:ln w="5713">
            <a:solidFill>
              <a:srgbClr val="984514"/>
            </a:solidFill>
            <a:prstDash val="solid"/>
          </a:ln>
        </p:spPr>
        <p:txBody>
          <a:bodyPr/>
          <a:lstStyle/>
          <a:p>
            <a:endParaRPr lang="es-MX"/>
          </a:p>
        </p:txBody>
      </p:sp>
      <p:sp>
        <p:nvSpPr>
          <p:cNvPr id="18" name="s4-texto-17"/>
          <p:cNvSpPr txBox="1"/>
          <p:nvPr/>
        </p:nvSpPr>
        <p:spPr>
          <a:xfrm>
            <a:off x="8175740" y="2473760"/>
            <a:ext cx="1347617"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3 · Desarrollador</a:t>
            </a:r>
            <a:endParaRPr lang="en-US" sz="1260" dirty="0"/>
          </a:p>
        </p:txBody>
      </p:sp>
      <p:sp>
        <p:nvSpPr>
          <p:cNvPr id="19" name="s4-texto-18"/>
          <p:cNvSpPr txBox="1"/>
          <p:nvPr/>
        </p:nvSpPr>
        <p:spPr>
          <a:xfrm>
            <a:off x="8279922" y="2679431"/>
            <a:ext cx="1139163"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BD + API + React</a:t>
            </a:r>
            <a:endParaRPr lang="en-US" sz="1080" dirty="0"/>
          </a:p>
        </p:txBody>
      </p:sp>
      <p:sp>
        <p:nvSpPr>
          <p:cNvPr id="20" name="s4-forma-19"/>
          <p:cNvSpPr/>
          <p:nvPr/>
        </p:nvSpPr>
        <p:spPr>
          <a:xfrm>
            <a:off x="5775916" y="3484974"/>
            <a:ext cx="1713922" cy="628438"/>
          </a:xfrm>
          <a:prstGeom prst="rect">
            <a:avLst/>
          </a:prstGeom>
          <a:solidFill>
            <a:srgbClr val="E2D3C2"/>
          </a:solidFill>
          <a:ln w="5713">
            <a:solidFill>
              <a:srgbClr val="984514"/>
            </a:solidFill>
            <a:prstDash val="solid"/>
          </a:ln>
        </p:spPr>
        <p:txBody>
          <a:bodyPr/>
          <a:lstStyle/>
          <a:p>
            <a:endParaRPr lang="es-MX"/>
          </a:p>
        </p:txBody>
      </p:sp>
      <p:sp>
        <p:nvSpPr>
          <p:cNvPr id="21" name="s4-texto-20"/>
          <p:cNvSpPr txBox="1"/>
          <p:nvPr/>
        </p:nvSpPr>
        <p:spPr>
          <a:xfrm>
            <a:off x="5919991" y="3616374"/>
            <a:ext cx="1425681"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5 · Automatizador</a:t>
            </a:r>
            <a:endParaRPr lang="en-US" sz="1260" dirty="0"/>
          </a:p>
        </p:txBody>
      </p:sp>
      <p:sp>
        <p:nvSpPr>
          <p:cNvPr id="22" name="s4-texto-21"/>
          <p:cNvSpPr txBox="1"/>
          <p:nvPr/>
        </p:nvSpPr>
        <p:spPr>
          <a:xfrm>
            <a:off x="6020951" y="3822045"/>
            <a:ext cx="1223851"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pytest + Playwright</a:t>
            </a:r>
            <a:endParaRPr lang="en-US" sz="1080" dirty="0"/>
          </a:p>
        </p:txBody>
      </p:sp>
      <p:sp>
        <p:nvSpPr>
          <p:cNvPr id="23" name="s4-forma-22"/>
          <p:cNvSpPr/>
          <p:nvPr/>
        </p:nvSpPr>
        <p:spPr>
          <a:xfrm>
            <a:off x="7992587" y="3484974"/>
            <a:ext cx="1713922" cy="628438"/>
          </a:xfrm>
          <a:prstGeom prst="rect">
            <a:avLst/>
          </a:prstGeom>
          <a:solidFill>
            <a:srgbClr val="E2D3C2"/>
          </a:solidFill>
          <a:ln w="5713">
            <a:solidFill>
              <a:srgbClr val="984514"/>
            </a:solidFill>
            <a:prstDash val="solid"/>
          </a:ln>
        </p:spPr>
        <p:txBody>
          <a:bodyPr/>
          <a:lstStyle/>
          <a:p>
            <a:endParaRPr lang="es-MX"/>
          </a:p>
        </p:txBody>
      </p:sp>
      <p:sp>
        <p:nvSpPr>
          <p:cNvPr id="24" name="s4-texto-23"/>
          <p:cNvSpPr txBox="1"/>
          <p:nvPr/>
        </p:nvSpPr>
        <p:spPr>
          <a:xfrm>
            <a:off x="8274715" y="3616374"/>
            <a:ext cx="114966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4 · Despliegue</a:t>
            </a:r>
            <a:endParaRPr lang="en-US" sz="1260" dirty="0"/>
          </a:p>
        </p:txBody>
      </p:sp>
      <p:sp>
        <p:nvSpPr>
          <p:cNvPr id="25" name="s4-texto-24"/>
          <p:cNvSpPr txBox="1"/>
          <p:nvPr/>
        </p:nvSpPr>
        <p:spPr>
          <a:xfrm>
            <a:off x="8288151" y="3822045"/>
            <a:ext cx="112279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Docker Compose</a:t>
            </a:r>
            <a:endParaRPr lang="en-US" sz="1080" dirty="0"/>
          </a:p>
        </p:txBody>
      </p:sp>
      <p:sp>
        <p:nvSpPr>
          <p:cNvPr id="26" name="s4-forma-25"/>
          <p:cNvSpPr/>
          <p:nvPr/>
        </p:nvSpPr>
        <p:spPr>
          <a:xfrm>
            <a:off x="5775916" y="4627588"/>
            <a:ext cx="3930593" cy="628438"/>
          </a:xfrm>
          <a:prstGeom prst="rect">
            <a:avLst/>
          </a:prstGeom>
          <a:solidFill>
            <a:srgbClr val="E3DCCB"/>
          </a:solidFill>
          <a:ln w="5713">
            <a:solidFill>
              <a:srgbClr val="585E6F"/>
            </a:solidFill>
            <a:prstDash val="solid"/>
          </a:ln>
        </p:spPr>
        <p:txBody>
          <a:bodyPr/>
          <a:lstStyle/>
          <a:p>
            <a:endParaRPr lang="es-MX"/>
          </a:p>
        </p:txBody>
      </p:sp>
      <p:sp>
        <p:nvSpPr>
          <p:cNvPr id="27" name="s4-texto-26"/>
          <p:cNvSpPr txBox="1"/>
          <p:nvPr/>
        </p:nvSpPr>
        <p:spPr>
          <a:xfrm>
            <a:off x="6535343" y="4758989"/>
            <a:ext cx="241165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6 · Flujo end to end con triage</a:t>
            </a:r>
            <a:endParaRPr lang="en-US" sz="1260" dirty="0"/>
          </a:p>
        </p:txBody>
      </p:sp>
      <p:sp>
        <p:nvSpPr>
          <p:cNvPr id="28" name="s4-texto-27"/>
          <p:cNvSpPr txBox="1"/>
          <p:nvPr/>
        </p:nvSpPr>
        <p:spPr>
          <a:xfrm>
            <a:off x="6379780" y="4964659"/>
            <a:ext cx="272286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ejecuta las pruebas y decide quién corrige</a:t>
            </a:r>
            <a:endParaRPr lang="en-US" sz="1080" dirty="0"/>
          </a:p>
        </p:txBody>
      </p:sp>
      <p:sp>
        <p:nvSpPr>
          <p:cNvPr id="29" name="s4-forma-28"/>
          <p:cNvSpPr/>
          <p:nvPr/>
        </p:nvSpPr>
        <p:spPr>
          <a:xfrm>
            <a:off x="3559244" y="4627588"/>
            <a:ext cx="1713922" cy="628438"/>
          </a:xfrm>
          <a:prstGeom prst="rect">
            <a:avLst/>
          </a:prstGeom>
          <a:solidFill>
            <a:srgbClr val="E3DCCB"/>
          </a:solidFill>
          <a:ln w="5713">
            <a:solidFill>
              <a:srgbClr val="585E6F"/>
            </a:solidFill>
            <a:prstDash val="solid"/>
          </a:ln>
        </p:spPr>
        <p:txBody>
          <a:bodyPr/>
          <a:lstStyle/>
          <a:p>
            <a:endParaRPr lang="es-MX"/>
          </a:p>
        </p:txBody>
      </p:sp>
      <p:sp>
        <p:nvSpPr>
          <p:cNvPr id="30" name="s4-texto-29"/>
          <p:cNvSpPr txBox="1"/>
          <p:nvPr/>
        </p:nvSpPr>
        <p:spPr>
          <a:xfrm>
            <a:off x="4091095" y="4758989"/>
            <a:ext cx="65013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Reporte</a:t>
            </a:r>
            <a:endParaRPr lang="en-US" sz="1260" dirty="0"/>
          </a:p>
        </p:txBody>
      </p:sp>
      <p:sp>
        <p:nvSpPr>
          <p:cNvPr id="31" name="s4-texto-30"/>
          <p:cNvSpPr txBox="1"/>
          <p:nvPr/>
        </p:nvSpPr>
        <p:spPr>
          <a:xfrm>
            <a:off x="4061816" y="4964659"/>
            <a:ext cx="70877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reporte.md</a:t>
            </a:r>
            <a:endParaRPr lang="en-US" sz="1080" dirty="0"/>
          </a:p>
        </p:txBody>
      </p:sp>
      <p:sp>
        <p:nvSpPr>
          <p:cNvPr id="32" name="s4-forma-31"/>
          <p:cNvSpPr/>
          <p:nvPr/>
        </p:nvSpPr>
        <p:spPr>
          <a:xfrm>
            <a:off x="1342572" y="3542105"/>
            <a:ext cx="3884889" cy="390721"/>
          </a:xfrm>
          <a:prstGeom prst="rect">
            <a:avLst/>
          </a:prstGeom>
          <a:solidFill>
            <a:srgbClr val="E2D3C2"/>
          </a:solidFill>
          <a:ln/>
        </p:spPr>
        <p:txBody>
          <a:bodyPr/>
          <a:lstStyle/>
          <a:p>
            <a:endParaRPr lang="es-MX"/>
          </a:p>
        </p:txBody>
      </p:sp>
      <p:sp>
        <p:nvSpPr>
          <p:cNvPr id="33" name="s4-texto-32"/>
          <p:cNvSpPr txBox="1"/>
          <p:nvPr/>
        </p:nvSpPr>
        <p:spPr>
          <a:xfrm>
            <a:off x="1479686" y="3650653"/>
            <a:ext cx="3827301" cy="171392"/>
          </a:xfrm>
          <a:prstGeom prst="rect">
            <a:avLst/>
          </a:prstGeom>
          <a:noFill/>
          <a:ln/>
        </p:spPr>
        <p:txBody>
          <a:bodyPr wrap="non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Naranja: agentes que trabajan con Claude Code</a:t>
            </a:r>
            <a:endParaRPr lang="en-US" sz="1170" dirty="0"/>
          </a:p>
        </p:txBody>
      </p:sp>
      <p:sp>
        <p:nvSpPr>
          <p:cNvPr id="34" name="s4-texto-33"/>
          <p:cNvSpPr txBox="1"/>
          <p:nvPr/>
        </p:nvSpPr>
        <p:spPr>
          <a:xfrm>
            <a:off x="1342572" y="4073420"/>
            <a:ext cx="4117982"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Punteada: el triage regresa cada fallo al agente responsable</a:t>
            </a:r>
            <a:endParaRPr lang="en-US" sz="1170" dirty="0"/>
          </a:p>
        </p:txBody>
      </p:sp>
      <p:sp>
        <p:nvSpPr>
          <p:cNvPr id="35" name="s4-texto-3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Cada estudiante construye su propia fábrica · un agente o dos por sesión</a:t>
            </a:r>
            <a:endParaRPr lang="en-US" sz="1080" dirty="0"/>
          </a:p>
        </p:txBody>
      </p:sp>
      <p:sp>
        <p:nvSpPr>
          <p:cNvPr id="36" name="s4-linea-35-0"/>
          <p:cNvSpPr/>
          <p:nvPr/>
        </p:nvSpPr>
        <p:spPr>
          <a:xfrm>
            <a:off x="3056493" y="2656578"/>
            <a:ext cx="502750" cy="0"/>
          </a:xfrm>
          <a:prstGeom prst="line">
            <a:avLst/>
          </a:prstGeom>
          <a:noFill/>
          <a:ln w="17140">
            <a:solidFill>
              <a:srgbClr val="585E6F"/>
            </a:solidFill>
            <a:prstDash val="solid"/>
            <a:tailEnd type="triangle"/>
          </a:ln>
        </p:spPr>
        <p:txBody>
          <a:bodyPr/>
          <a:lstStyle/>
          <a:p>
            <a:endParaRPr lang="es-MX"/>
          </a:p>
        </p:txBody>
      </p:sp>
      <p:sp>
        <p:nvSpPr>
          <p:cNvPr id="37" name="s4-linea-36-0"/>
          <p:cNvSpPr/>
          <p:nvPr/>
        </p:nvSpPr>
        <p:spPr>
          <a:xfrm>
            <a:off x="5273165" y="2656578"/>
            <a:ext cx="502750" cy="0"/>
          </a:xfrm>
          <a:prstGeom prst="line">
            <a:avLst/>
          </a:prstGeom>
          <a:noFill/>
          <a:ln w="17140">
            <a:solidFill>
              <a:srgbClr val="585E6F"/>
            </a:solidFill>
            <a:prstDash val="solid"/>
            <a:tailEnd type="triangle"/>
          </a:ln>
        </p:spPr>
        <p:txBody>
          <a:bodyPr/>
          <a:lstStyle/>
          <a:p>
            <a:endParaRPr lang="es-MX"/>
          </a:p>
        </p:txBody>
      </p:sp>
      <p:sp>
        <p:nvSpPr>
          <p:cNvPr id="38" name="s4-linea-37-0"/>
          <p:cNvSpPr/>
          <p:nvPr/>
        </p:nvSpPr>
        <p:spPr>
          <a:xfrm>
            <a:off x="7489837" y="2656578"/>
            <a:ext cx="502750" cy="0"/>
          </a:xfrm>
          <a:prstGeom prst="line">
            <a:avLst/>
          </a:prstGeom>
          <a:noFill/>
          <a:ln w="17140">
            <a:solidFill>
              <a:srgbClr val="585E6F"/>
            </a:solidFill>
            <a:prstDash val="solid"/>
            <a:tailEnd type="triangle"/>
          </a:ln>
        </p:spPr>
        <p:txBody>
          <a:bodyPr/>
          <a:lstStyle/>
          <a:p>
            <a:endParaRPr lang="es-MX"/>
          </a:p>
        </p:txBody>
      </p:sp>
      <p:sp>
        <p:nvSpPr>
          <p:cNvPr id="39" name="s4-linea-38-0"/>
          <p:cNvSpPr/>
          <p:nvPr/>
        </p:nvSpPr>
        <p:spPr>
          <a:xfrm>
            <a:off x="8849548" y="2970797"/>
            <a:ext cx="0" cy="514176"/>
          </a:xfrm>
          <a:prstGeom prst="line">
            <a:avLst/>
          </a:prstGeom>
          <a:noFill/>
          <a:ln w="17140">
            <a:solidFill>
              <a:srgbClr val="585E6F"/>
            </a:solidFill>
            <a:prstDash val="solid"/>
            <a:tailEnd type="triangle"/>
          </a:ln>
        </p:spPr>
        <p:txBody>
          <a:bodyPr/>
          <a:lstStyle/>
          <a:p>
            <a:endParaRPr lang="es-MX"/>
          </a:p>
        </p:txBody>
      </p:sp>
      <p:sp>
        <p:nvSpPr>
          <p:cNvPr id="40" name="s4-linea-39-0"/>
          <p:cNvSpPr/>
          <p:nvPr/>
        </p:nvSpPr>
        <p:spPr>
          <a:xfrm>
            <a:off x="8381076" y="2970797"/>
            <a:ext cx="0" cy="257088"/>
          </a:xfrm>
          <a:prstGeom prst="line">
            <a:avLst/>
          </a:prstGeom>
          <a:noFill/>
          <a:ln w="17140">
            <a:solidFill>
              <a:srgbClr val="585E6F"/>
            </a:solidFill>
            <a:prstDash val="solid"/>
          </a:ln>
        </p:spPr>
        <p:txBody>
          <a:bodyPr/>
          <a:lstStyle/>
          <a:p>
            <a:endParaRPr lang="es-MX"/>
          </a:p>
        </p:txBody>
      </p:sp>
      <p:sp>
        <p:nvSpPr>
          <p:cNvPr id="41" name="s4-linea-40-0"/>
          <p:cNvSpPr/>
          <p:nvPr/>
        </p:nvSpPr>
        <p:spPr>
          <a:xfrm flipH="1">
            <a:off x="6632876" y="3227886"/>
            <a:ext cx="1748200" cy="0"/>
          </a:xfrm>
          <a:prstGeom prst="line">
            <a:avLst/>
          </a:prstGeom>
          <a:noFill/>
          <a:ln w="17140">
            <a:solidFill>
              <a:srgbClr val="585E6F"/>
            </a:solidFill>
            <a:prstDash val="solid"/>
          </a:ln>
        </p:spPr>
        <p:txBody>
          <a:bodyPr/>
          <a:lstStyle/>
          <a:p>
            <a:endParaRPr lang="es-MX"/>
          </a:p>
        </p:txBody>
      </p:sp>
      <p:sp>
        <p:nvSpPr>
          <p:cNvPr id="42" name="s4-linea-41-0"/>
          <p:cNvSpPr/>
          <p:nvPr/>
        </p:nvSpPr>
        <p:spPr>
          <a:xfrm>
            <a:off x="6632876" y="3227886"/>
            <a:ext cx="0" cy="257088"/>
          </a:xfrm>
          <a:prstGeom prst="line">
            <a:avLst/>
          </a:prstGeom>
          <a:noFill/>
          <a:ln w="17140">
            <a:solidFill>
              <a:srgbClr val="585E6F"/>
            </a:solidFill>
            <a:prstDash val="solid"/>
            <a:tailEnd type="triangle"/>
          </a:ln>
        </p:spPr>
        <p:txBody>
          <a:bodyPr/>
          <a:lstStyle/>
          <a:p>
            <a:endParaRPr lang="es-MX"/>
          </a:p>
        </p:txBody>
      </p:sp>
      <p:sp>
        <p:nvSpPr>
          <p:cNvPr id="43" name="s4-linea-42-0"/>
          <p:cNvSpPr/>
          <p:nvPr/>
        </p:nvSpPr>
        <p:spPr>
          <a:xfrm>
            <a:off x="6632876" y="4113412"/>
            <a:ext cx="0" cy="514176"/>
          </a:xfrm>
          <a:prstGeom prst="line">
            <a:avLst/>
          </a:prstGeom>
          <a:noFill/>
          <a:ln w="17140">
            <a:solidFill>
              <a:srgbClr val="585E6F"/>
            </a:solidFill>
            <a:prstDash val="solid"/>
            <a:tailEnd type="triangle"/>
          </a:ln>
        </p:spPr>
        <p:txBody>
          <a:bodyPr/>
          <a:lstStyle/>
          <a:p>
            <a:endParaRPr lang="es-MX"/>
          </a:p>
        </p:txBody>
      </p:sp>
      <p:sp>
        <p:nvSpPr>
          <p:cNvPr id="44" name="s4-linea-43-0"/>
          <p:cNvSpPr/>
          <p:nvPr/>
        </p:nvSpPr>
        <p:spPr>
          <a:xfrm>
            <a:off x="8849548" y="4113412"/>
            <a:ext cx="0" cy="514176"/>
          </a:xfrm>
          <a:prstGeom prst="line">
            <a:avLst/>
          </a:prstGeom>
          <a:noFill/>
          <a:ln w="17140">
            <a:solidFill>
              <a:srgbClr val="585E6F"/>
            </a:solidFill>
            <a:prstDash val="solid"/>
            <a:tailEnd type="triangle"/>
          </a:ln>
        </p:spPr>
        <p:txBody>
          <a:bodyPr/>
          <a:lstStyle/>
          <a:p>
            <a:endParaRPr lang="es-MX"/>
          </a:p>
        </p:txBody>
      </p:sp>
      <p:sp>
        <p:nvSpPr>
          <p:cNvPr id="45" name="s4-linea-44-0"/>
          <p:cNvSpPr/>
          <p:nvPr/>
        </p:nvSpPr>
        <p:spPr>
          <a:xfrm flipH="1">
            <a:off x="5273165" y="4941807"/>
            <a:ext cx="502750" cy="0"/>
          </a:xfrm>
          <a:prstGeom prst="line">
            <a:avLst/>
          </a:prstGeom>
          <a:noFill/>
          <a:ln w="17140">
            <a:solidFill>
              <a:srgbClr val="585E6F"/>
            </a:solidFill>
            <a:prstDash val="solid"/>
            <a:tailEnd type="triangle"/>
          </a:ln>
        </p:spPr>
        <p:txBody>
          <a:bodyPr/>
          <a:lstStyle/>
          <a:p>
            <a:endParaRPr lang="es-MX"/>
          </a:p>
        </p:txBody>
      </p:sp>
      <p:sp>
        <p:nvSpPr>
          <p:cNvPr id="46" name="s4-linea-45-0"/>
          <p:cNvSpPr/>
          <p:nvPr/>
        </p:nvSpPr>
        <p:spPr>
          <a:xfrm>
            <a:off x="9706509" y="4941807"/>
            <a:ext cx="319932" cy="0"/>
          </a:xfrm>
          <a:prstGeom prst="line">
            <a:avLst/>
          </a:prstGeom>
          <a:noFill/>
          <a:ln w="17140">
            <a:solidFill>
              <a:srgbClr val="984514"/>
            </a:solidFill>
            <a:prstDash val="dash"/>
          </a:ln>
        </p:spPr>
        <p:txBody>
          <a:bodyPr/>
          <a:lstStyle/>
          <a:p>
            <a:endParaRPr lang="es-MX"/>
          </a:p>
        </p:txBody>
      </p:sp>
      <p:sp>
        <p:nvSpPr>
          <p:cNvPr id="47" name="s4-linea-46-0"/>
          <p:cNvSpPr/>
          <p:nvPr/>
        </p:nvSpPr>
        <p:spPr>
          <a:xfrm flipV="1">
            <a:off x="10026441" y="2656578"/>
            <a:ext cx="0" cy="2285229"/>
          </a:xfrm>
          <a:prstGeom prst="line">
            <a:avLst/>
          </a:prstGeom>
          <a:noFill/>
          <a:ln w="17140">
            <a:solidFill>
              <a:srgbClr val="984514"/>
            </a:solidFill>
            <a:prstDash val="dash"/>
          </a:ln>
        </p:spPr>
        <p:txBody>
          <a:bodyPr/>
          <a:lstStyle/>
          <a:p>
            <a:endParaRPr lang="es-MX"/>
          </a:p>
        </p:txBody>
      </p:sp>
      <p:sp>
        <p:nvSpPr>
          <p:cNvPr id="48" name="s4-linea-47-0"/>
          <p:cNvSpPr/>
          <p:nvPr/>
        </p:nvSpPr>
        <p:spPr>
          <a:xfrm flipH="1">
            <a:off x="9706509" y="2656578"/>
            <a:ext cx="319932" cy="0"/>
          </a:xfrm>
          <a:prstGeom prst="line">
            <a:avLst/>
          </a:prstGeom>
          <a:noFill/>
          <a:ln w="17140">
            <a:solidFill>
              <a:srgbClr val="984514"/>
            </a:solidFill>
            <a:prstDash val="dash"/>
            <a:tailEnd type="triangle"/>
          </a:ln>
        </p:spPr>
        <p:txBody>
          <a:bodyPr/>
          <a:lstStyle/>
          <a:p>
            <a:endParaRPr lang="es-MX"/>
          </a:p>
        </p:txBody>
      </p:sp>
      <p:sp>
        <p:nvSpPr>
          <p:cNvPr id="49" name="s4-forma-48"/>
          <p:cNvSpPr/>
          <p:nvPr/>
        </p:nvSpPr>
        <p:spPr>
          <a:xfrm>
            <a:off x="853390" y="6411138"/>
            <a:ext cx="10484915" cy="5713"/>
          </a:xfrm>
          <a:prstGeom prst="rect">
            <a:avLst/>
          </a:prstGeom>
          <a:solidFill>
            <a:srgbClr val="DBD4C4"/>
          </a:solidFill>
          <a:ln/>
        </p:spPr>
        <p:txBody>
          <a:bodyPr/>
          <a:lstStyle/>
          <a:p>
            <a:endParaRPr lang="es-MX"/>
          </a:p>
        </p:txBody>
      </p:sp>
      <p:pic>
        <p:nvPicPr>
          <p:cNvPr id="50" name="s4-logo-49" descr="preencoded.png"/>
          <p:cNvPicPr>
            <a:picLocks noChangeAspect="1"/>
          </p:cNvPicPr>
          <p:nvPr/>
        </p:nvPicPr>
        <p:blipFill>
          <a:blip r:embed="rId3"/>
          <a:stretch>
            <a:fillRect/>
          </a:stretch>
        </p:blipFill>
        <p:spPr>
          <a:xfrm>
            <a:off x="853390" y="6465055"/>
            <a:ext cx="687800" cy="212455"/>
          </a:xfrm>
          <a:prstGeom prst="rect">
            <a:avLst/>
          </a:prstGeom>
        </p:spPr>
      </p:pic>
      <p:sp>
        <p:nvSpPr>
          <p:cNvPr id="51" name="s4-forma-50"/>
          <p:cNvSpPr/>
          <p:nvPr/>
        </p:nvSpPr>
        <p:spPr>
          <a:xfrm>
            <a:off x="1659380" y="6519865"/>
            <a:ext cx="3057208" cy="102835"/>
          </a:xfrm>
          <a:prstGeom prst="rect">
            <a:avLst/>
          </a:prstGeom>
          <a:ln/>
        </p:spPr>
        <p:txBody>
          <a:bodyPr/>
          <a:lstStyle/>
          <a:p>
            <a:endParaRPr lang="es-MX"/>
          </a:p>
        </p:txBody>
      </p:sp>
      <p:sp>
        <p:nvSpPr>
          <p:cNvPr id="52" name="s4-forma-51"/>
          <p:cNvSpPr/>
          <p:nvPr/>
        </p:nvSpPr>
        <p:spPr>
          <a:xfrm>
            <a:off x="1659380" y="6519865"/>
            <a:ext cx="5713" cy="102835"/>
          </a:xfrm>
          <a:prstGeom prst="rect">
            <a:avLst/>
          </a:prstGeom>
          <a:solidFill>
            <a:srgbClr val="C6BFAE"/>
          </a:solidFill>
          <a:ln/>
        </p:spPr>
        <p:txBody>
          <a:bodyPr/>
          <a:lstStyle/>
          <a:p>
            <a:endParaRPr lang="es-MX"/>
          </a:p>
        </p:txBody>
      </p:sp>
      <p:sp>
        <p:nvSpPr>
          <p:cNvPr id="53" name="s4-texto-52"/>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4" name="s4-texto-53"/>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4 / 35</a:t>
            </a:r>
            <a:endParaRPr lang="en-US" sz="745" dirty="0"/>
          </a:p>
        </p:txBody>
      </p:sp>
      <p:sp>
        <p:nvSpPr>
          <p:cNvPr id="55" name="s4-forma-54"/>
          <p:cNvSpPr/>
          <p:nvPr/>
        </p:nvSpPr>
        <p:spPr>
          <a:xfrm>
            <a:off x="0" y="0"/>
            <a:ext cx="1393275" cy="17139"/>
          </a:xfrm>
          <a:prstGeom prst="rect">
            <a:avLst/>
          </a:prstGeom>
          <a:solidFill>
            <a:srgbClr val="0033A0"/>
          </a:solidFill>
          <a:ln/>
        </p:spPr>
        <p:txBody>
          <a:bodyPr/>
          <a:lstStyle/>
          <a:p>
            <a:endParaRPr lang="es-MX"/>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DE8DC"/>
        </a:solidFill>
        <a:effectLst/>
      </p:bgPr>
    </p:bg>
    <p:spTree>
      <p:nvGrpSpPr>
        <p:cNvPr id="1" name=""/>
        <p:cNvGrpSpPr/>
        <p:nvPr/>
      </p:nvGrpSpPr>
      <p:grpSpPr>
        <a:xfrm>
          <a:off x="0" y="0"/>
          <a:ext cx="0" cy="0"/>
          <a:chOff x="0" y="0"/>
          <a:chExt cx="0" cy="0"/>
        </a:xfrm>
      </p:grpSpPr>
      <p:sp>
        <p:nvSpPr>
          <p:cNvPr id="2" name="s5-forma-1"/>
          <p:cNvSpPr/>
          <p:nvPr/>
        </p:nvSpPr>
        <p:spPr>
          <a:xfrm>
            <a:off x="853390" y="520961"/>
            <a:ext cx="10484915" cy="5713"/>
          </a:xfrm>
          <a:prstGeom prst="rect">
            <a:avLst/>
          </a:prstGeom>
          <a:solidFill>
            <a:srgbClr val="C6BFAE"/>
          </a:solidFill>
          <a:ln/>
        </p:spPr>
        <p:txBody>
          <a:bodyPr/>
          <a:lstStyle/>
          <a:p>
            <a:endParaRPr lang="es-MX"/>
          </a:p>
        </p:txBody>
      </p:sp>
      <p:sp>
        <p:nvSpPr>
          <p:cNvPr id="3" name="s5-forma-2"/>
          <p:cNvSpPr/>
          <p:nvPr/>
        </p:nvSpPr>
        <p:spPr>
          <a:xfrm>
            <a:off x="853390" y="331715"/>
            <a:ext cx="81411" cy="81411"/>
          </a:xfrm>
          <a:prstGeom prst="ellipse">
            <a:avLst/>
          </a:prstGeom>
          <a:solidFill>
            <a:srgbClr val="AC321E"/>
          </a:solidFill>
          <a:ln/>
        </p:spPr>
        <p:txBody>
          <a:bodyPr/>
          <a:lstStyle/>
          <a:p>
            <a:endParaRPr lang="es-MX"/>
          </a:p>
        </p:txBody>
      </p:sp>
      <p:sp>
        <p:nvSpPr>
          <p:cNvPr id="4" name="s5-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5-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EL DOMINIO</a:t>
            </a:r>
            <a:endParaRPr lang="en-US" sz="900" dirty="0"/>
          </a:p>
        </p:txBody>
      </p:sp>
      <p:sp>
        <p:nvSpPr>
          <p:cNvPr id="7" name="s5-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Una app de gestión de empleados</a:t>
            </a:r>
            <a:endParaRPr lang="en-US" sz="2879" dirty="0"/>
          </a:p>
        </p:txBody>
      </p:sp>
      <p:sp>
        <p:nvSpPr>
          <p:cNvPr id="8" name="s5-forma-7"/>
          <p:cNvSpPr/>
          <p:nvPr/>
        </p:nvSpPr>
        <p:spPr>
          <a:xfrm>
            <a:off x="1342572" y="2144634"/>
            <a:ext cx="3232170" cy="226202"/>
          </a:xfrm>
          <a:prstGeom prst="rect">
            <a:avLst/>
          </a:prstGeom>
          <a:ln/>
        </p:spPr>
        <p:txBody>
          <a:bodyPr/>
          <a:lstStyle/>
          <a:p>
            <a:endParaRPr lang="es-MX"/>
          </a:p>
        </p:txBody>
      </p:sp>
      <p:sp>
        <p:nvSpPr>
          <p:cNvPr id="9" name="s5-forma-8"/>
          <p:cNvSpPr/>
          <p:nvPr/>
        </p:nvSpPr>
        <p:spPr>
          <a:xfrm>
            <a:off x="1342572" y="2365122"/>
            <a:ext cx="3232170" cy="5713"/>
          </a:xfrm>
          <a:prstGeom prst="rect">
            <a:avLst/>
          </a:prstGeom>
          <a:solidFill>
            <a:srgbClr val="0033A0"/>
          </a:solidFill>
          <a:ln/>
        </p:spPr>
        <p:txBody>
          <a:bodyPr/>
          <a:lstStyle/>
          <a:p>
            <a:endParaRPr lang="es-MX"/>
          </a:p>
        </p:txBody>
      </p:sp>
      <p:sp>
        <p:nvSpPr>
          <p:cNvPr id="10" name="s5-texto-9"/>
          <p:cNvSpPr txBox="1"/>
          <p:nvPr/>
        </p:nvSpPr>
        <p:spPr>
          <a:xfrm>
            <a:off x="1418538" y="2193463"/>
            <a:ext cx="3265034"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HISTORIA</a:t>
            </a:r>
            <a:endParaRPr lang="en-US" sz="855" dirty="0"/>
          </a:p>
        </p:txBody>
      </p:sp>
      <p:sp>
        <p:nvSpPr>
          <p:cNvPr id="11" name="s5-forma-10"/>
          <p:cNvSpPr/>
          <p:nvPr/>
        </p:nvSpPr>
        <p:spPr>
          <a:xfrm>
            <a:off x="4574742" y="2144634"/>
            <a:ext cx="4563138" cy="226202"/>
          </a:xfrm>
          <a:prstGeom prst="rect">
            <a:avLst/>
          </a:prstGeom>
          <a:ln/>
        </p:spPr>
        <p:txBody>
          <a:bodyPr/>
          <a:lstStyle/>
          <a:p>
            <a:endParaRPr lang="es-MX"/>
          </a:p>
        </p:txBody>
      </p:sp>
      <p:sp>
        <p:nvSpPr>
          <p:cNvPr id="12" name="s5-forma-11"/>
          <p:cNvSpPr/>
          <p:nvPr/>
        </p:nvSpPr>
        <p:spPr>
          <a:xfrm>
            <a:off x="4574742" y="2365122"/>
            <a:ext cx="4563138" cy="5713"/>
          </a:xfrm>
          <a:prstGeom prst="rect">
            <a:avLst/>
          </a:prstGeom>
          <a:solidFill>
            <a:srgbClr val="0033A0"/>
          </a:solidFill>
          <a:ln/>
        </p:spPr>
        <p:txBody>
          <a:bodyPr/>
          <a:lstStyle/>
          <a:p>
            <a:endParaRPr lang="es-MX"/>
          </a:p>
        </p:txBody>
      </p:sp>
      <p:sp>
        <p:nvSpPr>
          <p:cNvPr id="13" name="s5-texto-12"/>
          <p:cNvSpPr txBox="1"/>
          <p:nvPr/>
        </p:nvSpPr>
        <p:spPr>
          <a:xfrm>
            <a:off x="4650708" y="2193463"/>
            <a:ext cx="4675859"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QUÉ PIDE</a:t>
            </a:r>
            <a:endParaRPr lang="en-US" sz="855" dirty="0"/>
          </a:p>
        </p:txBody>
      </p:sp>
      <p:sp>
        <p:nvSpPr>
          <p:cNvPr id="14" name="s5-forma-13"/>
          <p:cNvSpPr/>
          <p:nvPr/>
        </p:nvSpPr>
        <p:spPr>
          <a:xfrm>
            <a:off x="9137880" y="2144634"/>
            <a:ext cx="1711244" cy="226202"/>
          </a:xfrm>
          <a:prstGeom prst="rect">
            <a:avLst/>
          </a:prstGeom>
          <a:ln/>
        </p:spPr>
        <p:txBody>
          <a:bodyPr/>
          <a:lstStyle/>
          <a:p>
            <a:endParaRPr lang="es-MX"/>
          </a:p>
        </p:txBody>
      </p:sp>
      <p:sp>
        <p:nvSpPr>
          <p:cNvPr id="15" name="s5-forma-14"/>
          <p:cNvSpPr/>
          <p:nvPr/>
        </p:nvSpPr>
        <p:spPr>
          <a:xfrm>
            <a:off x="9137880" y="2365122"/>
            <a:ext cx="1711244" cy="5713"/>
          </a:xfrm>
          <a:prstGeom prst="rect">
            <a:avLst/>
          </a:prstGeom>
          <a:solidFill>
            <a:srgbClr val="0033A0"/>
          </a:solidFill>
          <a:ln/>
        </p:spPr>
        <p:txBody>
          <a:bodyPr/>
          <a:lstStyle/>
          <a:p>
            <a:endParaRPr lang="es-MX"/>
          </a:p>
        </p:txBody>
      </p:sp>
      <p:sp>
        <p:nvSpPr>
          <p:cNvPr id="16" name="s5-texto-15"/>
          <p:cNvSpPr txBox="1"/>
          <p:nvPr/>
        </p:nvSpPr>
        <p:spPr>
          <a:xfrm>
            <a:off x="9213846" y="2193463"/>
            <a:ext cx="1652851"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SESIÓN</a:t>
            </a:r>
            <a:endParaRPr lang="en-US" sz="855" dirty="0"/>
          </a:p>
        </p:txBody>
      </p:sp>
      <p:sp>
        <p:nvSpPr>
          <p:cNvPr id="17" name="s5-forma-16"/>
          <p:cNvSpPr/>
          <p:nvPr/>
        </p:nvSpPr>
        <p:spPr>
          <a:xfrm>
            <a:off x="1342572" y="2370836"/>
            <a:ext cx="3232170" cy="332429"/>
          </a:xfrm>
          <a:prstGeom prst="rect">
            <a:avLst/>
          </a:prstGeom>
          <a:ln/>
        </p:spPr>
        <p:txBody>
          <a:bodyPr/>
          <a:lstStyle/>
          <a:p>
            <a:endParaRPr lang="es-MX"/>
          </a:p>
        </p:txBody>
      </p:sp>
      <p:sp>
        <p:nvSpPr>
          <p:cNvPr id="18" name="s5-forma-17"/>
          <p:cNvSpPr/>
          <p:nvPr/>
        </p:nvSpPr>
        <p:spPr>
          <a:xfrm>
            <a:off x="1342572" y="2697552"/>
            <a:ext cx="3232170" cy="5713"/>
          </a:xfrm>
          <a:prstGeom prst="rect">
            <a:avLst/>
          </a:prstGeom>
          <a:solidFill>
            <a:srgbClr val="DBD4C4"/>
          </a:solidFill>
          <a:ln/>
        </p:spPr>
        <p:txBody>
          <a:bodyPr/>
          <a:lstStyle/>
          <a:p>
            <a:endParaRPr lang="es-MX"/>
          </a:p>
        </p:txBody>
      </p:sp>
      <p:sp>
        <p:nvSpPr>
          <p:cNvPr id="19" name="s5-texto-18"/>
          <p:cNvSpPr txBox="1"/>
          <p:nvPr/>
        </p:nvSpPr>
        <p:spPr>
          <a:xfrm>
            <a:off x="1454512" y="2445641"/>
            <a:ext cx="3188749"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HU-01</a:t>
            </a:r>
            <a:r>
              <a:rPr lang="en-US" sz="1260" dirty="0">
                <a:solidFill>
                  <a:srgbClr val="16181D"/>
                </a:solidFill>
                <a:latin typeface="Arial" pitchFamily="34" charset="0"/>
                <a:ea typeface="Arial" pitchFamily="34" charset="-122"/>
                <a:cs typeface="Arial" pitchFamily="34" charset="-120"/>
              </a:rPr>
              <a:t> Registrar empleado</a:t>
            </a:r>
            <a:endParaRPr lang="en-US" sz="1260" dirty="0"/>
          </a:p>
        </p:txBody>
      </p:sp>
      <p:sp>
        <p:nvSpPr>
          <p:cNvPr id="20" name="s5-forma-19"/>
          <p:cNvSpPr/>
          <p:nvPr/>
        </p:nvSpPr>
        <p:spPr>
          <a:xfrm>
            <a:off x="4574742" y="2370836"/>
            <a:ext cx="4563138" cy="332429"/>
          </a:xfrm>
          <a:prstGeom prst="rect">
            <a:avLst/>
          </a:prstGeom>
          <a:ln/>
        </p:spPr>
        <p:txBody>
          <a:bodyPr/>
          <a:lstStyle/>
          <a:p>
            <a:endParaRPr lang="es-MX"/>
          </a:p>
        </p:txBody>
      </p:sp>
      <p:sp>
        <p:nvSpPr>
          <p:cNvPr id="21" name="s5-forma-20"/>
          <p:cNvSpPr/>
          <p:nvPr/>
        </p:nvSpPr>
        <p:spPr>
          <a:xfrm>
            <a:off x="4574742" y="2697552"/>
            <a:ext cx="4563138" cy="5713"/>
          </a:xfrm>
          <a:prstGeom prst="rect">
            <a:avLst/>
          </a:prstGeom>
          <a:solidFill>
            <a:srgbClr val="DBD4C4"/>
          </a:solidFill>
          <a:ln/>
        </p:spPr>
        <p:txBody>
          <a:bodyPr/>
          <a:lstStyle/>
          <a:p>
            <a:endParaRPr lang="es-MX"/>
          </a:p>
        </p:txBody>
      </p:sp>
      <p:sp>
        <p:nvSpPr>
          <p:cNvPr id="22" name="s5-texto-21"/>
          <p:cNvSpPr txBox="1"/>
          <p:nvPr/>
        </p:nvSpPr>
        <p:spPr>
          <a:xfrm>
            <a:off x="4686683" y="2445641"/>
            <a:ext cx="4599574"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Alta con número de empleado automático</a:t>
            </a:r>
            <a:endParaRPr lang="en-US" sz="1260" dirty="0"/>
          </a:p>
        </p:txBody>
      </p:sp>
      <p:sp>
        <p:nvSpPr>
          <p:cNvPr id="23" name="s5-forma-22"/>
          <p:cNvSpPr/>
          <p:nvPr/>
        </p:nvSpPr>
        <p:spPr>
          <a:xfrm>
            <a:off x="9137880" y="2370836"/>
            <a:ext cx="1711244" cy="332429"/>
          </a:xfrm>
          <a:prstGeom prst="rect">
            <a:avLst/>
          </a:prstGeom>
          <a:ln/>
        </p:spPr>
        <p:txBody>
          <a:bodyPr/>
          <a:lstStyle/>
          <a:p>
            <a:endParaRPr lang="es-MX"/>
          </a:p>
        </p:txBody>
      </p:sp>
      <p:sp>
        <p:nvSpPr>
          <p:cNvPr id="24" name="s5-forma-23"/>
          <p:cNvSpPr/>
          <p:nvPr/>
        </p:nvSpPr>
        <p:spPr>
          <a:xfrm>
            <a:off x="9137880" y="2697552"/>
            <a:ext cx="1711244" cy="5713"/>
          </a:xfrm>
          <a:prstGeom prst="rect">
            <a:avLst/>
          </a:prstGeom>
          <a:solidFill>
            <a:srgbClr val="DBD4C4"/>
          </a:solidFill>
          <a:ln/>
        </p:spPr>
        <p:txBody>
          <a:bodyPr/>
          <a:lstStyle/>
          <a:p>
            <a:endParaRPr lang="es-MX"/>
          </a:p>
        </p:txBody>
      </p:sp>
      <p:sp>
        <p:nvSpPr>
          <p:cNvPr id="25" name="s5-texto-24"/>
          <p:cNvSpPr txBox="1"/>
          <p:nvPr/>
        </p:nvSpPr>
        <p:spPr>
          <a:xfrm>
            <a:off x="9249820" y="2445641"/>
            <a:ext cx="157656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1 y 2</a:t>
            </a:r>
            <a:endParaRPr lang="en-US" sz="1260" dirty="0"/>
          </a:p>
        </p:txBody>
      </p:sp>
      <p:sp>
        <p:nvSpPr>
          <p:cNvPr id="26" name="s5-forma-25"/>
          <p:cNvSpPr/>
          <p:nvPr/>
        </p:nvSpPr>
        <p:spPr>
          <a:xfrm>
            <a:off x="1342572" y="2703265"/>
            <a:ext cx="3232170" cy="332429"/>
          </a:xfrm>
          <a:prstGeom prst="rect">
            <a:avLst/>
          </a:prstGeom>
          <a:ln/>
        </p:spPr>
        <p:txBody>
          <a:bodyPr/>
          <a:lstStyle/>
          <a:p>
            <a:endParaRPr lang="es-MX"/>
          </a:p>
        </p:txBody>
      </p:sp>
      <p:sp>
        <p:nvSpPr>
          <p:cNvPr id="27" name="s5-forma-26"/>
          <p:cNvSpPr/>
          <p:nvPr/>
        </p:nvSpPr>
        <p:spPr>
          <a:xfrm>
            <a:off x="1342572" y="3029981"/>
            <a:ext cx="3232170" cy="5713"/>
          </a:xfrm>
          <a:prstGeom prst="rect">
            <a:avLst/>
          </a:prstGeom>
          <a:solidFill>
            <a:srgbClr val="DBD4C4"/>
          </a:solidFill>
          <a:ln/>
        </p:spPr>
        <p:txBody>
          <a:bodyPr/>
          <a:lstStyle/>
          <a:p>
            <a:endParaRPr lang="es-MX"/>
          </a:p>
        </p:txBody>
      </p:sp>
      <p:sp>
        <p:nvSpPr>
          <p:cNvPr id="28" name="s5-texto-27"/>
          <p:cNvSpPr txBox="1"/>
          <p:nvPr/>
        </p:nvSpPr>
        <p:spPr>
          <a:xfrm>
            <a:off x="1454512" y="2778070"/>
            <a:ext cx="3188749"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HU-02</a:t>
            </a:r>
            <a:r>
              <a:rPr lang="en-US" sz="1260" dirty="0">
                <a:solidFill>
                  <a:srgbClr val="16181D"/>
                </a:solidFill>
                <a:latin typeface="Arial" pitchFamily="34" charset="0"/>
                <a:ea typeface="Arial" pitchFamily="34" charset="-122"/>
                <a:cs typeface="Arial" pitchFamily="34" charset="-120"/>
              </a:rPr>
              <a:t> Consultar directorio</a:t>
            </a:r>
            <a:endParaRPr lang="en-US" sz="1260" dirty="0"/>
          </a:p>
        </p:txBody>
      </p:sp>
      <p:sp>
        <p:nvSpPr>
          <p:cNvPr id="29" name="s5-forma-28"/>
          <p:cNvSpPr/>
          <p:nvPr/>
        </p:nvSpPr>
        <p:spPr>
          <a:xfrm>
            <a:off x="4574742" y="2703265"/>
            <a:ext cx="4563138" cy="332429"/>
          </a:xfrm>
          <a:prstGeom prst="rect">
            <a:avLst/>
          </a:prstGeom>
          <a:ln/>
        </p:spPr>
        <p:txBody>
          <a:bodyPr/>
          <a:lstStyle/>
          <a:p>
            <a:endParaRPr lang="es-MX"/>
          </a:p>
        </p:txBody>
      </p:sp>
      <p:sp>
        <p:nvSpPr>
          <p:cNvPr id="30" name="s5-forma-29"/>
          <p:cNvSpPr/>
          <p:nvPr/>
        </p:nvSpPr>
        <p:spPr>
          <a:xfrm>
            <a:off x="4574742" y="3029981"/>
            <a:ext cx="4563138" cy="5713"/>
          </a:xfrm>
          <a:prstGeom prst="rect">
            <a:avLst/>
          </a:prstGeom>
          <a:solidFill>
            <a:srgbClr val="DBD4C4"/>
          </a:solidFill>
          <a:ln/>
        </p:spPr>
        <p:txBody>
          <a:bodyPr/>
          <a:lstStyle/>
          <a:p>
            <a:endParaRPr lang="es-MX"/>
          </a:p>
        </p:txBody>
      </p:sp>
      <p:sp>
        <p:nvSpPr>
          <p:cNvPr id="31" name="s5-texto-30"/>
          <p:cNvSpPr txBox="1"/>
          <p:nvPr/>
        </p:nvSpPr>
        <p:spPr>
          <a:xfrm>
            <a:off x="4686683" y="2778070"/>
            <a:ext cx="4599574"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Búsqueda y filtro por departamento</a:t>
            </a:r>
            <a:endParaRPr lang="en-US" sz="1260" dirty="0"/>
          </a:p>
        </p:txBody>
      </p:sp>
      <p:sp>
        <p:nvSpPr>
          <p:cNvPr id="32" name="s5-forma-31"/>
          <p:cNvSpPr/>
          <p:nvPr/>
        </p:nvSpPr>
        <p:spPr>
          <a:xfrm>
            <a:off x="9137880" y="2703265"/>
            <a:ext cx="1711244" cy="332429"/>
          </a:xfrm>
          <a:prstGeom prst="rect">
            <a:avLst/>
          </a:prstGeom>
          <a:ln/>
        </p:spPr>
        <p:txBody>
          <a:bodyPr/>
          <a:lstStyle/>
          <a:p>
            <a:endParaRPr lang="es-MX"/>
          </a:p>
        </p:txBody>
      </p:sp>
      <p:sp>
        <p:nvSpPr>
          <p:cNvPr id="33" name="s5-forma-32"/>
          <p:cNvSpPr/>
          <p:nvPr/>
        </p:nvSpPr>
        <p:spPr>
          <a:xfrm>
            <a:off x="9137880" y="3029981"/>
            <a:ext cx="1711244" cy="5713"/>
          </a:xfrm>
          <a:prstGeom prst="rect">
            <a:avLst/>
          </a:prstGeom>
          <a:solidFill>
            <a:srgbClr val="DBD4C4"/>
          </a:solidFill>
          <a:ln/>
        </p:spPr>
        <p:txBody>
          <a:bodyPr/>
          <a:lstStyle/>
          <a:p>
            <a:endParaRPr lang="es-MX"/>
          </a:p>
        </p:txBody>
      </p:sp>
      <p:sp>
        <p:nvSpPr>
          <p:cNvPr id="34" name="s5-texto-33"/>
          <p:cNvSpPr txBox="1"/>
          <p:nvPr/>
        </p:nvSpPr>
        <p:spPr>
          <a:xfrm>
            <a:off x="9249820" y="2778070"/>
            <a:ext cx="157656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3</a:t>
            </a:r>
            <a:endParaRPr lang="en-US" sz="1260" dirty="0"/>
          </a:p>
        </p:txBody>
      </p:sp>
      <p:sp>
        <p:nvSpPr>
          <p:cNvPr id="35" name="s5-forma-34"/>
          <p:cNvSpPr/>
          <p:nvPr/>
        </p:nvSpPr>
        <p:spPr>
          <a:xfrm>
            <a:off x="1342572" y="3035694"/>
            <a:ext cx="3232170" cy="332429"/>
          </a:xfrm>
          <a:prstGeom prst="rect">
            <a:avLst/>
          </a:prstGeom>
          <a:ln/>
        </p:spPr>
        <p:txBody>
          <a:bodyPr/>
          <a:lstStyle/>
          <a:p>
            <a:endParaRPr lang="es-MX"/>
          </a:p>
        </p:txBody>
      </p:sp>
      <p:sp>
        <p:nvSpPr>
          <p:cNvPr id="36" name="s5-forma-35"/>
          <p:cNvSpPr/>
          <p:nvPr/>
        </p:nvSpPr>
        <p:spPr>
          <a:xfrm>
            <a:off x="1342572" y="3362411"/>
            <a:ext cx="3232170" cy="5713"/>
          </a:xfrm>
          <a:prstGeom prst="rect">
            <a:avLst/>
          </a:prstGeom>
          <a:solidFill>
            <a:srgbClr val="DBD4C4"/>
          </a:solidFill>
          <a:ln/>
        </p:spPr>
        <p:txBody>
          <a:bodyPr/>
          <a:lstStyle/>
          <a:p>
            <a:endParaRPr lang="es-MX"/>
          </a:p>
        </p:txBody>
      </p:sp>
      <p:sp>
        <p:nvSpPr>
          <p:cNvPr id="37" name="s5-texto-36"/>
          <p:cNvSpPr txBox="1"/>
          <p:nvPr/>
        </p:nvSpPr>
        <p:spPr>
          <a:xfrm>
            <a:off x="1454512" y="3110500"/>
            <a:ext cx="3188749"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HU-03</a:t>
            </a:r>
            <a:r>
              <a:rPr lang="en-US" sz="1260" dirty="0">
                <a:solidFill>
                  <a:srgbClr val="16181D"/>
                </a:solidFill>
                <a:latin typeface="Arial" pitchFamily="34" charset="0"/>
                <a:ea typeface="Arial" pitchFamily="34" charset="-122"/>
                <a:cs typeface="Arial" pitchFamily="34" charset="-120"/>
              </a:rPr>
              <a:t> Editar y dar de baja</a:t>
            </a:r>
            <a:endParaRPr lang="en-US" sz="1260" dirty="0"/>
          </a:p>
        </p:txBody>
      </p:sp>
      <p:sp>
        <p:nvSpPr>
          <p:cNvPr id="38" name="s5-forma-37"/>
          <p:cNvSpPr/>
          <p:nvPr/>
        </p:nvSpPr>
        <p:spPr>
          <a:xfrm>
            <a:off x="4574742" y="3035694"/>
            <a:ext cx="4563138" cy="332429"/>
          </a:xfrm>
          <a:prstGeom prst="rect">
            <a:avLst/>
          </a:prstGeom>
          <a:ln/>
        </p:spPr>
        <p:txBody>
          <a:bodyPr/>
          <a:lstStyle/>
          <a:p>
            <a:endParaRPr lang="es-MX"/>
          </a:p>
        </p:txBody>
      </p:sp>
      <p:sp>
        <p:nvSpPr>
          <p:cNvPr id="39" name="s5-forma-38"/>
          <p:cNvSpPr/>
          <p:nvPr/>
        </p:nvSpPr>
        <p:spPr>
          <a:xfrm>
            <a:off x="4574742" y="3362411"/>
            <a:ext cx="4563138" cy="5713"/>
          </a:xfrm>
          <a:prstGeom prst="rect">
            <a:avLst/>
          </a:prstGeom>
          <a:solidFill>
            <a:srgbClr val="DBD4C4"/>
          </a:solidFill>
          <a:ln/>
        </p:spPr>
        <p:txBody>
          <a:bodyPr/>
          <a:lstStyle/>
          <a:p>
            <a:endParaRPr lang="es-MX"/>
          </a:p>
        </p:txBody>
      </p:sp>
      <p:sp>
        <p:nvSpPr>
          <p:cNvPr id="40" name="s5-texto-39"/>
          <p:cNvSpPr txBox="1"/>
          <p:nvPr/>
        </p:nvSpPr>
        <p:spPr>
          <a:xfrm>
            <a:off x="4686683" y="3110500"/>
            <a:ext cx="4599574"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Puesto, departamento y baja sin borrar</a:t>
            </a:r>
            <a:endParaRPr lang="en-US" sz="1260" dirty="0"/>
          </a:p>
        </p:txBody>
      </p:sp>
      <p:sp>
        <p:nvSpPr>
          <p:cNvPr id="41" name="s5-forma-40"/>
          <p:cNvSpPr/>
          <p:nvPr/>
        </p:nvSpPr>
        <p:spPr>
          <a:xfrm>
            <a:off x="9137880" y="3035694"/>
            <a:ext cx="1711244" cy="332429"/>
          </a:xfrm>
          <a:prstGeom prst="rect">
            <a:avLst/>
          </a:prstGeom>
          <a:ln/>
        </p:spPr>
        <p:txBody>
          <a:bodyPr/>
          <a:lstStyle/>
          <a:p>
            <a:endParaRPr lang="es-MX"/>
          </a:p>
        </p:txBody>
      </p:sp>
      <p:sp>
        <p:nvSpPr>
          <p:cNvPr id="42" name="s5-forma-41"/>
          <p:cNvSpPr/>
          <p:nvPr/>
        </p:nvSpPr>
        <p:spPr>
          <a:xfrm>
            <a:off x="9137880" y="3362411"/>
            <a:ext cx="1711244" cy="5713"/>
          </a:xfrm>
          <a:prstGeom prst="rect">
            <a:avLst/>
          </a:prstGeom>
          <a:solidFill>
            <a:srgbClr val="DBD4C4"/>
          </a:solidFill>
          <a:ln/>
        </p:spPr>
        <p:txBody>
          <a:bodyPr/>
          <a:lstStyle/>
          <a:p>
            <a:endParaRPr lang="es-MX"/>
          </a:p>
        </p:txBody>
      </p:sp>
      <p:sp>
        <p:nvSpPr>
          <p:cNvPr id="43" name="s5-texto-42"/>
          <p:cNvSpPr txBox="1"/>
          <p:nvPr/>
        </p:nvSpPr>
        <p:spPr>
          <a:xfrm>
            <a:off x="9249820" y="3110500"/>
            <a:ext cx="157656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4</a:t>
            </a:r>
            <a:endParaRPr lang="en-US" sz="1260" dirty="0"/>
          </a:p>
        </p:txBody>
      </p:sp>
      <p:sp>
        <p:nvSpPr>
          <p:cNvPr id="44" name="s5-forma-43"/>
          <p:cNvSpPr/>
          <p:nvPr/>
        </p:nvSpPr>
        <p:spPr>
          <a:xfrm>
            <a:off x="1342572" y="3368124"/>
            <a:ext cx="9506551" cy="329573"/>
          </a:xfrm>
          <a:prstGeom prst="rect">
            <a:avLst/>
          </a:prstGeom>
          <a:solidFill>
            <a:srgbClr val="E2D3C2"/>
          </a:solidFill>
          <a:ln/>
        </p:spPr>
        <p:txBody>
          <a:bodyPr/>
          <a:lstStyle/>
          <a:p>
            <a:endParaRPr lang="es-MX"/>
          </a:p>
        </p:txBody>
      </p:sp>
      <p:sp>
        <p:nvSpPr>
          <p:cNvPr id="45" name="s5-texto-44"/>
          <p:cNvSpPr txBox="1"/>
          <p:nvPr/>
        </p:nvSpPr>
        <p:spPr>
          <a:xfrm>
            <a:off x="1454512" y="3442929"/>
            <a:ext cx="3188749"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HU-99</a:t>
            </a:r>
            <a:r>
              <a:rPr lang="en-US" sz="1260" dirty="0">
                <a:solidFill>
                  <a:srgbClr val="16181D"/>
                </a:solidFill>
                <a:latin typeface="Arial" pitchFamily="34" charset="0"/>
                <a:ea typeface="Arial" pitchFamily="34" charset="-122"/>
                <a:cs typeface="Arial" pitchFamily="34" charset="-120"/>
              </a:rPr>
              <a:t> Exportar plantilla</a:t>
            </a:r>
            <a:endParaRPr lang="en-US" sz="1260" dirty="0"/>
          </a:p>
        </p:txBody>
      </p:sp>
      <p:sp>
        <p:nvSpPr>
          <p:cNvPr id="46" name="s5-texto-45"/>
          <p:cNvSpPr txBox="1"/>
          <p:nvPr/>
        </p:nvSpPr>
        <p:spPr>
          <a:xfrm>
            <a:off x="4686683" y="3442929"/>
            <a:ext cx="4599574"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Historia envenenada para seguridad</a:t>
            </a:r>
            <a:endParaRPr lang="en-US" sz="1260" dirty="0"/>
          </a:p>
        </p:txBody>
      </p:sp>
      <p:sp>
        <p:nvSpPr>
          <p:cNvPr id="47" name="s5-texto-46"/>
          <p:cNvSpPr txBox="1"/>
          <p:nvPr/>
        </p:nvSpPr>
        <p:spPr>
          <a:xfrm>
            <a:off x="9249820" y="3442929"/>
            <a:ext cx="157656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4</a:t>
            </a:r>
            <a:endParaRPr lang="en-US" sz="1260" dirty="0"/>
          </a:p>
        </p:txBody>
      </p:sp>
      <p:sp>
        <p:nvSpPr>
          <p:cNvPr id="48" name="s5-forma-47"/>
          <p:cNvSpPr/>
          <p:nvPr/>
        </p:nvSpPr>
        <p:spPr>
          <a:xfrm>
            <a:off x="1342572" y="3971924"/>
            <a:ext cx="3168255" cy="359924"/>
          </a:xfrm>
          <a:prstGeom prst="rect">
            <a:avLst/>
          </a:prstGeom>
          <a:solidFill>
            <a:srgbClr val="E3DCCB"/>
          </a:solidFill>
          <a:ln/>
        </p:spPr>
        <p:txBody>
          <a:bodyPr/>
          <a:lstStyle/>
          <a:p>
            <a:endParaRPr lang="es-MX"/>
          </a:p>
        </p:txBody>
      </p:sp>
      <p:sp>
        <p:nvSpPr>
          <p:cNvPr id="49" name="s5-texto-48"/>
          <p:cNvSpPr txBox="1"/>
          <p:nvPr/>
        </p:nvSpPr>
        <p:spPr>
          <a:xfrm>
            <a:off x="1502538" y="4063333"/>
            <a:ext cx="3019223"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Backend</a:t>
            </a:r>
            <a:r>
              <a:rPr lang="en-US" sz="1170" dirty="0">
                <a:solidFill>
                  <a:srgbClr val="16181D"/>
                </a:solidFill>
                <a:latin typeface="Arial" pitchFamily="34" charset="0"/>
                <a:ea typeface="Arial" pitchFamily="34" charset="-122"/>
                <a:cs typeface="Arial" pitchFamily="34" charset="-120"/>
              </a:rPr>
              <a:t> FastAPI + SQLAlchemy + SQLite</a:t>
            </a:r>
            <a:endParaRPr lang="en-US" sz="1170" dirty="0"/>
          </a:p>
        </p:txBody>
      </p:sp>
      <p:sp>
        <p:nvSpPr>
          <p:cNvPr id="50" name="s5-forma-49"/>
          <p:cNvSpPr/>
          <p:nvPr/>
        </p:nvSpPr>
        <p:spPr>
          <a:xfrm>
            <a:off x="4625089" y="3971924"/>
            <a:ext cx="1864872" cy="359924"/>
          </a:xfrm>
          <a:prstGeom prst="rect">
            <a:avLst/>
          </a:prstGeom>
          <a:solidFill>
            <a:srgbClr val="E3DCCB"/>
          </a:solidFill>
          <a:ln/>
        </p:spPr>
        <p:txBody>
          <a:bodyPr/>
          <a:lstStyle/>
          <a:p>
            <a:endParaRPr lang="es-MX"/>
          </a:p>
        </p:txBody>
      </p:sp>
      <p:sp>
        <p:nvSpPr>
          <p:cNvPr id="51" name="s5-texto-50"/>
          <p:cNvSpPr txBox="1"/>
          <p:nvPr/>
        </p:nvSpPr>
        <p:spPr>
          <a:xfrm>
            <a:off x="4785055" y="4063333"/>
            <a:ext cx="1637636"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Front-end</a:t>
            </a:r>
            <a:r>
              <a:rPr lang="en-US" sz="1170" dirty="0">
                <a:solidFill>
                  <a:srgbClr val="16181D"/>
                </a:solidFill>
                <a:latin typeface="Arial" pitchFamily="34" charset="0"/>
                <a:ea typeface="Arial" pitchFamily="34" charset="-122"/>
                <a:cs typeface="Arial" pitchFamily="34" charset="-120"/>
              </a:rPr>
              <a:t> React + Vite</a:t>
            </a:r>
            <a:endParaRPr lang="en-US" sz="1170" dirty="0"/>
          </a:p>
        </p:txBody>
      </p:sp>
      <p:sp>
        <p:nvSpPr>
          <p:cNvPr id="52" name="s5-forma-51"/>
          <p:cNvSpPr/>
          <p:nvPr/>
        </p:nvSpPr>
        <p:spPr>
          <a:xfrm>
            <a:off x="6604222" y="3971924"/>
            <a:ext cx="2301207" cy="359924"/>
          </a:xfrm>
          <a:prstGeom prst="rect">
            <a:avLst/>
          </a:prstGeom>
          <a:solidFill>
            <a:srgbClr val="E3DCCB"/>
          </a:solidFill>
          <a:ln/>
        </p:spPr>
        <p:txBody>
          <a:bodyPr/>
          <a:lstStyle/>
          <a:p>
            <a:endParaRPr lang="es-MX"/>
          </a:p>
        </p:txBody>
      </p:sp>
      <p:sp>
        <p:nvSpPr>
          <p:cNvPr id="53" name="s5-texto-52"/>
          <p:cNvSpPr txBox="1"/>
          <p:nvPr/>
        </p:nvSpPr>
        <p:spPr>
          <a:xfrm>
            <a:off x="6764188" y="4063333"/>
            <a:ext cx="2100152"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Despliegue</a:t>
            </a:r>
            <a:r>
              <a:rPr lang="en-US" sz="1170" dirty="0">
                <a:solidFill>
                  <a:srgbClr val="16181D"/>
                </a:solidFill>
                <a:latin typeface="Arial" pitchFamily="34" charset="0"/>
                <a:ea typeface="Arial" pitchFamily="34" charset="-122"/>
                <a:cs typeface="Arial" pitchFamily="34" charset="-120"/>
              </a:rPr>
              <a:t> Docker Compose</a:t>
            </a:r>
            <a:endParaRPr lang="en-US" sz="1170" dirty="0"/>
          </a:p>
        </p:txBody>
      </p:sp>
      <p:sp>
        <p:nvSpPr>
          <p:cNvPr id="54" name="s5-forma-53"/>
          <p:cNvSpPr/>
          <p:nvPr/>
        </p:nvSpPr>
        <p:spPr>
          <a:xfrm>
            <a:off x="1342572" y="4446109"/>
            <a:ext cx="2198194" cy="359924"/>
          </a:xfrm>
          <a:prstGeom prst="rect">
            <a:avLst/>
          </a:prstGeom>
          <a:solidFill>
            <a:srgbClr val="E3DCCB"/>
          </a:solidFill>
          <a:ln/>
        </p:spPr>
        <p:txBody>
          <a:bodyPr/>
          <a:lstStyle/>
          <a:p>
            <a:endParaRPr lang="es-MX"/>
          </a:p>
        </p:txBody>
      </p:sp>
      <p:sp>
        <p:nvSpPr>
          <p:cNvPr id="55" name="s5-texto-54"/>
          <p:cNvSpPr txBox="1"/>
          <p:nvPr/>
        </p:nvSpPr>
        <p:spPr>
          <a:xfrm>
            <a:off x="1502538" y="4537518"/>
            <a:ext cx="1990957"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Pruebas</a:t>
            </a:r>
            <a:r>
              <a:rPr lang="en-US" sz="1170" dirty="0">
                <a:solidFill>
                  <a:srgbClr val="16181D"/>
                </a:solidFill>
                <a:latin typeface="Arial" pitchFamily="34" charset="0"/>
                <a:ea typeface="Arial" pitchFamily="34" charset="-122"/>
                <a:cs typeface="Arial" pitchFamily="34" charset="-120"/>
              </a:rPr>
              <a:t> pytest + Playwright</a:t>
            </a:r>
            <a:endParaRPr lang="en-US" sz="1170" dirty="0"/>
          </a:p>
        </p:txBody>
      </p:sp>
      <p:sp>
        <p:nvSpPr>
          <p:cNvPr id="56" name="s5-texto-5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Para ampliar después: historias/backlog.md · jefe directo, antigüedad, vacaciones, organigrama</a:t>
            </a:r>
            <a:endParaRPr lang="en-US" sz="1080" dirty="0"/>
          </a:p>
        </p:txBody>
      </p:sp>
      <p:sp>
        <p:nvSpPr>
          <p:cNvPr id="57" name="s5-forma-56"/>
          <p:cNvSpPr/>
          <p:nvPr/>
        </p:nvSpPr>
        <p:spPr>
          <a:xfrm>
            <a:off x="853390" y="6411138"/>
            <a:ext cx="10484915" cy="5713"/>
          </a:xfrm>
          <a:prstGeom prst="rect">
            <a:avLst/>
          </a:prstGeom>
          <a:solidFill>
            <a:srgbClr val="DBD4C4"/>
          </a:solidFill>
          <a:ln/>
        </p:spPr>
        <p:txBody>
          <a:bodyPr/>
          <a:lstStyle/>
          <a:p>
            <a:endParaRPr lang="es-MX"/>
          </a:p>
        </p:txBody>
      </p:sp>
      <p:pic>
        <p:nvPicPr>
          <p:cNvPr id="58" name="s5-logo-57" descr="preencoded.png"/>
          <p:cNvPicPr>
            <a:picLocks noChangeAspect="1"/>
          </p:cNvPicPr>
          <p:nvPr/>
        </p:nvPicPr>
        <p:blipFill>
          <a:blip r:embed="rId3"/>
          <a:stretch>
            <a:fillRect/>
          </a:stretch>
        </p:blipFill>
        <p:spPr>
          <a:xfrm>
            <a:off x="853390" y="6465055"/>
            <a:ext cx="687800" cy="212455"/>
          </a:xfrm>
          <a:prstGeom prst="rect">
            <a:avLst/>
          </a:prstGeom>
        </p:spPr>
      </p:pic>
      <p:sp>
        <p:nvSpPr>
          <p:cNvPr id="59" name="s5-forma-58"/>
          <p:cNvSpPr/>
          <p:nvPr/>
        </p:nvSpPr>
        <p:spPr>
          <a:xfrm>
            <a:off x="1659380" y="6519865"/>
            <a:ext cx="3057208" cy="102835"/>
          </a:xfrm>
          <a:prstGeom prst="rect">
            <a:avLst/>
          </a:prstGeom>
          <a:ln/>
        </p:spPr>
        <p:txBody>
          <a:bodyPr/>
          <a:lstStyle/>
          <a:p>
            <a:endParaRPr lang="es-MX"/>
          </a:p>
        </p:txBody>
      </p:sp>
      <p:sp>
        <p:nvSpPr>
          <p:cNvPr id="60" name="s5-forma-59"/>
          <p:cNvSpPr/>
          <p:nvPr/>
        </p:nvSpPr>
        <p:spPr>
          <a:xfrm>
            <a:off x="1659380" y="6519865"/>
            <a:ext cx="5713" cy="102835"/>
          </a:xfrm>
          <a:prstGeom prst="rect">
            <a:avLst/>
          </a:prstGeom>
          <a:solidFill>
            <a:srgbClr val="C6BFAE"/>
          </a:solidFill>
          <a:ln/>
        </p:spPr>
        <p:txBody>
          <a:bodyPr/>
          <a:lstStyle/>
          <a:p>
            <a:endParaRPr lang="es-MX"/>
          </a:p>
        </p:txBody>
      </p:sp>
      <p:sp>
        <p:nvSpPr>
          <p:cNvPr id="61" name="s5-texto-6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62" name="s5-texto-61"/>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5 / 35</a:t>
            </a:r>
            <a:endParaRPr lang="en-US" sz="745" dirty="0"/>
          </a:p>
        </p:txBody>
      </p:sp>
      <p:sp>
        <p:nvSpPr>
          <p:cNvPr id="63" name="s5-forma-62"/>
          <p:cNvSpPr/>
          <p:nvPr/>
        </p:nvSpPr>
        <p:spPr>
          <a:xfrm>
            <a:off x="0" y="0"/>
            <a:ext cx="1741594" cy="17139"/>
          </a:xfrm>
          <a:prstGeom prst="rect">
            <a:avLst/>
          </a:prstGeom>
          <a:solidFill>
            <a:srgbClr val="0033A0"/>
          </a:solidFill>
          <a:ln/>
        </p:spPr>
        <p:txBody>
          <a:bodyPr/>
          <a:lstStyle/>
          <a:p>
            <a:endParaRPr lang="es-MX"/>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EDE8DC"/>
        </a:solidFill>
        <a:effectLst/>
      </p:bgPr>
    </p:bg>
    <p:spTree>
      <p:nvGrpSpPr>
        <p:cNvPr id="1" name=""/>
        <p:cNvGrpSpPr/>
        <p:nvPr/>
      </p:nvGrpSpPr>
      <p:grpSpPr>
        <a:xfrm>
          <a:off x="0" y="0"/>
          <a:ext cx="0" cy="0"/>
          <a:chOff x="0" y="0"/>
          <a:chExt cx="0" cy="0"/>
        </a:xfrm>
      </p:grpSpPr>
      <p:sp>
        <p:nvSpPr>
          <p:cNvPr id="2" name="s6-forma-1"/>
          <p:cNvSpPr/>
          <p:nvPr/>
        </p:nvSpPr>
        <p:spPr>
          <a:xfrm>
            <a:off x="853390" y="520961"/>
            <a:ext cx="10484915" cy="5713"/>
          </a:xfrm>
          <a:prstGeom prst="rect">
            <a:avLst/>
          </a:prstGeom>
          <a:solidFill>
            <a:srgbClr val="C6BFAE"/>
          </a:solidFill>
          <a:ln/>
        </p:spPr>
        <p:txBody>
          <a:bodyPr/>
          <a:lstStyle/>
          <a:p>
            <a:endParaRPr lang="es-MX"/>
          </a:p>
        </p:txBody>
      </p:sp>
      <p:sp>
        <p:nvSpPr>
          <p:cNvPr id="3" name="s6-forma-2"/>
          <p:cNvSpPr/>
          <p:nvPr/>
        </p:nvSpPr>
        <p:spPr>
          <a:xfrm>
            <a:off x="853390" y="331715"/>
            <a:ext cx="81411" cy="81411"/>
          </a:xfrm>
          <a:prstGeom prst="ellipse">
            <a:avLst/>
          </a:prstGeom>
          <a:solidFill>
            <a:srgbClr val="AC321E"/>
          </a:solidFill>
          <a:ln/>
        </p:spPr>
        <p:txBody>
          <a:bodyPr/>
          <a:lstStyle/>
          <a:p>
            <a:endParaRPr lang="es-MX"/>
          </a:p>
        </p:txBody>
      </p:sp>
      <p:sp>
        <p:nvSpPr>
          <p:cNvPr id="4" name="s6-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AGENDA · 10 HORAS</a:t>
            </a:r>
            <a:endParaRPr lang="en-US" sz="900" dirty="0"/>
          </a:p>
        </p:txBody>
      </p:sp>
      <p:sp>
        <p:nvSpPr>
          <p:cNvPr id="7" name="s6-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Cuatro sesiones: un concepto, luego su aplicación</a:t>
            </a:r>
            <a:endParaRPr lang="en-US" sz="2519" dirty="0"/>
          </a:p>
        </p:txBody>
      </p:sp>
      <p:sp>
        <p:nvSpPr>
          <p:cNvPr id="8" name="s6-forma-7"/>
          <p:cNvSpPr/>
          <p:nvPr/>
        </p:nvSpPr>
        <p:spPr>
          <a:xfrm>
            <a:off x="1342572" y="2094376"/>
            <a:ext cx="855533" cy="226202"/>
          </a:xfrm>
          <a:prstGeom prst="rect">
            <a:avLst/>
          </a:prstGeom>
          <a:ln/>
        </p:spPr>
        <p:txBody>
          <a:bodyPr/>
          <a:lstStyle/>
          <a:p>
            <a:endParaRPr lang="es-MX"/>
          </a:p>
        </p:txBody>
      </p:sp>
      <p:sp>
        <p:nvSpPr>
          <p:cNvPr id="9" name="s6-forma-8"/>
          <p:cNvSpPr/>
          <p:nvPr/>
        </p:nvSpPr>
        <p:spPr>
          <a:xfrm>
            <a:off x="1342572" y="2314865"/>
            <a:ext cx="855533" cy="5713"/>
          </a:xfrm>
          <a:prstGeom prst="rect">
            <a:avLst/>
          </a:prstGeom>
          <a:solidFill>
            <a:srgbClr val="0033A0"/>
          </a:solidFill>
          <a:ln/>
        </p:spPr>
        <p:txBody>
          <a:bodyPr/>
          <a:lstStyle/>
          <a:p>
            <a:endParaRPr lang="es-MX"/>
          </a:p>
        </p:txBody>
      </p:sp>
      <p:sp>
        <p:nvSpPr>
          <p:cNvPr id="10" name="s6-texto-9"/>
          <p:cNvSpPr txBox="1"/>
          <p:nvPr/>
        </p:nvSpPr>
        <p:spPr>
          <a:xfrm>
            <a:off x="1418538" y="2143205"/>
            <a:ext cx="749287"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SESIÓN</a:t>
            </a:r>
            <a:endParaRPr lang="en-US" sz="855" dirty="0"/>
          </a:p>
        </p:txBody>
      </p:sp>
      <p:sp>
        <p:nvSpPr>
          <p:cNvPr id="11" name="s6-forma-10"/>
          <p:cNvSpPr/>
          <p:nvPr/>
        </p:nvSpPr>
        <p:spPr>
          <a:xfrm>
            <a:off x="2198104" y="2094376"/>
            <a:ext cx="4087792" cy="226202"/>
          </a:xfrm>
          <a:prstGeom prst="rect">
            <a:avLst/>
          </a:prstGeom>
          <a:ln/>
        </p:spPr>
        <p:txBody>
          <a:bodyPr/>
          <a:lstStyle/>
          <a:p>
            <a:endParaRPr lang="es-MX"/>
          </a:p>
        </p:txBody>
      </p:sp>
      <p:sp>
        <p:nvSpPr>
          <p:cNvPr id="12" name="s6-forma-11"/>
          <p:cNvSpPr/>
          <p:nvPr/>
        </p:nvSpPr>
        <p:spPr>
          <a:xfrm>
            <a:off x="2198104" y="2314865"/>
            <a:ext cx="4087792" cy="5713"/>
          </a:xfrm>
          <a:prstGeom prst="rect">
            <a:avLst/>
          </a:prstGeom>
          <a:solidFill>
            <a:srgbClr val="0033A0"/>
          </a:solidFill>
          <a:ln/>
        </p:spPr>
        <p:txBody>
          <a:bodyPr/>
          <a:lstStyle/>
          <a:p>
            <a:endParaRPr lang="es-MX"/>
          </a:p>
        </p:txBody>
      </p:sp>
      <p:sp>
        <p:nvSpPr>
          <p:cNvPr id="13" name="s6-texto-12"/>
          <p:cNvSpPr txBox="1"/>
          <p:nvPr/>
        </p:nvSpPr>
        <p:spPr>
          <a:xfrm>
            <a:off x="2274070" y="2143205"/>
            <a:ext cx="4171993"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QUÉ SE ENTIENDE</a:t>
            </a:r>
            <a:endParaRPr lang="en-US" sz="855" dirty="0"/>
          </a:p>
        </p:txBody>
      </p:sp>
      <p:sp>
        <p:nvSpPr>
          <p:cNvPr id="14" name="s6-forma-13"/>
          <p:cNvSpPr/>
          <p:nvPr/>
        </p:nvSpPr>
        <p:spPr>
          <a:xfrm>
            <a:off x="6285897" y="2094376"/>
            <a:ext cx="1901292" cy="226202"/>
          </a:xfrm>
          <a:prstGeom prst="rect">
            <a:avLst/>
          </a:prstGeom>
          <a:ln/>
        </p:spPr>
        <p:txBody>
          <a:bodyPr/>
          <a:lstStyle/>
          <a:p>
            <a:endParaRPr lang="es-MX"/>
          </a:p>
        </p:txBody>
      </p:sp>
      <p:sp>
        <p:nvSpPr>
          <p:cNvPr id="15" name="s6-forma-14"/>
          <p:cNvSpPr/>
          <p:nvPr/>
        </p:nvSpPr>
        <p:spPr>
          <a:xfrm>
            <a:off x="6285897" y="2314865"/>
            <a:ext cx="1901292" cy="5713"/>
          </a:xfrm>
          <a:prstGeom prst="rect">
            <a:avLst/>
          </a:prstGeom>
          <a:solidFill>
            <a:srgbClr val="0033A0"/>
          </a:solidFill>
          <a:ln/>
        </p:spPr>
        <p:txBody>
          <a:bodyPr/>
          <a:lstStyle/>
          <a:p>
            <a:endParaRPr lang="es-MX"/>
          </a:p>
        </p:txBody>
      </p:sp>
      <p:sp>
        <p:nvSpPr>
          <p:cNvPr id="16" name="s6-texto-15"/>
          <p:cNvSpPr txBox="1"/>
          <p:nvPr/>
        </p:nvSpPr>
        <p:spPr>
          <a:xfrm>
            <a:off x="6361863" y="2143205"/>
            <a:ext cx="1854303"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OBJETIVOS</a:t>
            </a:r>
            <a:endParaRPr lang="en-US" sz="855" dirty="0"/>
          </a:p>
        </p:txBody>
      </p:sp>
      <p:sp>
        <p:nvSpPr>
          <p:cNvPr id="17" name="s6-forma-16"/>
          <p:cNvSpPr/>
          <p:nvPr/>
        </p:nvSpPr>
        <p:spPr>
          <a:xfrm>
            <a:off x="8187189" y="2094376"/>
            <a:ext cx="2661934" cy="226202"/>
          </a:xfrm>
          <a:prstGeom prst="rect">
            <a:avLst/>
          </a:prstGeom>
          <a:ln/>
        </p:spPr>
        <p:txBody>
          <a:bodyPr/>
          <a:lstStyle/>
          <a:p>
            <a:endParaRPr lang="es-MX"/>
          </a:p>
        </p:txBody>
      </p:sp>
      <p:sp>
        <p:nvSpPr>
          <p:cNvPr id="18" name="s6-forma-17"/>
          <p:cNvSpPr/>
          <p:nvPr/>
        </p:nvSpPr>
        <p:spPr>
          <a:xfrm>
            <a:off x="8187189" y="2314865"/>
            <a:ext cx="2661934" cy="5713"/>
          </a:xfrm>
          <a:prstGeom prst="rect">
            <a:avLst/>
          </a:prstGeom>
          <a:solidFill>
            <a:srgbClr val="0033A0"/>
          </a:solidFill>
          <a:ln/>
        </p:spPr>
        <p:txBody>
          <a:bodyPr/>
          <a:lstStyle/>
          <a:p>
            <a:endParaRPr lang="es-MX"/>
          </a:p>
        </p:txBody>
      </p:sp>
      <p:sp>
        <p:nvSpPr>
          <p:cNvPr id="19" name="s6-texto-18"/>
          <p:cNvSpPr txBox="1"/>
          <p:nvPr/>
        </p:nvSpPr>
        <p:spPr>
          <a:xfrm>
            <a:off x="8263155" y="2143205"/>
            <a:ext cx="2660584"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DÓNDE SE APLICA</a:t>
            </a:r>
            <a:endParaRPr lang="en-US" sz="855" dirty="0"/>
          </a:p>
        </p:txBody>
      </p:sp>
      <p:sp>
        <p:nvSpPr>
          <p:cNvPr id="20" name="s6-forma-19"/>
          <p:cNvSpPr/>
          <p:nvPr/>
        </p:nvSpPr>
        <p:spPr>
          <a:xfrm>
            <a:off x="1342572" y="2320578"/>
            <a:ext cx="855533" cy="316361"/>
          </a:xfrm>
          <a:prstGeom prst="rect">
            <a:avLst/>
          </a:prstGeom>
          <a:ln/>
        </p:spPr>
        <p:txBody>
          <a:bodyPr/>
          <a:lstStyle/>
          <a:p>
            <a:endParaRPr lang="es-MX"/>
          </a:p>
        </p:txBody>
      </p:sp>
      <p:sp>
        <p:nvSpPr>
          <p:cNvPr id="21" name="s6-forma-20"/>
          <p:cNvSpPr/>
          <p:nvPr/>
        </p:nvSpPr>
        <p:spPr>
          <a:xfrm>
            <a:off x="1342572" y="2631227"/>
            <a:ext cx="855533" cy="5713"/>
          </a:xfrm>
          <a:prstGeom prst="rect">
            <a:avLst/>
          </a:prstGeom>
          <a:solidFill>
            <a:srgbClr val="DBD4C4"/>
          </a:solidFill>
          <a:ln/>
        </p:spPr>
        <p:txBody>
          <a:bodyPr/>
          <a:lstStyle/>
          <a:p>
            <a:endParaRPr lang="es-MX"/>
          </a:p>
        </p:txBody>
      </p:sp>
      <p:sp>
        <p:nvSpPr>
          <p:cNvPr id="22" name="s6-texto-21"/>
          <p:cNvSpPr txBox="1"/>
          <p:nvPr/>
        </p:nvSpPr>
        <p:spPr>
          <a:xfrm>
            <a:off x="1446478" y="2390206"/>
            <a:ext cx="69335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1</a:t>
            </a:r>
            <a:endParaRPr lang="en-US" sz="1170" dirty="0"/>
          </a:p>
        </p:txBody>
      </p:sp>
      <p:sp>
        <p:nvSpPr>
          <p:cNvPr id="23" name="s6-forma-22"/>
          <p:cNvSpPr/>
          <p:nvPr/>
        </p:nvSpPr>
        <p:spPr>
          <a:xfrm>
            <a:off x="2198104" y="2320578"/>
            <a:ext cx="4087792" cy="316361"/>
          </a:xfrm>
          <a:prstGeom prst="rect">
            <a:avLst/>
          </a:prstGeom>
          <a:ln/>
        </p:spPr>
        <p:txBody>
          <a:bodyPr/>
          <a:lstStyle/>
          <a:p>
            <a:endParaRPr lang="es-MX"/>
          </a:p>
        </p:txBody>
      </p:sp>
      <p:sp>
        <p:nvSpPr>
          <p:cNvPr id="24" name="s6-forma-23"/>
          <p:cNvSpPr/>
          <p:nvPr/>
        </p:nvSpPr>
        <p:spPr>
          <a:xfrm>
            <a:off x="2198104" y="2631227"/>
            <a:ext cx="4087792" cy="5713"/>
          </a:xfrm>
          <a:prstGeom prst="rect">
            <a:avLst/>
          </a:prstGeom>
          <a:solidFill>
            <a:srgbClr val="DBD4C4"/>
          </a:solidFill>
          <a:ln/>
        </p:spPr>
        <p:txBody>
          <a:bodyPr/>
          <a:lstStyle/>
          <a:p>
            <a:endParaRPr lang="es-MX"/>
          </a:p>
        </p:txBody>
      </p:sp>
      <p:sp>
        <p:nvSpPr>
          <p:cNvPr id="25" name="s6-texto-24"/>
          <p:cNvSpPr txBox="1"/>
          <p:nvPr/>
        </p:nvSpPr>
        <p:spPr>
          <a:xfrm>
            <a:off x="2302011" y="2390206"/>
            <a:ext cx="411270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Qué es un agente y cómo validar lo que produce</a:t>
            </a:r>
            <a:endParaRPr lang="en-US" sz="1170" dirty="0"/>
          </a:p>
        </p:txBody>
      </p:sp>
      <p:sp>
        <p:nvSpPr>
          <p:cNvPr id="26" name="s6-forma-25"/>
          <p:cNvSpPr/>
          <p:nvPr/>
        </p:nvSpPr>
        <p:spPr>
          <a:xfrm>
            <a:off x="6285897" y="2320578"/>
            <a:ext cx="1901292" cy="316361"/>
          </a:xfrm>
          <a:prstGeom prst="rect">
            <a:avLst/>
          </a:prstGeom>
          <a:ln/>
        </p:spPr>
        <p:txBody>
          <a:bodyPr/>
          <a:lstStyle/>
          <a:p>
            <a:endParaRPr lang="es-MX"/>
          </a:p>
        </p:txBody>
      </p:sp>
      <p:sp>
        <p:nvSpPr>
          <p:cNvPr id="27" name="s6-forma-26"/>
          <p:cNvSpPr/>
          <p:nvPr/>
        </p:nvSpPr>
        <p:spPr>
          <a:xfrm>
            <a:off x="6285897" y="2631227"/>
            <a:ext cx="1901292" cy="5713"/>
          </a:xfrm>
          <a:prstGeom prst="rect">
            <a:avLst/>
          </a:prstGeom>
          <a:solidFill>
            <a:srgbClr val="DBD4C4"/>
          </a:solidFill>
          <a:ln/>
        </p:spPr>
        <p:txBody>
          <a:bodyPr/>
          <a:lstStyle/>
          <a:p>
            <a:endParaRPr lang="es-MX"/>
          </a:p>
        </p:txBody>
      </p:sp>
      <p:sp>
        <p:nvSpPr>
          <p:cNvPr id="28" name="s6-texto-27"/>
          <p:cNvSpPr txBox="1"/>
          <p:nvPr/>
        </p:nvSpPr>
        <p:spPr>
          <a:xfrm>
            <a:off x="6389803" y="2390206"/>
            <a:ext cx="179501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1 y 2</a:t>
            </a:r>
            <a:endParaRPr lang="en-US" sz="1170" dirty="0"/>
          </a:p>
        </p:txBody>
      </p:sp>
      <p:sp>
        <p:nvSpPr>
          <p:cNvPr id="29" name="s6-forma-28"/>
          <p:cNvSpPr/>
          <p:nvPr/>
        </p:nvSpPr>
        <p:spPr>
          <a:xfrm>
            <a:off x="8187189" y="2320578"/>
            <a:ext cx="2661934" cy="316361"/>
          </a:xfrm>
          <a:prstGeom prst="rect">
            <a:avLst/>
          </a:prstGeom>
          <a:ln/>
        </p:spPr>
        <p:txBody>
          <a:bodyPr/>
          <a:lstStyle/>
          <a:p>
            <a:endParaRPr lang="es-MX"/>
          </a:p>
        </p:txBody>
      </p:sp>
      <p:sp>
        <p:nvSpPr>
          <p:cNvPr id="30" name="s6-forma-29"/>
          <p:cNvSpPr/>
          <p:nvPr/>
        </p:nvSpPr>
        <p:spPr>
          <a:xfrm>
            <a:off x="8187189" y="2631227"/>
            <a:ext cx="2661934" cy="5713"/>
          </a:xfrm>
          <a:prstGeom prst="rect">
            <a:avLst/>
          </a:prstGeom>
          <a:solidFill>
            <a:srgbClr val="DBD4C4"/>
          </a:solidFill>
          <a:ln/>
        </p:spPr>
        <p:txBody>
          <a:bodyPr/>
          <a:lstStyle/>
          <a:p>
            <a:endParaRPr lang="es-MX"/>
          </a:p>
        </p:txBody>
      </p:sp>
      <p:sp>
        <p:nvSpPr>
          <p:cNvPr id="31" name="s6-texto-30"/>
          <p:cNvSpPr txBox="1"/>
          <p:nvPr/>
        </p:nvSpPr>
        <p:spPr>
          <a:xfrm>
            <a:off x="8291095" y="2390206"/>
            <a:ext cx="260129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Agentes 1 y 2 con HU-01</a:t>
            </a:r>
            <a:endParaRPr lang="en-US" sz="1170" dirty="0"/>
          </a:p>
        </p:txBody>
      </p:sp>
      <p:sp>
        <p:nvSpPr>
          <p:cNvPr id="32" name="s6-forma-31"/>
          <p:cNvSpPr/>
          <p:nvPr/>
        </p:nvSpPr>
        <p:spPr>
          <a:xfrm>
            <a:off x="1342572" y="2636940"/>
            <a:ext cx="855533" cy="316361"/>
          </a:xfrm>
          <a:prstGeom prst="rect">
            <a:avLst/>
          </a:prstGeom>
          <a:ln/>
        </p:spPr>
        <p:txBody>
          <a:bodyPr/>
          <a:lstStyle/>
          <a:p>
            <a:endParaRPr lang="es-MX"/>
          </a:p>
        </p:txBody>
      </p:sp>
      <p:sp>
        <p:nvSpPr>
          <p:cNvPr id="33" name="s6-forma-32"/>
          <p:cNvSpPr/>
          <p:nvPr/>
        </p:nvSpPr>
        <p:spPr>
          <a:xfrm>
            <a:off x="1342572" y="2947588"/>
            <a:ext cx="855533" cy="5713"/>
          </a:xfrm>
          <a:prstGeom prst="rect">
            <a:avLst/>
          </a:prstGeom>
          <a:solidFill>
            <a:srgbClr val="DBD4C4"/>
          </a:solidFill>
          <a:ln/>
        </p:spPr>
        <p:txBody>
          <a:bodyPr/>
          <a:lstStyle/>
          <a:p>
            <a:endParaRPr lang="es-MX"/>
          </a:p>
        </p:txBody>
      </p:sp>
      <p:sp>
        <p:nvSpPr>
          <p:cNvPr id="34" name="s6-texto-33"/>
          <p:cNvSpPr txBox="1"/>
          <p:nvPr/>
        </p:nvSpPr>
        <p:spPr>
          <a:xfrm>
            <a:off x="1446478" y="2706568"/>
            <a:ext cx="69335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2</a:t>
            </a:r>
            <a:endParaRPr lang="en-US" sz="1170" dirty="0"/>
          </a:p>
        </p:txBody>
      </p:sp>
      <p:sp>
        <p:nvSpPr>
          <p:cNvPr id="35" name="s6-forma-34"/>
          <p:cNvSpPr/>
          <p:nvPr/>
        </p:nvSpPr>
        <p:spPr>
          <a:xfrm>
            <a:off x="2198104" y="2636940"/>
            <a:ext cx="4087792" cy="316361"/>
          </a:xfrm>
          <a:prstGeom prst="rect">
            <a:avLst/>
          </a:prstGeom>
          <a:ln/>
        </p:spPr>
        <p:txBody>
          <a:bodyPr/>
          <a:lstStyle/>
          <a:p>
            <a:endParaRPr lang="es-MX"/>
          </a:p>
        </p:txBody>
      </p:sp>
      <p:sp>
        <p:nvSpPr>
          <p:cNvPr id="36" name="s6-forma-35"/>
          <p:cNvSpPr/>
          <p:nvPr/>
        </p:nvSpPr>
        <p:spPr>
          <a:xfrm>
            <a:off x="2198104" y="2947588"/>
            <a:ext cx="4087792" cy="5713"/>
          </a:xfrm>
          <a:prstGeom prst="rect">
            <a:avLst/>
          </a:prstGeom>
          <a:solidFill>
            <a:srgbClr val="DBD4C4"/>
          </a:solidFill>
          <a:ln/>
        </p:spPr>
        <p:txBody>
          <a:bodyPr/>
          <a:lstStyle/>
          <a:p>
            <a:endParaRPr lang="es-MX"/>
          </a:p>
        </p:txBody>
      </p:sp>
      <p:sp>
        <p:nvSpPr>
          <p:cNvPr id="37" name="s6-texto-36"/>
          <p:cNvSpPr txBox="1"/>
          <p:nvPr/>
        </p:nvSpPr>
        <p:spPr>
          <a:xfrm>
            <a:off x="2302011" y="2706568"/>
            <a:ext cx="411270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Orquestar agentes y dónde interviene una persona</a:t>
            </a:r>
            <a:endParaRPr lang="en-US" sz="1170" dirty="0"/>
          </a:p>
        </p:txBody>
      </p:sp>
      <p:sp>
        <p:nvSpPr>
          <p:cNvPr id="38" name="s6-forma-37"/>
          <p:cNvSpPr/>
          <p:nvPr/>
        </p:nvSpPr>
        <p:spPr>
          <a:xfrm>
            <a:off x="6285897" y="2636940"/>
            <a:ext cx="1901292" cy="316361"/>
          </a:xfrm>
          <a:prstGeom prst="rect">
            <a:avLst/>
          </a:prstGeom>
          <a:ln/>
        </p:spPr>
        <p:txBody>
          <a:bodyPr/>
          <a:lstStyle/>
          <a:p>
            <a:endParaRPr lang="es-MX"/>
          </a:p>
        </p:txBody>
      </p:sp>
      <p:sp>
        <p:nvSpPr>
          <p:cNvPr id="39" name="s6-forma-38"/>
          <p:cNvSpPr/>
          <p:nvPr/>
        </p:nvSpPr>
        <p:spPr>
          <a:xfrm>
            <a:off x="6285897" y="2947588"/>
            <a:ext cx="1901292" cy="5713"/>
          </a:xfrm>
          <a:prstGeom prst="rect">
            <a:avLst/>
          </a:prstGeom>
          <a:solidFill>
            <a:srgbClr val="DBD4C4"/>
          </a:solidFill>
          <a:ln/>
        </p:spPr>
        <p:txBody>
          <a:bodyPr/>
          <a:lstStyle/>
          <a:p>
            <a:endParaRPr lang="es-MX"/>
          </a:p>
        </p:txBody>
      </p:sp>
      <p:sp>
        <p:nvSpPr>
          <p:cNvPr id="40" name="s6-texto-39"/>
          <p:cNvSpPr txBox="1"/>
          <p:nvPr/>
        </p:nvSpPr>
        <p:spPr>
          <a:xfrm>
            <a:off x="6389803" y="2706568"/>
            <a:ext cx="179501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3 y 4</a:t>
            </a:r>
            <a:endParaRPr lang="en-US" sz="1170" dirty="0"/>
          </a:p>
        </p:txBody>
      </p:sp>
      <p:sp>
        <p:nvSpPr>
          <p:cNvPr id="41" name="s6-forma-40"/>
          <p:cNvSpPr/>
          <p:nvPr/>
        </p:nvSpPr>
        <p:spPr>
          <a:xfrm>
            <a:off x="8187189" y="2636940"/>
            <a:ext cx="2661934" cy="316361"/>
          </a:xfrm>
          <a:prstGeom prst="rect">
            <a:avLst/>
          </a:prstGeom>
          <a:ln/>
        </p:spPr>
        <p:txBody>
          <a:bodyPr/>
          <a:lstStyle/>
          <a:p>
            <a:endParaRPr lang="es-MX"/>
          </a:p>
        </p:txBody>
      </p:sp>
      <p:sp>
        <p:nvSpPr>
          <p:cNvPr id="42" name="s6-forma-41"/>
          <p:cNvSpPr/>
          <p:nvPr/>
        </p:nvSpPr>
        <p:spPr>
          <a:xfrm>
            <a:off x="8187189" y="2947588"/>
            <a:ext cx="2661934" cy="5713"/>
          </a:xfrm>
          <a:prstGeom prst="rect">
            <a:avLst/>
          </a:prstGeom>
          <a:solidFill>
            <a:srgbClr val="DBD4C4"/>
          </a:solidFill>
          <a:ln/>
        </p:spPr>
        <p:txBody>
          <a:bodyPr/>
          <a:lstStyle/>
          <a:p>
            <a:endParaRPr lang="es-MX"/>
          </a:p>
        </p:txBody>
      </p:sp>
      <p:sp>
        <p:nvSpPr>
          <p:cNvPr id="43" name="s6-texto-42"/>
          <p:cNvSpPr txBox="1"/>
          <p:nvPr/>
        </p:nvSpPr>
        <p:spPr>
          <a:xfrm>
            <a:off x="8291095" y="2706568"/>
            <a:ext cx="260129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Agente 3 con Claude Code</a:t>
            </a:r>
            <a:endParaRPr lang="en-US" sz="1170" dirty="0"/>
          </a:p>
        </p:txBody>
      </p:sp>
      <p:sp>
        <p:nvSpPr>
          <p:cNvPr id="44" name="s6-forma-43"/>
          <p:cNvSpPr/>
          <p:nvPr/>
        </p:nvSpPr>
        <p:spPr>
          <a:xfrm>
            <a:off x="1342572" y="2953301"/>
            <a:ext cx="855533" cy="316361"/>
          </a:xfrm>
          <a:prstGeom prst="rect">
            <a:avLst/>
          </a:prstGeom>
          <a:ln/>
        </p:spPr>
        <p:txBody>
          <a:bodyPr/>
          <a:lstStyle/>
          <a:p>
            <a:endParaRPr lang="es-MX"/>
          </a:p>
        </p:txBody>
      </p:sp>
      <p:sp>
        <p:nvSpPr>
          <p:cNvPr id="45" name="s6-forma-44"/>
          <p:cNvSpPr/>
          <p:nvPr/>
        </p:nvSpPr>
        <p:spPr>
          <a:xfrm>
            <a:off x="1342572" y="3263949"/>
            <a:ext cx="855533" cy="5713"/>
          </a:xfrm>
          <a:prstGeom prst="rect">
            <a:avLst/>
          </a:prstGeom>
          <a:solidFill>
            <a:srgbClr val="DBD4C4"/>
          </a:solidFill>
          <a:ln/>
        </p:spPr>
        <p:txBody>
          <a:bodyPr/>
          <a:lstStyle/>
          <a:p>
            <a:endParaRPr lang="es-MX"/>
          </a:p>
        </p:txBody>
      </p:sp>
      <p:sp>
        <p:nvSpPr>
          <p:cNvPr id="46" name="s6-texto-45"/>
          <p:cNvSpPr txBox="1"/>
          <p:nvPr/>
        </p:nvSpPr>
        <p:spPr>
          <a:xfrm>
            <a:off x="1446478" y="3022929"/>
            <a:ext cx="69335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3</a:t>
            </a:r>
            <a:endParaRPr lang="en-US" sz="1170" dirty="0"/>
          </a:p>
        </p:txBody>
      </p:sp>
      <p:sp>
        <p:nvSpPr>
          <p:cNvPr id="47" name="s6-forma-46"/>
          <p:cNvSpPr/>
          <p:nvPr/>
        </p:nvSpPr>
        <p:spPr>
          <a:xfrm>
            <a:off x="2198104" y="2953301"/>
            <a:ext cx="4087792" cy="316361"/>
          </a:xfrm>
          <a:prstGeom prst="rect">
            <a:avLst/>
          </a:prstGeom>
          <a:ln/>
        </p:spPr>
        <p:txBody>
          <a:bodyPr/>
          <a:lstStyle/>
          <a:p>
            <a:endParaRPr lang="es-MX"/>
          </a:p>
        </p:txBody>
      </p:sp>
      <p:sp>
        <p:nvSpPr>
          <p:cNvPr id="48" name="s6-forma-47"/>
          <p:cNvSpPr/>
          <p:nvPr/>
        </p:nvSpPr>
        <p:spPr>
          <a:xfrm>
            <a:off x="2198104" y="3263949"/>
            <a:ext cx="4087792" cy="5713"/>
          </a:xfrm>
          <a:prstGeom prst="rect">
            <a:avLst/>
          </a:prstGeom>
          <a:solidFill>
            <a:srgbClr val="DBD4C4"/>
          </a:solidFill>
          <a:ln/>
        </p:spPr>
        <p:txBody>
          <a:bodyPr/>
          <a:lstStyle/>
          <a:p>
            <a:endParaRPr lang="es-MX"/>
          </a:p>
        </p:txBody>
      </p:sp>
      <p:sp>
        <p:nvSpPr>
          <p:cNvPr id="49" name="s6-texto-48"/>
          <p:cNvSpPr txBox="1"/>
          <p:nvPr/>
        </p:nvSpPr>
        <p:spPr>
          <a:xfrm>
            <a:off x="2302011" y="3022929"/>
            <a:ext cx="411270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Arquitecturas multi-agente y cuándo usar cada una</a:t>
            </a:r>
            <a:endParaRPr lang="en-US" sz="1170" dirty="0"/>
          </a:p>
        </p:txBody>
      </p:sp>
      <p:sp>
        <p:nvSpPr>
          <p:cNvPr id="50" name="s6-forma-49"/>
          <p:cNvSpPr/>
          <p:nvPr/>
        </p:nvSpPr>
        <p:spPr>
          <a:xfrm>
            <a:off x="6285897" y="2953301"/>
            <a:ext cx="1901292" cy="316361"/>
          </a:xfrm>
          <a:prstGeom prst="rect">
            <a:avLst/>
          </a:prstGeom>
          <a:ln/>
        </p:spPr>
        <p:txBody>
          <a:bodyPr/>
          <a:lstStyle/>
          <a:p>
            <a:endParaRPr lang="es-MX"/>
          </a:p>
        </p:txBody>
      </p:sp>
      <p:sp>
        <p:nvSpPr>
          <p:cNvPr id="51" name="s6-forma-50"/>
          <p:cNvSpPr/>
          <p:nvPr/>
        </p:nvSpPr>
        <p:spPr>
          <a:xfrm>
            <a:off x="6285897" y="3263949"/>
            <a:ext cx="1901292" cy="5713"/>
          </a:xfrm>
          <a:prstGeom prst="rect">
            <a:avLst/>
          </a:prstGeom>
          <a:solidFill>
            <a:srgbClr val="DBD4C4"/>
          </a:solidFill>
          <a:ln/>
        </p:spPr>
        <p:txBody>
          <a:bodyPr/>
          <a:lstStyle/>
          <a:p>
            <a:endParaRPr lang="es-MX"/>
          </a:p>
        </p:txBody>
      </p:sp>
      <p:sp>
        <p:nvSpPr>
          <p:cNvPr id="52" name="s6-texto-51"/>
          <p:cNvSpPr txBox="1"/>
          <p:nvPr/>
        </p:nvSpPr>
        <p:spPr>
          <a:xfrm>
            <a:off x="6389803" y="3022929"/>
            <a:ext cx="179501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4</a:t>
            </a:r>
            <a:endParaRPr lang="en-US" sz="1170" dirty="0"/>
          </a:p>
        </p:txBody>
      </p:sp>
      <p:sp>
        <p:nvSpPr>
          <p:cNvPr id="53" name="s6-forma-52"/>
          <p:cNvSpPr/>
          <p:nvPr/>
        </p:nvSpPr>
        <p:spPr>
          <a:xfrm>
            <a:off x="8187189" y="2953301"/>
            <a:ext cx="2661934" cy="316361"/>
          </a:xfrm>
          <a:prstGeom prst="rect">
            <a:avLst/>
          </a:prstGeom>
          <a:ln/>
        </p:spPr>
        <p:txBody>
          <a:bodyPr/>
          <a:lstStyle/>
          <a:p>
            <a:endParaRPr lang="es-MX"/>
          </a:p>
        </p:txBody>
      </p:sp>
      <p:sp>
        <p:nvSpPr>
          <p:cNvPr id="54" name="s6-forma-53"/>
          <p:cNvSpPr/>
          <p:nvPr/>
        </p:nvSpPr>
        <p:spPr>
          <a:xfrm>
            <a:off x="8187189" y="3263949"/>
            <a:ext cx="2661934" cy="5713"/>
          </a:xfrm>
          <a:prstGeom prst="rect">
            <a:avLst/>
          </a:prstGeom>
          <a:solidFill>
            <a:srgbClr val="DBD4C4"/>
          </a:solidFill>
          <a:ln/>
        </p:spPr>
        <p:txBody>
          <a:bodyPr/>
          <a:lstStyle/>
          <a:p>
            <a:endParaRPr lang="es-MX"/>
          </a:p>
        </p:txBody>
      </p:sp>
      <p:sp>
        <p:nvSpPr>
          <p:cNvPr id="55" name="s6-texto-54"/>
          <p:cNvSpPr txBox="1"/>
          <p:nvPr/>
        </p:nvSpPr>
        <p:spPr>
          <a:xfrm>
            <a:off x="8291095" y="3022929"/>
            <a:ext cx="260129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Agentes 4 y 5 en paralelo, HU-02</a:t>
            </a:r>
            <a:endParaRPr lang="en-US" sz="1170" dirty="0"/>
          </a:p>
        </p:txBody>
      </p:sp>
      <p:sp>
        <p:nvSpPr>
          <p:cNvPr id="56" name="s6-texto-55"/>
          <p:cNvSpPr txBox="1"/>
          <p:nvPr/>
        </p:nvSpPr>
        <p:spPr>
          <a:xfrm>
            <a:off x="1446478" y="3339290"/>
            <a:ext cx="69335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4</a:t>
            </a:r>
            <a:endParaRPr lang="en-US" sz="1170" dirty="0"/>
          </a:p>
        </p:txBody>
      </p:sp>
      <p:sp>
        <p:nvSpPr>
          <p:cNvPr id="57" name="s6-texto-56"/>
          <p:cNvSpPr txBox="1"/>
          <p:nvPr/>
        </p:nvSpPr>
        <p:spPr>
          <a:xfrm>
            <a:off x="2302011" y="3339290"/>
            <a:ext cx="411270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Riesgos de los agentes y defensas por capas</a:t>
            </a:r>
            <a:endParaRPr lang="en-US" sz="1170" dirty="0"/>
          </a:p>
        </p:txBody>
      </p:sp>
      <p:sp>
        <p:nvSpPr>
          <p:cNvPr id="58" name="s6-texto-57"/>
          <p:cNvSpPr txBox="1"/>
          <p:nvPr/>
        </p:nvSpPr>
        <p:spPr>
          <a:xfrm>
            <a:off x="6389803" y="3339290"/>
            <a:ext cx="179501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Seguridad y 5</a:t>
            </a:r>
            <a:endParaRPr lang="en-US" sz="1170" dirty="0"/>
          </a:p>
        </p:txBody>
      </p:sp>
      <p:sp>
        <p:nvSpPr>
          <p:cNvPr id="59" name="s6-texto-58"/>
          <p:cNvSpPr txBox="1"/>
          <p:nvPr/>
        </p:nvSpPr>
        <p:spPr>
          <a:xfrm>
            <a:off x="8291095" y="3339290"/>
            <a:ext cx="2601293"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Flujo E2E y defensas, HU-03</a:t>
            </a:r>
            <a:endParaRPr lang="en-US" sz="1170" dirty="0"/>
          </a:p>
        </p:txBody>
      </p:sp>
      <p:sp>
        <p:nvSpPr>
          <p:cNvPr id="60" name="s6-forma-59"/>
          <p:cNvSpPr/>
          <p:nvPr/>
        </p:nvSpPr>
        <p:spPr>
          <a:xfrm>
            <a:off x="1342572" y="3857395"/>
            <a:ext cx="1773016" cy="359924"/>
          </a:xfrm>
          <a:prstGeom prst="rect">
            <a:avLst/>
          </a:prstGeom>
          <a:solidFill>
            <a:srgbClr val="E3DCCB"/>
          </a:solidFill>
          <a:ln/>
        </p:spPr>
        <p:txBody>
          <a:bodyPr/>
          <a:lstStyle/>
          <a:p>
            <a:endParaRPr lang="es-MX"/>
          </a:p>
        </p:txBody>
      </p:sp>
      <p:sp>
        <p:nvSpPr>
          <p:cNvPr id="61" name="s6-texto-60"/>
          <p:cNvSpPr txBox="1"/>
          <p:nvPr/>
        </p:nvSpPr>
        <p:spPr>
          <a:xfrm>
            <a:off x="1502538" y="3948804"/>
            <a:ext cx="1540269"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2 h 30 min</a:t>
            </a:r>
            <a:r>
              <a:rPr lang="en-US" sz="1170" dirty="0">
                <a:solidFill>
                  <a:srgbClr val="16181D"/>
                </a:solidFill>
                <a:latin typeface="Arial" pitchFamily="34" charset="0"/>
                <a:ea typeface="Arial" pitchFamily="34" charset="-122"/>
                <a:cs typeface="Arial" pitchFamily="34" charset="-120"/>
              </a:rPr>
              <a:t> por sesión</a:t>
            </a:r>
            <a:endParaRPr lang="en-US" sz="1170" dirty="0"/>
          </a:p>
        </p:txBody>
      </p:sp>
      <p:sp>
        <p:nvSpPr>
          <p:cNvPr id="62" name="s6-forma-61"/>
          <p:cNvSpPr/>
          <p:nvPr/>
        </p:nvSpPr>
        <p:spPr>
          <a:xfrm>
            <a:off x="3252702" y="3857395"/>
            <a:ext cx="2143562" cy="359924"/>
          </a:xfrm>
          <a:prstGeom prst="rect">
            <a:avLst/>
          </a:prstGeom>
          <a:solidFill>
            <a:srgbClr val="E3DCCB"/>
          </a:solidFill>
          <a:ln/>
        </p:spPr>
        <p:txBody>
          <a:bodyPr/>
          <a:lstStyle/>
          <a:p>
            <a:endParaRPr lang="es-MX"/>
          </a:p>
        </p:txBody>
      </p:sp>
      <p:sp>
        <p:nvSpPr>
          <p:cNvPr id="63" name="s6-texto-62"/>
          <p:cNvSpPr txBox="1"/>
          <p:nvPr/>
        </p:nvSpPr>
        <p:spPr>
          <a:xfrm>
            <a:off x="3412668" y="3948804"/>
            <a:ext cx="1933048"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≈90 min</a:t>
            </a:r>
            <a:r>
              <a:rPr lang="en-US" sz="1170" dirty="0">
                <a:solidFill>
                  <a:srgbClr val="16181D"/>
                </a:solidFill>
                <a:latin typeface="Arial" pitchFamily="34" charset="0"/>
                <a:ea typeface="Arial" pitchFamily="34" charset="-122"/>
                <a:cs typeface="Arial" pitchFamily="34" charset="-120"/>
              </a:rPr>
              <a:t> exposición y demo</a:t>
            </a:r>
            <a:endParaRPr lang="en-US" sz="1170" dirty="0"/>
          </a:p>
        </p:txBody>
      </p:sp>
      <p:sp>
        <p:nvSpPr>
          <p:cNvPr id="64" name="s6-forma-63"/>
          <p:cNvSpPr/>
          <p:nvPr/>
        </p:nvSpPr>
        <p:spPr>
          <a:xfrm>
            <a:off x="5533378" y="3857395"/>
            <a:ext cx="2275856" cy="359924"/>
          </a:xfrm>
          <a:prstGeom prst="rect">
            <a:avLst/>
          </a:prstGeom>
          <a:solidFill>
            <a:srgbClr val="E3DCCB"/>
          </a:solidFill>
          <a:ln/>
        </p:spPr>
        <p:txBody>
          <a:bodyPr/>
          <a:lstStyle/>
          <a:p>
            <a:endParaRPr lang="es-MX"/>
          </a:p>
        </p:txBody>
      </p:sp>
      <p:sp>
        <p:nvSpPr>
          <p:cNvPr id="65" name="s6-texto-64"/>
          <p:cNvSpPr txBox="1"/>
          <p:nvPr/>
        </p:nvSpPr>
        <p:spPr>
          <a:xfrm>
            <a:off x="5693344" y="3948804"/>
            <a:ext cx="2073279" cy="171392"/>
          </a:xfrm>
          <a:prstGeom prst="rect">
            <a:avLst/>
          </a:prstGeom>
          <a:noFill/>
          <a:ln/>
        </p:spPr>
        <p:txBody>
          <a:bodyPr wrap="none" lIns="0" tIns="0" rIns="0" bIns="0" rtlCol="0" anchor="t"/>
          <a:lstStyle/>
          <a:p>
            <a:pPr marL="0" indent="0" algn="l">
              <a:lnSpc>
                <a:spcPts val="1404"/>
              </a:lnSpc>
              <a:buNone/>
            </a:pPr>
            <a:r>
              <a:rPr lang="en-US" sz="1170" b="1" dirty="0">
                <a:solidFill>
                  <a:srgbClr val="0033A0"/>
                </a:solidFill>
                <a:latin typeface="Arial" pitchFamily="34" charset="0"/>
                <a:ea typeface="Arial" pitchFamily="34" charset="-122"/>
                <a:cs typeface="Arial" pitchFamily="34" charset="-120"/>
              </a:rPr>
              <a:t>≈60 min</a:t>
            </a:r>
            <a:r>
              <a:rPr lang="en-US" sz="1170" dirty="0">
                <a:solidFill>
                  <a:srgbClr val="16181D"/>
                </a:solidFill>
                <a:latin typeface="Arial" pitchFamily="34" charset="0"/>
                <a:ea typeface="Arial" pitchFamily="34" charset="-122"/>
                <a:cs typeface="Arial" pitchFamily="34" charset="-120"/>
              </a:rPr>
              <a:t> laboratorio individual</a:t>
            </a:r>
            <a:endParaRPr lang="en-US" sz="1170" dirty="0"/>
          </a:p>
        </p:txBody>
      </p:sp>
      <p:sp>
        <p:nvSpPr>
          <p:cNvPr id="66" name="s6-texto-6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Módulo 3 · Construcción de Sistemas Agénticos</a:t>
            </a:r>
            <a:endParaRPr lang="en-US" sz="1080" dirty="0"/>
          </a:p>
        </p:txBody>
      </p:sp>
      <p:sp>
        <p:nvSpPr>
          <p:cNvPr id="67" name="s6-forma-66"/>
          <p:cNvSpPr/>
          <p:nvPr/>
        </p:nvSpPr>
        <p:spPr>
          <a:xfrm>
            <a:off x="853390" y="6411138"/>
            <a:ext cx="10484915" cy="5713"/>
          </a:xfrm>
          <a:prstGeom prst="rect">
            <a:avLst/>
          </a:prstGeom>
          <a:solidFill>
            <a:srgbClr val="DBD4C4"/>
          </a:solidFill>
          <a:ln/>
        </p:spPr>
        <p:txBody>
          <a:bodyPr/>
          <a:lstStyle/>
          <a:p>
            <a:endParaRPr lang="es-MX"/>
          </a:p>
        </p:txBody>
      </p:sp>
      <p:pic>
        <p:nvPicPr>
          <p:cNvPr id="68" name="s6-logo-67" descr="preencoded.png"/>
          <p:cNvPicPr>
            <a:picLocks noChangeAspect="1"/>
          </p:cNvPicPr>
          <p:nvPr/>
        </p:nvPicPr>
        <p:blipFill>
          <a:blip r:embed="rId3"/>
          <a:stretch>
            <a:fillRect/>
          </a:stretch>
        </p:blipFill>
        <p:spPr>
          <a:xfrm>
            <a:off x="853390" y="6465055"/>
            <a:ext cx="687800" cy="212455"/>
          </a:xfrm>
          <a:prstGeom prst="rect">
            <a:avLst/>
          </a:prstGeom>
        </p:spPr>
      </p:pic>
      <p:sp>
        <p:nvSpPr>
          <p:cNvPr id="69" name="s6-forma-68"/>
          <p:cNvSpPr/>
          <p:nvPr/>
        </p:nvSpPr>
        <p:spPr>
          <a:xfrm>
            <a:off x="1659380" y="6519865"/>
            <a:ext cx="3057208" cy="102835"/>
          </a:xfrm>
          <a:prstGeom prst="rect">
            <a:avLst/>
          </a:prstGeom>
          <a:ln/>
        </p:spPr>
        <p:txBody>
          <a:bodyPr/>
          <a:lstStyle/>
          <a:p>
            <a:endParaRPr lang="es-MX"/>
          </a:p>
        </p:txBody>
      </p:sp>
      <p:sp>
        <p:nvSpPr>
          <p:cNvPr id="70" name="s6-forma-69"/>
          <p:cNvSpPr/>
          <p:nvPr/>
        </p:nvSpPr>
        <p:spPr>
          <a:xfrm>
            <a:off x="1659380" y="6519865"/>
            <a:ext cx="5713" cy="102835"/>
          </a:xfrm>
          <a:prstGeom prst="rect">
            <a:avLst/>
          </a:prstGeom>
          <a:solidFill>
            <a:srgbClr val="C6BFAE"/>
          </a:solidFill>
          <a:ln/>
        </p:spPr>
        <p:txBody>
          <a:bodyPr/>
          <a:lstStyle/>
          <a:p>
            <a:endParaRPr lang="es-MX"/>
          </a:p>
        </p:txBody>
      </p:sp>
      <p:sp>
        <p:nvSpPr>
          <p:cNvPr id="71" name="s6-texto-7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72" name="s6-texto-71"/>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6 / 35</a:t>
            </a:r>
            <a:endParaRPr lang="en-US" sz="745" dirty="0"/>
          </a:p>
        </p:txBody>
      </p:sp>
      <p:sp>
        <p:nvSpPr>
          <p:cNvPr id="73" name="s6-forma-72"/>
          <p:cNvSpPr/>
          <p:nvPr/>
        </p:nvSpPr>
        <p:spPr>
          <a:xfrm>
            <a:off x="0" y="0"/>
            <a:ext cx="2090002" cy="17139"/>
          </a:xfrm>
          <a:prstGeom prst="rect">
            <a:avLst/>
          </a:prstGeom>
          <a:solidFill>
            <a:srgbClr val="0033A0"/>
          </a:solidFill>
          <a:ln/>
        </p:spPr>
        <p:txBody>
          <a:bodyPr/>
          <a:lstStyle/>
          <a:p>
            <a:endParaRPr lang="es-MX"/>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DE8DC"/>
        </a:solidFill>
        <a:effectLst/>
      </p:bgPr>
    </p:bg>
    <p:spTree>
      <p:nvGrpSpPr>
        <p:cNvPr id="1" name=""/>
        <p:cNvGrpSpPr/>
        <p:nvPr/>
      </p:nvGrpSpPr>
      <p:grpSpPr>
        <a:xfrm>
          <a:off x="0" y="0"/>
          <a:ext cx="0" cy="0"/>
          <a:chOff x="0" y="0"/>
          <a:chExt cx="0" cy="0"/>
        </a:xfrm>
      </p:grpSpPr>
      <p:sp>
        <p:nvSpPr>
          <p:cNvPr id="2" name="s7-forma-1"/>
          <p:cNvSpPr/>
          <p:nvPr/>
        </p:nvSpPr>
        <p:spPr>
          <a:xfrm>
            <a:off x="853390" y="520961"/>
            <a:ext cx="10484915" cy="5713"/>
          </a:xfrm>
          <a:prstGeom prst="rect">
            <a:avLst/>
          </a:prstGeom>
          <a:solidFill>
            <a:srgbClr val="C6BFAE"/>
          </a:solidFill>
          <a:ln/>
        </p:spPr>
        <p:txBody>
          <a:bodyPr/>
          <a:lstStyle/>
          <a:p>
            <a:endParaRPr lang="es-MX"/>
          </a:p>
        </p:txBody>
      </p:sp>
      <p:sp>
        <p:nvSpPr>
          <p:cNvPr id="3" name="s7-forma-2"/>
          <p:cNvSpPr/>
          <p:nvPr/>
        </p:nvSpPr>
        <p:spPr>
          <a:xfrm>
            <a:off x="853390" y="331715"/>
            <a:ext cx="81411" cy="81411"/>
          </a:xfrm>
          <a:prstGeom prst="ellipse">
            <a:avLst/>
          </a:prstGeom>
          <a:solidFill>
            <a:srgbClr val="AC321E"/>
          </a:solidFill>
          <a:ln/>
        </p:spPr>
        <p:txBody>
          <a:bodyPr/>
          <a:lstStyle/>
          <a:p>
            <a:endParaRPr lang="es-MX"/>
          </a:p>
        </p:txBody>
      </p:sp>
      <p:sp>
        <p:nvSpPr>
          <p:cNvPr id="4" name="s7-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7-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7-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 IA DEL MÓDULO</a:t>
            </a:r>
            <a:endParaRPr lang="en-US" sz="900" dirty="0"/>
          </a:p>
        </p:txBody>
      </p:sp>
      <p:sp>
        <p:nvSpPr>
          <p:cNvPr id="7" name="s7-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Claude Code cumple tres papeles</a:t>
            </a:r>
            <a:endParaRPr lang="en-US" sz="2879" dirty="0"/>
          </a:p>
        </p:txBody>
      </p:sp>
      <p:sp>
        <p:nvSpPr>
          <p:cNvPr id="8" name="s7-forma-7"/>
          <p:cNvSpPr/>
          <p:nvPr/>
        </p:nvSpPr>
        <p:spPr>
          <a:xfrm>
            <a:off x="1342572" y="2144634"/>
            <a:ext cx="3046942" cy="1889777"/>
          </a:xfrm>
          <a:prstGeom prst="rect">
            <a:avLst/>
          </a:prstGeom>
          <a:solidFill>
            <a:srgbClr val="E3DCCB"/>
          </a:solidFill>
          <a:ln w="5713">
            <a:solidFill>
              <a:srgbClr val="C6BFAE"/>
            </a:solidFill>
            <a:prstDash val="solid"/>
          </a:ln>
        </p:spPr>
        <p:txBody>
          <a:bodyPr/>
          <a:lstStyle/>
          <a:p>
            <a:endParaRPr lang="es-MX"/>
          </a:p>
        </p:txBody>
      </p:sp>
      <p:pic>
        <p:nvPicPr>
          <p:cNvPr id="9" name="s7-icono-8" descr="preencoded.png"/>
          <p:cNvPicPr>
            <a:picLocks noChangeAspect="1"/>
          </p:cNvPicPr>
          <p:nvPr/>
        </p:nvPicPr>
        <p:blipFill>
          <a:blip r:embed="rId3"/>
          <a:stretch>
            <a:fillRect/>
          </a:stretch>
        </p:blipFill>
        <p:spPr>
          <a:xfrm>
            <a:off x="1576808" y="2378870"/>
            <a:ext cx="274227" cy="274227"/>
          </a:xfrm>
          <a:prstGeom prst="rect">
            <a:avLst/>
          </a:prstGeom>
        </p:spPr>
      </p:pic>
      <p:sp>
        <p:nvSpPr>
          <p:cNvPr id="10" name="s7-texto-9"/>
          <p:cNvSpPr txBox="1"/>
          <p:nvPr/>
        </p:nvSpPr>
        <p:spPr>
          <a:xfrm>
            <a:off x="1576808" y="2744506"/>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ASISTENTE</a:t>
            </a:r>
            <a:endParaRPr lang="en-US" sz="1799" dirty="0"/>
          </a:p>
        </p:txBody>
      </p:sp>
      <p:sp>
        <p:nvSpPr>
          <p:cNvPr id="11" name="s7-texto-10"/>
          <p:cNvSpPr txBox="1"/>
          <p:nvPr/>
        </p:nvSpPr>
        <p:spPr>
          <a:xfrm>
            <a:off x="1576808" y="3127282"/>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Te ayuda a leer, entender y depurar el código de tu fábrica.</a:t>
            </a:r>
            <a:endParaRPr lang="en-US" sz="1170" dirty="0"/>
          </a:p>
        </p:txBody>
      </p:sp>
      <p:sp>
        <p:nvSpPr>
          <p:cNvPr id="12" name="s7-forma-11"/>
          <p:cNvSpPr/>
          <p:nvPr/>
        </p:nvSpPr>
        <p:spPr>
          <a:xfrm>
            <a:off x="4572332" y="2144634"/>
            <a:ext cx="3046942" cy="1889777"/>
          </a:xfrm>
          <a:prstGeom prst="rect">
            <a:avLst/>
          </a:prstGeom>
          <a:solidFill>
            <a:srgbClr val="E3DCCB"/>
          </a:solidFill>
          <a:ln w="5713">
            <a:solidFill>
              <a:srgbClr val="C6BFAE"/>
            </a:solidFill>
            <a:prstDash val="solid"/>
          </a:ln>
        </p:spPr>
        <p:txBody>
          <a:bodyPr/>
          <a:lstStyle/>
          <a:p>
            <a:endParaRPr lang="es-MX"/>
          </a:p>
        </p:txBody>
      </p:sp>
      <p:pic>
        <p:nvPicPr>
          <p:cNvPr id="13" name="s7-icono-12" descr="preencoded.png"/>
          <p:cNvPicPr>
            <a:picLocks noChangeAspect="1"/>
          </p:cNvPicPr>
          <p:nvPr/>
        </p:nvPicPr>
        <p:blipFill>
          <a:blip r:embed="rId4"/>
          <a:stretch>
            <a:fillRect/>
          </a:stretch>
        </p:blipFill>
        <p:spPr>
          <a:xfrm>
            <a:off x="4806568" y="2378870"/>
            <a:ext cx="274227" cy="274227"/>
          </a:xfrm>
          <a:prstGeom prst="rect">
            <a:avLst/>
          </a:prstGeom>
        </p:spPr>
      </p:pic>
      <p:sp>
        <p:nvSpPr>
          <p:cNvPr id="14" name="s7-texto-13"/>
          <p:cNvSpPr txBox="1"/>
          <p:nvPr/>
        </p:nvSpPr>
        <p:spPr>
          <a:xfrm>
            <a:off x="4806568" y="2744506"/>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CASO DE ESTUDIO</a:t>
            </a:r>
            <a:endParaRPr lang="en-US" sz="1799" dirty="0"/>
          </a:p>
        </p:txBody>
      </p:sp>
      <p:sp>
        <p:nvSpPr>
          <p:cNvPr id="15" name="s7-texto-14"/>
          <p:cNvSpPr txBox="1"/>
          <p:nvPr/>
        </p:nvSpPr>
        <p:spPr>
          <a:xfrm>
            <a:off x="4806568" y="3127282"/>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Un agente real: bucle, CLAUDE.md, permisos y hooks.</a:t>
            </a:r>
            <a:endParaRPr lang="en-US" sz="1170" dirty="0"/>
          </a:p>
        </p:txBody>
      </p:sp>
      <p:sp>
        <p:nvSpPr>
          <p:cNvPr id="16" name="s7-forma-15"/>
          <p:cNvSpPr/>
          <p:nvPr/>
        </p:nvSpPr>
        <p:spPr>
          <a:xfrm>
            <a:off x="7802092" y="2144634"/>
            <a:ext cx="3046942" cy="1889777"/>
          </a:xfrm>
          <a:prstGeom prst="rect">
            <a:avLst/>
          </a:prstGeom>
          <a:solidFill>
            <a:srgbClr val="E2D3C2"/>
          </a:solidFill>
          <a:ln w="5713">
            <a:solidFill>
              <a:srgbClr val="984514"/>
            </a:solidFill>
            <a:prstDash val="solid"/>
          </a:ln>
        </p:spPr>
        <p:txBody>
          <a:bodyPr/>
          <a:lstStyle/>
          <a:p>
            <a:endParaRPr lang="es-MX"/>
          </a:p>
        </p:txBody>
      </p:sp>
      <p:pic>
        <p:nvPicPr>
          <p:cNvPr id="17" name="s7-icono-16" descr="preencoded.png"/>
          <p:cNvPicPr>
            <a:picLocks noChangeAspect="1"/>
          </p:cNvPicPr>
          <p:nvPr/>
        </p:nvPicPr>
        <p:blipFill>
          <a:blip r:embed="rId5"/>
          <a:stretch>
            <a:fillRect/>
          </a:stretch>
        </p:blipFill>
        <p:spPr>
          <a:xfrm>
            <a:off x="8036328" y="2378870"/>
            <a:ext cx="274227" cy="274227"/>
          </a:xfrm>
          <a:prstGeom prst="rect">
            <a:avLst/>
          </a:prstGeom>
        </p:spPr>
      </p:pic>
      <p:sp>
        <p:nvSpPr>
          <p:cNvPr id="18" name="s7-texto-17"/>
          <p:cNvSpPr txBox="1"/>
          <p:nvPr/>
        </p:nvSpPr>
        <p:spPr>
          <a:xfrm>
            <a:off x="8036328" y="2744506"/>
            <a:ext cx="2733178" cy="542742"/>
          </a:xfrm>
          <a:prstGeom prst="rect">
            <a:avLst/>
          </a:prstGeom>
          <a:noFill/>
          <a:ln/>
        </p:spPr>
        <p:txBody>
          <a:bodyPr wrap="squar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MOTOR DE TUS AGENTES</a:t>
            </a:r>
            <a:endParaRPr lang="en-US" sz="1799" dirty="0"/>
          </a:p>
        </p:txBody>
      </p:sp>
      <p:sp>
        <p:nvSpPr>
          <p:cNvPr id="19" name="s7-texto-18"/>
          <p:cNvSpPr txBox="1"/>
          <p:nvPr/>
        </p:nvSpPr>
        <p:spPr>
          <a:xfrm>
            <a:off x="8036328" y="3401509"/>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Es el agente 3, 4 y 5 de tu fábrica, vía Claude Agent SDK.</a:t>
            </a:r>
            <a:endParaRPr lang="en-US" sz="1170" dirty="0"/>
          </a:p>
        </p:txBody>
      </p:sp>
      <p:sp>
        <p:nvSpPr>
          <p:cNvPr id="20" name="s7-forma-19"/>
          <p:cNvSpPr/>
          <p:nvPr/>
        </p:nvSpPr>
        <p:spPr>
          <a:xfrm>
            <a:off x="1342572" y="4308638"/>
            <a:ext cx="9506551" cy="315290"/>
          </a:xfrm>
          <a:prstGeom prst="rect">
            <a:avLst/>
          </a:prstGeom>
          <a:ln/>
        </p:spPr>
        <p:txBody>
          <a:bodyPr/>
          <a:lstStyle/>
          <a:p>
            <a:endParaRPr lang="es-MX"/>
          </a:p>
        </p:txBody>
      </p:sp>
      <p:sp>
        <p:nvSpPr>
          <p:cNvPr id="21" name="s7-forma-20"/>
          <p:cNvSpPr/>
          <p:nvPr/>
        </p:nvSpPr>
        <p:spPr>
          <a:xfrm>
            <a:off x="1342572" y="4308638"/>
            <a:ext cx="34278" cy="315290"/>
          </a:xfrm>
          <a:prstGeom prst="rect">
            <a:avLst/>
          </a:prstGeom>
          <a:solidFill>
            <a:srgbClr val="984514"/>
          </a:solidFill>
          <a:ln/>
        </p:spPr>
        <p:txBody>
          <a:bodyPr/>
          <a:lstStyle/>
          <a:p>
            <a:endParaRPr lang="es-MX"/>
          </a:p>
        </p:txBody>
      </p:sp>
      <p:sp>
        <p:nvSpPr>
          <p:cNvPr id="22" name="s7-texto-21"/>
          <p:cNvSpPr txBox="1"/>
          <p:nvPr/>
        </p:nvSpPr>
        <p:spPr>
          <a:xfrm>
            <a:off x="1559669" y="4377195"/>
            <a:ext cx="9653035" cy="177105"/>
          </a:xfrm>
          <a:prstGeom prst="rect">
            <a:avLst/>
          </a:prstGeom>
          <a:noFill/>
          <a:ln/>
        </p:spPr>
        <p:txBody>
          <a:bodyPr wrap="non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Regla del módulo:</a:t>
            </a:r>
            <a:r>
              <a:rPr lang="en-US" sz="1260" dirty="0">
                <a:solidFill>
                  <a:srgbClr val="16181D"/>
                </a:solidFill>
                <a:latin typeface="Arial" pitchFamily="34" charset="0"/>
                <a:ea typeface="Arial" pitchFamily="34" charset="-122"/>
                <a:cs typeface="Arial" pitchFamily="34" charset="-120"/>
              </a:rPr>
              <a:t> si la app falla, se corrige al agente, no su resultado. Nada en app/ se edita a mano.</a:t>
            </a:r>
            <a:endParaRPr lang="en-US" sz="1260" dirty="0"/>
          </a:p>
        </p:txBody>
      </p:sp>
      <p:sp>
        <p:nvSpPr>
          <p:cNvPr id="23" name="s7-texto-22"/>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Instalación: curl -fsSL https://claude.ai/install.sh | bash · verificar con claude doctor</a:t>
            </a:r>
            <a:endParaRPr lang="en-US" sz="1080" dirty="0"/>
          </a:p>
        </p:txBody>
      </p:sp>
      <p:sp>
        <p:nvSpPr>
          <p:cNvPr id="24" name="s7-forma-23"/>
          <p:cNvSpPr/>
          <p:nvPr/>
        </p:nvSpPr>
        <p:spPr>
          <a:xfrm>
            <a:off x="853390" y="6411138"/>
            <a:ext cx="10484915" cy="5713"/>
          </a:xfrm>
          <a:prstGeom prst="rect">
            <a:avLst/>
          </a:prstGeom>
          <a:solidFill>
            <a:srgbClr val="DBD4C4"/>
          </a:solidFill>
          <a:ln/>
        </p:spPr>
        <p:txBody>
          <a:bodyPr/>
          <a:lstStyle/>
          <a:p>
            <a:endParaRPr lang="es-MX"/>
          </a:p>
        </p:txBody>
      </p:sp>
      <p:pic>
        <p:nvPicPr>
          <p:cNvPr id="25" name="s7-logo-24" descr="preencoded.png"/>
          <p:cNvPicPr>
            <a:picLocks noChangeAspect="1"/>
          </p:cNvPicPr>
          <p:nvPr/>
        </p:nvPicPr>
        <p:blipFill>
          <a:blip r:embed="rId6"/>
          <a:stretch>
            <a:fillRect/>
          </a:stretch>
        </p:blipFill>
        <p:spPr>
          <a:xfrm>
            <a:off x="853390" y="6465055"/>
            <a:ext cx="687800" cy="212455"/>
          </a:xfrm>
          <a:prstGeom prst="rect">
            <a:avLst/>
          </a:prstGeom>
        </p:spPr>
      </p:pic>
      <p:sp>
        <p:nvSpPr>
          <p:cNvPr id="26" name="s7-forma-25"/>
          <p:cNvSpPr/>
          <p:nvPr/>
        </p:nvSpPr>
        <p:spPr>
          <a:xfrm>
            <a:off x="1659380" y="6519865"/>
            <a:ext cx="3057208" cy="102835"/>
          </a:xfrm>
          <a:prstGeom prst="rect">
            <a:avLst/>
          </a:prstGeom>
          <a:ln/>
        </p:spPr>
        <p:txBody>
          <a:bodyPr/>
          <a:lstStyle/>
          <a:p>
            <a:endParaRPr lang="es-MX"/>
          </a:p>
        </p:txBody>
      </p:sp>
      <p:sp>
        <p:nvSpPr>
          <p:cNvPr id="27" name="s7-forma-26"/>
          <p:cNvSpPr/>
          <p:nvPr/>
        </p:nvSpPr>
        <p:spPr>
          <a:xfrm>
            <a:off x="1659380" y="6519865"/>
            <a:ext cx="5713" cy="102835"/>
          </a:xfrm>
          <a:prstGeom prst="rect">
            <a:avLst/>
          </a:prstGeom>
          <a:solidFill>
            <a:srgbClr val="C6BFAE"/>
          </a:solidFill>
          <a:ln/>
        </p:spPr>
        <p:txBody>
          <a:bodyPr/>
          <a:lstStyle/>
          <a:p>
            <a:endParaRPr lang="es-MX"/>
          </a:p>
        </p:txBody>
      </p:sp>
      <p:sp>
        <p:nvSpPr>
          <p:cNvPr id="28" name="s7-texto-27"/>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9" name="s7-texto-28"/>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7 / 35</a:t>
            </a:r>
            <a:endParaRPr lang="en-US" sz="745" dirty="0"/>
          </a:p>
        </p:txBody>
      </p:sp>
      <p:sp>
        <p:nvSpPr>
          <p:cNvPr id="30" name="s7-forma-29"/>
          <p:cNvSpPr/>
          <p:nvPr/>
        </p:nvSpPr>
        <p:spPr>
          <a:xfrm>
            <a:off x="0" y="0"/>
            <a:ext cx="2438321" cy="17139"/>
          </a:xfrm>
          <a:prstGeom prst="rect">
            <a:avLst/>
          </a:prstGeom>
          <a:solidFill>
            <a:srgbClr val="0033A0"/>
          </a:solidFill>
          <a:ln/>
        </p:spPr>
        <p:txBody>
          <a:bodyPr/>
          <a:lstStyle/>
          <a:p>
            <a:endParaRPr lang="es-MX"/>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EDE8DC"/>
        </a:solidFill>
        <a:effectLst/>
      </p:bgPr>
    </p:bg>
    <p:spTree>
      <p:nvGrpSpPr>
        <p:cNvPr id="1" name=""/>
        <p:cNvGrpSpPr/>
        <p:nvPr/>
      </p:nvGrpSpPr>
      <p:grpSpPr>
        <a:xfrm>
          <a:off x="0" y="0"/>
          <a:ext cx="0" cy="0"/>
          <a:chOff x="0" y="0"/>
          <a:chExt cx="0" cy="0"/>
        </a:xfrm>
      </p:grpSpPr>
      <p:sp>
        <p:nvSpPr>
          <p:cNvPr id="2" name="s8-forma-1"/>
          <p:cNvSpPr/>
          <p:nvPr/>
        </p:nvSpPr>
        <p:spPr>
          <a:xfrm>
            <a:off x="853390" y="520961"/>
            <a:ext cx="10484915" cy="5713"/>
          </a:xfrm>
          <a:prstGeom prst="rect">
            <a:avLst/>
          </a:prstGeom>
          <a:solidFill>
            <a:srgbClr val="C6BFAE"/>
          </a:solidFill>
          <a:ln/>
        </p:spPr>
        <p:txBody>
          <a:bodyPr/>
          <a:lstStyle/>
          <a:p>
            <a:endParaRPr lang="es-MX"/>
          </a:p>
        </p:txBody>
      </p:sp>
      <p:sp>
        <p:nvSpPr>
          <p:cNvPr id="3" name="s8-forma-2"/>
          <p:cNvSpPr/>
          <p:nvPr/>
        </p:nvSpPr>
        <p:spPr>
          <a:xfrm>
            <a:off x="853390" y="331715"/>
            <a:ext cx="81411" cy="81411"/>
          </a:xfrm>
          <a:prstGeom prst="ellipse">
            <a:avLst/>
          </a:prstGeom>
          <a:solidFill>
            <a:srgbClr val="AC321E"/>
          </a:solidFill>
          <a:ln/>
        </p:spPr>
        <p:txBody>
          <a:bodyPr/>
          <a:lstStyle/>
          <a:p>
            <a:endParaRPr lang="es-MX"/>
          </a:p>
        </p:txBody>
      </p:sp>
      <p:sp>
        <p:nvSpPr>
          <p:cNvPr id="4" name="s8-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8-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8-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ANTES DE LA SESIÓN 1</a:t>
            </a:r>
            <a:endParaRPr lang="en-US" sz="900" dirty="0"/>
          </a:p>
        </p:txBody>
      </p:sp>
      <p:sp>
        <p:nvSpPr>
          <p:cNvPr id="7" name="s8-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Tu entorno, listo y verificado</a:t>
            </a:r>
            <a:endParaRPr lang="en-US" sz="2879" dirty="0"/>
          </a:p>
        </p:txBody>
      </p:sp>
      <p:pic>
        <p:nvPicPr>
          <p:cNvPr id="8" name="s8-icono-7" descr="preencoded.png"/>
          <p:cNvPicPr>
            <a:picLocks noChangeAspect="1"/>
          </p:cNvPicPr>
          <p:nvPr/>
        </p:nvPicPr>
        <p:blipFill>
          <a:blip r:embed="rId3"/>
          <a:stretch>
            <a:fillRect/>
          </a:stretch>
        </p:blipFill>
        <p:spPr>
          <a:xfrm>
            <a:off x="1342572" y="2144634"/>
            <a:ext cx="205671" cy="205671"/>
          </a:xfrm>
          <a:prstGeom prst="rect">
            <a:avLst/>
          </a:prstGeom>
        </p:spPr>
      </p:pic>
      <p:sp>
        <p:nvSpPr>
          <p:cNvPr id="9" name="s8-texto-8"/>
          <p:cNvSpPr txBox="1"/>
          <p:nvPr/>
        </p:nvSpPr>
        <p:spPr>
          <a:xfrm>
            <a:off x="1662504" y="2156060"/>
            <a:ext cx="1451797"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Python 3.12 con uv</a:t>
            </a:r>
            <a:endParaRPr lang="en-US" sz="1260" dirty="0"/>
          </a:p>
        </p:txBody>
      </p:sp>
      <p:pic>
        <p:nvPicPr>
          <p:cNvPr id="10" name="s8-icono-9" descr="preencoded.png"/>
          <p:cNvPicPr>
            <a:picLocks noChangeAspect="1"/>
          </p:cNvPicPr>
          <p:nvPr/>
        </p:nvPicPr>
        <p:blipFill>
          <a:blip r:embed="rId3"/>
          <a:stretch>
            <a:fillRect/>
          </a:stretch>
        </p:blipFill>
        <p:spPr>
          <a:xfrm>
            <a:off x="1342572" y="2453139"/>
            <a:ext cx="205671" cy="205671"/>
          </a:xfrm>
          <a:prstGeom prst="rect">
            <a:avLst/>
          </a:prstGeom>
        </p:spPr>
      </p:pic>
      <p:sp>
        <p:nvSpPr>
          <p:cNvPr id="11" name="s8-texto-10"/>
          <p:cNvSpPr txBox="1"/>
          <p:nvPr/>
        </p:nvSpPr>
        <p:spPr>
          <a:xfrm>
            <a:off x="1662504" y="2464566"/>
            <a:ext cx="1442240"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Node 20 o superior</a:t>
            </a:r>
            <a:endParaRPr lang="en-US" sz="1260" dirty="0"/>
          </a:p>
        </p:txBody>
      </p:sp>
      <p:pic>
        <p:nvPicPr>
          <p:cNvPr id="12" name="s8-icono-11" descr="preencoded.png"/>
          <p:cNvPicPr>
            <a:picLocks noChangeAspect="1"/>
          </p:cNvPicPr>
          <p:nvPr/>
        </p:nvPicPr>
        <p:blipFill>
          <a:blip r:embed="rId4"/>
          <a:stretch>
            <a:fillRect/>
          </a:stretch>
        </p:blipFill>
        <p:spPr>
          <a:xfrm>
            <a:off x="1342572" y="2761645"/>
            <a:ext cx="205671" cy="205671"/>
          </a:xfrm>
          <a:prstGeom prst="rect">
            <a:avLst/>
          </a:prstGeom>
        </p:spPr>
      </p:pic>
      <p:sp>
        <p:nvSpPr>
          <p:cNvPr id="13" name="s8-texto-12"/>
          <p:cNvSpPr txBox="1"/>
          <p:nvPr/>
        </p:nvSpPr>
        <p:spPr>
          <a:xfrm>
            <a:off x="1662504" y="2773071"/>
            <a:ext cx="1960300"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Docker Desktop corriendo</a:t>
            </a:r>
            <a:endParaRPr lang="en-US" sz="1260" dirty="0"/>
          </a:p>
        </p:txBody>
      </p:sp>
      <p:pic>
        <p:nvPicPr>
          <p:cNvPr id="14" name="s8-icono-13" descr="preencoded.png"/>
          <p:cNvPicPr>
            <a:picLocks noChangeAspect="1"/>
          </p:cNvPicPr>
          <p:nvPr/>
        </p:nvPicPr>
        <p:blipFill>
          <a:blip r:embed="rId3"/>
          <a:stretch>
            <a:fillRect/>
          </a:stretch>
        </p:blipFill>
        <p:spPr>
          <a:xfrm>
            <a:off x="1342572" y="3070151"/>
            <a:ext cx="205671" cy="205671"/>
          </a:xfrm>
          <a:prstGeom prst="rect">
            <a:avLst/>
          </a:prstGeom>
        </p:spPr>
      </p:pic>
      <p:sp>
        <p:nvSpPr>
          <p:cNvPr id="15" name="s8-texto-14"/>
          <p:cNvSpPr txBox="1"/>
          <p:nvPr/>
        </p:nvSpPr>
        <p:spPr>
          <a:xfrm>
            <a:off x="1662504" y="3081577"/>
            <a:ext cx="2469748"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Claude Code con sesión iniciada</a:t>
            </a:r>
            <a:endParaRPr lang="en-US" sz="1260" dirty="0"/>
          </a:p>
        </p:txBody>
      </p:sp>
      <p:pic>
        <p:nvPicPr>
          <p:cNvPr id="16" name="s8-icono-15" descr="preencoded.png"/>
          <p:cNvPicPr>
            <a:picLocks noChangeAspect="1"/>
          </p:cNvPicPr>
          <p:nvPr/>
        </p:nvPicPr>
        <p:blipFill>
          <a:blip r:embed="rId3"/>
          <a:stretch>
            <a:fillRect/>
          </a:stretch>
        </p:blipFill>
        <p:spPr>
          <a:xfrm>
            <a:off x="1342572" y="3378657"/>
            <a:ext cx="205671" cy="205671"/>
          </a:xfrm>
          <a:prstGeom prst="rect">
            <a:avLst/>
          </a:prstGeom>
        </p:spPr>
      </p:pic>
      <p:sp>
        <p:nvSpPr>
          <p:cNvPr id="17" name="s8-texto-16"/>
          <p:cNvSpPr txBox="1"/>
          <p:nvPr/>
        </p:nvSpPr>
        <p:spPr>
          <a:xfrm>
            <a:off x="1662504" y="3390083"/>
            <a:ext cx="1941659"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Clave de API con créditos</a:t>
            </a:r>
            <a:endParaRPr lang="en-US" sz="1260" dirty="0"/>
          </a:p>
        </p:txBody>
      </p:sp>
      <p:pic>
        <p:nvPicPr>
          <p:cNvPr id="18" name="s8-icono-17" descr="preencoded.png"/>
          <p:cNvPicPr>
            <a:picLocks noChangeAspect="1"/>
          </p:cNvPicPr>
          <p:nvPr/>
        </p:nvPicPr>
        <p:blipFill>
          <a:blip r:embed="rId3"/>
          <a:stretch>
            <a:fillRect/>
          </a:stretch>
        </p:blipFill>
        <p:spPr>
          <a:xfrm>
            <a:off x="1342572" y="3687163"/>
            <a:ext cx="205671" cy="205671"/>
          </a:xfrm>
          <a:prstGeom prst="rect">
            <a:avLst/>
          </a:prstGeom>
        </p:spPr>
      </p:pic>
      <p:sp>
        <p:nvSpPr>
          <p:cNvPr id="19" name="s8-texto-18"/>
          <p:cNvSpPr txBox="1"/>
          <p:nvPr/>
        </p:nvSpPr>
        <p:spPr>
          <a:xfrm>
            <a:off x="1662504" y="3698589"/>
            <a:ext cx="1715416"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Git y cuenta de GitHub</a:t>
            </a:r>
            <a:endParaRPr lang="en-US" sz="1260" dirty="0"/>
          </a:p>
        </p:txBody>
      </p:sp>
      <p:sp>
        <p:nvSpPr>
          <p:cNvPr id="20" name="s8-forma-19"/>
          <p:cNvSpPr/>
          <p:nvPr/>
        </p:nvSpPr>
        <p:spPr>
          <a:xfrm>
            <a:off x="5364574" y="2144634"/>
            <a:ext cx="5484549" cy="2223099"/>
          </a:xfrm>
          <a:prstGeom prst="rect">
            <a:avLst/>
          </a:prstGeom>
          <a:solidFill>
            <a:srgbClr val="E8E2D5"/>
          </a:solidFill>
          <a:ln/>
        </p:spPr>
        <p:txBody>
          <a:bodyPr/>
          <a:lstStyle/>
          <a:p>
            <a:endParaRPr lang="es-MX"/>
          </a:p>
        </p:txBody>
      </p:sp>
      <p:sp>
        <p:nvSpPr>
          <p:cNvPr id="21" name="s8-forma-20"/>
          <p:cNvSpPr/>
          <p:nvPr/>
        </p:nvSpPr>
        <p:spPr>
          <a:xfrm>
            <a:off x="5364574" y="2144634"/>
            <a:ext cx="5484549" cy="5713"/>
          </a:xfrm>
          <a:prstGeom prst="rect">
            <a:avLst/>
          </a:prstGeom>
          <a:solidFill>
            <a:srgbClr val="DBD4C4"/>
          </a:solidFill>
          <a:ln/>
        </p:spPr>
        <p:txBody>
          <a:bodyPr/>
          <a:lstStyle/>
          <a:p>
            <a:endParaRPr lang="es-MX"/>
          </a:p>
        </p:txBody>
      </p:sp>
      <p:sp>
        <p:nvSpPr>
          <p:cNvPr id="22" name="s8-forma-21"/>
          <p:cNvSpPr/>
          <p:nvPr/>
        </p:nvSpPr>
        <p:spPr>
          <a:xfrm>
            <a:off x="5364574" y="4362020"/>
            <a:ext cx="5484549" cy="5713"/>
          </a:xfrm>
          <a:prstGeom prst="rect">
            <a:avLst/>
          </a:prstGeom>
          <a:solidFill>
            <a:srgbClr val="DBD4C4"/>
          </a:solidFill>
          <a:ln/>
        </p:spPr>
        <p:txBody>
          <a:bodyPr/>
          <a:lstStyle/>
          <a:p>
            <a:endParaRPr lang="es-MX"/>
          </a:p>
        </p:txBody>
      </p:sp>
      <p:sp>
        <p:nvSpPr>
          <p:cNvPr id="23" name="s8-forma-22"/>
          <p:cNvSpPr/>
          <p:nvPr/>
        </p:nvSpPr>
        <p:spPr>
          <a:xfrm>
            <a:off x="5364574" y="2144634"/>
            <a:ext cx="17139" cy="2223099"/>
          </a:xfrm>
          <a:prstGeom prst="rect">
            <a:avLst/>
          </a:prstGeom>
          <a:solidFill>
            <a:srgbClr val="C6BFAE"/>
          </a:solidFill>
          <a:ln/>
        </p:spPr>
        <p:txBody>
          <a:bodyPr/>
          <a:lstStyle/>
          <a:p>
            <a:endParaRPr lang="es-MX"/>
          </a:p>
        </p:txBody>
      </p:sp>
      <p:sp>
        <p:nvSpPr>
          <p:cNvPr id="24" name="s8-forma-23"/>
          <p:cNvSpPr/>
          <p:nvPr/>
        </p:nvSpPr>
        <p:spPr>
          <a:xfrm>
            <a:off x="10843410" y="2144634"/>
            <a:ext cx="5713" cy="2223099"/>
          </a:xfrm>
          <a:prstGeom prst="rect">
            <a:avLst/>
          </a:prstGeom>
          <a:solidFill>
            <a:srgbClr val="DBD4C4"/>
          </a:solidFill>
          <a:ln/>
        </p:spPr>
        <p:txBody>
          <a:bodyPr/>
          <a:lstStyle/>
          <a:p>
            <a:endParaRPr lang="es-MX"/>
          </a:p>
        </p:txBody>
      </p:sp>
      <p:sp>
        <p:nvSpPr>
          <p:cNvPr id="25" name="s8-texto-24"/>
          <p:cNvSpPr txBox="1"/>
          <p:nvPr/>
        </p:nvSpPr>
        <p:spPr>
          <a:xfrm>
            <a:off x="5610236" y="2407435"/>
            <a:ext cx="5304930" cy="1689552"/>
          </a:xfrm>
          <a:prstGeom prst="rect">
            <a:avLst/>
          </a:prstGeom>
          <a:noFill/>
          <a:ln/>
        </p:spPr>
        <p:txBody>
          <a:bodyPr wrap="square" lIns="0" tIns="0" rIns="0" bIns="0" rtlCol="0" anchor="t"/>
          <a:lstStyle/>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git clone &lt;repo-del-curso&gt; fabrica-empleados</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cd fabrica-empleados</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uv venv &amp;&amp; source .venv/bin/activate</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uv pip install -r requirements.txt</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playwright install chromium</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cp .env.example .env</a:t>
            </a:r>
            <a:endParaRPr lang="en-US" sz="1080" dirty="0"/>
          </a:p>
          <a:p>
            <a:pPr marL="0" indent="0" algn="l">
              <a:lnSpc>
                <a:spcPts val="1727"/>
              </a:lnSpc>
              <a:buNone/>
            </a:pPr>
            <a:r>
              <a:rPr lang="en-US" sz="1080" dirty="0">
                <a:solidFill>
                  <a:srgbClr val="585E6F"/>
                </a:solidFill>
                <a:latin typeface="Courier New" pitchFamily="34" charset="0"/>
                <a:ea typeface="Courier New" pitchFamily="34" charset="-122"/>
                <a:cs typeface="Courier New" pitchFamily="34" charset="-120"/>
              </a:rPr>
              <a:t># escribe ANTHROPIC_API_KEY y MODEL</a:t>
            </a:r>
            <a:endParaRPr lang="en-US" sz="1080" dirty="0"/>
          </a:p>
          <a:p>
            <a:pPr marL="0" indent="0" algn="l">
              <a:lnSpc>
                <a:spcPts val="1727"/>
              </a:lnSpc>
              <a:buNone/>
            </a:pPr>
            <a:r>
              <a:rPr lang="en-US" sz="1080" dirty="0">
                <a:solidFill>
                  <a:srgbClr val="16181D"/>
                </a:solidFill>
                <a:latin typeface="Courier New" pitchFamily="34" charset="0"/>
                <a:ea typeface="Courier New" pitchFamily="34" charset="-122"/>
                <a:cs typeface="Courier New" pitchFamily="34" charset="-120"/>
              </a:rPr>
              <a:t>docker info &amp;&amp; claude doctor</a:t>
            </a:r>
            <a:endParaRPr lang="en-US" sz="1080" dirty="0"/>
          </a:p>
        </p:txBody>
      </p:sp>
      <p:sp>
        <p:nvSpPr>
          <p:cNvPr id="26" name="s8-texto-2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Cada llamada a Claude Code tiene un tope de gasto: PRESUPUESTO_USD en .env (2 USD por defecto)</a:t>
            </a:r>
            <a:endParaRPr lang="en-US" sz="1080" dirty="0"/>
          </a:p>
        </p:txBody>
      </p:sp>
      <p:sp>
        <p:nvSpPr>
          <p:cNvPr id="27" name="s8-forma-26"/>
          <p:cNvSpPr/>
          <p:nvPr/>
        </p:nvSpPr>
        <p:spPr>
          <a:xfrm>
            <a:off x="853390" y="6411138"/>
            <a:ext cx="10484915" cy="5713"/>
          </a:xfrm>
          <a:prstGeom prst="rect">
            <a:avLst/>
          </a:prstGeom>
          <a:solidFill>
            <a:srgbClr val="DBD4C4"/>
          </a:solidFill>
          <a:ln/>
        </p:spPr>
        <p:txBody>
          <a:bodyPr/>
          <a:lstStyle/>
          <a:p>
            <a:endParaRPr lang="es-MX"/>
          </a:p>
        </p:txBody>
      </p:sp>
      <p:pic>
        <p:nvPicPr>
          <p:cNvPr id="28" name="s8-logo-27" descr="preencoded.png"/>
          <p:cNvPicPr>
            <a:picLocks noChangeAspect="1"/>
          </p:cNvPicPr>
          <p:nvPr/>
        </p:nvPicPr>
        <p:blipFill>
          <a:blip r:embed="rId5"/>
          <a:stretch>
            <a:fillRect/>
          </a:stretch>
        </p:blipFill>
        <p:spPr>
          <a:xfrm>
            <a:off x="853390" y="6465055"/>
            <a:ext cx="687800" cy="212455"/>
          </a:xfrm>
          <a:prstGeom prst="rect">
            <a:avLst/>
          </a:prstGeom>
        </p:spPr>
      </p:pic>
      <p:sp>
        <p:nvSpPr>
          <p:cNvPr id="29" name="s8-forma-28"/>
          <p:cNvSpPr/>
          <p:nvPr/>
        </p:nvSpPr>
        <p:spPr>
          <a:xfrm>
            <a:off x="1659380" y="6519865"/>
            <a:ext cx="3057208" cy="102835"/>
          </a:xfrm>
          <a:prstGeom prst="rect">
            <a:avLst/>
          </a:prstGeom>
          <a:ln/>
        </p:spPr>
        <p:txBody>
          <a:bodyPr/>
          <a:lstStyle/>
          <a:p>
            <a:endParaRPr lang="es-MX"/>
          </a:p>
        </p:txBody>
      </p:sp>
      <p:sp>
        <p:nvSpPr>
          <p:cNvPr id="30" name="s8-forma-29"/>
          <p:cNvSpPr/>
          <p:nvPr/>
        </p:nvSpPr>
        <p:spPr>
          <a:xfrm>
            <a:off x="1659380" y="6519865"/>
            <a:ext cx="5713" cy="102835"/>
          </a:xfrm>
          <a:prstGeom prst="rect">
            <a:avLst/>
          </a:prstGeom>
          <a:solidFill>
            <a:srgbClr val="C6BFAE"/>
          </a:solidFill>
          <a:ln/>
        </p:spPr>
        <p:txBody>
          <a:bodyPr/>
          <a:lstStyle/>
          <a:p>
            <a:endParaRPr lang="es-MX"/>
          </a:p>
        </p:txBody>
      </p:sp>
      <p:sp>
        <p:nvSpPr>
          <p:cNvPr id="31" name="s8-texto-3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2" name="s8-texto-31"/>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8 / 35</a:t>
            </a:r>
            <a:endParaRPr lang="en-US" sz="745" dirty="0"/>
          </a:p>
        </p:txBody>
      </p:sp>
      <p:sp>
        <p:nvSpPr>
          <p:cNvPr id="33" name="s8-forma-32"/>
          <p:cNvSpPr/>
          <p:nvPr/>
        </p:nvSpPr>
        <p:spPr>
          <a:xfrm>
            <a:off x="0" y="0"/>
            <a:ext cx="2786640" cy="17139"/>
          </a:xfrm>
          <a:prstGeom prst="rect">
            <a:avLst/>
          </a:prstGeom>
          <a:solidFill>
            <a:srgbClr val="0033A0"/>
          </a:solidFill>
          <a:ln/>
        </p:spPr>
        <p:txBody>
          <a:bodyPr/>
          <a:lstStyle/>
          <a:p>
            <a:endParaRPr lang="es-MX"/>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DE8DC"/>
        </a:solidFill>
        <a:effectLst/>
      </p:bgPr>
    </p:bg>
    <p:spTree>
      <p:nvGrpSpPr>
        <p:cNvPr id="1" name=""/>
        <p:cNvGrpSpPr/>
        <p:nvPr/>
      </p:nvGrpSpPr>
      <p:grpSpPr>
        <a:xfrm>
          <a:off x="0" y="0"/>
          <a:ext cx="0" cy="0"/>
          <a:chOff x="0" y="0"/>
          <a:chExt cx="0" cy="0"/>
        </a:xfrm>
      </p:grpSpPr>
      <p:sp>
        <p:nvSpPr>
          <p:cNvPr id="2" name="s9-forma-1"/>
          <p:cNvSpPr/>
          <p:nvPr/>
        </p:nvSpPr>
        <p:spPr>
          <a:xfrm>
            <a:off x="853390" y="520961"/>
            <a:ext cx="10484915" cy="5713"/>
          </a:xfrm>
          <a:prstGeom prst="rect">
            <a:avLst/>
          </a:prstGeom>
          <a:solidFill>
            <a:srgbClr val="C6BFAE"/>
          </a:solidFill>
          <a:ln/>
        </p:spPr>
        <p:txBody>
          <a:bodyPr/>
          <a:lstStyle/>
          <a:p>
            <a:endParaRPr lang="es-MX"/>
          </a:p>
        </p:txBody>
      </p:sp>
      <p:sp>
        <p:nvSpPr>
          <p:cNvPr id="3" name="s9-forma-2"/>
          <p:cNvSpPr/>
          <p:nvPr/>
        </p:nvSpPr>
        <p:spPr>
          <a:xfrm>
            <a:off x="853390" y="331715"/>
            <a:ext cx="81411" cy="81411"/>
          </a:xfrm>
          <a:prstGeom prst="ellipse">
            <a:avLst/>
          </a:prstGeom>
          <a:solidFill>
            <a:srgbClr val="AC321E"/>
          </a:solidFill>
          <a:ln/>
        </p:spPr>
        <p:txBody>
          <a:bodyPr/>
          <a:lstStyle/>
          <a:p>
            <a:endParaRPr lang="es-MX"/>
          </a:p>
        </p:txBody>
      </p:sp>
      <p:sp>
        <p:nvSpPr>
          <p:cNvPr id="4" name="s9-texto-3"/>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AC321E"/>
                </a:solidFill>
                <a:latin typeface="Courier New" pitchFamily="34" charset="0"/>
                <a:ea typeface="Courier New" pitchFamily="34" charset="-122"/>
                <a:cs typeface="Courier New" pitchFamily="34" charset="-120"/>
              </a:rPr>
              <a:t>INTRODUCE</a:t>
            </a:r>
            <a:endParaRPr lang="en-US" sz="807" dirty="0"/>
          </a:p>
        </p:txBody>
      </p:sp>
      <p:sp>
        <p:nvSpPr>
          <p:cNvPr id="5" name="s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10 min</a:t>
            </a:r>
            <a:endParaRPr lang="en-US" sz="807" dirty="0"/>
          </a:p>
        </p:txBody>
      </p:sp>
      <p:sp>
        <p:nvSpPr>
          <p:cNvPr id="6" name="s9-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SESIÓN 1 · OBJETIVO</a:t>
            </a:r>
            <a:endParaRPr lang="en-US" sz="900" dirty="0"/>
          </a:p>
        </p:txBody>
      </p:sp>
      <p:sp>
        <p:nvSpPr>
          <p:cNvPr id="7" name="s9-texto-6"/>
          <p:cNvSpPr txBox="1"/>
          <p:nvPr/>
        </p:nvSpPr>
        <p:spPr>
          <a:xfrm>
            <a:off x="1342572" y="1462546"/>
            <a:ext cx="10076945" cy="279941"/>
          </a:xfrm>
          <a:prstGeom prst="rect">
            <a:avLst/>
          </a:prstGeom>
          <a:noFill/>
          <a:ln/>
        </p:spPr>
        <p:txBody>
          <a:bodyPr wrap="none" lIns="0" tIns="0" rIns="0" bIns="0" rtlCol="0" anchor="t"/>
          <a:lstStyle/>
          <a:p>
            <a:pPr marL="0" indent="0" algn="l">
              <a:lnSpc>
                <a:spcPts val="2173"/>
              </a:lnSpc>
              <a:buNone/>
            </a:pPr>
            <a:r>
              <a:rPr lang="en-US" sz="1889" b="1" kern="0" spc="-19" dirty="0">
                <a:solidFill>
                  <a:srgbClr val="16181D"/>
                </a:solidFill>
                <a:latin typeface="Georgia" pitchFamily="34" charset="0"/>
                <a:ea typeface="Georgia" pitchFamily="34" charset="-122"/>
                <a:cs typeface="Georgia" pitchFamily="34" charset="-120"/>
              </a:rPr>
              <a:t>Entender qué es un agente y cómo validar con código lo que produce</a:t>
            </a:r>
            <a:endParaRPr lang="en-US" sz="1889" dirty="0"/>
          </a:p>
        </p:txBody>
      </p:sp>
      <p:sp>
        <p:nvSpPr>
          <p:cNvPr id="8" name="s9-forma-7"/>
          <p:cNvSpPr/>
          <p:nvPr/>
        </p:nvSpPr>
        <p:spPr>
          <a:xfrm>
            <a:off x="1342572" y="2018410"/>
            <a:ext cx="3035516" cy="2217386"/>
          </a:xfrm>
          <a:prstGeom prst="rect">
            <a:avLst/>
          </a:prstGeom>
          <a:solidFill>
            <a:srgbClr val="E2D3C2"/>
          </a:solidFill>
          <a:ln/>
        </p:spPr>
        <p:txBody>
          <a:bodyPr/>
          <a:lstStyle/>
          <a:p>
            <a:endParaRPr lang="es-MX"/>
          </a:p>
        </p:txBody>
      </p:sp>
      <p:sp>
        <p:nvSpPr>
          <p:cNvPr id="9" name="s9-texto-8"/>
          <p:cNvSpPr txBox="1"/>
          <p:nvPr/>
        </p:nvSpPr>
        <p:spPr>
          <a:xfrm>
            <a:off x="1571095" y="2246933"/>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APRENDES</a:t>
            </a:r>
            <a:endParaRPr lang="en-US" sz="900" dirty="0"/>
          </a:p>
        </p:txBody>
      </p:sp>
      <p:sp>
        <p:nvSpPr>
          <p:cNvPr id="10" name="s9-texto-9"/>
          <p:cNvSpPr txBox="1"/>
          <p:nvPr/>
        </p:nvSpPr>
        <p:spPr>
          <a:xfrm>
            <a:off x="1571095" y="2492595"/>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Workflow contra agente y sus componentes</a:t>
            </a:r>
            <a:endParaRPr lang="en-US" sz="1260" dirty="0"/>
          </a:p>
        </p:txBody>
      </p:sp>
      <p:sp>
        <p:nvSpPr>
          <p:cNvPr id="11" name="s9-texto-10"/>
          <p:cNvSpPr txBox="1"/>
          <p:nvPr/>
        </p:nvSpPr>
        <p:spPr>
          <a:xfrm>
            <a:off x="1571095" y="3031767"/>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Salidas estructuradas: contrato y tres niveles de validación</a:t>
            </a:r>
            <a:endParaRPr lang="en-US" sz="1260" dirty="0"/>
          </a:p>
        </p:txBody>
      </p:sp>
      <p:sp>
        <p:nvSpPr>
          <p:cNvPr id="12" name="s9-texto-11"/>
          <p:cNvSpPr txBox="1"/>
          <p:nvPr/>
        </p:nvSpPr>
        <p:spPr>
          <a:xfrm>
            <a:off x="1571095" y="3570938"/>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ReAct, Plan-and-Execute y Reflexión</a:t>
            </a:r>
            <a:endParaRPr lang="en-US" sz="1260" dirty="0"/>
          </a:p>
        </p:txBody>
      </p:sp>
      <p:sp>
        <p:nvSpPr>
          <p:cNvPr id="13" name="s9-forma-12"/>
          <p:cNvSpPr/>
          <p:nvPr/>
        </p:nvSpPr>
        <p:spPr>
          <a:xfrm>
            <a:off x="4560906" y="2018410"/>
            <a:ext cx="3046942" cy="2217386"/>
          </a:xfrm>
          <a:prstGeom prst="rect">
            <a:avLst/>
          </a:prstGeom>
          <a:solidFill>
            <a:srgbClr val="E3DCCB"/>
          </a:solidFill>
          <a:ln w="5713">
            <a:solidFill>
              <a:srgbClr val="C6BFAE"/>
            </a:solidFill>
            <a:prstDash val="solid"/>
          </a:ln>
        </p:spPr>
        <p:txBody>
          <a:bodyPr/>
          <a:lstStyle/>
          <a:p>
            <a:endParaRPr lang="es-MX"/>
          </a:p>
        </p:txBody>
      </p:sp>
      <p:sp>
        <p:nvSpPr>
          <p:cNvPr id="14" name="s9-texto-13"/>
          <p:cNvSpPr txBox="1"/>
          <p:nvPr/>
        </p:nvSpPr>
        <p:spPr>
          <a:xfrm>
            <a:off x="4795142" y="2252646"/>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APLICAS EN TU FÁBRICA</a:t>
            </a:r>
            <a:endParaRPr lang="en-US" sz="900" dirty="0"/>
          </a:p>
        </p:txBody>
      </p:sp>
      <p:sp>
        <p:nvSpPr>
          <p:cNvPr id="15" name="s9-texto-14"/>
          <p:cNvSpPr txBox="1"/>
          <p:nvPr/>
        </p:nvSpPr>
        <p:spPr>
          <a:xfrm>
            <a:off x="4795142" y="2498308"/>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El bucle de agente en </a:t>
            </a:r>
            <a:r>
              <a:rPr lang="en-US" sz="1260" b="1" dirty="0">
                <a:solidFill>
                  <a:srgbClr val="0033A0"/>
                </a:solidFill>
                <a:latin typeface="Arial" pitchFamily="34" charset="0"/>
                <a:ea typeface="Arial" pitchFamily="34" charset="-122"/>
                <a:cs typeface="Arial" pitchFamily="34" charset="-120"/>
              </a:rPr>
              <a:t>agentes/base.py</a:t>
            </a:r>
            <a:endParaRPr lang="en-US" sz="1260" dirty="0"/>
          </a:p>
        </p:txBody>
      </p:sp>
      <p:sp>
        <p:nvSpPr>
          <p:cNvPr id="16" name="s9-texto-15"/>
          <p:cNvSpPr txBox="1"/>
          <p:nvPr/>
        </p:nvSpPr>
        <p:spPr>
          <a:xfrm>
            <a:off x="4795142" y="3037480"/>
            <a:ext cx="2733178" cy="400986"/>
          </a:xfrm>
          <a:prstGeom prst="rect">
            <a:avLst/>
          </a:prstGeom>
          <a:noFill/>
          <a:ln/>
        </p:spPr>
        <p:txBody>
          <a:bodyPr wrap="squar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Agente 1 · Analista:</a:t>
            </a:r>
            <a:r>
              <a:rPr lang="en-US" sz="1260" dirty="0">
                <a:solidFill>
                  <a:srgbClr val="16181D"/>
                </a:solidFill>
                <a:latin typeface="Arial" pitchFamily="34" charset="0"/>
                <a:ea typeface="Arial" pitchFamily="34" charset="-122"/>
                <a:cs typeface="Arial" pitchFamily="34" charset="-120"/>
              </a:rPr>
              <a:t> historia → criterios</a:t>
            </a:r>
            <a:endParaRPr lang="en-US" sz="1260" dirty="0"/>
          </a:p>
        </p:txBody>
      </p:sp>
      <p:sp>
        <p:nvSpPr>
          <p:cNvPr id="17" name="s9-texto-16"/>
          <p:cNvSpPr txBox="1"/>
          <p:nvPr/>
        </p:nvSpPr>
        <p:spPr>
          <a:xfrm>
            <a:off x="4795142" y="3576651"/>
            <a:ext cx="2733178" cy="400986"/>
          </a:xfrm>
          <a:prstGeom prst="rect">
            <a:avLst/>
          </a:prstGeom>
          <a:noFill/>
          <a:ln/>
        </p:spPr>
        <p:txBody>
          <a:bodyPr wrap="squar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Agente 2 · Diseñador:</a:t>
            </a:r>
            <a:r>
              <a:rPr lang="en-US" sz="1260" dirty="0">
                <a:solidFill>
                  <a:srgbClr val="16181D"/>
                </a:solidFill>
                <a:latin typeface="Arial" pitchFamily="34" charset="0"/>
                <a:ea typeface="Arial" pitchFamily="34" charset="-122"/>
                <a:cs typeface="Arial" pitchFamily="34" charset="-120"/>
              </a:rPr>
              <a:t> criterios → casos</a:t>
            </a:r>
            <a:endParaRPr lang="en-US" sz="1260" dirty="0"/>
          </a:p>
        </p:txBody>
      </p:sp>
      <p:sp>
        <p:nvSpPr>
          <p:cNvPr id="18" name="s9-forma-17"/>
          <p:cNvSpPr/>
          <p:nvPr/>
        </p:nvSpPr>
        <p:spPr>
          <a:xfrm>
            <a:off x="7790666" y="2018410"/>
            <a:ext cx="3058368" cy="2217386"/>
          </a:xfrm>
          <a:prstGeom prst="rect">
            <a:avLst/>
          </a:prstGeom>
          <a:solidFill>
            <a:srgbClr val="E8E2D5"/>
          </a:solidFill>
          <a:ln/>
        </p:spPr>
        <p:txBody>
          <a:bodyPr/>
          <a:lstStyle/>
          <a:p>
            <a:endParaRPr lang="es-MX"/>
          </a:p>
        </p:txBody>
      </p:sp>
      <p:sp>
        <p:nvSpPr>
          <p:cNvPr id="19" name="s9-forma-18"/>
          <p:cNvSpPr/>
          <p:nvPr/>
        </p:nvSpPr>
        <p:spPr>
          <a:xfrm>
            <a:off x="7790666" y="2018410"/>
            <a:ext cx="3058368" cy="5713"/>
          </a:xfrm>
          <a:prstGeom prst="rect">
            <a:avLst/>
          </a:prstGeom>
          <a:solidFill>
            <a:srgbClr val="DBD4C4"/>
          </a:solidFill>
          <a:ln/>
        </p:spPr>
        <p:txBody>
          <a:bodyPr/>
          <a:lstStyle/>
          <a:p>
            <a:endParaRPr lang="es-MX"/>
          </a:p>
        </p:txBody>
      </p:sp>
      <p:sp>
        <p:nvSpPr>
          <p:cNvPr id="20" name="s9-forma-19"/>
          <p:cNvSpPr/>
          <p:nvPr/>
        </p:nvSpPr>
        <p:spPr>
          <a:xfrm>
            <a:off x="7790666" y="4230083"/>
            <a:ext cx="3058368" cy="5713"/>
          </a:xfrm>
          <a:prstGeom prst="rect">
            <a:avLst/>
          </a:prstGeom>
          <a:solidFill>
            <a:srgbClr val="DBD4C4"/>
          </a:solidFill>
          <a:ln/>
        </p:spPr>
        <p:txBody>
          <a:bodyPr/>
          <a:lstStyle/>
          <a:p>
            <a:endParaRPr lang="es-MX"/>
          </a:p>
        </p:txBody>
      </p:sp>
      <p:sp>
        <p:nvSpPr>
          <p:cNvPr id="21" name="s9-forma-20"/>
          <p:cNvSpPr/>
          <p:nvPr/>
        </p:nvSpPr>
        <p:spPr>
          <a:xfrm>
            <a:off x="7790666" y="2018410"/>
            <a:ext cx="17139" cy="2217386"/>
          </a:xfrm>
          <a:prstGeom prst="rect">
            <a:avLst/>
          </a:prstGeom>
          <a:solidFill>
            <a:srgbClr val="C6BFAE"/>
          </a:solidFill>
          <a:ln/>
        </p:spPr>
        <p:txBody>
          <a:bodyPr/>
          <a:lstStyle/>
          <a:p>
            <a:endParaRPr lang="es-MX"/>
          </a:p>
        </p:txBody>
      </p:sp>
      <p:sp>
        <p:nvSpPr>
          <p:cNvPr id="22" name="s9-forma-21"/>
          <p:cNvSpPr/>
          <p:nvPr/>
        </p:nvSpPr>
        <p:spPr>
          <a:xfrm>
            <a:off x="10843321" y="2018410"/>
            <a:ext cx="5713" cy="2217386"/>
          </a:xfrm>
          <a:prstGeom prst="rect">
            <a:avLst/>
          </a:prstGeom>
          <a:solidFill>
            <a:srgbClr val="DBD4C4"/>
          </a:solidFill>
          <a:ln/>
        </p:spPr>
        <p:txBody>
          <a:bodyPr/>
          <a:lstStyle/>
          <a:p>
            <a:endParaRPr lang="es-MX"/>
          </a:p>
        </p:txBody>
      </p:sp>
      <p:sp>
        <p:nvSpPr>
          <p:cNvPr id="23" name="s9-texto-22"/>
          <p:cNvSpPr txBox="1"/>
          <p:nvPr/>
        </p:nvSpPr>
        <p:spPr>
          <a:xfrm>
            <a:off x="8036328" y="2252646"/>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ENTREGAS HOY</a:t>
            </a:r>
            <a:endParaRPr lang="en-US" sz="900" dirty="0"/>
          </a:p>
        </p:txBody>
      </p:sp>
      <p:sp>
        <p:nvSpPr>
          <p:cNvPr id="24" name="s9-texto-23"/>
          <p:cNvSpPr txBox="1"/>
          <p:nvPr/>
        </p:nvSpPr>
        <p:spPr>
          <a:xfrm>
            <a:off x="8036328" y="2498308"/>
            <a:ext cx="2733178" cy="519890"/>
          </a:xfrm>
          <a:prstGeom prst="rect">
            <a:avLst/>
          </a:prstGeom>
          <a:noFill/>
          <a:ln/>
        </p:spPr>
        <p:txBody>
          <a:bodyPr wrap="squar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salida/HU-01/criterios.feature</a:t>
            </a:r>
            <a:endParaRPr lang="en-US" sz="990" dirty="0"/>
          </a:p>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salida/HU-01/casos_prueba.json</a:t>
            </a:r>
            <a:endParaRPr lang="en-US" sz="990" dirty="0"/>
          </a:p>
          <a:p>
            <a:pPr marL="0" indent="0" algn="l">
              <a:lnSpc>
                <a:spcPts val="1485"/>
              </a:lnSpc>
              <a:buNone/>
            </a:pPr>
            <a:r>
              <a:rPr lang="en-US" sz="990" dirty="0" err="1">
                <a:solidFill>
                  <a:srgbClr val="16181D"/>
                </a:solidFill>
                <a:latin typeface="Courier New" pitchFamily="34" charset="0"/>
                <a:ea typeface="Courier New" pitchFamily="34" charset="-122"/>
                <a:cs typeface="Courier New" pitchFamily="34" charset="-120"/>
              </a:rPr>
              <a:t>salida</a:t>
            </a:r>
            <a:r>
              <a:rPr lang="en-US" sz="990" dirty="0">
                <a:solidFill>
                  <a:srgbClr val="16181D"/>
                </a:solidFill>
                <a:latin typeface="Courier New" pitchFamily="34" charset="0"/>
                <a:ea typeface="Courier New" pitchFamily="34" charset="-122"/>
                <a:cs typeface="Courier New" pitchFamily="34" charset="-120"/>
              </a:rPr>
              <a:t>/notas_s1.md</a:t>
            </a:r>
            <a:endParaRPr lang="en-US" sz="990" dirty="0"/>
          </a:p>
        </p:txBody>
      </p:sp>
      <p:sp>
        <p:nvSpPr>
          <p:cNvPr id="25" name="s9-texto-2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Arquitectura de agentes · 2 h 30 min</a:t>
            </a:r>
            <a:endParaRPr lang="en-US" sz="1080" dirty="0"/>
          </a:p>
        </p:txBody>
      </p:sp>
      <p:sp>
        <p:nvSpPr>
          <p:cNvPr id="26" name="s9-forma-25"/>
          <p:cNvSpPr/>
          <p:nvPr/>
        </p:nvSpPr>
        <p:spPr>
          <a:xfrm>
            <a:off x="853390" y="6411138"/>
            <a:ext cx="10484915" cy="5713"/>
          </a:xfrm>
          <a:prstGeom prst="rect">
            <a:avLst/>
          </a:prstGeom>
          <a:solidFill>
            <a:srgbClr val="DBD4C4"/>
          </a:solidFill>
          <a:ln/>
        </p:spPr>
        <p:txBody>
          <a:bodyPr/>
          <a:lstStyle/>
          <a:p>
            <a:endParaRPr lang="es-MX"/>
          </a:p>
        </p:txBody>
      </p:sp>
      <p:pic>
        <p:nvPicPr>
          <p:cNvPr id="27" name="s9-logo-26" descr="preencoded.png"/>
          <p:cNvPicPr>
            <a:picLocks noChangeAspect="1"/>
          </p:cNvPicPr>
          <p:nvPr/>
        </p:nvPicPr>
        <p:blipFill>
          <a:blip r:embed="rId3"/>
          <a:stretch>
            <a:fillRect/>
          </a:stretch>
        </p:blipFill>
        <p:spPr>
          <a:xfrm>
            <a:off x="853390" y="6465055"/>
            <a:ext cx="687800" cy="212455"/>
          </a:xfrm>
          <a:prstGeom prst="rect">
            <a:avLst/>
          </a:prstGeom>
        </p:spPr>
      </p:pic>
      <p:sp>
        <p:nvSpPr>
          <p:cNvPr id="28" name="s9-forma-27"/>
          <p:cNvSpPr/>
          <p:nvPr/>
        </p:nvSpPr>
        <p:spPr>
          <a:xfrm>
            <a:off x="1659380" y="6519865"/>
            <a:ext cx="3057208" cy="102835"/>
          </a:xfrm>
          <a:prstGeom prst="rect">
            <a:avLst/>
          </a:prstGeom>
          <a:ln/>
        </p:spPr>
        <p:txBody>
          <a:bodyPr/>
          <a:lstStyle/>
          <a:p>
            <a:endParaRPr lang="es-MX"/>
          </a:p>
        </p:txBody>
      </p:sp>
      <p:sp>
        <p:nvSpPr>
          <p:cNvPr id="29" name="s9-forma-28"/>
          <p:cNvSpPr/>
          <p:nvPr/>
        </p:nvSpPr>
        <p:spPr>
          <a:xfrm>
            <a:off x="1659380" y="6519865"/>
            <a:ext cx="5713" cy="102835"/>
          </a:xfrm>
          <a:prstGeom prst="rect">
            <a:avLst/>
          </a:prstGeom>
          <a:solidFill>
            <a:srgbClr val="C6BFAE"/>
          </a:solidFill>
          <a:ln/>
        </p:spPr>
        <p:txBody>
          <a:bodyPr/>
          <a:lstStyle/>
          <a:p>
            <a:endParaRPr lang="es-MX"/>
          </a:p>
        </p:txBody>
      </p:sp>
      <p:sp>
        <p:nvSpPr>
          <p:cNvPr id="30" name="s9-texto-29"/>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1" name="s9-texto-30"/>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9 / 35</a:t>
            </a:r>
            <a:endParaRPr lang="en-US" sz="745" dirty="0"/>
          </a:p>
        </p:txBody>
      </p:sp>
      <p:sp>
        <p:nvSpPr>
          <p:cNvPr id="32" name="s9-forma-31"/>
          <p:cNvSpPr/>
          <p:nvPr/>
        </p:nvSpPr>
        <p:spPr>
          <a:xfrm>
            <a:off x="0" y="0"/>
            <a:ext cx="3134959" cy="17139"/>
          </a:xfrm>
          <a:prstGeom prst="rect">
            <a:avLst/>
          </a:prstGeom>
          <a:solidFill>
            <a:srgbClr val="0033A0"/>
          </a:solidFill>
          <a:ln/>
        </p:spPr>
        <p:txBody>
          <a:bodyPr/>
          <a:lstStyle/>
          <a:p>
            <a:endParaRPr lang="es-MX"/>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EDE8DC"/>
        </a:solidFill>
        <a:effectLst/>
      </p:bgPr>
    </p:bg>
    <p:spTree>
      <p:nvGrpSpPr>
        <p:cNvPr id="1" name=""/>
        <p:cNvGrpSpPr/>
        <p:nvPr/>
      </p:nvGrpSpPr>
      <p:grpSpPr>
        <a:xfrm>
          <a:off x="0" y="0"/>
          <a:ext cx="0" cy="0"/>
          <a:chOff x="0" y="0"/>
          <a:chExt cx="0" cy="0"/>
        </a:xfrm>
      </p:grpSpPr>
      <p:sp>
        <p:nvSpPr>
          <p:cNvPr id="2" name="s10-forma-1"/>
          <p:cNvSpPr/>
          <p:nvPr/>
        </p:nvSpPr>
        <p:spPr>
          <a:xfrm>
            <a:off x="853390" y="331715"/>
            <a:ext cx="81411" cy="81411"/>
          </a:xfrm>
          <a:prstGeom prst="ellipse">
            <a:avLst/>
          </a:prstGeom>
          <a:solidFill>
            <a:srgbClr val="0033A0"/>
          </a:solidFill>
          <a:ln/>
        </p:spPr>
        <p:txBody>
          <a:bodyPr/>
          <a:lstStyle/>
          <a:p>
            <a:endParaRPr lang="es-MX"/>
          </a:p>
        </p:txBody>
      </p:sp>
      <p:sp>
        <p:nvSpPr>
          <p:cNvPr id="3" name="s10-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10-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5" name="s10-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1.1</a:t>
            </a:r>
            <a:endParaRPr lang="en-US" sz="869" dirty="0"/>
          </a:p>
        </p:txBody>
      </p:sp>
      <p:sp>
        <p:nvSpPr>
          <p:cNvPr id="6" name="s10-forma-5"/>
          <p:cNvSpPr/>
          <p:nvPr/>
        </p:nvSpPr>
        <p:spPr>
          <a:xfrm>
            <a:off x="853390" y="3768306"/>
            <a:ext cx="722704" cy="22852"/>
          </a:xfrm>
          <a:prstGeom prst="rect">
            <a:avLst/>
          </a:prstGeom>
          <a:solidFill>
            <a:srgbClr val="0033A0"/>
          </a:solidFill>
          <a:ln/>
        </p:spPr>
        <p:txBody>
          <a:bodyPr/>
          <a:lstStyle/>
          <a:p>
            <a:endParaRPr lang="es-MX"/>
          </a:p>
        </p:txBody>
      </p:sp>
      <p:sp>
        <p:nvSpPr>
          <p:cNvPr id="7" name="s10-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a:t>
            </a:r>
            <a:r>
              <a:rPr lang="en-US" sz="4242" b="1" kern="0" spc="-64" dirty="0" err="1">
                <a:solidFill>
                  <a:srgbClr val="16181D"/>
                </a:solidFill>
                <a:latin typeface="Georgia" pitchFamily="34" charset="0"/>
                <a:ea typeface="Georgia" pitchFamily="34" charset="-122"/>
                <a:cs typeface="Georgia" pitchFamily="34" charset="-120"/>
              </a:rPr>
              <a:t>Qué</a:t>
            </a:r>
            <a:r>
              <a:rPr lang="en-US" sz="4242" b="1" kern="0" spc="-64" dirty="0">
                <a:solidFill>
                  <a:srgbClr val="16181D"/>
                </a:solidFill>
                <a:latin typeface="Georgia" pitchFamily="34" charset="0"/>
                <a:ea typeface="Georgia" pitchFamily="34" charset="-122"/>
                <a:cs typeface="Georgia" pitchFamily="34" charset="-120"/>
              </a:rPr>
              <a:t> es un </a:t>
            </a:r>
            <a:r>
              <a:rPr lang="en-US" sz="4242" b="1" kern="0" spc="-64" dirty="0" err="1">
                <a:solidFill>
                  <a:srgbClr val="16181D"/>
                </a:solidFill>
                <a:latin typeface="Georgia" pitchFamily="34" charset="0"/>
                <a:ea typeface="Georgia" pitchFamily="34" charset="-122"/>
                <a:cs typeface="Georgia" pitchFamily="34" charset="-120"/>
              </a:rPr>
              <a:t>agente</a:t>
            </a:r>
            <a:r>
              <a:rPr lang="en-US" sz="4242" b="1" kern="0" spc="-64" dirty="0">
                <a:solidFill>
                  <a:srgbClr val="16181D"/>
                </a:solidFill>
                <a:latin typeface="Georgia" pitchFamily="34" charset="0"/>
                <a:ea typeface="Georgia" pitchFamily="34" charset="-122"/>
                <a:cs typeface="Georgia" pitchFamily="34" charset="-120"/>
              </a:rPr>
              <a:t> de IA?</a:t>
            </a:r>
            <a:endParaRPr lang="en-US" sz="4242" dirty="0"/>
          </a:p>
        </p:txBody>
      </p:sp>
      <p:sp>
        <p:nvSpPr>
          <p:cNvPr id="8" name="s10-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b="1" dirty="0" err="1">
                <a:solidFill>
                  <a:srgbClr val="585E6F"/>
                </a:solidFill>
                <a:latin typeface="Arial" pitchFamily="34" charset="0"/>
                <a:ea typeface="Arial" pitchFamily="34" charset="-122"/>
                <a:cs typeface="Arial" pitchFamily="34" charset="-120"/>
              </a:rPr>
              <a:t>Definición</a:t>
            </a:r>
            <a:r>
              <a:rPr lang="en-US" sz="1676" b="1" dirty="0">
                <a:solidFill>
                  <a:srgbClr val="585E6F"/>
                </a:solidFill>
                <a:latin typeface="Arial" pitchFamily="34" charset="0"/>
                <a:ea typeface="Arial" pitchFamily="34" charset="-122"/>
                <a:cs typeface="Arial" pitchFamily="34" charset="-120"/>
              </a:rPr>
              <a:t>: Un </a:t>
            </a:r>
            <a:r>
              <a:rPr lang="en-US" sz="1676" b="1" dirty="0" err="1">
                <a:solidFill>
                  <a:srgbClr val="585E6F"/>
                </a:solidFill>
                <a:latin typeface="Arial" pitchFamily="34" charset="0"/>
                <a:ea typeface="Arial" pitchFamily="34" charset="-122"/>
                <a:cs typeface="Arial" pitchFamily="34" charset="-120"/>
              </a:rPr>
              <a:t>componente</a:t>
            </a:r>
            <a:r>
              <a:rPr lang="en-US" sz="1676" b="1" dirty="0">
                <a:solidFill>
                  <a:srgbClr val="585E6F"/>
                </a:solidFill>
                <a:latin typeface="Arial" pitchFamily="34" charset="0"/>
                <a:ea typeface="Arial" pitchFamily="34" charset="-122"/>
                <a:cs typeface="Arial" pitchFamily="34" charset="-120"/>
              </a:rPr>
              <a:t> de Software </a:t>
            </a:r>
            <a:r>
              <a:rPr lang="en-US" sz="1676" b="1" dirty="0" err="1">
                <a:solidFill>
                  <a:srgbClr val="585E6F"/>
                </a:solidFill>
                <a:latin typeface="Arial" pitchFamily="34" charset="0"/>
                <a:ea typeface="Arial" pitchFamily="34" charset="-122"/>
                <a:cs typeface="Arial" pitchFamily="34" charset="-120"/>
              </a:rPr>
              <a:t>cuyo</a:t>
            </a:r>
            <a:r>
              <a:rPr lang="en-US" sz="1676" b="1" dirty="0">
                <a:solidFill>
                  <a:srgbClr val="585E6F"/>
                </a:solidFill>
                <a:latin typeface="Arial" pitchFamily="34" charset="0"/>
                <a:ea typeface="Arial" pitchFamily="34" charset="-122"/>
                <a:cs typeface="Arial" pitchFamily="34" charset="-120"/>
              </a:rPr>
              <a:t> </a:t>
            </a:r>
            <a:r>
              <a:rPr lang="en-US" sz="1676" b="1" dirty="0" err="1">
                <a:solidFill>
                  <a:srgbClr val="585E6F"/>
                </a:solidFill>
                <a:latin typeface="Arial" pitchFamily="34" charset="0"/>
                <a:ea typeface="Arial" pitchFamily="34" charset="-122"/>
                <a:cs typeface="Arial" pitchFamily="34" charset="-120"/>
              </a:rPr>
              <a:t>objetivo</a:t>
            </a:r>
            <a:r>
              <a:rPr lang="en-US" sz="1676" b="1" dirty="0">
                <a:solidFill>
                  <a:srgbClr val="585E6F"/>
                </a:solidFill>
                <a:latin typeface="Arial" pitchFamily="34" charset="0"/>
                <a:ea typeface="Arial" pitchFamily="34" charset="-122"/>
                <a:cs typeface="Arial" pitchFamily="34" charset="-120"/>
              </a:rPr>
              <a:t> es </a:t>
            </a:r>
            <a:r>
              <a:rPr lang="en-US" sz="1676" b="1" dirty="0" err="1">
                <a:solidFill>
                  <a:srgbClr val="585E6F"/>
                </a:solidFill>
                <a:latin typeface="Arial" pitchFamily="34" charset="0"/>
                <a:ea typeface="Arial" pitchFamily="34" charset="-122"/>
                <a:cs typeface="Arial" pitchFamily="34" charset="-120"/>
              </a:rPr>
              <a:t>actuar</a:t>
            </a:r>
            <a:r>
              <a:rPr lang="en-US" sz="1676" b="1" dirty="0">
                <a:solidFill>
                  <a:srgbClr val="585E6F"/>
                </a:solidFill>
                <a:latin typeface="Arial" pitchFamily="34" charset="0"/>
                <a:ea typeface="Arial" pitchFamily="34" charset="-122"/>
                <a:cs typeface="Arial" pitchFamily="34" charset="-120"/>
              </a:rPr>
              <a:t> de forma </a:t>
            </a:r>
            <a:r>
              <a:rPr lang="en-US" sz="1676" b="1" dirty="0" err="1">
                <a:solidFill>
                  <a:srgbClr val="585E6F"/>
                </a:solidFill>
                <a:latin typeface="Arial" pitchFamily="34" charset="0"/>
                <a:ea typeface="Arial" pitchFamily="34" charset="-122"/>
                <a:cs typeface="Arial" pitchFamily="34" charset="-120"/>
              </a:rPr>
              <a:t>autónoma</a:t>
            </a:r>
            <a:r>
              <a:rPr lang="en-US" sz="1676" b="1" dirty="0">
                <a:solidFill>
                  <a:srgbClr val="585E6F"/>
                </a:solidFill>
                <a:latin typeface="Arial" pitchFamily="34" charset="0"/>
                <a:ea typeface="Arial" pitchFamily="34" charset="-122"/>
                <a:cs typeface="Arial" pitchFamily="34" charset="-120"/>
              </a:rPr>
              <a:t> </a:t>
            </a:r>
            <a:r>
              <a:rPr lang="en-US" sz="1676" b="1" dirty="0" err="1">
                <a:solidFill>
                  <a:srgbClr val="585E6F"/>
                </a:solidFill>
                <a:latin typeface="Arial" pitchFamily="34" charset="0"/>
                <a:ea typeface="Arial" pitchFamily="34" charset="-122"/>
                <a:cs typeface="Arial" pitchFamily="34" charset="-120"/>
              </a:rPr>
              <a:t>simulando</a:t>
            </a:r>
            <a:r>
              <a:rPr lang="en-US" sz="1676" b="1" dirty="0">
                <a:solidFill>
                  <a:srgbClr val="585E6F"/>
                </a:solidFill>
                <a:latin typeface="Arial" pitchFamily="34" charset="0"/>
                <a:ea typeface="Arial" pitchFamily="34" charset="-122"/>
                <a:cs typeface="Arial" pitchFamily="34" charset="-120"/>
              </a:rPr>
              <a:t> a un </a:t>
            </a:r>
            <a:r>
              <a:rPr lang="en-US" sz="1676" b="1" dirty="0" err="1">
                <a:solidFill>
                  <a:srgbClr val="585E6F"/>
                </a:solidFill>
                <a:latin typeface="Arial" pitchFamily="34" charset="0"/>
                <a:ea typeface="Arial" pitchFamily="34" charset="-122"/>
                <a:cs typeface="Arial" pitchFamily="34" charset="-120"/>
              </a:rPr>
              <a:t>humano</a:t>
            </a:r>
            <a:endParaRPr lang="en-US" sz="1676" b="1" dirty="0">
              <a:solidFill>
                <a:srgbClr val="585E6F"/>
              </a:solidFill>
              <a:latin typeface="Arial" pitchFamily="34" charset="0"/>
              <a:ea typeface="Arial" pitchFamily="34" charset="-122"/>
              <a:cs typeface="Arial" pitchFamily="34" charset="-120"/>
            </a:endParaRPr>
          </a:p>
          <a:p>
            <a:pPr marL="0" indent="0" algn="l">
              <a:lnSpc>
                <a:spcPts val="2430"/>
              </a:lnSpc>
              <a:buNone/>
            </a:pPr>
            <a:r>
              <a:rPr lang="en-US" sz="1676" b="1" dirty="0" err="1">
                <a:solidFill>
                  <a:srgbClr val="585E6F"/>
                </a:solidFill>
                <a:latin typeface="Arial" pitchFamily="34" charset="0"/>
                <a:ea typeface="Arial" pitchFamily="34" charset="-122"/>
                <a:cs typeface="Arial" pitchFamily="34" charset="-120"/>
              </a:rPr>
              <a:t>en</a:t>
            </a:r>
            <a:r>
              <a:rPr lang="en-US" sz="1676" b="1" dirty="0">
                <a:solidFill>
                  <a:srgbClr val="585E6F"/>
                </a:solidFill>
                <a:latin typeface="Arial" pitchFamily="34" charset="0"/>
                <a:ea typeface="Arial" pitchFamily="34" charset="-122"/>
                <a:cs typeface="Arial" pitchFamily="34" charset="-120"/>
              </a:rPr>
              <a:t> la </a:t>
            </a:r>
            <a:r>
              <a:rPr lang="en-US" sz="1676" b="1" dirty="0" err="1">
                <a:solidFill>
                  <a:srgbClr val="585E6F"/>
                </a:solidFill>
                <a:latin typeface="Arial" pitchFamily="34" charset="0"/>
                <a:ea typeface="Arial" pitchFamily="34" charset="-122"/>
                <a:cs typeface="Arial" pitchFamily="34" charset="-120"/>
              </a:rPr>
              <a:t>ejecución</a:t>
            </a:r>
            <a:r>
              <a:rPr lang="en-US" sz="1676" b="1" dirty="0">
                <a:solidFill>
                  <a:srgbClr val="585E6F"/>
                </a:solidFill>
                <a:latin typeface="Arial" pitchFamily="34" charset="0"/>
                <a:ea typeface="Arial" pitchFamily="34" charset="-122"/>
                <a:cs typeface="Arial" pitchFamily="34" charset="-120"/>
              </a:rPr>
              <a:t> de </a:t>
            </a:r>
            <a:r>
              <a:rPr lang="en-US" sz="1676" b="1" dirty="0" err="1">
                <a:solidFill>
                  <a:srgbClr val="585E6F"/>
                </a:solidFill>
                <a:latin typeface="Arial" pitchFamily="34" charset="0"/>
                <a:ea typeface="Arial" pitchFamily="34" charset="-122"/>
                <a:cs typeface="Arial" pitchFamily="34" charset="-120"/>
              </a:rPr>
              <a:t>una</a:t>
            </a:r>
            <a:r>
              <a:rPr lang="en-US" sz="1676" b="1" dirty="0">
                <a:solidFill>
                  <a:srgbClr val="585E6F"/>
                </a:solidFill>
                <a:latin typeface="Arial" pitchFamily="34" charset="0"/>
                <a:ea typeface="Arial" pitchFamily="34" charset="-122"/>
                <a:cs typeface="Arial" pitchFamily="34" charset="-120"/>
              </a:rPr>
              <a:t> o </a:t>
            </a:r>
            <a:r>
              <a:rPr lang="en-US" sz="1676" b="1" dirty="0" err="1">
                <a:solidFill>
                  <a:srgbClr val="585E6F"/>
                </a:solidFill>
                <a:latin typeface="Arial" pitchFamily="34" charset="0"/>
                <a:ea typeface="Arial" pitchFamily="34" charset="-122"/>
                <a:cs typeface="Arial" pitchFamily="34" charset="-120"/>
              </a:rPr>
              <a:t>varias</a:t>
            </a:r>
            <a:r>
              <a:rPr lang="en-US" sz="1676" b="1" dirty="0">
                <a:solidFill>
                  <a:srgbClr val="585E6F"/>
                </a:solidFill>
                <a:latin typeface="Arial" pitchFamily="34" charset="0"/>
                <a:ea typeface="Arial" pitchFamily="34" charset="-122"/>
                <a:cs typeface="Arial" pitchFamily="34" charset="-120"/>
              </a:rPr>
              <a:t> </a:t>
            </a:r>
            <a:r>
              <a:rPr lang="en-US" sz="1676" b="1" dirty="0" err="1">
                <a:solidFill>
                  <a:srgbClr val="585E6F"/>
                </a:solidFill>
                <a:latin typeface="Arial" pitchFamily="34" charset="0"/>
                <a:ea typeface="Arial" pitchFamily="34" charset="-122"/>
                <a:cs typeface="Arial" pitchFamily="34" charset="-120"/>
              </a:rPr>
              <a:t>tareas</a:t>
            </a:r>
            <a:r>
              <a:rPr lang="en-US" sz="1676" b="1" dirty="0">
                <a:solidFill>
                  <a:srgbClr val="585E6F"/>
                </a:solidFill>
                <a:latin typeface="Arial" pitchFamily="34" charset="0"/>
                <a:ea typeface="Arial" pitchFamily="34" charset="-122"/>
                <a:cs typeface="Arial" pitchFamily="34" charset="-120"/>
              </a:rPr>
              <a:t>.  </a:t>
            </a:r>
            <a:endParaRPr lang="en-US" sz="1676" b="1" dirty="0"/>
          </a:p>
        </p:txBody>
      </p:sp>
      <p:pic>
        <p:nvPicPr>
          <p:cNvPr id="9" name="s10-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0-forma-9"/>
          <p:cNvSpPr/>
          <p:nvPr/>
        </p:nvSpPr>
        <p:spPr>
          <a:xfrm>
            <a:off x="1659380" y="6519865"/>
            <a:ext cx="3057208" cy="102835"/>
          </a:xfrm>
          <a:prstGeom prst="rect">
            <a:avLst/>
          </a:prstGeom>
          <a:ln/>
        </p:spPr>
        <p:txBody>
          <a:bodyPr/>
          <a:lstStyle/>
          <a:p>
            <a:endParaRPr lang="es-MX"/>
          </a:p>
        </p:txBody>
      </p:sp>
      <p:sp>
        <p:nvSpPr>
          <p:cNvPr id="11" name="s10-forma-10"/>
          <p:cNvSpPr/>
          <p:nvPr/>
        </p:nvSpPr>
        <p:spPr>
          <a:xfrm>
            <a:off x="1659380" y="6519865"/>
            <a:ext cx="5713" cy="102835"/>
          </a:xfrm>
          <a:prstGeom prst="rect">
            <a:avLst/>
          </a:prstGeom>
          <a:solidFill>
            <a:srgbClr val="C6BFAE"/>
          </a:solidFill>
          <a:ln/>
        </p:spPr>
        <p:txBody>
          <a:bodyPr/>
          <a:lstStyle/>
          <a:p>
            <a:endParaRPr lang="es-MX"/>
          </a:p>
        </p:txBody>
      </p:sp>
      <p:sp>
        <p:nvSpPr>
          <p:cNvPr id="12" name="s10-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10-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10 / 35</a:t>
            </a:r>
            <a:endParaRPr lang="en-US" sz="745" dirty="0"/>
          </a:p>
        </p:txBody>
      </p:sp>
      <p:sp>
        <p:nvSpPr>
          <p:cNvPr id="14" name="s10-forma-13"/>
          <p:cNvSpPr/>
          <p:nvPr/>
        </p:nvSpPr>
        <p:spPr>
          <a:xfrm>
            <a:off x="0" y="0"/>
            <a:ext cx="3483278" cy="17139"/>
          </a:xfrm>
          <a:prstGeom prst="rect">
            <a:avLst/>
          </a:prstGeom>
          <a:solidFill>
            <a:srgbClr val="0033A0"/>
          </a:solidFill>
          <a:ln/>
        </p:spPr>
        <p:txBody>
          <a:bodyPr/>
          <a:lstStyle/>
          <a:p>
            <a:endParaRPr lang="es-MX"/>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7A69B-4672-9A47-8255-A9E134AC63A4}"/>
            </a:ext>
          </a:extLst>
        </p:cNvPr>
        <p:cNvGrpSpPr/>
        <p:nvPr/>
      </p:nvGrpSpPr>
      <p:grpSpPr>
        <a:xfrm>
          <a:off x="0" y="0"/>
          <a:ext cx="0" cy="0"/>
          <a:chOff x="0" y="0"/>
          <a:chExt cx="0" cy="0"/>
        </a:xfrm>
      </p:grpSpPr>
      <p:sp>
        <p:nvSpPr>
          <p:cNvPr id="2" name="s11-forma-1">
            <a:extLst>
              <a:ext uri="{FF2B5EF4-FFF2-40B4-BE49-F238E27FC236}">
                <a16:creationId xmlns:a16="http://schemas.microsoft.com/office/drawing/2014/main" id="{110207F0-5981-1ECF-4B44-1C8543EF069A}"/>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11-forma-2">
            <a:extLst>
              <a:ext uri="{FF2B5EF4-FFF2-40B4-BE49-F238E27FC236}">
                <a16:creationId xmlns:a16="http://schemas.microsoft.com/office/drawing/2014/main" id="{767E0D8F-2C9A-EFA0-3B02-A92DC9DB8BBE}"/>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11-texto-3">
            <a:extLst>
              <a:ext uri="{FF2B5EF4-FFF2-40B4-BE49-F238E27FC236}">
                <a16:creationId xmlns:a16="http://schemas.microsoft.com/office/drawing/2014/main" id="{45BBAAC2-86CF-3AED-3F06-649F5B81F165}"/>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1-texto-4">
            <a:extLst>
              <a:ext uri="{FF2B5EF4-FFF2-40B4-BE49-F238E27FC236}">
                <a16:creationId xmlns:a16="http://schemas.microsoft.com/office/drawing/2014/main" id="{AF1BF98C-0F69-F75D-02F7-029CE12941A8}"/>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11-texto-5">
            <a:extLst>
              <a:ext uri="{FF2B5EF4-FFF2-40B4-BE49-F238E27FC236}">
                <a16:creationId xmlns:a16="http://schemas.microsoft.com/office/drawing/2014/main" id="{57678316-2921-036C-61DA-4E43CC6C464C}"/>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1.1 · QUÉ ES UN AGENTE</a:t>
            </a:r>
            <a:endParaRPr lang="en-US" sz="900" dirty="0"/>
          </a:p>
        </p:txBody>
      </p:sp>
      <p:sp>
        <p:nvSpPr>
          <p:cNvPr id="7" name="s11-texto-6">
            <a:extLst>
              <a:ext uri="{FF2B5EF4-FFF2-40B4-BE49-F238E27FC236}">
                <a16:creationId xmlns:a16="http://schemas.microsoft.com/office/drawing/2014/main" id="{749B25FC-EB00-D25E-F90A-2B1F22CF3024}"/>
              </a:ext>
            </a:extLst>
          </p:cNvPr>
          <p:cNvSpPr txBox="1"/>
          <p:nvPr/>
        </p:nvSpPr>
        <p:spPr>
          <a:xfrm>
            <a:off x="1342572" y="1451120"/>
            <a:ext cx="10076945" cy="365637"/>
          </a:xfrm>
          <a:prstGeom prst="rect">
            <a:avLst/>
          </a:prstGeom>
          <a:noFill/>
          <a:ln/>
        </p:spPr>
        <p:txBody>
          <a:bodyPr wrap="none" lIns="0" tIns="0" rIns="0" bIns="0" rtlCol="0" anchor="t"/>
          <a:lstStyle/>
          <a:p>
            <a:pPr marL="0" indent="0" algn="l">
              <a:lnSpc>
                <a:spcPts val="2672"/>
              </a:lnSpc>
              <a:buNone/>
            </a:pPr>
            <a:r>
              <a:rPr lang="en-US" sz="2429" b="1" kern="0" spc="-24" dirty="0">
                <a:solidFill>
                  <a:srgbClr val="16181D"/>
                </a:solidFill>
                <a:latin typeface="Georgia" pitchFamily="34" charset="0"/>
                <a:ea typeface="Georgia" pitchFamily="34" charset="-122"/>
                <a:cs typeface="Georgia" pitchFamily="34" charset="-120"/>
              </a:rPr>
              <a:t>Workflow o agente: ¿quién decide el siguiente paso?</a:t>
            </a:r>
            <a:endParaRPr lang="en-US" sz="2429" dirty="0"/>
          </a:p>
        </p:txBody>
      </p:sp>
      <p:sp>
        <p:nvSpPr>
          <p:cNvPr id="8" name="s11-forma-7">
            <a:extLst>
              <a:ext uri="{FF2B5EF4-FFF2-40B4-BE49-F238E27FC236}">
                <a16:creationId xmlns:a16="http://schemas.microsoft.com/office/drawing/2014/main" id="{E449AE1D-BD90-5270-D5E2-893C99F7D09C}"/>
              </a:ext>
            </a:extLst>
          </p:cNvPr>
          <p:cNvSpPr/>
          <p:nvPr/>
        </p:nvSpPr>
        <p:spPr>
          <a:xfrm>
            <a:off x="4106681" y="2860778"/>
            <a:ext cx="3957785" cy="1809705"/>
          </a:xfrm>
          <a:prstGeom prst="rect">
            <a:avLst/>
          </a:prstGeom>
          <a:solidFill>
            <a:srgbClr val="E3DCCB"/>
          </a:solidFill>
          <a:ln w="5713">
            <a:solidFill>
              <a:schemeClr val="accent2"/>
            </a:solidFill>
            <a:prstDash val="solid"/>
          </a:ln>
        </p:spPr>
        <p:txBody>
          <a:bodyPr/>
          <a:lstStyle/>
          <a:p>
            <a:endParaRPr lang="es-MX"/>
          </a:p>
        </p:txBody>
      </p:sp>
      <p:sp>
        <p:nvSpPr>
          <p:cNvPr id="9" name="s11-texto-8">
            <a:extLst>
              <a:ext uri="{FF2B5EF4-FFF2-40B4-BE49-F238E27FC236}">
                <a16:creationId xmlns:a16="http://schemas.microsoft.com/office/drawing/2014/main" id="{479AE4D3-7725-2B5A-FB2A-74D1267769BC}"/>
              </a:ext>
            </a:extLst>
          </p:cNvPr>
          <p:cNvSpPr txBox="1"/>
          <p:nvPr/>
        </p:nvSpPr>
        <p:spPr>
          <a:xfrm>
            <a:off x="4308163" y="3095014"/>
            <a:ext cx="3773670"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WORKFLOW con LLM: </a:t>
            </a:r>
          </a:p>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DECIDE EL CÓDIGO</a:t>
            </a:r>
            <a:endParaRPr lang="en-US" sz="1799" dirty="0"/>
          </a:p>
        </p:txBody>
      </p:sp>
      <p:sp>
        <p:nvSpPr>
          <p:cNvPr id="11" name="s11-forma-10">
            <a:extLst>
              <a:ext uri="{FF2B5EF4-FFF2-40B4-BE49-F238E27FC236}">
                <a16:creationId xmlns:a16="http://schemas.microsoft.com/office/drawing/2014/main" id="{C264B2E7-0775-764B-7D86-DF55BFD2B25F}"/>
              </a:ext>
            </a:extLst>
          </p:cNvPr>
          <p:cNvSpPr/>
          <p:nvPr/>
        </p:nvSpPr>
        <p:spPr>
          <a:xfrm>
            <a:off x="4270164" y="4045526"/>
            <a:ext cx="3560066" cy="390721"/>
          </a:xfrm>
          <a:prstGeom prst="rect">
            <a:avLst/>
          </a:prstGeom>
          <a:solidFill>
            <a:srgbClr val="E3DCCB"/>
          </a:solidFill>
          <a:ln/>
        </p:spPr>
        <p:txBody>
          <a:bodyPr/>
          <a:lstStyle/>
          <a:p>
            <a:endParaRPr lang="es-MX"/>
          </a:p>
        </p:txBody>
      </p:sp>
      <p:sp>
        <p:nvSpPr>
          <p:cNvPr id="13" name="s11-forma-12">
            <a:extLst>
              <a:ext uri="{FF2B5EF4-FFF2-40B4-BE49-F238E27FC236}">
                <a16:creationId xmlns:a16="http://schemas.microsoft.com/office/drawing/2014/main" id="{11B9F9C4-37AF-C7E4-7809-37517F691E66}"/>
              </a:ext>
            </a:extLst>
          </p:cNvPr>
          <p:cNvSpPr/>
          <p:nvPr/>
        </p:nvSpPr>
        <p:spPr>
          <a:xfrm>
            <a:off x="8156888" y="3583244"/>
            <a:ext cx="3957785" cy="1809705"/>
          </a:xfrm>
          <a:prstGeom prst="rect">
            <a:avLst/>
          </a:prstGeom>
          <a:solidFill>
            <a:srgbClr val="E3DCCB"/>
          </a:solidFill>
          <a:ln w="5713">
            <a:solidFill>
              <a:srgbClr val="984514"/>
            </a:solidFill>
            <a:prstDash val="solid"/>
          </a:ln>
        </p:spPr>
        <p:txBody>
          <a:bodyPr/>
          <a:lstStyle/>
          <a:p>
            <a:endParaRPr lang="es-MX"/>
          </a:p>
        </p:txBody>
      </p:sp>
      <p:sp>
        <p:nvSpPr>
          <p:cNvPr id="14" name="s11-texto-13">
            <a:extLst>
              <a:ext uri="{FF2B5EF4-FFF2-40B4-BE49-F238E27FC236}">
                <a16:creationId xmlns:a16="http://schemas.microsoft.com/office/drawing/2014/main" id="{A63C8EAD-8FB1-28A6-1459-5BE9A5212F9C}"/>
              </a:ext>
            </a:extLst>
          </p:cNvPr>
          <p:cNvSpPr txBox="1"/>
          <p:nvPr/>
        </p:nvSpPr>
        <p:spPr>
          <a:xfrm>
            <a:off x="8358370" y="3817480"/>
            <a:ext cx="3773670"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AGENTE: DECIDE EL MODELO</a:t>
            </a:r>
            <a:endParaRPr lang="en-US" sz="1799" dirty="0"/>
          </a:p>
        </p:txBody>
      </p:sp>
      <p:sp>
        <p:nvSpPr>
          <p:cNvPr id="15" name="s11-texto-14">
            <a:extLst>
              <a:ext uri="{FF2B5EF4-FFF2-40B4-BE49-F238E27FC236}">
                <a16:creationId xmlns:a16="http://schemas.microsoft.com/office/drawing/2014/main" id="{FDE56F8E-31DB-04B1-6275-C8E48C662021}"/>
              </a:ext>
            </a:extLst>
          </p:cNvPr>
          <p:cNvSpPr txBox="1"/>
          <p:nvPr/>
        </p:nvSpPr>
        <p:spPr>
          <a:xfrm>
            <a:off x="8358370" y="4228821"/>
            <a:ext cx="3773670" cy="400986"/>
          </a:xfrm>
          <a:prstGeom prst="rect">
            <a:avLst/>
          </a:prstGeom>
          <a:noFill/>
          <a:ln/>
        </p:spPr>
        <p:txBody>
          <a:bodyPr wrap="square" lIns="0" tIns="0" rIns="0" bIns="0" rtlCol="0" anchor="t"/>
          <a:lstStyle/>
          <a:p>
            <a:pPr marL="0" indent="0" algn="l">
              <a:lnSpc>
                <a:spcPts val="1763"/>
              </a:lnSpc>
              <a:buNone/>
            </a:pPr>
            <a:r>
              <a:rPr lang="en-US" sz="1260" dirty="0">
                <a:solidFill>
                  <a:srgbClr val="585E6F"/>
                </a:solidFill>
                <a:latin typeface="Arial" pitchFamily="34" charset="0"/>
                <a:ea typeface="Arial" pitchFamily="34" charset="-122"/>
                <a:cs typeface="Arial" pitchFamily="34" charset="-120"/>
              </a:rPr>
              <a:t>Elige la secuencia en tiempo de ejecución. Flexible, pero más caro, lento y difícil de depurar.</a:t>
            </a:r>
            <a:endParaRPr lang="en-US" sz="1260" dirty="0"/>
          </a:p>
        </p:txBody>
      </p:sp>
      <p:sp>
        <p:nvSpPr>
          <p:cNvPr id="16" name="s11-forma-15">
            <a:extLst>
              <a:ext uri="{FF2B5EF4-FFF2-40B4-BE49-F238E27FC236}">
                <a16:creationId xmlns:a16="http://schemas.microsoft.com/office/drawing/2014/main" id="{DC50E85E-6F4E-68DB-7580-100377BDC74F}"/>
              </a:ext>
            </a:extLst>
          </p:cNvPr>
          <p:cNvSpPr/>
          <p:nvPr/>
        </p:nvSpPr>
        <p:spPr>
          <a:xfrm>
            <a:off x="8320371" y="4767992"/>
            <a:ext cx="3560066" cy="390721"/>
          </a:xfrm>
          <a:prstGeom prst="rect">
            <a:avLst/>
          </a:prstGeom>
          <a:solidFill>
            <a:srgbClr val="E2D3C2"/>
          </a:solidFill>
          <a:ln/>
        </p:spPr>
        <p:txBody>
          <a:bodyPr/>
          <a:lstStyle/>
          <a:p>
            <a:endParaRPr lang="es-MX"/>
          </a:p>
        </p:txBody>
      </p:sp>
      <p:sp>
        <p:nvSpPr>
          <p:cNvPr id="17" name="s11-texto-16">
            <a:extLst>
              <a:ext uri="{FF2B5EF4-FFF2-40B4-BE49-F238E27FC236}">
                <a16:creationId xmlns:a16="http://schemas.microsoft.com/office/drawing/2014/main" id="{1771BF81-BFEB-5A98-9A6B-A0678C1E4E21}"/>
              </a:ext>
            </a:extLst>
          </p:cNvPr>
          <p:cNvSpPr txBox="1"/>
          <p:nvPr/>
        </p:nvSpPr>
        <p:spPr>
          <a:xfrm>
            <a:off x="8451582" y="4876540"/>
            <a:ext cx="3526890" cy="171392"/>
          </a:xfrm>
          <a:prstGeom prst="rect">
            <a:avLst/>
          </a:prstGeom>
          <a:noFill/>
          <a:ln/>
        </p:spPr>
        <p:txBody>
          <a:bodyPr wrap="non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Ej.: investigar por qué cayeron las ventas</a:t>
            </a:r>
            <a:endParaRPr lang="en-US" sz="1170" dirty="0"/>
          </a:p>
        </p:txBody>
      </p:sp>
      <p:sp>
        <p:nvSpPr>
          <p:cNvPr id="19" name="s11-texto-18">
            <a:extLst>
              <a:ext uri="{FF2B5EF4-FFF2-40B4-BE49-F238E27FC236}">
                <a16:creationId xmlns:a16="http://schemas.microsoft.com/office/drawing/2014/main" id="{423A1C5C-5532-12D1-7F10-DB9A2D1DA02C}"/>
              </a:ext>
            </a:extLst>
          </p:cNvPr>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Arquitectura de agentes</a:t>
            </a:r>
            <a:endParaRPr lang="en-US" sz="1080" dirty="0"/>
          </a:p>
        </p:txBody>
      </p:sp>
      <p:sp>
        <p:nvSpPr>
          <p:cNvPr id="20" name="s11-forma-19">
            <a:extLst>
              <a:ext uri="{FF2B5EF4-FFF2-40B4-BE49-F238E27FC236}">
                <a16:creationId xmlns:a16="http://schemas.microsoft.com/office/drawing/2014/main" id="{BC24B707-F4B6-BC90-3913-3E8222B1CB85}"/>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21" name="s11-logo-20" descr="preencoded.png">
            <a:extLst>
              <a:ext uri="{FF2B5EF4-FFF2-40B4-BE49-F238E27FC236}">
                <a16:creationId xmlns:a16="http://schemas.microsoft.com/office/drawing/2014/main" id="{48928FD3-9967-1BD7-8CD9-A9973E4F8767}"/>
              </a:ext>
            </a:extLst>
          </p:cNvPr>
          <p:cNvPicPr>
            <a:picLocks noChangeAspect="1"/>
          </p:cNvPicPr>
          <p:nvPr/>
        </p:nvPicPr>
        <p:blipFill>
          <a:blip r:embed="rId3"/>
          <a:stretch>
            <a:fillRect/>
          </a:stretch>
        </p:blipFill>
        <p:spPr>
          <a:xfrm>
            <a:off x="853390" y="6465055"/>
            <a:ext cx="687800" cy="212455"/>
          </a:xfrm>
          <a:prstGeom prst="rect">
            <a:avLst/>
          </a:prstGeom>
        </p:spPr>
      </p:pic>
      <p:sp>
        <p:nvSpPr>
          <p:cNvPr id="22" name="s11-forma-21">
            <a:extLst>
              <a:ext uri="{FF2B5EF4-FFF2-40B4-BE49-F238E27FC236}">
                <a16:creationId xmlns:a16="http://schemas.microsoft.com/office/drawing/2014/main" id="{E0992F3C-0443-3E77-745E-478EB8D23269}"/>
              </a:ext>
            </a:extLst>
          </p:cNvPr>
          <p:cNvSpPr/>
          <p:nvPr/>
        </p:nvSpPr>
        <p:spPr>
          <a:xfrm>
            <a:off x="1659380" y="6519865"/>
            <a:ext cx="3057208" cy="102835"/>
          </a:xfrm>
          <a:prstGeom prst="rect">
            <a:avLst/>
          </a:prstGeom>
          <a:ln/>
        </p:spPr>
        <p:txBody>
          <a:bodyPr/>
          <a:lstStyle/>
          <a:p>
            <a:endParaRPr lang="es-MX"/>
          </a:p>
        </p:txBody>
      </p:sp>
      <p:sp>
        <p:nvSpPr>
          <p:cNvPr id="23" name="s11-forma-22">
            <a:extLst>
              <a:ext uri="{FF2B5EF4-FFF2-40B4-BE49-F238E27FC236}">
                <a16:creationId xmlns:a16="http://schemas.microsoft.com/office/drawing/2014/main" id="{D78FF414-9ACD-9E90-616C-59B1B765B725}"/>
              </a:ext>
            </a:extLst>
          </p:cNvPr>
          <p:cNvSpPr/>
          <p:nvPr/>
        </p:nvSpPr>
        <p:spPr>
          <a:xfrm>
            <a:off x="1659380" y="6519865"/>
            <a:ext cx="5713" cy="102835"/>
          </a:xfrm>
          <a:prstGeom prst="rect">
            <a:avLst/>
          </a:prstGeom>
          <a:solidFill>
            <a:srgbClr val="C6BFAE"/>
          </a:solidFill>
          <a:ln/>
        </p:spPr>
        <p:txBody>
          <a:bodyPr/>
          <a:lstStyle/>
          <a:p>
            <a:endParaRPr lang="es-MX"/>
          </a:p>
        </p:txBody>
      </p:sp>
      <p:sp>
        <p:nvSpPr>
          <p:cNvPr id="24" name="s11-texto-23">
            <a:extLst>
              <a:ext uri="{FF2B5EF4-FFF2-40B4-BE49-F238E27FC236}">
                <a16:creationId xmlns:a16="http://schemas.microsoft.com/office/drawing/2014/main" id="{1B1BA321-F662-B485-DD97-C4EC864CB28A}"/>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5" name="s11-texto-24">
            <a:extLst>
              <a:ext uri="{FF2B5EF4-FFF2-40B4-BE49-F238E27FC236}">
                <a16:creationId xmlns:a16="http://schemas.microsoft.com/office/drawing/2014/main" id="{B0FD659D-55E6-A337-0C9E-0AE81A9823B0}"/>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11 / 35</a:t>
            </a:r>
            <a:endParaRPr lang="en-US" sz="745" dirty="0"/>
          </a:p>
        </p:txBody>
      </p:sp>
      <p:sp>
        <p:nvSpPr>
          <p:cNvPr id="26" name="s11-forma-25">
            <a:extLst>
              <a:ext uri="{FF2B5EF4-FFF2-40B4-BE49-F238E27FC236}">
                <a16:creationId xmlns:a16="http://schemas.microsoft.com/office/drawing/2014/main" id="{7C2BE592-86BC-0985-7E33-2AFE834AB4EE}"/>
              </a:ext>
            </a:extLst>
          </p:cNvPr>
          <p:cNvSpPr/>
          <p:nvPr/>
        </p:nvSpPr>
        <p:spPr>
          <a:xfrm>
            <a:off x="0" y="0"/>
            <a:ext cx="3831597" cy="17139"/>
          </a:xfrm>
          <a:prstGeom prst="rect">
            <a:avLst/>
          </a:prstGeom>
          <a:solidFill>
            <a:srgbClr val="0033A0"/>
          </a:solidFill>
          <a:ln/>
        </p:spPr>
        <p:txBody>
          <a:bodyPr/>
          <a:lstStyle/>
          <a:p>
            <a:endParaRPr lang="es-MX"/>
          </a:p>
        </p:txBody>
      </p:sp>
      <p:sp>
        <p:nvSpPr>
          <p:cNvPr id="27" name="s11-forma-12">
            <a:extLst>
              <a:ext uri="{FF2B5EF4-FFF2-40B4-BE49-F238E27FC236}">
                <a16:creationId xmlns:a16="http://schemas.microsoft.com/office/drawing/2014/main" id="{291CB84D-73D5-3FF7-56D3-320039BAF348}"/>
              </a:ext>
            </a:extLst>
          </p:cNvPr>
          <p:cNvSpPr/>
          <p:nvPr/>
        </p:nvSpPr>
        <p:spPr>
          <a:xfrm>
            <a:off x="80364" y="2135713"/>
            <a:ext cx="3957785" cy="1809705"/>
          </a:xfrm>
          <a:prstGeom prst="rect">
            <a:avLst/>
          </a:prstGeom>
          <a:solidFill>
            <a:srgbClr val="E3DCCB"/>
          </a:solidFill>
          <a:ln w="5713">
            <a:solidFill>
              <a:srgbClr val="984514"/>
            </a:solidFill>
            <a:prstDash val="solid"/>
          </a:ln>
        </p:spPr>
        <p:txBody>
          <a:bodyPr/>
          <a:lstStyle/>
          <a:p>
            <a:endParaRPr lang="es-MX"/>
          </a:p>
        </p:txBody>
      </p:sp>
      <p:sp>
        <p:nvSpPr>
          <p:cNvPr id="28" name="s11-texto-13">
            <a:extLst>
              <a:ext uri="{FF2B5EF4-FFF2-40B4-BE49-F238E27FC236}">
                <a16:creationId xmlns:a16="http://schemas.microsoft.com/office/drawing/2014/main" id="{BB519E65-6449-1C9B-96EE-CB04D0999D2A}"/>
              </a:ext>
            </a:extLst>
          </p:cNvPr>
          <p:cNvSpPr txBox="1"/>
          <p:nvPr/>
        </p:nvSpPr>
        <p:spPr>
          <a:xfrm>
            <a:off x="281846" y="2369949"/>
            <a:ext cx="3773670"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WORFLOW DETERMINISTICO</a:t>
            </a:r>
            <a:endParaRPr lang="en-US" sz="1799" dirty="0"/>
          </a:p>
        </p:txBody>
      </p:sp>
      <p:sp>
        <p:nvSpPr>
          <p:cNvPr id="29" name="s11-texto-14">
            <a:extLst>
              <a:ext uri="{FF2B5EF4-FFF2-40B4-BE49-F238E27FC236}">
                <a16:creationId xmlns:a16="http://schemas.microsoft.com/office/drawing/2014/main" id="{21C6A315-12DE-C3F2-4F7D-B85BB4E1FEF3}"/>
              </a:ext>
            </a:extLst>
          </p:cNvPr>
          <p:cNvSpPr txBox="1"/>
          <p:nvPr/>
        </p:nvSpPr>
        <p:spPr>
          <a:xfrm>
            <a:off x="281846" y="2781290"/>
            <a:ext cx="3773670" cy="400986"/>
          </a:xfrm>
          <a:prstGeom prst="rect">
            <a:avLst/>
          </a:prstGeom>
          <a:noFill/>
          <a:ln/>
        </p:spPr>
        <p:txBody>
          <a:bodyPr wrap="square" lIns="0" tIns="0" rIns="0" bIns="0" rtlCol="0" anchor="t"/>
          <a:lstStyle/>
          <a:p>
            <a:pPr marL="0" indent="0" algn="l">
              <a:lnSpc>
                <a:spcPts val="1763"/>
              </a:lnSpc>
              <a:buNone/>
            </a:pPr>
            <a:r>
              <a:rPr lang="en-US" sz="1260" dirty="0">
                <a:solidFill>
                  <a:srgbClr val="585E6F"/>
                </a:solidFill>
                <a:latin typeface="Arial" pitchFamily="34" charset="0"/>
                <a:cs typeface="Arial" pitchFamily="34" charset="-120"/>
              </a:rPr>
              <a:t>La </a:t>
            </a:r>
            <a:r>
              <a:rPr lang="en-US" sz="1260" dirty="0" err="1">
                <a:solidFill>
                  <a:srgbClr val="585E6F"/>
                </a:solidFill>
                <a:latin typeface="Arial" pitchFamily="34" charset="0"/>
                <a:cs typeface="Arial" pitchFamily="34" charset="-120"/>
              </a:rPr>
              <a:t>secuencia</a:t>
            </a:r>
            <a:r>
              <a:rPr lang="en-US" sz="1260" dirty="0">
                <a:solidFill>
                  <a:srgbClr val="585E6F"/>
                </a:solidFill>
                <a:latin typeface="Arial" pitchFamily="34" charset="0"/>
                <a:cs typeface="Arial" pitchFamily="34" charset="-120"/>
              </a:rPr>
              <a:t> y </a:t>
            </a:r>
            <a:r>
              <a:rPr lang="en-US" sz="1260" dirty="0" err="1">
                <a:solidFill>
                  <a:srgbClr val="585E6F"/>
                </a:solidFill>
                <a:latin typeface="Arial" pitchFamily="34" charset="0"/>
                <a:cs typeface="Arial" pitchFamily="34" charset="-120"/>
              </a:rPr>
              <a:t>ejecución</a:t>
            </a:r>
            <a:r>
              <a:rPr lang="en-US" sz="1260" dirty="0">
                <a:solidFill>
                  <a:srgbClr val="585E6F"/>
                </a:solidFill>
                <a:latin typeface="Arial" pitchFamily="34" charset="0"/>
                <a:cs typeface="Arial" pitchFamily="34" charset="-120"/>
              </a:rPr>
              <a:t> de pasos es </a:t>
            </a:r>
            <a:r>
              <a:rPr lang="en-US" sz="1260" dirty="0" err="1">
                <a:solidFill>
                  <a:srgbClr val="585E6F"/>
                </a:solidFill>
                <a:latin typeface="Arial" pitchFamily="34" charset="0"/>
                <a:cs typeface="Arial" pitchFamily="34" charset="-120"/>
              </a:rPr>
              <a:t>determinística</a:t>
            </a:r>
            <a:r>
              <a:rPr lang="en-US" sz="1260" dirty="0">
                <a:solidFill>
                  <a:srgbClr val="585E6F"/>
                </a:solidFill>
                <a:latin typeface="Arial" pitchFamily="34" charset="0"/>
                <a:cs typeface="Arial" pitchFamily="34" charset="-120"/>
              </a:rPr>
              <a:t>. No hay un LLM, </a:t>
            </a:r>
            <a:r>
              <a:rPr lang="en-US" sz="1260" dirty="0" err="1">
                <a:solidFill>
                  <a:srgbClr val="585E6F"/>
                </a:solidFill>
                <a:latin typeface="Arial" pitchFamily="34" charset="0"/>
                <a:cs typeface="Arial" pitchFamily="34" charset="-120"/>
              </a:rPr>
              <a:t>Barato</a:t>
            </a:r>
            <a:r>
              <a:rPr lang="en-US" sz="1260" dirty="0">
                <a:solidFill>
                  <a:srgbClr val="585E6F"/>
                </a:solidFill>
                <a:latin typeface="Arial" pitchFamily="34" charset="0"/>
                <a:cs typeface="Arial" pitchFamily="34" charset="-120"/>
              </a:rPr>
              <a:t> </a:t>
            </a:r>
            <a:r>
              <a:rPr lang="en-US" sz="1260" dirty="0" err="1">
                <a:solidFill>
                  <a:srgbClr val="585E6F"/>
                </a:solidFill>
                <a:latin typeface="Arial" pitchFamily="34" charset="0"/>
                <a:cs typeface="Arial" pitchFamily="34" charset="-120"/>
              </a:rPr>
              <a:t>pero</a:t>
            </a:r>
            <a:r>
              <a:rPr lang="en-US" sz="1260" dirty="0">
                <a:solidFill>
                  <a:srgbClr val="585E6F"/>
                </a:solidFill>
                <a:latin typeface="Arial" pitchFamily="34" charset="0"/>
                <a:cs typeface="Arial" pitchFamily="34" charset="-120"/>
              </a:rPr>
              <a:t> inflexible</a:t>
            </a:r>
            <a:endParaRPr lang="en-US" sz="1260" dirty="0"/>
          </a:p>
        </p:txBody>
      </p:sp>
      <p:sp>
        <p:nvSpPr>
          <p:cNvPr id="30" name="s11-forma-15">
            <a:extLst>
              <a:ext uri="{FF2B5EF4-FFF2-40B4-BE49-F238E27FC236}">
                <a16:creationId xmlns:a16="http://schemas.microsoft.com/office/drawing/2014/main" id="{71620098-D5B5-CF6F-A6F0-FB6AA4DBDBAD}"/>
              </a:ext>
            </a:extLst>
          </p:cNvPr>
          <p:cNvSpPr/>
          <p:nvPr/>
        </p:nvSpPr>
        <p:spPr>
          <a:xfrm>
            <a:off x="243847" y="3320461"/>
            <a:ext cx="3560066" cy="390721"/>
          </a:xfrm>
          <a:prstGeom prst="rect">
            <a:avLst/>
          </a:prstGeom>
          <a:solidFill>
            <a:srgbClr val="E2D3C2"/>
          </a:solidFill>
          <a:ln/>
        </p:spPr>
        <p:txBody>
          <a:bodyPr/>
          <a:lstStyle/>
          <a:p>
            <a:endParaRPr lang="es-MX"/>
          </a:p>
        </p:txBody>
      </p:sp>
      <p:sp>
        <p:nvSpPr>
          <p:cNvPr id="31" name="s11-texto-16">
            <a:extLst>
              <a:ext uri="{FF2B5EF4-FFF2-40B4-BE49-F238E27FC236}">
                <a16:creationId xmlns:a16="http://schemas.microsoft.com/office/drawing/2014/main" id="{D28D32E0-1B69-EDC7-A1E6-24AFDD16F079}"/>
              </a:ext>
            </a:extLst>
          </p:cNvPr>
          <p:cNvSpPr txBox="1"/>
          <p:nvPr/>
        </p:nvSpPr>
        <p:spPr>
          <a:xfrm>
            <a:off x="375058" y="3429009"/>
            <a:ext cx="3526890" cy="171392"/>
          </a:xfrm>
          <a:prstGeom prst="rect">
            <a:avLst/>
          </a:prstGeom>
          <a:noFill/>
          <a:ln/>
        </p:spPr>
        <p:txBody>
          <a:bodyPr wrap="non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Ej.: </a:t>
            </a:r>
            <a:r>
              <a:rPr lang="en-US" sz="1170" dirty="0" err="1">
                <a:solidFill>
                  <a:srgbClr val="16181D"/>
                </a:solidFill>
                <a:latin typeface="Arial" pitchFamily="34" charset="0"/>
                <a:ea typeface="Arial" pitchFamily="34" charset="-122"/>
                <a:cs typeface="Arial" pitchFamily="34" charset="-120"/>
              </a:rPr>
              <a:t>ChatBot</a:t>
            </a:r>
            <a:r>
              <a:rPr lang="en-US" sz="1170" dirty="0">
                <a:solidFill>
                  <a:srgbClr val="16181D"/>
                </a:solidFill>
                <a:latin typeface="Arial" pitchFamily="34" charset="0"/>
                <a:ea typeface="Arial" pitchFamily="34" charset="-122"/>
                <a:cs typeface="Arial" pitchFamily="34" charset="-120"/>
              </a:rPr>
              <a:t> Servicio a </a:t>
            </a:r>
            <a:r>
              <a:rPr lang="en-US" sz="1170" dirty="0" err="1">
                <a:solidFill>
                  <a:srgbClr val="16181D"/>
                </a:solidFill>
                <a:latin typeface="Arial" pitchFamily="34" charset="0"/>
                <a:ea typeface="Arial" pitchFamily="34" charset="-122"/>
                <a:cs typeface="Arial" pitchFamily="34" charset="-120"/>
              </a:rPr>
              <a:t>cliente</a:t>
            </a:r>
            <a:r>
              <a:rPr lang="en-US" sz="1170" dirty="0">
                <a:solidFill>
                  <a:srgbClr val="16181D"/>
                </a:solidFill>
                <a:latin typeface="Arial" pitchFamily="34" charset="0"/>
                <a:ea typeface="Arial" pitchFamily="34" charset="-122"/>
                <a:cs typeface="Arial" pitchFamily="34" charset="-120"/>
              </a:rPr>
              <a:t> antes de  la IA Gen</a:t>
            </a:r>
            <a:endParaRPr lang="en-US" sz="1170" dirty="0"/>
          </a:p>
        </p:txBody>
      </p:sp>
      <p:sp>
        <p:nvSpPr>
          <p:cNvPr id="32" name="s11-forma-15">
            <a:extLst>
              <a:ext uri="{FF2B5EF4-FFF2-40B4-BE49-F238E27FC236}">
                <a16:creationId xmlns:a16="http://schemas.microsoft.com/office/drawing/2014/main" id="{C793355D-AC19-1CF9-7429-01C5AE7BF827}"/>
              </a:ext>
            </a:extLst>
          </p:cNvPr>
          <p:cNvSpPr/>
          <p:nvPr/>
        </p:nvSpPr>
        <p:spPr>
          <a:xfrm>
            <a:off x="4225189" y="4159999"/>
            <a:ext cx="3560066" cy="390721"/>
          </a:xfrm>
          <a:prstGeom prst="rect">
            <a:avLst/>
          </a:prstGeom>
          <a:solidFill>
            <a:srgbClr val="E2D3C2"/>
          </a:solidFill>
          <a:ln/>
        </p:spPr>
        <p:txBody>
          <a:bodyPr/>
          <a:lstStyle/>
          <a:p>
            <a:endParaRPr lang="es-MX"/>
          </a:p>
        </p:txBody>
      </p:sp>
      <p:sp>
        <p:nvSpPr>
          <p:cNvPr id="10" name="s11-texto-9">
            <a:extLst>
              <a:ext uri="{FF2B5EF4-FFF2-40B4-BE49-F238E27FC236}">
                <a16:creationId xmlns:a16="http://schemas.microsoft.com/office/drawing/2014/main" id="{208CE078-0867-F736-9D8F-73EBE0D4194E}"/>
              </a:ext>
            </a:extLst>
          </p:cNvPr>
          <p:cNvSpPr txBox="1"/>
          <p:nvPr/>
        </p:nvSpPr>
        <p:spPr>
          <a:xfrm>
            <a:off x="4308163" y="3686235"/>
            <a:ext cx="3773670" cy="400986"/>
          </a:xfrm>
          <a:prstGeom prst="rect">
            <a:avLst/>
          </a:prstGeom>
          <a:noFill/>
          <a:ln/>
        </p:spPr>
        <p:txBody>
          <a:bodyPr wrap="square" lIns="0" tIns="0" rIns="0" bIns="0" rtlCol="0" anchor="t"/>
          <a:lstStyle/>
          <a:p>
            <a:pPr marL="0" indent="0" algn="l">
              <a:lnSpc>
                <a:spcPts val="1763"/>
              </a:lnSpc>
              <a:buNone/>
            </a:pPr>
            <a:r>
              <a:rPr lang="en-US" sz="1260" dirty="0">
                <a:solidFill>
                  <a:srgbClr val="585E6F"/>
                </a:solidFill>
                <a:latin typeface="Arial" pitchFamily="34" charset="0"/>
                <a:ea typeface="Arial" pitchFamily="34" charset="-122"/>
                <a:cs typeface="Arial" pitchFamily="34" charset="-120"/>
              </a:rPr>
              <a:t>El LLM solo rellena cada paso. Predecible, barato y fácil de probar.</a:t>
            </a:r>
            <a:endParaRPr lang="en-US" sz="1260" dirty="0"/>
          </a:p>
        </p:txBody>
      </p:sp>
      <p:sp>
        <p:nvSpPr>
          <p:cNvPr id="12" name="s11-texto-11">
            <a:extLst>
              <a:ext uri="{FF2B5EF4-FFF2-40B4-BE49-F238E27FC236}">
                <a16:creationId xmlns:a16="http://schemas.microsoft.com/office/drawing/2014/main" id="{115434B2-9DE4-2E7C-5861-80A551E460D8}"/>
              </a:ext>
            </a:extLst>
          </p:cNvPr>
          <p:cNvSpPr txBox="1"/>
          <p:nvPr/>
        </p:nvSpPr>
        <p:spPr>
          <a:xfrm>
            <a:off x="4262168" y="4260144"/>
            <a:ext cx="3526890" cy="171392"/>
          </a:xfrm>
          <a:prstGeom prst="rect">
            <a:avLst/>
          </a:prstGeom>
          <a:noFill/>
          <a:ln/>
        </p:spPr>
        <p:txBody>
          <a:bodyPr wrap="non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Ej.: responder dudas sobre un pedido</a:t>
            </a:r>
            <a:endParaRPr lang="en-US" sz="1170" dirty="0"/>
          </a:p>
        </p:txBody>
      </p:sp>
    </p:spTree>
    <p:extLst>
      <p:ext uri="{BB962C8B-B14F-4D97-AF65-F5344CB8AC3E}">
        <p14:creationId xmlns:p14="http://schemas.microsoft.com/office/powerpoint/2010/main" val="2687171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EDE8DC"/>
        </a:solidFill>
        <a:effectLst/>
      </p:bgPr>
    </p:bg>
    <p:spTree>
      <p:nvGrpSpPr>
        <p:cNvPr id="1" name=""/>
        <p:cNvGrpSpPr/>
        <p:nvPr/>
      </p:nvGrpSpPr>
      <p:grpSpPr>
        <a:xfrm>
          <a:off x="0" y="0"/>
          <a:ext cx="0" cy="0"/>
          <a:chOff x="0" y="0"/>
          <a:chExt cx="0" cy="0"/>
        </a:xfrm>
      </p:grpSpPr>
      <p:sp>
        <p:nvSpPr>
          <p:cNvPr id="2" name="s12-forma-1"/>
          <p:cNvSpPr/>
          <p:nvPr/>
        </p:nvSpPr>
        <p:spPr>
          <a:xfrm>
            <a:off x="853390" y="520961"/>
            <a:ext cx="10484915" cy="5713"/>
          </a:xfrm>
          <a:prstGeom prst="rect">
            <a:avLst/>
          </a:prstGeom>
          <a:solidFill>
            <a:srgbClr val="C6BFAE"/>
          </a:solidFill>
          <a:ln/>
        </p:spPr>
        <p:txBody>
          <a:bodyPr/>
          <a:lstStyle/>
          <a:p>
            <a:endParaRPr lang="es-MX"/>
          </a:p>
        </p:txBody>
      </p:sp>
      <p:sp>
        <p:nvSpPr>
          <p:cNvPr id="3" name="s12-forma-2"/>
          <p:cNvSpPr/>
          <p:nvPr/>
        </p:nvSpPr>
        <p:spPr>
          <a:xfrm>
            <a:off x="853390" y="331715"/>
            <a:ext cx="81411" cy="81411"/>
          </a:xfrm>
          <a:prstGeom prst="ellipse">
            <a:avLst/>
          </a:prstGeom>
          <a:solidFill>
            <a:srgbClr val="0033A0"/>
          </a:solidFill>
          <a:ln/>
        </p:spPr>
        <p:txBody>
          <a:bodyPr/>
          <a:lstStyle/>
          <a:p>
            <a:endParaRPr lang="es-MX"/>
          </a:p>
        </p:txBody>
      </p:sp>
      <p:sp>
        <p:nvSpPr>
          <p:cNvPr id="4" name="s12-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2-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0:10 · 15 min</a:t>
            </a:r>
            <a:endParaRPr lang="en-US" sz="807" dirty="0"/>
          </a:p>
        </p:txBody>
      </p:sp>
      <p:sp>
        <p:nvSpPr>
          <p:cNvPr id="6" name="s12-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1.1 · EL BUCLE</a:t>
            </a:r>
            <a:endParaRPr lang="en-US" sz="900" dirty="0"/>
          </a:p>
        </p:txBody>
      </p:sp>
      <p:sp>
        <p:nvSpPr>
          <p:cNvPr id="7" name="s12-texto-6"/>
          <p:cNvSpPr txBox="1"/>
          <p:nvPr/>
        </p:nvSpPr>
        <p:spPr>
          <a:xfrm>
            <a:off x="1342572" y="1451120"/>
            <a:ext cx="10076945" cy="365637"/>
          </a:xfrm>
          <a:prstGeom prst="rect">
            <a:avLst/>
          </a:prstGeom>
          <a:noFill/>
          <a:ln/>
        </p:spPr>
        <p:txBody>
          <a:bodyPr wrap="none" lIns="0" tIns="0" rIns="0" bIns="0" rtlCol="0" anchor="t"/>
          <a:lstStyle/>
          <a:p>
            <a:pPr marL="0" indent="0" algn="l">
              <a:lnSpc>
                <a:spcPts val="2672"/>
              </a:lnSpc>
              <a:buNone/>
            </a:pPr>
            <a:r>
              <a:rPr lang="en-US" sz="2429" b="1" kern="0" spc="-24" dirty="0">
                <a:solidFill>
                  <a:srgbClr val="16181D"/>
                </a:solidFill>
                <a:latin typeface="Georgia" pitchFamily="34" charset="0"/>
                <a:ea typeface="Georgia" pitchFamily="34" charset="-122"/>
                <a:cs typeface="Georgia" pitchFamily="34" charset="-120"/>
              </a:rPr>
              <a:t>Modelo y herramienta se alternan hasta la respuesta</a:t>
            </a:r>
            <a:endParaRPr lang="en-US" sz="2429" dirty="0"/>
          </a:p>
        </p:txBody>
      </p:sp>
      <p:sp>
        <p:nvSpPr>
          <p:cNvPr id="8" name="s12-forma-7"/>
          <p:cNvSpPr/>
          <p:nvPr/>
        </p:nvSpPr>
        <p:spPr>
          <a:xfrm>
            <a:off x="1342572" y="2685144"/>
            <a:ext cx="1713922" cy="628438"/>
          </a:xfrm>
          <a:prstGeom prst="rect">
            <a:avLst/>
          </a:prstGeom>
          <a:solidFill>
            <a:srgbClr val="E3DCCB"/>
          </a:solidFill>
          <a:ln w="5713">
            <a:solidFill>
              <a:srgbClr val="585E6F"/>
            </a:solidFill>
            <a:prstDash val="solid"/>
          </a:ln>
        </p:spPr>
        <p:txBody>
          <a:bodyPr/>
          <a:lstStyle/>
          <a:p>
            <a:endParaRPr lang="es-MX"/>
          </a:p>
        </p:txBody>
      </p:sp>
      <p:sp>
        <p:nvSpPr>
          <p:cNvPr id="9" name="s12-texto-8"/>
          <p:cNvSpPr txBox="1"/>
          <p:nvPr/>
        </p:nvSpPr>
        <p:spPr>
          <a:xfrm>
            <a:off x="1342064" y="2907954"/>
            <a:ext cx="171484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1 · Usuario y objetivo</a:t>
            </a:r>
            <a:endParaRPr lang="en-US" sz="1260" dirty="0"/>
          </a:p>
        </p:txBody>
      </p:sp>
      <p:sp>
        <p:nvSpPr>
          <p:cNvPr id="10" name="s12-forma-9"/>
          <p:cNvSpPr/>
          <p:nvPr/>
        </p:nvSpPr>
        <p:spPr>
          <a:xfrm>
            <a:off x="3696357" y="2685144"/>
            <a:ext cx="1713922" cy="628438"/>
          </a:xfrm>
          <a:prstGeom prst="rect">
            <a:avLst/>
          </a:prstGeom>
          <a:solidFill>
            <a:srgbClr val="E3DCCB"/>
          </a:solidFill>
          <a:ln w="5713">
            <a:solidFill>
              <a:srgbClr val="585E6F"/>
            </a:solidFill>
            <a:prstDash val="solid"/>
          </a:ln>
        </p:spPr>
        <p:txBody>
          <a:bodyPr/>
          <a:lstStyle/>
          <a:p>
            <a:endParaRPr lang="es-MX"/>
          </a:p>
        </p:txBody>
      </p:sp>
      <p:sp>
        <p:nvSpPr>
          <p:cNvPr id="11" name="s12-texto-10"/>
          <p:cNvSpPr txBox="1"/>
          <p:nvPr/>
        </p:nvSpPr>
        <p:spPr>
          <a:xfrm>
            <a:off x="3879888" y="2907954"/>
            <a:ext cx="134686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2 · Modelo (LLM)</a:t>
            </a:r>
            <a:endParaRPr lang="en-US" sz="1260" dirty="0"/>
          </a:p>
        </p:txBody>
      </p:sp>
      <p:sp>
        <p:nvSpPr>
          <p:cNvPr id="12" name="s12-forma-11"/>
          <p:cNvSpPr/>
          <p:nvPr/>
        </p:nvSpPr>
        <p:spPr>
          <a:xfrm>
            <a:off x="6050143" y="2685144"/>
            <a:ext cx="1713922" cy="628438"/>
          </a:xfrm>
          <a:prstGeom prst="rect">
            <a:avLst/>
          </a:prstGeom>
          <a:solidFill>
            <a:srgbClr val="E3DCCB"/>
          </a:solidFill>
          <a:ln w="5713">
            <a:solidFill>
              <a:srgbClr val="585E6F"/>
            </a:solidFill>
            <a:prstDash val="dash"/>
          </a:ln>
        </p:spPr>
        <p:txBody>
          <a:bodyPr/>
          <a:lstStyle/>
          <a:p>
            <a:endParaRPr lang="es-MX"/>
          </a:p>
        </p:txBody>
      </p:sp>
      <p:sp>
        <p:nvSpPr>
          <p:cNvPr id="13" name="s12-texto-12"/>
          <p:cNvSpPr txBox="1"/>
          <p:nvPr/>
        </p:nvSpPr>
        <p:spPr>
          <a:xfrm>
            <a:off x="6004781" y="2816544"/>
            <a:ext cx="1804645" cy="359924"/>
          </a:xfrm>
          <a:prstGeom prst="rect">
            <a:avLst/>
          </a:prstGeom>
          <a:noFill/>
          <a:ln/>
        </p:spPr>
        <p:txBody>
          <a:bodyPr wrap="squar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3 · ¿Pidió una herramienta?</a:t>
            </a:r>
            <a:endParaRPr lang="en-US" sz="1260" dirty="0"/>
          </a:p>
        </p:txBody>
      </p:sp>
      <p:sp>
        <p:nvSpPr>
          <p:cNvPr id="14" name="s12-forma-13"/>
          <p:cNvSpPr/>
          <p:nvPr/>
        </p:nvSpPr>
        <p:spPr>
          <a:xfrm>
            <a:off x="8403929" y="2685144"/>
            <a:ext cx="1713922" cy="628438"/>
          </a:xfrm>
          <a:prstGeom prst="rect">
            <a:avLst/>
          </a:prstGeom>
          <a:solidFill>
            <a:srgbClr val="E2D3C2"/>
          </a:solidFill>
          <a:ln w="5713">
            <a:solidFill>
              <a:srgbClr val="984514"/>
            </a:solidFill>
            <a:prstDash val="solid"/>
          </a:ln>
        </p:spPr>
        <p:txBody>
          <a:bodyPr/>
          <a:lstStyle/>
          <a:p>
            <a:endParaRPr lang="es-MX"/>
          </a:p>
        </p:txBody>
      </p:sp>
      <p:sp>
        <p:nvSpPr>
          <p:cNvPr id="15" name="s12-texto-14"/>
          <p:cNvSpPr txBox="1"/>
          <p:nvPr/>
        </p:nvSpPr>
        <p:spPr>
          <a:xfrm>
            <a:off x="8417519" y="2907954"/>
            <a:ext cx="1686651"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No → respuesta final</a:t>
            </a:r>
            <a:endParaRPr lang="en-US" sz="1260" dirty="0"/>
          </a:p>
        </p:txBody>
      </p:sp>
      <p:sp>
        <p:nvSpPr>
          <p:cNvPr id="16" name="s12-forma-15"/>
          <p:cNvSpPr/>
          <p:nvPr/>
        </p:nvSpPr>
        <p:spPr>
          <a:xfrm>
            <a:off x="6050143" y="4170542"/>
            <a:ext cx="1713922" cy="628438"/>
          </a:xfrm>
          <a:prstGeom prst="rect">
            <a:avLst/>
          </a:prstGeom>
          <a:solidFill>
            <a:srgbClr val="E3DCCB"/>
          </a:solidFill>
          <a:ln w="5713">
            <a:solidFill>
              <a:srgbClr val="585E6F"/>
            </a:solidFill>
            <a:prstDash val="solid"/>
          </a:ln>
        </p:spPr>
        <p:txBody>
          <a:bodyPr/>
          <a:lstStyle/>
          <a:p>
            <a:endParaRPr lang="es-MX"/>
          </a:p>
        </p:txBody>
      </p:sp>
      <p:sp>
        <p:nvSpPr>
          <p:cNvPr id="17" name="s12-texto-16"/>
          <p:cNvSpPr txBox="1"/>
          <p:nvPr/>
        </p:nvSpPr>
        <p:spPr>
          <a:xfrm>
            <a:off x="6004781" y="4301943"/>
            <a:ext cx="1804645" cy="359924"/>
          </a:xfrm>
          <a:prstGeom prst="rect">
            <a:avLst/>
          </a:prstGeom>
          <a:noFill/>
          <a:ln/>
        </p:spPr>
        <p:txBody>
          <a:bodyPr wrap="squar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Sí → ejecutar herramienta</a:t>
            </a:r>
            <a:endParaRPr lang="en-US" sz="1260" dirty="0"/>
          </a:p>
        </p:txBody>
      </p:sp>
      <p:sp>
        <p:nvSpPr>
          <p:cNvPr id="18" name="s12-texto-17"/>
          <p:cNvSpPr txBox="1"/>
          <p:nvPr/>
        </p:nvSpPr>
        <p:spPr>
          <a:xfrm>
            <a:off x="7901178" y="2696570"/>
            <a:ext cx="502750"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no</a:t>
            </a:r>
            <a:endParaRPr lang="en-US" sz="1080" dirty="0"/>
          </a:p>
        </p:txBody>
      </p:sp>
      <p:sp>
        <p:nvSpPr>
          <p:cNvPr id="19" name="s12-texto-18"/>
          <p:cNvSpPr txBox="1"/>
          <p:nvPr/>
        </p:nvSpPr>
        <p:spPr>
          <a:xfrm>
            <a:off x="6998513" y="3627801"/>
            <a:ext cx="502750"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sí</a:t>
            </a:r>
            <a:endParaRPr lang="en-US" sz="1080" dirty="0"/>
          </a:p>
        </p:txBody>
      </p:sp>
      <p:sp>
        <p:nvSpPr>
          <p:cNvPr id="20" name="s12-texto-19"/>
          <p:cNvSpPr txBox="1"/>
          <p:nvPr/>
        </p:nvSpPr>
        <p:spPr>
          <a:xfrm>
            <a:off x="4644727" y="4576171"/>
            <a:ext cx="1453405" cy="154253"/>
          </a:xfrm>
          <a:prstGeom prst="rect">
            <a:avLst/>
          </a:prstGeom>
          <a:noFill/>
          <a:ln/>
        </p:spPr>
        <p:txBody>
          <a:bodyPr wrap="non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resultado o error</a:t>
            </a:r>
            <a:endParaRPr lang="en-US" sz="1080" dirty="0"/>
          </a:p>
        </p:txBody>
      </p:sp>
      <p:sp>
        <p:nvSpPr>
          <p:cNvPr id="21" name="s12-texto-20"/>
          <p:cNvSpPr txBox="1"/>
          <p:nvPr/>
        </p:nvSpPr>
        <p:spPr>
          <a:xfrm>
            <a:off x="1342572" y="4187682"/>
            <a:ext cx="314904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Cada vuelta es una llamada al modelo: costo y latencia crecen con los pasos.</a:t>
            </a:r>
            <a:endParaRPr lang="en-US" sz="1170" dirty="0"/>
          </a:p>
        </p:txBody>
      </p:sp>
      <p:sp>
        <p:nvSpPr>
          <p:cNvPr id="22" name="s12-texto-21"/>
          <p:cNvSpPr txBox="1"/>
          <p:nvPr/>
        </p:nvSpPr>
        <p:spPr>
          <a:xfrm>
            <a:off x="8403929" y="4187682"/>
            <a:ext cx="1816757" cy="587197"/>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Un límite de pasos garantiza que el bucle termine.</a:t>
            </a:r>
            <a:endParaRPr lang="en-US" sz="1170" dirty="0"/>
          </a:p>
        </p:txBody>
      </p:sp>
      <p:sp>
        <p:nvSpPr>
          <p:cNvPr id="23" name="s12-texto-22"/>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Arquitectura de agentes</a:t>
            </a:r>
            <a:endParaRPr lang="en-US" sz="1080" dirty="0"/>
          </a:p>
        </p:txBody>
      </p:sp>
      <p:sp>
        <p:nvSpPr>
          <p:cNvPr id="24" name="s12-linea-23-0"/>
          <p:cNvSpPr/>
          <p:nvPr/>
        </p:nvSpPr>
        <p:spPr>
          <a:xfrm>
            <a:off x="3056493" y="2999363"/>
            <a:ext cx="639864" cy="0"/>
          </a:xfrm>
          <a:prstGeom prst="line">
            <a:avLst/>
          </a:prstGeom>
          <a:noFill/>
          <a:ln w="17140">
            <a:solidFill>
              <a:srgbClr val="585E6F"/>
            </a:solidFill>
            <a:prstDash val="solid"/>
            <a:tailEnd type="triangle"/>
          </a:ln>
        </p:spPr>
        <p:txBody>
          <a:bodyPr/>
          <a:lstStyle/>
          <a:p>
            <a:endParaRPr lang="es-MX"/>
          </a:p>
        </p:txBody>
      </p:sp>
      <p:sp>
        <p:nvSpPr>
          <p:cNvPr id="25" name="s12-linea-24-0"/>
          <p:cNvSpPr/>
          <p:nvPr/>
        </p:nvSpPr>
        <p:spPr>
          <a:xfrm>
            <a:off x="5410279" y="2999363"/>
            <a:ext cx="639864" cy="0"/>
          </a:xfrm>
          <a:prstGeom prst="line">
            <a:avLst/>
          </a:prstGeom>
          <a:noFill/>
          <a:ln w="17140">
            <a:solidFill>
              <a:srgbClr val="585E6F"/>
            </a:solidFill>
            <a:prstDash val="solid"/>
            <a:tailEnd type="triangle"/>
          </a:ln>
        </p:spPr>
        <p:txBody>
          <a:bodyPr/>
          <a:lstStyle/>
          <a:p>
            <a:endParaRPr lang="es-MX"/>
          </a:p>
        </p:txBody>
      </p:sp>
      <p:sp>
        <p:nvSpPr>
          <p:cNvPr id="26" name="s12-linea-25-0"/>
          <p:cNvSpPr/>
          <p:nvPr/>
        </p:nvSpPr>
        <p:spPr>
          <a:xfrm>
            <a:off x="7764065" y="2999363"/>
            <a:ext cx="639864" cy="0"/>
          </a:xfrm>
          <a:prstGeom prst="line">
            <a:avLst/>
          </a:prstGeom>
          <a:noFill/>
          <a:ln w="17140">
            <a:solidFill>
              <a:srgbClr val="585E6F"/>
            </a:solidFill>
            <a:prstDash val="solid"/>
            <a:tailEnd type="triangle"/>
          </a:ln>
        </p:spPr>
        <p:txBody>
          <a:bodyPr/>
          <a:lstStyle/>
          <a:p>
            <a:endParaRPr lang="es-MX"/>
          </a:p>
        </p:txBody>
      </p:sp>
      <p:sp>
        <p:nvSpPr>
          <p:cNvPr id="27" name="s12-linea-26-0"/>
          <p:cNvSpPr/>
          <p:nvPr/>
        </p:nvSpPr>
        <p:spPr>
          <a:xfrm>
            <a:off x="6907104" y="3313582"/>
            <a:ext cx="0" cy="856961"/>
          </a:xfrm>
          <a:prstGeom prst="line">
            <a:avLst/>
          </a:prstGeom>
          <a:noFill/>
          <a:ln w="17140">
            <a:solidFill>
              <a:srgbClr val="585E6F"/>
            </a:solidFill>
            <a:prstDash val="solid"/>
            <a:tailEnd type="triangle"/>
          </a:ln>
        </p:spPr>
        <p:txBody>
          <a:bodyPr/>
          <a:lstStyle/>
          <a:p>
            <a:endParaRPr lang="es-MX"/>
          </a:p>
        </p:txBody>
      </p:sp>
      <p:sp>
        <p:nvSpPr>
          <p:cNvPr id="28" name="s12-linea-27-0"/>
          <p:cNvSpPr/>
          <p:nvPr/>
        </p:nvSpPr>
        <p:spPr>
          <a:xfrm flipH="1">
            <a:off x="4553318" y="4484761"/>
            <a:ext cx="1496825" cy="0"/>
          </a:xfrm>
          <a:prstGeom prst="line">
            <a:avLst/>
          </a:prstGeom>
          <a:noFill/>
          <a:ln w="17140">
            <a:solidFill>
              <a:srgbClr val="984514"/>
            </a:solidFill>
            <a:prstDash val="solid"/>
          </a:ln>
        </p:spPr>
        <p:txBody>
          <a:bodyPr/>
          <a:lstStyle/>
          <a:p>
            <a:endParaRPr lang="es-MX"/>
          </a:p>
        </p:txBody>
      </p:sp>
      <p:sp>
        <p:nvSpPr>
          <p:cNvPr id="29" name="s12-linea-27-1"/>
          <p:cNvSpPr/>
          <p:nvPr/>
        </p:nvSpPr>
        <p:spPr>
          <a:xfrm flipV="1">
            <a:off x="4553318" y="3313582"/>
            <a:ext cx="0" cy="1171180"/>
          </a:xfrm>
          <a:prstGeom prst="line">
            <a:avLst/>
          </a:prstGeom>
          <a:noFill/>
          <a:ln w="17140">
            <a:solidFill>
              <a:srgbClr val="984514"/>
            </a:solidFill>
            <a:prstDash val="solid"/>
            <a:tailEnd type="triangle"/>
          </a:ln>
        </p:spPr>
        <p:txBody>
          <a:bodyPr/>
          <a:lstStyle/>
          <a:p>
            <a:endParaRPr lang="es-MX"/>
          </a:p>
        </p:txBody>
      </p:sp>
      <p:sp>
        <p:nvSpPr>
          <p:cNvPr id="30" name="s12-forma-28"/>
          <p:cNvSpPr/>
          <p:nvPr/>
        </p:nvSpPr>
        <p:spPr>
          <a:xfrm>
            <a:off x="853390" y="6411138"/>
            <a:ext cx="10484915" cy="5713"/>
          </a:xfrm>
          <a:prstGeom prst="rect">
            <a:avLst/>
          </a:prstGeom>
          <a:solidFill>
            <a:srgbClr val="DBD4C4"/>
          </a:solidFill>
          <a:ln/>
        </p:spPr>
        <p:txBody>
          <a:bodyPr/>
          <a:lstStyle/>
          <a:p>
            <a:endParaRPr lang="es-MX"/>
          </a:p>
        </p:txBody>
      </p:sp>
      <p:pic>
        <p:nvPicPr>
          <p:cNvPr id="31" name="s12-logo-29" descr="preencoded.png"/>
          <p:cNvPicPr>
            <a:picLocks noChangeAspect="1"/>
          </p:cNvPicPr>
          <p:nvPr/>
        </p:nvPicPr>
        <p:blipFill>
          <a:blip r:embed="rId3"/>
          <a:stretch>
            <a:fillRect/>
          </a:stretch>
        </p:blipFill>
        <p:spPr>
          <a:xfrm>
            <a:off x="853390" y="6465055"/>
            <a:ext cx="687800" cy="212455"/>
          </a:xfrm>
          <a:prstGeom prst="rect">
            <a:avLst/>
          </a:prstGeom>
        </p:spPr>
      </p:pic>
      <p:sp>
        <p:nvSpPr>
          <p:cNvPr id="32" name="s12-forma-30"/>
          <p:cNvSpPr/>
          <p:nvPr/>
        </p:nvSpPr>
        <p:spPr>
          <a:xfrm>
            <a:off x="1659380" y="6519865"/>
            <a:ext cx="3057208" cy="102835"/>
          </a:xfrm>
          <a:prstGeom prst="rect">
            <a:avLst/>
          </a:prstGeom>
          <a:ln/>
        </p:spPr>
        <p:txBody>
          <a:bodyPr/>
          <a:lstStyle/>
          <a:p>
            <a:endParaRPr lang="es-MX"/>
          </a:p>
        </p:txBody>
      </p:sp>
      <p:sp>
        <p:nvSpPr>
          <p:cNvPr id="33" name="s12-forma-31"/>
          <p:cNvSpPr/>
          <p:nvPr/>
        </p:nvSpPr>
        <p:spPr>
          <a:xfrm>
            <a:off x="1659380" y="6519865"/>
            <a:ext cx="5713" cy="102835"/>
          </a:xfrm>
          <a:prstGeom prst="rect">
            <a:avLst/>
          </a:prstGeom>
          <a:solidFill>
            <a:srgbClr val="C6BFAE"/>
          </a:solidFill>
          <a:ln/>
        </p:spPr>
        <p:txBody>
          <a:bodyPr/>
          <a:lstStyle/>
          <a:p>
            <a:endParaRPr lang="es-MX"/>
          </a:p>
        </p:txBody>
      </p:sp>
      <p:sp>
        <p:nvSpPr>
          <p:cNvPr id="34" name="s12-texto-32"/>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5" name="s12-texto-33"/>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12 / 35</a:t>
            </a:r>
            <a:endParaRPr lang="en-US" sz="745" dirty="0"/>
          </a:p>
        </p:txBody>
      </p:sp>
      <p:sp>
        <p:nvSpPr>
          <p:cNvPr id="36" name="s12-forma-34"/>
          <p:cNvSpPr/>
          <p:nvPr/>
        </p:nvSpPr>
        <p:spPr>
          <a:xfrm>
            <a:off x="0" y="0"/>
            <a:ext cx="4180005" cy="17139"/>
          </a:xfrm>
          <a:prstGeom prst="rect">
            <a:avLst/>
          </a:prstGeom>
          <a:solidFill>
            <a:srgbClr val="0033A0"/>
          </a:solidFill>
          <a:ln/>
        </p:spPr>
        <p:txBody>
          <a:bodyPr/>
          <a:lstStyle/>
          <a:p>
            <a:endParaRPr lang="es-MX"/>
          </a:p>
        </p:txBody>
      </p:sp>
      <p:pic>
        <p:nvPicPr>
          <p:cNvPr id="37" name="Imagen 36">
            <a:extLst>
              <a:ext uri="{FF2B5EF4-FFF2-40B4-BE49-F238E27FC236}">
                <a16:creationId xmlns:a16="http://schemas.microsoft.com/office/drawing/2014/main" id="{7A6C1154-84B9-161A-778D-485F14DB2760}"/>
              </a:ext>
            </a:extLst>
          </p:cNvPr>
          <p:cNvPicPr>
            <a:picLocks noChangeAspect="1"/>
          </p:cNvPicPr>
          <p:nvPr/>
        </p:nvPicPr>
        <p:blipFill>
          <a:blip r:embed="rId4"/>
          <a:stretch>
            <a:fillRect/>
          </a:stretch>
        </p:blipFill>
        <p:spPr>
          <a:xfrm>
            <a:off x="5301730" y="5141765"/>
            <a:ext cx="3252675" cy="1084226"/>
          </a:xfrm>
          <a:prstGeom prst="rect">
            <a:avLst/>
          </a:prstGeom>
        </p:spPr>
      </p:pic>
      <p:sp>
        <p:nvSpPr>
          <p:cNvPr id="38" name="s12-linea-26-0">
            <a:extLst>
              <a:ext uri="{FF2B5EF4-FFF2-40B4-BE49-F238E27FC236}">
                <a16:creationId xmlns:a16="http://schemas.microsoft.com/office/drawing/2014/main" id="{02D84153-069A-6231-95AA-EA68B99EB543}"/>
              </a:ext>
            </a:extLst>
          </p:cNvPr>
          <p:cNvSpPr/>
          <p:nvPr/>
        </p:nvSpPr>
        <p:spPr>
          <a:xfrm flipH="1">
            <a:off x="6907103" y="4793267"/>
            <a:ext cx="1" cy="348497"/>
          </a:xfrm>
          <a:prstGeom prst="line">
            <a:avLst/>
          </a:prstGeom>
          <a:noFill/>
          <a:ln w="17140">
            <a:solidFill>
              <a:srgbClr val="585E6F"/>
            </a:solidFill>
            <a:prstDash val="solid"/>
            <a:tailEnd type="triangle"/>
          </a:ln>
        </p:spPr>
        <p:txBody>
          <a:bodyPr/>
          <a:lstStyle/>
          <a:p>
            <a:endParaRPr lang="es-MX"/>
          </a:p>
        </p:txBody>
      </p:sp>
      <p:sp>
        <p:nvSpPr>
          <p:cNvPr id="39" name="s12-texto-20">
            <a:extLst>
              <a:ext uri="{FF2B5EF4-FFF2-40B4-BE49-F238E27FC236}">
                <a16:creationId xmlns:a16="http://schemas.microsoft.com/office/drawing/2014/main" id="{40A07DFA-5389-BA8F-286A-E6FB2B702ED0}"/>
              </a:ext>
            </a:extLst>
          </p:cNvPr>
          <p:cNvSpPr txBox="1"/>
          <p:nvPr/>
        </p:nvSpPr>
        <p:spPr>
          <a:xfrm>
            <a:off x="3422443" y="5386401"/>
            <a:ext cx="1913790" cy="685337"/>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Retrieval Augmented Generation</a:t>
            </a:r>
          </a:p>
          <a:p>
            <a:pPr marL="0" indent="0" algn="l">
              <a:lnSpc>
                <a:spcPts val="1637"/>
              </a:lnSpc>
              <a:buNone/>
            </a:pPr>
            <a:r>
              <a:rPr lang="en-US" sz="1170" dirty="0">
                <a:solidFill>
                  <a:srgbClr val="585E6F"/>
                </a:solidFill>
                <a:latin typeface="Arial" pitchFamily="34" charset="0"/>
                <a:cs typeface="Arial" pitchFamily="34" charset="-120"/>
              </a:rPr>
              <a:t>RAG</a:t>
            </a:r>
            <a:endParaRPr lang="en-US" sz="1170" dirty="0"/>
          </a:p>
        </p:txBody>
      </p:sp>
      <p:sp>
        <p:nvSpPr>
          <p:cNvPr id="40" name="s12-texto-20">
            <a:extLst>
              <a:ext uri="{FF2B5EF4-FFF2-40B4-BE49-F238E27FC236}">
                <a16:creationId xmlns:a16="http://schemas.microsoft.com/office/drawing/2014/main" id="{D86ADBAE-30CE-AC2D-2A8E-75E0A2232941}"/>
              </a:ext>
            </a:extLst>
          </p:cNvPr>
          <p:cNvSpPr txBox="1"/>
          <p:nvPr/>
        </p:nvSpPr>
        <p:spPr>
          <a:xfrm>
            <a:off x="5301730" y="6273386"/>
            <a:ext cx="3149045" cy="379294"/>
          </a:xfrm>
          <a:prstGeom prst="rect">
            <a:avLst/>
          </a:prstGeom>
          <a:noFill/>
          <a:ln/>
        </p:spPr>
        <p:txBody>
          <a:bodyPr wrap="square" lIns="0" tIns="0" rIns="0" bIns="0" rtlCol="0" anchor="t"/>
          <a:lstStyle/>
          <a:p>
            <a:pPr marL="0" indent="0" algn="ctr">
              <a:lnSpc>
                <a:spcPts val="1637"/>
              </a:lnSpc>
              <a:buNone/>
            </a:pPr>
            <a:r>
              <a:rPr lang="en-US" sz="1170" dirty="0">
                <a:solidFill>
                  <a:srgbClr val="585E6F"/>
                </a:solidFill>
                <a:latin typeface="Arial" pitchFamily="34" charset="0"/>
                <a:ea typeface="Arial" pitchFamily="34" charset="-122"/>
                <a:cs typeface="Arial" pitchFamily="34" charset="-120"/>
              </a:rPr>
              <a:t>Retrieval Augmented Generation</a:t>
            </a:r>
            <a:endParaRPr lang="en-US" sz="1170" b="1" dirty="0">
              <a:solidFill>
                <a:srgbClr val="585E6F"/>
              </a:solidFill>
              <a:latin typeface="Arial" pitchFamily="34" charset="0"/>
              <a:ea typeface="Arial" pitchFamily="34" charset="-122"/>
              <a:cs typeface="Arial" pitchFamily="34" charset="-120"/>
            </a:endParaRPr>
          </a:p>
          <a:p>
            <a:pPr marL="0" indent="0" algn="ctr">
              <a:lnSpc>
                <a:spcPts val="1637"/>
              </a:lnSpc>
              <a:buNone/>
            </a:pPr>
            <a:r>
              <a:rPr lang="en-US" sz="1170" b="1" dirty="0">
                <a:solidFill>
                  <a:srgbClr val="585E6F"/>
                </a:solidFill>
                <a:latin typeface="Arial" pitchFamily="34" charset="0"/>
                <a:cs typeface="Arial" pitchFamily="34" charset="-120"/>
              </a:rPr>
              <a:t>RAG</a:t>
            </a:r>
            <a:endParaRPr lang="en-US" sz="117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EDE8DC"/>
        </a:solidFill>
        <a:effectLst/>
      </p:bgPr>
    </p:bg>
    <p:spTree>
      <p:nvGrpSpPr>
        <p:cNvPr id="1" name=""/>
        <p:cNvGrpSpPr/>
        <p:nvPr/>
      </p:nvGrpSpPr>
      <p:grpSpPr>
        <a:xfrm>
          <a:off x="0" y="0"/>
          <a:ext cx="0" cy="0"/>
          <a:chOff x="0" y="0"/>
          <a:chExt cx="0" cy="0"/>
        </a:xfrm>
      </p:grpSpPr>
      <p:sp>
        <p:nvSpPr>
          <p:cNvPr id="2" name="s13-forma-1"/>
          <p:cNvSpPr/>
          <p:nvPr/>
        </p:nvSpPr>
        <p:spPr>
          <a:xfrm>
            <a:off x="853390" y="331715"/>
            <a:ext cx="81411" cy="81411"/>
          </a:xfrm>
          <a:prstGeom prst="ellipse">
            <a:avLst/>
          </a:prstGeom>
          <a:solidFill>
            <a:srgbClr val="0033A0"/>
          </a:solidFill>
          <a:ln/>
        </p:spPr>
        <p:txBody>
          <a:bodyPr/>
          <a:lstStyle/>
          <a:p>
            <a:endParaRPr lang="es-MX"/>
          </a:p>
        </p:txBody>
      </p:sp>
      <p:sp>
        <p:nvSpPr>
          <p:cNvPr id="3" name="s13-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13-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5" name="s13-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1.2</a:t>
            </a:r>
            <a:endParaRPr lang="en-US" sz="869" dirty="0"/>
          </a:p>
        </p:txBody>
      </p:sp>
      <p:sp>
        <p:nvSpPr>
          <p:cNvPr id="6" name="s13-forma-5"/>
          <p:cNvSpPr/>
          <p:nvPr/>
        </p:nvSpPr>
        <p:spPr>
          <a:xfrm>
            <a:off x="853390" y="3768306"/>
            <a:ext cx="722704" cy="22852"/>
          </a:xfrm>
          <a:prstGeom prst="rect">
            <a:avLst/>
          </a:prstGeom>
          <a:solidFill>
            <a:srgbClr val="0033A0"/>
          </a:solidFill>
          <a:ln/>
        </p:spPr>
        <p:txBody>
          <a:bodyPr/>
          <a:lstStyle/>
          <a:p>
            <a:endParaRPr lang="es-MX"/>
          </a:p>
        </p:txBody>
      </p:sp>
      <p:sp>
        <p:nvSpPr>
          <p:cNvPr id="7" name="s13-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err="1">
                <a:solidFill>
                  <a:srgbClr val="16181D"/>
                </a:solidFill>
                <a:latin typeface="Georgia" pitchFamily="34" charset="0"/>
                <a:ea typeface="Georgia" pitchFamily="34" charset="-122"/>
                <a:cs typeface="Georgia" pitchFamily="34" charset="-120"/>
              </a:rPr>
              <a:t>ReAct</a:t>
            </a:r>
            <a:endParaRPr lang="en-US" sz="4242" dirty="0"/>
          </a:p>
        </p:txBody>
      </p:sp>
      <p:sp>
        <p:nvSpPr>
          <p:cNvPr id="8" name="s13-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Primer patrón de razonamiento, en código.</a:t>
            </a:r>
            <a:endParaRPr lang="en-US" sz="1676" dirty="0"/>
          </a:p>
        </p:txBody>
      </p:sp>
      <p:pic>
        <p:nvPicPr>
          <p:cNvPr id="9" name="s13-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3-forma-9"/>
          <p:cNvSpPr/>
          <p:nvPr/>
        </p:nvSpPr>
        <p:spPr>
          <a:xfrm>
            <a:off x="1659380" y="6519865"/>
            <a:ext cx="3057208" cy="102835"/>
          </a:xfrm>
          <a:prstGeom prst="rect">
            <a:avLst/>
          </a:prstGeom>
          <a:ln/>
        </p:spPr>
        <p:txBody>
          <a:bodyPr/>
          <a:lstStyle/>
          <a:p>
            <a:endParaRPr lang="es-MX"/>
          </a:p>
        </p:txBody>
      </p:sp>
      <p:sp>
        <p:nvSpPr>
          <p:cNvPr id="11" name="s13-forma-10"/>
          <p:cNvSpPr/>
          <p:nvPr/>
        </p:nvSpPr>
        <p:spPr>
          <a:xfrm>
            <a:off x="1659380" y="6519865"/>
            <a:ext cx="5713" cy="102835"/>
          </a:xfrm>
          <a:prstGeom prst="rect">
            <a:avLst/>
          </a:prstGeom>
          <a:solidFill>
            <a:srgbClr val="C6BFAE"/>
          </a:solidFill>
          <a:ln/>
        </p:spPr>
        <p:txBody>
          <a:bodyPr/>
          <a:lstStyle/>
          <a:p>
            <a:endParaRPr lang="es-MX"/>
          </a:p>
        </p:txBody>
      </p:sp>
      <p:sp>
        <p:nvSpPr>
          <p:cNvPr id="12" name="s13-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13-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13 / 35</a:t>
            </a:r>
            <a:endParaRPr lang="en-US" sz="745" dirty="0"/>
          </a:p>
        </p:txBody>
      </p:sp>
      <p:sp>
        <p:nvSpPr>
          <p:cNvPr id="14" name="s13-forma-13"/>
          <p:cNvSpPr/>
          <p:nvPr/>
        </p:nvSpPr>
        <p:spPr>
          <a:xfrm>
            <a:off x="0" y="0"/>
            <a:ext cx="4528324" cy="17139"/>
          </a:xfrm>
          <a:prstGeom prst="rect">
            <a:avLst/>
          </a:prstGeom>
          <a:solidFill>
            <a:srgbClr val="0033A0"/>
          </a:solidFill>
          <a:ln/>
        </p:spPr>
        <p:txBody>
          <a:bodyPr/>
          <a:lstStyle/>
          <a:p>
            <a:endParaRPr lang="es-MX"/>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8DC"/>
        </a:solidFill>
        <a:effectLst/>
      </p:bgPr>
    </p:bg>
    <p:spTree>
      <p:nvGrpSpPr>
        <p:cNvPr id="1" name=""/>
        <p:cNvGrpSpPr/>
        <p:nvPr/>
      </p:nvGrpSpPr>
      <p:grpSpPr>
        <a:xfrm>
          <a:off x="0" y="0"/>
          <a:ext cx="0" cy="0"/>
          <a:chOff x="0" y="0"/>
          <a:chExt cx="0" cy="0"/>
        </a:xfrm>
      </p:grpSpPr>
      <p:sp>
        <p:nvSpPr>
          <p:cNvPr id="2" name="s15-forma-1"/>
          <p:cNvSpPr/>
          <p:nvPr/>
        </p:nvSpPr>
        <p:spPr>
          <a:xfrm>
            <a:off x="853390" y="520961"/>
            <a:ext cx="10484915" cy="5713"/>
          </a:xfrm>
          <a:prstGeom prst="rect">
            <a:avLst/>
          </a:prstGeom>
          <a:solidFill>
            <a:srgbClr val="C6BFAE"/>
          </a:solidFill>
          <a:ln/>
        </p:spPr>
        <p:txBody>
          <a:bodyPr/>
          <a:lstStyle/>
          <a:p>
            <a:endParaRPr lang="es-MX"/>
          </a:p>
        </p:txBody>
      </p:sp>
      <p:sp>
        <p:nvSpPr>
          <p:cNvPr id="3" name="s15-forma-2"/>
          <p:cNvSpPr/>
          <p:nvPr/>
        </p:nvSpPr>
        <p:spPr>
          <a:xfrm>
            <a:off x="853390" y="331715"/>
            <a:ext cx="81411" cy="81411"/>
          </a:xfrm>
          <a:prstGeom prst="ellipse">
            <a:avLst/>
          </a:prstGeom>
          <a:solidFill>
            <a:srgbClr val="0033A0"/>
          </a:solidFill>
          <a:ln/>
        </p:spPr>
        <p:txBody>
          <a:bodyPr/>
          <a:lstStyle/>
          <a:p>
            <a:endParaRPr lang="es-MX"/>
          </a:p>
        </p:txBody>
      </p:sp>
      <p:sp>
        <p:nvSpPr>
          <p:cNvPr id="4" name="s15-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5-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LA IDEA</a:t>
            </a:r>
            <a:endParaRPr lang="en-US" sz="900" dirty="0"/>
          </a:p>
        </p:txBody>
      </p:sp>
      <p:sp>
        <p:nvSpPr>
          <p:cNvPr id="7" name="s15-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ReAct: pensar y actuar, intercalados</a:t>
            </a:r>
            <a:endParaRPr lang="en-US" sz="2879" dirty="0"/>
          </a:p>
        </p:txBody>
      </p:sp>
      <p:sp>
        <p:nvSpPr>
          <p:cNvPr id="8" name="s15-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11" name="s15-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4" name="s15-forma-13"/>
          <p:cNvSpPr/>
          <p:nvPr/>
        </p:nvSpPr>
        <p:spPr>
          <a:xfrm>
            <a:off x="1342572" y="4270878"/>
            <a:ext cx="4341935" cy="884276"/>
          </a:xfrm>
          <a:prstGeom prst="rect">
            <a:avLst/>
          </a:prstGeom>
          <a:solidFill>
            <a:srgbClr val="E2D3C2"/>
          </a:solidFill>
          <a:ln w="5713">
            <a:solidFill>
              <a:srgbClr val="984514"/>
            </a:solidFill>
            <a:prstDash val="solid"/>
          </a:ln>
        </p:spPr>
        <p:txBody>
          <a:bodyPr/>
          <a:lstStyle/>
          <a:p>
            <a:endParaRPr lang="es-MX"/>
          </a:p>
        </p:txBody>
      </p:sp>
      <p:sp>
        <p:nvSpPr>
          <p:cNvPr id="15" name="s15-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ReAct = Razonar + Actuar</a:t>
            </a:r>
            <a:endParaRPr lang="en-US" sz="1260" dirty="0"/>
          </a:p>
        </p:txBody>
      </p:sp>
      <p:sp>
        <p:nvSpPr>
          <p:cNvPr id="16" name="s15-texto-15"/>
          <p:cNvSpPr txBox="1"/>
          <p:nvPr/>
        </p:nvSpPr>
        <p:spPr>
          <a:xfrm>
            <a:off x="1576808" y="463651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Cada pensamiento elige la siguiente acción y cada observación corrige el siguiente pensamiento.</a:t>
            </a:r>
            <a:endParaRPr lang="en-US" sz="1170" dirty="0"/>
          </a:p>
        </p:txBody>
      </p:sp>
      <p:sp>
        <p:nvSpPr>
          <p:cNvPr id="17" name="s15-forma-16"/>
          <p:cNvSpPr/>
          <p:nvPr/>
        </p:nvSpPr>
        <p:spPr>
          <a:xfrm>
            <a:off x="6095848" y="2228098"/>
            <a:ext cx="4753276" cy="2458585"/>
          </a:xfrm>
          <a:prstGeom prst="rect">
            <a:avLst/>
          </a:prstGeom>
          <a:solidFill>
            <a:srgbClr val="E8E2D5"/>
          </a:solidFill>
          <a:ln/>
        </p:spPr>
        <p:txBody>
          <a:bodyPr/>
          <a:lstStyle/>
          <a:p>
            <a:endParaRPr lang="es-MX"/>
          </a:p>
        </p:txBody>
      </p:sp>
      <p:sp>
        <p:nvSpPr>
          <p:cNvPr id="18" name="s15-forma-17"/>
          <p:cNvSpPr/>
          <p:nvPr/>
        </p:nvSpPr>
        <p:spPr>
          <a:xfrm>
            <a:off x="6095848" y="2228098"/>
            <a:ext cx="4753276" cy="5713"/>
          </a:xfrm>
          <a:prstGeom prst="rect">
            <a:avLst/>
          </a:prstGeom>
          <a:solidFill>
            <a:srgbClr val="DBD4C4"/>
          </a:solidFill>
          <a:ln/>
        </p:spPr>
        <p:txBody>
          <a:bodyPr/>
          <a:lstStyle/>
          <a:p>
            <a:endParaRPr lang="es-MX"/>
          </a:p>
        </p:txBody>
      </p:sp>
      <p:sp>
        <p:nvSpPr>
          <p:cNvPr id="19" name="s15-forma-18"/>
          <p:cNvSpPr/>
          <p:nvPr/>
        </p:nvSpPr>
        <p:spPr>
          <a:xfrm>
            <a:off x="6095848" y="4680970"/>
            <a:ext cx="4753276" cy="5713"/>
          </a:xfrm>
          <a:prstGeom prst="rect">
            <a:avLst/>
          </a:prstGeom>
          <a:solidFill>
            <a:srgbClr val="DBD4C4"/>
          </a:solidFill>
          <a:ln/>
        </p:spPr>
        <p:txBody>
          <a:bodyPr/>
          <a:lstStyle/>
          <a:p>
            <a:endParaRPr lang="es-MX"/>
          </a:p>
        </p:txBody>
      </p:sp>
      <p:sp>
        <p:nvSpPr>
          <p:cNvPr id="20" name="s15-forma-19"/>
          <p:cNvSpPr/>
          <p:nvPr/>
        </p:nvSpPr>
        <p:spPr>
          <a:xfrm>
            <a:off x="6095848" y="2228098"/>
            <a:ext cx="17139" cy="2458585"/>
          </a:xfrm>
          <a:prstGeom prst="rect">
            <a:avLst/>
          </a:prstGeom>
          <a:solidFill>
            <a:srgbClr val="C6BFAE"/>
          </a:solidFill>
          <a:ln/>
        </p:spPr>
        <p:txBody>
          <a:bodyPr/>
          <a:lstStyle/>
          <a:p>
            <a:endParaRPr lang="es-MX"/>
          </a:p>
        </p:txBody>
      </p:sp>
      <p:sp>
        <p:nvSpPr>
          <p:cNvPr id="21" name="s15-forma-20"/>
          <p:cNvSpPr/>
          <p:nvPr/>
        </p:nvSpPr>
        <p:spPr>
          <a:xfrm>
            <a:off x="10843410" y="2228098"/>
            <a:ext cx="5713" cy="2458585"/>
          </a:xfrm>
          <a:prstGeom prst="rect">
            <a:avLst/>
          </a:prstGeom>
          <a:solidFill>
            <a:srgbClr val="DBD4C4"/>
          </a:solidFill>
          <a:ln/>
        </p:spPr>
        <p:txBody>
          <a:bodyPr/>
          <a:lstStyle/>
          <a:p>
            <a:endParaRPr lang="es-MX"/>
          </a:p>
        </p:txBody>
      </p:sp>
      <p:sp>
        <p:nvSpPr>
          <p:cNvPr id="22" name="s15-texto-21"/>
          <p:cNvSpPr txBox="1"/>
          <p:nvPr/>
        </p:nvSpPr>
        <p:spPr>
          <a:xfrm>
            <a:off x="6295805" y="2410916"/>
            <a:ext cx="4626674"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Pregunta: ¿</a:t>
            </a:r>
            <a:r>
              <a:rPr lang="en-US" sz="1080">
                <a:solidFill>
                  <a:srgbClr val="585E6F"/>
                </a:solidFill>
                <a:latin typeface="Arial" pitchFamily="34" charset="0"/>
                <a:ea typeface="Arial" pitchFamily="34" charset="-122"/>
                <a:cs typeface="Arial" pitchFamily="34" charset="-120"/>
              </a:rPr>
              <a:t>Cuántos asociados activos hay en Tecnología y quién es el </a:t>
            </a:r>
            <a:endParaRPr lang="en-US" sz="1080" dirty="0">
              <a:solidFill>
                <a:srgbClr val="585E6F"/>
              </a:solidFill>
              <a:latin typeface="Arial" pitchFamily="34" charset="0"/>
              <a:ea typeface="Arial" pitchFamily="34" charset="-122"/>
              <a:cs typeface="Arial" pitchFamily="34" charset="-120"/>
            </a:endParaRPr>
          </a:p>
          <a:p>
            <a:pPr marL="0" indent="0" algn="l">
              <a:lnSpc>
                <a:spcPts val="1512"/>
              </a:lnSpc>
              <a:buNone/>
            </a:pPr>
            <a:r>
              <a:rPr lang="en-US" sz="1080">
                <a:solidFill>
                  <a:srgbClr val="585E6F"/>
                </a:solidFill>
                <a:latin typeface="Arial" pitchFamily="34" charset="0"/>
                <a:ea typeface="Arial" pitchFamily="34" charset="-122"/>
                <a:cs typeface="Arial" pitchFamily="34" charset="-120"/>
              </a:rPr>
              <a:t>más antiguo?</a:t>
            </a:r>
            <a:endParaRPr lang="en-US" sz="1080" dirty="0"/>
          </a:p>
        </p:txBody>
      </p:sp>
      <p:sp>
        <p:nvSpPr>
          <p:cNvPr id="23" name="s15-texto-22"/>
          <p:cNvSpPr txBox="1"/>
          <p:nvPr/>
        </p:nvSpPr>
        <p:spPr>
          <a:xfrm>
            <a:off x="6295805" y="287474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Pensamiento 1 ·</a:t>
            </a:r>
            <a:r>
              <a:rPr lang="en-US" sz="1080">
                <a:solidFill>
                  <a:srgbClr val="16181D"/>
                </a:solidFill>
                <a:latin typeface="Arial" pitchFamily="34" charset="0"/>
                <a:ea typeface="Arial" pitchFamily="34" charset="-122"/>
                <a:cs typeface="Arial" pitchFamily="34" charset="-120"/>
              </a:rPr>
              <a:t> No tengo los datos; debo consultar el directorio.</a:t>
            </a:r>
            <a:endParaRPr lang="en-US" sz="1080" dirty="0"/>
          </a:p>
        </p:txBody>
      </p:sp>
      <p:sp>
        <p:nvSpPr>
          <p:cNvPr id="24" name="s15-texto-23"/>
          <p:cNvSpPr txBox="1"/>
          <p:nvPr/>
        </p:nvSpPr>
        <p:spPr>
          <a:xfrm>
            <a:off x="6295805" y="314665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Acción 1 ·</a:t>
            </a:r>
            <a:r>
              <a:rPr lang="en-US" sz="1080">
                <a:solidFill>
                  <a:srgbClr val="16181D"/>
                </a:solidFill>
                <a:latin typeface="Arial" pitchFamily="34" charset="0"/>
                <a:ea typeface="Arial" pitchFamily="34" charset="-122"/>
                <a:cs typeface="Arial" pitchFamily="34" charset="-120"/>
              </a:rPr>
              <a:t> buscar_empleados("Tecnología")</a:t>
            </a:r>
            <a:endParaRPr lang="en-US" sz="1080" dirty="0"/>
          </a:p>
        </p:txBody>
      </p:sp>
      <p:sp>
        <p:nvSpPr>
          <p:cNvPr id="25" name="s15-texto-24"/>
          <p:cNvSpPr txBox="1"/>
          <p:nvPr/>
        </p:nvSpPr>
        <p:spPr>
          <a:xfrm>
            <a:off x="6295805" y="3418559"/>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1B6A43"/>
                </a:solidFill>
                <a:latin typeface="Arial" pitchFamily="34" charset="0"/>
                <a:ea typeface="Arial" pitchFamily="34" charset="-122"/>
                <a:cs typeface="Arial" pitchFamily="34" charset="-120"/>
              </a:rPr>
              <a:t>Observación 1 ·</a:t>
            </a:r>
            <a:r>
              <a:rPr lang="en-US" sz="1080">
                <a:solidFill>
                  <a:srgbClr val="16181D"/>
                </a:solidFill>
                <a:latin typeface="Arial" pitchFamily="34" charset="0"/>
                <a:ea typeface="Arial" pitchFamily="34" charset="-122"/>
                <a:cs typeface="Arial" pitchFamily="34" charset="-120"/>
              </a:rPr>
              <a:t> Ana (2019, activa) · Marta (2016, baja) · Jorge (2022, activo)</a:t>
            </a:r>
            <a:endParaRPr lang="en-US" sz="1080" dirty="0"/>
          </a:p>
        </p:txBody>
      </p:sp>
      <p:sp>
        <p:nvSpPr>
          <p:cNvPr id="26" name="s15-texto-25"/>
          <p:cNvSpPr txBox="1"/>
          <p:nvPr/>
        </p:nvSpPr>
        <p:spPr>
          <a:xfrm>
            <a:off x="6295805" y="3882389"/>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Pensamiento 2 ·</a:t>
            </a:r>
            <a:r>
              <a:rPr lang="en-US" sz="1080">
                <a:solidFill>
                  <a:srgbClr val="16181D"/>
                </a:solidFill>
                <a:latin typeface="Arial" pitchFamily="34" charset="0"/>
                <a:ea typeface="Arial" pitchFamily="34" charset="-122"/>
                <a:cs typeface="Arial" pitchFamily="34" charset="-120"/>
              </a:rPr>
              <a:t> Marta está de baja y no cuenta; de los activos, Ana es la más antigua.</a:t>
            </a:r>
            <a:endParaRPr lang="en-US" sz="1080" dirty="0"/>
          </a:p>
        </p:txBody>
      </p:sp>
      <p:sp>
        <p:nvSpPr>
          <p:cNvPr id="27" name="s15-texto-26"/>
          <p:cNvSpPr txBox="1"/>
          <p:nvPr/>
        </p:nvSpPr>
        <p:spPr>
          <a:xfrm>
            <a:off x="6295805" y="434621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Respuesta ·</a:t>
            </a:r>
            <a:r>
              <a:rPr lang="en-US" sz="1080">
                <a:solidFill>
                  <a:srgbClr val="16181D"/>
                </a:solidFill>
                <a:latin typeface="Arial" pitchFamily="34" charset="0"/>
                <a:ea typeface="Arial" pitchFamily="34" charset="-122"/>
                <a:cs typeface="Arial" pitchFamily="34" charset="-120"/>
              </a:rPr>
              <a:t> 2 activos; la más antigua es Ana López.</a:t>
            </a:r>
            <a:endParaRPr lang="en-US" sz="1080" dirty="0"/>
          </a:p>
        </p:txBody>
      </p:sp>
      <p:sp>
        <p:nvSpPr>
          <p:cNvPr id="28" name="s15-texto-27"/>
          <p:cNvSpPr txBox="1"/>
          <p:nvPr/>
        </p:nvSpPr>
        <p:spPr>
          <a:xfrm>
            <a:off x="6095848" y="4863788"/>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El pensamiento puede no verse: en Claude viaja en bloques </a:t>
            </a:r>
            <a:r>
              <a:rPr lang="en-US" sz="1080" b="1">
                <a:solidFill>
                  <a:srgbClr val="0033A0"/>
                </a:solidFill>
                <a:latin typeface="Arial" pitchFamily="34" charset="0"/>
                <a:ea typeface="Arial" pitchFamily="34" charset="-122"/>
                <a:cs typeface="Arial" pitchFamily="34" charset="-120"/>
              </a:rPr>
              <a:t>thinking</a:t>
            </a:r>
            <a:r>
              <a:rPr lang="en-US" sz="1080">
                <a:solidFill>
                  <a:srgbClr val="585E6F"/>
                </a:solidFill>
                <a:latin typeface="Arial" pitchFamily="34" charset="0"/>
                <a:ea typeface="Arial" pitchFamily="34" charset="-122"/>
                <a:cs typeface="Arial" pitchFamily="34" charset="-120"/>
              </a:rPr>
              <a:t> o se omite. La acción y la observación siempre quedan en el historial.</a:t>
            </a:r>
            <a:endParaRPr lang="en-US" sz="1080" dirty="0"/>
          </a:p>
        </p:txBody>
      </p:sp>
      <p:sp>
        <p:nvSpPr>
          <p:cNvPr id="29" name="s15-texto-2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 · Yao et al., «ReAct: Synergizing Reasoning and Acting in Language Models» (2022)</a:t>
            </a:r>
            <a:endParaRPr lang="en-US" sz="1080" dirty="0"/>
          </a:p>
        </p:txBody>
      </p:sp>
      <p:sp>
        <p:nvSpPr>
          <p:cNvPr id="30" name="s15-forma-29"/>
          <p:cNvSpPr/>
          <p:nvPr/>
        </p:nvSpPr>
        <p:spPr>
          <a:xfrm>
            <a:off x="853390" y="6411138"/>
            <a:ext cx="10484915" cy="5713"/>
          </a:xfrm>
          <a:prstGeom prst="rect">
            <a:avLst/>
          </a:prstGeom>
          <a:solidFill>
            <a:srgbClr val="DBD4C4"/>
          </a:solidFill>
          <a:ln/>
        </p:spPr>
        <p:txBody>
          <a:bodyPr/>
          <a:lstStyle/>
          <a:p>
            <a:endParaRPr lang="es-MX"/>
          </a:p>
        </p:txBody>
      </p:sp>
      <p:pic>
        <p:nvPicPr>
          <p:cNvPr id="31" name="s15-logo-30" descr="preencoded.png"/>
          <p:cNvPicPr>
            <a:picLocks noChangeAspect="1"/>
          </p:cNvPicPr>
          <p:nvPr/>
        </p:nvPicPr>
        <p:blipFill>
          <a:blip r:embed="rId3"/>
          <a:stretch>
            <a:fillRect/>
          </a:stretch>
        </p:blipFill>
        <p:spPr>
          <a:xfrm>
            <a:off x="853390" y="6465055"/>
            <a:ext cx="687800" cy="212455"/>
          </a:xfrm>
          <a:prstGeom prst="rect">
            <a:avLst/>
          </a:prstGeom>
        </p:spPr>
      </p:pic>
      <p:sp>
        <p:nvSpPr>
          <p:cNvPr id="32" name="s15-forma-31"/>
          <p:cNvSpPr/>
          <p:nvPr/>
        </p:nvSpPr>
        <p:spPr>
          <a:xfrm>
            <a:off x="1659380" y="6519865"/>
            <a:ext cx="3057208" cy="102835"/>
          </a:xfrm>
          <a:prstGeom prst="rect">
            <a:avLst/>
          </a:prstGeom>
          <a:ln/>
        </p:spPr>
        <p:txBody>
          <a:bodyPr/>
          <a:lstStyle/>
          <a:p>
            <a:endParaRPr lang="es-MX"/>
          </a:p>
        </p:txBody>
      </p:sp>
      <p:sp>
        <p:nvSpPr>
          <p:cNvPr id="33" name="s15-forma-32"/>
          <p:cNvSpPr/>
          <p:nvPr/>
        </p:nvSpPr>
        <p:spPr>
          <a:xfrm>
            <a:off x="1659380" y="6519865"/>
            <a:ext cx="5713" cy="102835"/>
          </a:xfrm>
          <a:prstGeom prst="rect">
            <a:avLst/>
          </a:prstGeom>
          <a:solidFill>
            <a:srgbClr val="C6BFAE"/>
          </a:solidFill>
          <a:ln/>
        </p:spPr>
        <p:txBody>
          <a:bodyPr/>
          <a:lstStyle/>
          <a:p>
            <a:endParaRPr lang="es-MX"/>
          </a:p>
        </p:txBody>
      </p:sp>
      <p:sp>
        <p:nvSpPr>
          <p:cNvPr id="34" name="s15-texto-33"/>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5" name="s15-texto-3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15 / 35</a:t>
            </a:r>
            <a:endParaRPr lang="en-US" sz="745" dirty="0"/>
          </a:p>
        </p:txBody>
      </p:sp>
      <p:sp>
        <p:nvSpPr>
          <p:cNvPr id="36" name="s15-forma-35"/>
          <p:cNvSpPr/>
          <p:nvPr/>
        </p:nvSpPr>
        <p:spPr>
          <a:xfrm>
            <a:off x="0" y="0"/>
            <a:ext cx="5224961" cy="17139"/>
          </a:xfrm>
          <a:prstGeom prst="rect">
            <a:avLst/>
          </a:prstGeom>
          <a:solidFill>
            <a:srgbClr val="0033A0"/>
          </a:solidFill>
          <a:ln/>
        </p:spPr>
        <p:txBody>
          <a:bodyPr/>
          <a:lstStyle/>
          <a:p>
            <a:endParaRPr lang="es-MX"/>
          </a:p>
        </p:txBody>
      </p:sp>
      <p:sp>
        <p:nvSpPr>
          <p:cNvPr id="38" name="s15-forma-7">
            <a:extLst>
              <a:ext uri="{FF2B5EF4-FFF2-40B4-BE49-F238E27FC236}">
                <a16:creationId xmlns:a16="http://schemas.microsoft.com/office/drawing/2014/main" id="{CF904FB5-5B9B-EBC5-A7DC-1F1A53F1F0B1}"/>
              </a:ext>
            </a:extLst>
          </p:cNvPr>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39" name="s15-texto-8">
            <a:extLst>
              <a:ext uri="{FF2B5EF4-FFF2-40B4-BE49-F238E27FC236}">
                <a16:creationId xmlns:a16="http://schemas.microsoft.com/office/drawing/2014/main" id="{E2514AB6-6E92-9E64-1FF7-F946692B25FA}"/>
              </a:ext>
            </a:extLst>
          </p:cNvPr>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1. Solo razonar</a:t>
            </a:r>
            <a:endParaRPr lang="en-US" sz="1260" dirty="0"/>
          </a:p>
        </p:txBody>
      </p:sp>
      <p:sp>
        <p:nvSpPr>
          <p:cNvPr id="40" name="s15-texto-9">
            <a:extLst>
              <a:ext uri="{FF2B5EF4-FFF2-40B4-BE49-F238E27FC236}">
                <a16:creationId xmlns:a16="http://schemas.microsoft.com/office/drawing/2014/main" id="{EDE72DC9-46C8-9FFA-D80B-2D1C0C79A8B1}"/>
              </a:ext>
            </a:extLst>
          </p:cNvPr>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Piensa paso a paso, pero no puede comprobar nada: si le falta un dato, lo inventa.</a:t>
            </a:r>
            <a:endParaRPr lang="en-US" sz="1170" dirty="0"/>
          </a:p>
        </p:txBody>
      </p:sp>
      <p:sp>
        <p:nvSpPr>
          <p:cNvPr id="41" name="s15-forma-10">
            <a:extLst>
              <a:ext uri="{FF2B5EF4-FFF2-40B4-BE49-F238E27FC236}">
                <a16:creationId xmlns:a16="http://schemas.microsoft.com/office/drawing/2014/main" id="{C5899386-E8DB-0D1C-7DDC-D6CB74C90266}"/>
              </a:ext>
            </a:extLst>
          </p:cNvPr>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42" name="s15-texto-11">
            <a:extLst>
              <a:ext uri="{FF2B5EF4-FFF2-40B4-BE49-F238E27FC236}">
                <a16:creationId xmlns:a16="http://schemas.microsoft.com/office/drawing/2014/main" id="{BFA0D444-BDE2-313E-91B5-9BC98F0E8582}"/>
              </a:ext>
            </a:extLst>
          </p:cNvPr>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2. Solo </a:t>
            </a:r>
            <a:r>
              <a:rPr lang="en-US" sz="1260" b="1" dirty="0" err="1">
                <a:solidFill>
                  <a:srgbClr val="16181D"/>
                </a:solidFill>
                <a:latin typeface="Arial" pitchFamily="34" charset="0"/>
                <a:ea typeface="Arial" pitchFamily="34" charset="-122"/>
                <a:cs typeface="Arial" pitchFamily="34" charset="-120"/>
              </a:rPr>
              <a:t>Actuar</a:t>
            </a:r>
            <a:endParaRPr lang="en-US" sz="1260" dirty="0"/>
          </a:p>
        </p:txBody>
      </p:sp>
      <p:sp>
        <p:nvSpPr>
          <p:cNvPr id="43" name="s15-texto-12">
            <a:extLst>
              <a:ext uri="{FF2B5EF4-FFF2-40B4-BE49-F238E27FC236}">
                <a16:creationId xmlns:a16="http://schemas.microsoft.com/office/drawing/2014/main" id="{A855C04A-FDBB-DCAA-D7DE-1B7A6D151AB3}"/>
              </a:ext>
            </a:extLst>
          </p:cNvPr>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Usa herramientas sin un plan: no sabe por qué eligió una acción ni cuándo parar.</a:t>
            </a:r>
            <a:endParaRPr lang="en-US" sz="117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8DC"/>
        </a:solidFill>
        <a:effectLst/>
      </p:bgPr>
    </p:bg>
    <p:spTree>
      <p:nvGrpSpPr>
        <p:cNvPr id="1" name=""/>
        <p:cNvGrpSpPr/>
        <p:nvPr/>
      </p:nvGrpSpPr>
      <p:grpSpPr>
        <a:xfrm>
          <a:off x="0" y="0"/>
          <a:ext cx="0" cy="0"/>
          <a:chOff x="0" y="0"/>
          <a:chExt cx="0" cy="0"/>
        </a:xfrm>
      </p:grpSpPr>
      <p:sp>
        <p:nvSpPr>
          <p:cNvPr id="2" name="s16-forma-1"/>
          <p:cNvSpPr/>
          <p:nvPr/>
        </p:nvSpPr>
        <p:spPr>
          <a:xfrm>
            <a:off x="853390" y="520961"/>
            <a:ext cx="10484915" cy="5713"/>
          </a:xfrm>
          <a:prstGeom prst="rect">
            <a:avLst/>
          </a:prstGeom>
          <a:solidFill>
            <a:srgbClr val="C6BFAE"/>
          </a:solidFill>
          <a:ln/>
        </p:spPr>
        <p:txBody>
          <a:bodyPr/>
          <a:lstStyle/>
          <a:p>
            <a:endParaRPr lang="es-MX"/>
          </a:p>
        </p:txBody>
      </p:sp>
      <p:sp>
        <p:nvSpPr>
          <p:cNvPr id="3" name="s16-forma-2"/>
          <p:cNvSpPr/>
          <p:nvPr/>
        </p:nvSpPr>
        <p:spPr>
          <a:xfrm>
            <a:off x="853390" y="331715"/>
            <a:ext cx="81411" cy="81411"/>
          </a:xfrm>
          <a:prstGeom prst="ellipse">
            <a:avLst/>
          </a:prstGeom>
          <a:solidFill>
            <a:srgbClr val="0033A0"/>
          </a:solidFill>
          <a:ln/>
        </p:spPr>
        <p:txBody>
          <a:bodyPr/>
          <a:lstStyle/>
          <a:p>
            <a:endParaRPr lang="es-MX"/>
          </a:p>
        </p:txBody>
      </p:sp>
      <p:sp>
        <p:nvSpPr>
          <p:cNvPr id="4" name="s1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1 DE 3</a:t>
            </a:r>
            <a:endParaRPr lang="en-US" sz="900" dirty="0"/>
          </a:p>
        </p:txBody>
      </p:sp>
      <p:sp>
        <p:nvSpPr>
          <p:cNvPr id="7" name="s1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ReAct: razonar, actuar, observar</a:t>
            </a:r>
            <a:endParaRPr lang="en-US" sz="2879" dirty="0"/>
          </a:p>
        </p:txBody>
      </p:sp>
      <p:sp>
        <p:nvSpPr>
          <p:cNvPr id="8" name="s16-forma-7"/>
          <p:cNvSpPr/>
          <p:nvPr/>
        </p:nvSpPr>
        <p:spPr>
          <a:xfrm>
            <a:off x="1342572" y="2913667"/>
            <a:ext cx="1371137" cy="628438"/>
          </a:xfrm>
          <a:prstGeom prst="rect">
            <a:avLst/>
          </a:prstGeom>
          <a:solidFill>
            <a:srgbClr val="E2D3C2"/>
          </a:solidFill>
          <a:ln w="5713">
            <a:solidFill>
              <a:srgbClr val="984514"/>
            </a:solidFill>
            <a:prstDash val="solid"/>
          </a:ln>
        </p:spPr>
        <p:txBody>
          <a:bodyPr/>
          <a:lstStyle/>
          <a:p>
            <a:endParaRPr lang="es-MX"/>
          </a:p>
        </p:txBody>
      </p:sp>
      <p:sp>
        <p:nvSpPr>
          <p:cNvPr id="9" name="s16-texto-8"/>
          <p:cNvSpPr txBox="1"/>
          <p:nvPr/>
        </p:nvSpPr>
        <p:spPr>
          <a:xfrm>
            <a:off x="1689730" y="3045067"/>
            <a:ext cx="67682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Razonar</a:t>
            </a:r>
            <a:endParaRPr lang="en-US" sz="1260" dirty="0"/>
          </a:p>
        </p:txBody>
      </p:sp>
      <p:sp>
        <p:nvSpPr>
          <p:cNvPr id="10" name="s16-texto-9"/>
          <p:cNvSpPr txBox="1"/>
          <p:nvPr/>
        </p:nvSpPr>
        <p:spPr>
          <a:xfrm>
            <a:off x="1639295" y="3250738"/>
            <a:ext cx="777603"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¿qué hago?</a:t>
            </a:r>
            <a:endParaRPr lang="en-US" sz="1080" dirty="0"/>
          </a:p>
        </p:txBody>
      </p:sp>
      <p:sp>
        <p:nvSpPr>
          <p:cNvPr id="11" name="s16-forma-10"/>
          <p:cNvSpPr/>
          <p:nvPr/>
        </p:nvSpPr>
        <p:spPr>
          <a:xfrm>
            <a:off x="3170755" y="2913667"/>
            <a:ext cx="1371137" cy="628438"/>
          </a:xfrm>
          <a:prstGeom prst="rect">
            <a:avLst/>
          </a:prstGeom>
          <a:solidFill>
            <a:srgbClr val="E3DCCB"/>
          </a:solidFill>
          <a:ln w="5713">
            <a:solidFill>
              <a:srgbClr val="585E6F"/>
            </a:solidFill>
            <a:prstDash val="solid"/>
          </a:ln>
        </p:spPr>
        <p:txBody>
          <a:bodyPr/>
          <a:lstStyle/>
          <a:p>
            <a:endParaRPr lang="es-MX"/>
          </a:p>
        </p:txBody>
      </p:sp>
      <p:sp>
        <p:nvSpPr>
          <p:cNvPr id="12" name="s16-texto-11"/>
          <p:cNvSpPr txBox="1"/>
          <p:nvPr/>
        </p:nvSpPr>
        <p:spPr>
          <a:xfrm>
            <a:off x="3580043" y="3045067"/>
            <a:ext cx="55247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Actuar</a:t>
            </a:r>
            <a:endParaRPr lang="en-US" sz="1260" dirty="0"/>
          </a:p>
        </p:txBody>
      </p:sp>
      <p:sp>
        <p:nvSpPr>
          <p:cNvPr id="13" name="s16-texto-12"/>
          <p:cNvSpPr txBox="1"/>
          <p:nvPr/>
        </p:nvSpPr>
        <p:spPr>
          <a:xfrm>
            <a:off x="3189709" y="3250738"/>
            <a:ext cx="133314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usa una herramienta</a:t>
            </a:r>
            <a:endParaRPr lang="en-US" sz="1080" dirty="0"/>
          </a:p>
        </p:txBody>
      </p:sp>
      <p:sp>
        <p:nvSpPr>
          <p:cNvPr id="14" name="s16-forma-13"/>
          <p:cNvSpPr/>
          <p:nvPr/>
        </p:nvSpPr>
        <p:spPr>
          <a:xfrm>
            <a:off x="4998938" y="2913667"/>
            <a:ext cx="1371137" cy="628438"/>
          </a:xfrm>
          <a:prstGeom prst="rect">
            <a:avLst/>
          </a:prstGeom>
          <a:solidFill>
            <a:srgbClr val="E3DCCB"/>
          </a:solidFill>
          <a:ln w="5713">
            <a:solidFill>
              <a:srgbClr val="585E6F"/>
            </a:solidFill>
            <a:prstDash val="solid"/>
          </a:ln>
        </p:spPr>
        <p:txBody>
          <a:bodyPr/>
          <a:lstStyle/>
          <a:p>
            <a:endParaRPr lang="es-MX"/>
          </a:p>
        </p:txBody>
      </p:sp>
      <p:sp>
        <p:nvSpPr>
          <p:cNvPr id="15" name="s16-texto-14"/>
          <p:cNvSpPr txBox="1"/>
          <p:nvPr/>
        </p:nvSpPr>
        <p:spPr>
          <a:xfrm>
            <a:off x="5310389" y="3045067"/>
            <a:ext cx="748234"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Observar</a:t>
            </a:r>
            <a:endParaRPr lang="en-US" sz="1260" dirty="0"/>
          </a:p>
        </p:txBody>
      </p:sp>
      <p:sp>
        <p:nvSpPr>
          <p:cNvPr id="16" name="s16-texto-15"/>
          <p:cNvSpPr txBox="1"/>
          <p:nvPr/>
        </p:nvSpPr>
        <p:spPr>
          <a:xfrm>
            <a:off x="5191617" y="3250738"/>
            <a:ext cx="98578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lee el resultado</a:t>
            </a:r>
            <a:endParaRPr lang="en-US" sz="1080" dirty="0"/>
          </a:p>
        </p:txBody>
      </p:sp>
      <p:sp>
        <p:nvSpPr>
          <p:cNvPr id="17" name="s16-forma-16"/>
          <p:cNvSpPr/>
          <p:nvPr/>
        </p:nvSpPr>
        <p:spPr>
          <a:xfrm>
            <a:off x="1342572" y="4170542"/>
            <a:ext cx="1371137" cy="571307"/>
          </a:xfrm>
          <a:prstGeom prst="rect">
            <a:avLst/>
          </a:prstGeom>
          <a:solidFill>
            <a:srgbClr val="DCE3F2"/>
          </a:solidFill>
          <a:ln w="5713">
            <a:solidFill>
              <a:srgbClr val="0033A0"/>
            </a:solidFill>
            <a:prstDash val="solid"/>
          </a:ln>
        </p:spPr>
        <p:txBody>
          <a:bodyPr/>
          <a:lstStyle/>
          <a:p>
            <a:endParaRPr lang="es-MX"/>
          </a:p>
        </p:txBody>
      </p:sp>
      <p:sp>
        <p:nvSpPr>
          <p:cNvPr id="18" name="s16-texto-17"/>
          <p:cNvSpPr txBox="1"/>
          <p:nvPr/>
        </p:nvSpPr>
        <p:spPr>
          <a:xfrm>
            <a:off x="1599310" y="4364787"/>
            <a:ext cx="857661"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Respuesta</a:t>
            </a:r>
            <a:endParaRPr lang="en-US" sz="1260" dirty="0"/>
          </a:p>
        </p:txBody>
      </p:sp>
      <p:sp>
        <p:nvSpPr>
          <p:cNvPr id="19" name="s16-texto-18"/>
          <p:cNvSpPr txBox="1"/>
          <p:nvPr/>
        </p:nvSpPr>
        <p:spPr>
          <a:xfrm>
            <a:off x="2938804" y="2239524"/>
            <a:ext cx="2543460" cy="154253"/>
          </a:xfrm>
          <a:prstGeom prst="rect">
            <a:avLst/>
          </a:prstGeom>
          <a:noFill/>
          <a:ln/>
        </p:spPr>
        <p:txBody>
          <a:bodyPr wrap="none" lIns="0" tIns="0" rIns="0" bIns="0" rtlCol="0" anchor="t"/>
          <a:lstStyle/>
          <a:p>
            <a:pPr marL="0" indent="0" algn="ctr">
              <a:lnSpc>
                <a:spcPts val="1296"/>
              </a:lnSpc>
              <a:buNone/>
            </a:pPr>
            <a:r>
              <a:rPr lang="en-US" sz="1080" dirty="0">
                <a:solidFill>
                  <a:srgbClr val="984514"/>
                </a:solidFill>
                <a:latin typeface="Arial" pitchFamily="34" charset="0"/>
                <a:ea typeface="Arial" pitchFamily="34" charset="-122"/>
                <a:cs typeface="Arial" pitchFamily="34" charset="-120"/>
              </a:rPr>
              <a:t>otra vuelta con lo observado</a:t>
            </a:r>
            <a:endParaRPr lang="en-US" sz="1080" dirty="0"/>
          </a:p>
        </p:txBody>
      </p:sp>
      <p:sp>
        <p:nvSpPr>
          <p:cNvPr id="20" name="s16-texto-19"/>
          <p:cNvSpPr txBox="1"/>
          <p:nvPr/>
        </p:nvSpPr>
        <p:spPr>
          <a:xfrm>
            <a:off x="2119550" y="3759201"/>
            <a:ext cx="1816757" cy="154253"/>
          </a:xfrm>
          <a:prstGeom prst="rect">
            <a:avLst/>
          </a:prstGeom>
          <a:noFill/>
          <a:ln/>
        </p:spPr>
        <p:txBody>
          <a:bodyPr wrap="none" lIns="0" tIns="0" rIns="0" bIns="0" rtlCol="0" anchor="t"/>
          <a:lstStyle/>
          <a:p>
            <a:pPr marL="0" indent="0" algn="l">
              <a:lnSpc>
                <a:spcPts val="1296"/>
              </a:lnSpc>
              <a:buNone/>
            </a:pPr>
            <a:r>
              <a:rPr lang="en-US" sz="1080" dirty="0">
                <a:solidFill>
                  <a:srgbClr val="0033A0"/>
                </a:solidFill>
                <a:latin typeface="Arial" pitchFamily="34" charset="0"/>
                <a:ea typeface="Arial" pitchFamily="34" charset="-122"/>
                <a:cs typeface="Arial" pitchFamily="34" charset="-120"/>
              </a:rPr>
              <a:t>ya puedo responder</a:t>
            </a:r>
            <a:endParaRPr lang="en-US" sz="1080" dirty="0"/>
          </a:p>
        </p:txBody>
      </p:sp>
      <p:sp>
        <p:nvSpPr>
          <p:cNvPr id="21" name="s16-forma-20"/>
          <p:cNvSpPr/>
          <p:nvPr/>
        </p:nvSpPr>
        <p:spPr>
          <a:xfrm>
            <a:off x="3170755" y="4227673"/>
            <a:ext cx="3199320" cy="374742"/>
          </a:xfrm>
          <a:prstGeom prst="rect">
            <a:avLst/>
          </a:prstGeom>
          <a:solidFill>
            <a:srgbClr val="E3DCCB"/>
          </a:solidFill>
          <a:ln/>
        </p:spPr>
        <p:txBody>
          <a:bodyPr/>
          <a:lstStyle/>
          <a:p>
            <a:endParaRPr lang="es-MX"/>
          </a:p>
        </p:txBody>
      </p:sp>
      <p:sp>
        <p:nvSpPr>
          <p:cNvPr id="22" name="s16-texto-21"/>
          <p:cNvSpPr txBox="1"/>
          <p:nvPr/>
        </p:nvSpPr>
        <p:spPr>
          <a:xfrm>
            <a:off x="3307869" y="4336221"/>
            <a:ext cx="3100598"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Cada vuelta es una llamada al modelo</a:t>
            </a:r>
            <a:endParaRPr lang="en-US" sz="1080" dirty="0"/>
          </a:p>
        </p:txBody>
      </p:sp>
      <p:sp>
        <p:nvSpPr>
          <p:cNvPr id="23" name="s16-texto-22"/>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4" name="s16-texto-23"/>
          <p:cNvSpPr txBox="1"/>
          <p:nvPr/>
        </p:nvSpPr>
        <p:spPr>
          <a:xfrm>
            <a:off x="7284167" y="2428056"/>
            <a:ext cx="3778854"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El modelo razona, usa una herramienta, lee el resultado y vuelve a razonar hasta poder responder.</a:t>
            </a:r>
            <a:endParaRPr lang="en-US" sz="1260" dirty="0"/>
          </a:p>
        </p:txBody>
      </p:sp>
      <p:sp>
        <p:nvSpPr>
          <p:cNvPr id="25" name="s16-texto-24"/>
          <p:cNvSpPr txBox="1"/>
          <p:nvPr/>
        </p:nvSpPr>
        <p:spPr>
          <a:xfrm>
            <a:off x="7284167" y="3236812"/>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6" name="s16-texto-25"/>
          <p:cNvSpPr txBox="1"/>
          <p:nvPr/>
        </p:nvSpPr>
        <p:spPr>
          <a:xfrm>
            <a:off x="7284167" y="3436770"/>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La información necesaria solo se obtiene actuando: leer archivos o consultar datos.</a:t>
            </a:r>
            <a:endParaRPr lang="en-US" sz="1260" dirty="0"/>
          </a:p>
        </p:txBody>
      </p:sp>
      <p:sp>
        <p:nvSpPr>
          <p:cNvPr id="27" name="s16-forma-26"/>
          <p:cNvSpPr/>
          <p:nvPr/>
        </p:nvSpPr>
        <p:spPr>
          <a:xfrm>
            <a:off x="7284167" y="4021645"/>
            <a:ext cx="3564957" cy="899095"/>
          </a:xfrm>
          <a:prstGeom prst="rect">
            <a:avLst/>
          </a:prstGeom>
          <a:solidFill>
            <a:srgbClr val="E2D3C2"/>
          </a:solidFill>
          <a:ln/>
        </p:spPr>
        <p:txBody>
          <a:bodyPr/>
          <a:lstStyle/>
          <a:p>
            <a:endParaRPr lang="es-MX"/>
          </a:p>
        </p:txBody>
      </p:sp>
      <p:sp>
        <p:nvSpPr>
          <p:cNvPr id="28" name="s16-texto-27"/>
          <p:cNvSpPr txBox="1"/>
          <p:nvPr/>
        </p:nvSpPr>
        <p:spPr>
          <a:xfrm>
            <a:off x="7421280" y="4158759"/>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9" name="s16-texto-28"/>
          <p:cNvSpPr txBox="1"/>
          <p:nvPr/>
        </p:nvSpPr>
        <p:spPr>
          <a:xfrm>
            <a:off x="7421280" y="4358717"/>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Es el bucle de agentes/base.py: lo usan el analista y el diseñador.</a:t>
            </a:r>
            <a:endParaRPr lang="en-US" sz="1260" dirty="0"/>
          </a:p>
        </p:txBody>
      </p:sp>
      <p:sp>
        <p:nvSpPr>
          <p:cNvPr id="30" name="s16-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a:t>
            </a:r>
            <a:endParaRPr lang="en-US" sz="1080" dirty="0"/>
          </a:p>
        </p:txBody>
      </p:sp>
      <p:sp>
        <p:nvSpPr>
          <p:cNvPr id="31" name="s16-linea-30-0"/>
          <p:cNvSpPr/>
          <p:nvPr/>
        </p:nvSpPr>
        <p:spPr>
          <a:xfrm>
            <a:off x="2713709" y="3227886"/>
            <a:ext cx="457046" cy="0"/>
          </a:xfrm>
          <a:prstGeom prst="line">
            <a:avLst/>
          </a:prstGeom>
          <a:noFill/>
          <a:ln w="17140">
            <a:solidFill>
              <a:srgbClr val="585E6F"/>
            </a:solidFill>
            <a:prstDash val="solid"/>
            <a:tailEnd type="triangle"/>
          </a:ln>
        </p:spPr>
        <p:txBody>
          <a:bodyPr/>
          <a:lstStyle/>
          <a:p>
            <a:endParaRPr lang="es-MX"/>
          </a:p>
        </p:txBody>
      </p:sp>
      <p:sp>
        <p:nvSpPr>
          <p:cNvPr id="32" name="s16-linea-31-0"/>
          <p:cNvSpPr/>
          <p:nvPr/>
        </p:nvSpPr>
        <p:spPr>
          <a:xfrm>
            <a:off x="4541892" y="3227886"/>
            <a:ext cx="457046" cy="0"/>
          </a:xfrm>
          <a:prstGeom prst="line">
            <a:avLst/>
          </a:prstGeom>
          <a:noFill/>
          <a:ln w="17140">
            <a:solidFill>
              <a:srgbClr val="585E6F"/>
            </a:solidFill>
            <a:prstDash val="solid"/>
            <a:tailEnd type="triangle"/>
          </a:ln>
        </p:spPr>
        <p:txBody>
          <a:bodyPr/>
          <a:lstStyle/>
          <a:p>
            <a:endParaRPr lang="es-MX"/>
          </a:p>
        </p:txBody>
      </p:sp>
      <p:sp>
        <p:nvSpPr>
          <p:cNvPr id="33" name="s16-linea-32-0"/>
          <p:cNvSpPr/>
          <p:nvPr/>
        </p:nvSpPr>
        <p:spPr>
          <a:xfrm flipV="1">
            <a:off x="5684506" y="2513752"/>
            <a:ext cx="0" cy="399915"/>
          </a:xfrm>
          <a:prstGeom prst="line">
            <a:avLst/>
          </a:prstGeom>
          <a:noFill/>
          <a:ln w="17140">
            <a:solidFill>
              <a:srgbClr val="984514"/>
            </a:solidFill>
            <a:prstDash val="solid"/>
          </a:ln>
        </p:spPr>
        <p:txBody>
          <a:bodyPr/>
          <a:lstStyle/>
          <a:p>
            <a:endParaRPr lang="es-MX"/>
          </a:p>
        </p:txBody>
      </p:sp>
      <p:sp>
        <p:nvSpPr>
          <p:cNvPr id="34" name="s16-linea-33-0"/>
          <p:cNvSpPr/>
          <p:nvPr/>
        </p:nvSpPr>
        <p:spPr>
          <a:xfrm flipH="1">
            <a:off x="2028140" y="2513752"/>
            <a:ext cx="3656366" cy="0"/>
          </a:xfrm>
          <a:prstGeom prst="line">
            <a:avLst/>
          </a:prstGeom>
          <a:noFill/>
          <a:ln w="17140">
            <a:solidFill>
              <a:srgbClr val="984514"/>
            </a:solidFill>
            <a:prstDash val="solid"/>
          </a:ln>
        </p:spPr>
        <p:txBody>
          <a:bodyPr/>
          <a:lstStyle/>
          <a:p>
            <a:endParaRPr lang="es-MX"/>
          </a:p>
        </p:txBody>
      </p:sp>
      <p:sp>
        <p:nvSpPr>
          <p:cNvPr id="35" name="s16-linea-34-0"/>
          <p:cNvSpPr/>
          <p:nvPr/>
        </p:nvSpPr>
        <p:spPr>
          <a:xfrm>
            <a:off x="2028140" y="2513752"/>
            <a:ext cx="0" cy="399915"/>
          </a:xfrm>
          <a:prstGeom prst="line">
            <a:avLst/>
          </a:prstGeom>
          <a:noFill/>
          <a:ln w="17140">
            <a:solidFill>
              <a:srgbClr val="984514"/>
            </a:solidFill>
            <a:prstDash val="solid"/>
            <a:tailEnd type="triangle"/>
          </a:ln>
        </p:spPr>
        <p:txBody>
          <a:bodyPr/>
          <a:lstStyle/>
          <a:p>
            <a:endParaRPr lang="es-MX"/>
          </a:p>
        </p:txBody>
      </p:sp>
      <p:sp>
        <p:nvSpPr>
          <p:cNvPr id="36" name="s16-linea-35-0"/>
          <p:cNvSpPr/>
          <p:nvPr/>
        </p:nvSpPr>
        <p:spPr>
          <a:xfrm>
            <a:off x="2028140" y="3542105"/>
            <a:ext cx="0" cy="628438"/>
          </a:xfrm>
          <a:prstGeom prst="line">
            <a:avLst/>
          </a:prstGeom>
          <a:noFill/>
          <a:ln w="17140">
            <a:solidFill>
              <a:srgbClr val="0033A0"/>
            </a:solidFill>
            <a:prstDash val="solid"/>
            <a:tailEnd type="triangle"/>
          </a:ln>
        </p:spPr>
        <p:txBody>
          <a:bodyPr/>
          <a:lstStyle/>
          <a:p>
            <a:endParaRPr lang="es-MX"/>
          </a:p>
        </p:txBody>
      </p:sp>
      <p:sp>
        <p:nvSpPr>
          <p:cNvPr id="37" name="s16-forma-36"/>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p:cNvPicPr>
            <a:picLocks noChangeAspect="1"/>
          </p:cNvPicPr>
          <p:nvPr/>
        </p:nvPicPr>
        <p:blipFill>
          <a:blip r:embed="rId3"/>
          <a:stretch>
            <a:fillRect/>
          </a:stretch>
        </p:blipFill>
        <p:spPr>
          <a:xfrm>
            <a:off x="853390" y="6465055"/>
            <a:ext cx="687800" cy="212455"/>
          </a:xfrm>
          <a:prstGeom prst="rect">
            <a:avLst/>
          </a:prstGeom>
        </p:spPr>
      </p:pic>
      <p:sp>
        <p:nvSpPr>
          <p:cNvPr id="39" name="s16-forma-38"/>
          <p:cNvSpPr/>
          <p:nvPr/>
        </p:nvSpPr>
        <p:spPr>
          <a:xfrm>
            <a:off x="1659380" y="6519865"/>
            <a:ext cx="3057208" cy="102835"/>
          </a:xfrm>
          <a:prstGeom prst="rect">
            <a:avLst/>
          </a:prstGeom>
          <a:ln/>
        </p:spPr>
        <p:txBody>
          <a:bodyPr/>
          <a:lstStyle/>
          <a:p>
            <a:endParaRPr lang="es-MX"/>
          </a:p>
        </p:txBody>
      </p:sp>
      <p:sp>
        <p:nvSpPr>
          <p:cNvPr id="40" name="s16-forma-39"/>
          <p:cNvSpPr/>
          <p:nvPr/>
        </p:nvSpPr>
        <p:spPr>
          <a:xfrm>
            <a:off x="1659380" y="6519865"/>
            <a:ext cx="5713" cy="102835"/>
          </a:xfrm>
          <a:prstGeom prst="rect">
            <a:avLst/>
          </a:prstGeom>
          <a:solidFill>
            <a:srgbClr val="C6BFAE"/>
          </a:solidFill>
          <a:ln/>
        </p:spPr>
        <p:txBody>
          <a:bodyPr/>
          <a:lstStyle/>
          <a:p>
            <a:endParaRPr lang="es-MX"/>
          </a:p>
        </p:txBody>
      </p:sp>
      <p:sp>
        <p:nvSpPr>
          <p:cNvPr id="41" name="s16-texto-4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2" name="s16-texto-4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16 / 35</a:t>
            </a:r>
            <a:endParaRPr lang="en-US" sz="745" dirty="0"/>
          </a:p>
        </p:txBody>
      </p:sp>
      <p:sp>
        <p:nvSpPr>
          <p:cNvPr id="43" name="s16-forma-42"/>
          <p:cNvSpPr/>
          <p:nvPr/>
        </p:nvSpPr>
        <p:spPr>
          <a:xfrm>
            <a:off x="0" y="0"/>
            <a:ext cx="5573280" cy="17139"/>
          </a:xfrm>
          <a:prstGeom prst="rect">
            <a:avLst/>
          </a:prstGeom>
          <a:solidFill>
            <a:srgbClr val="0033A0"/>
          </a:solidFill>
          <a:ln/>
        </p:spPr>
        <p:txBody>
          <a:bodyPr/>
          <a:lstStyle/>
          <a:p>
            <a:endParaRPr lang="es-MX"/>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683D7-5039-6C6E-E5F5-7A8DE758F716}"/>
            </a:ext>
          </a:extLst>
        </p:cNvPr>
        <p:cNvGrpSpPr/>
        <p:nvPr/>
      </p:nvGrpSpPr>
      <p:grpSpPr>
        <a:xfrm>
          <a:off x="0" y="0"/>
          <a:ext cx="0" cy="0"/>
          <a:chOff x="0" y="0"/>
          <a:chExt cx="0" cy="0"/>
        </a:xfrm>
      </p:grpSpPr>
      <p:sp>
        <p:nvSpPr>
          <p:cNvPr id="2" name="s16-forma-1">
            <a:extLst>
              <a:ext uri="{FF2B5EF4-FFF2-40B4-BE49-F238E27FC236}">
                <a16:creationId xmlns:a16="http://schemas.microsoft.com/office/drawing/2014/main" id="{CD1D58F1-FD4E-150B-4386-A81A715E8D2A}"/>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16-forma-2">
            <a:extLst>
              <a:ext uri="{FF2B5EF4-FFF2-40B4-BE49-F238E27FC236}">
                <a16:creationId xmlns:a16="http://schemas.microsoft.com/office/drawing/2014/main" id="{F03A123E-A313-2A38-E163-641516D169E0}"/>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16-texto-3">
            <a:extLst>
              <a:ext uri="{FF2B5EF4-FFF2-40B4-BE49-F238E27FC236}">
                <a16:creationId xmlns:a16="http://schemas.microsoft.com/office/drawing/2014/main" id="{B98CD995-7226-085C-0492-C7BEB95303A5}"/>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6-texto-4">
            <a:extLst>
              <a:ext uri="{FF2B5EF4-FFF2-40B4-BE49-F238E27FC236}">
                <a16:creationId xmlns:a16="http://schemas.microsoft.com/office/drawing/2014/main" id="{75C235BA-4334-C3BD-6FD4-8E5D1593BCA6}"/>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6-texto-5">
            <a:extLst>
              <a:ext uri="{FF2B5EF4-FFF2-40B4-BE49-F238E27FC236}">
                <a16:creationId xmlns:a16="http://schemas.microsoft.com/office/drawing/2014/main" id="{F81CACB7-39B8-E2FB-6B47-14A55FAD900D}"/>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1 DE 3</a:t>
            </a:r>
            <a:endParaRPr lang="en-US" sz="900" dirty="0"/>
          </a:p>
        </p:txBody>
      </p:sp>
      <p:sp>
        <p:nvSpPr>
          <p:cNvPr id="7" name="s16-texto-6">
            <a:extLst>
              <a:ext uri="{FF2B5EF4-FFF2-40B4-BE49-F238E27FC236}">
                <a16:creationId xmlns:a16="http://schemas.microsoft.com/office/drawing/2014/main" id="{6AC4448B-36C8-3350-AB46-071B21B4F538}"/>
              </a:ext>
            </a:extLst>
          </p:cNvPr>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err="1">
                <a:solidFill>
                  <a:srgbClr val="16181D"/>
                </a:solidFill>
                <a:latin typeface="Georgia" pitchFamily="34" charset="0"/>
              </a:rPr>
              <a:t>ReAct</a:t>
            </a:r>
            <a:r>
              <a:rPr lang="en-US" sz="2879" b="1" kern="0" spc="-29" dirty="0">
                <a:solidFill>
                  <a:srgbClr val="16181D"/>
                </a:solidFill>
                <a:latin typeface="Georgia" pitchFamily="34" charset="0"/>
              </a:rPr>
              <a:t>: Ciclo de </a:t>
            </a:r>
            <a:r>
              <a:rPr lang="en-US" sz="2879" b="1" kern="0" spc="-29" dirty="0" err="1">
                <a:solidFill>
                  <a:srgbClr val="16181D"/>
                </a:solidFill>
                <a:latin typeface="Georgia" pitchFamily="34" charset="0"/>
              </a:rPr>
              <a:t>razonamiento</a:t>
            </a:r>
            <a:r>
              <a:rPr lang="en-US" sz="2879" b="1" kern="0" spc="-29" dirty="0">
                <a:solidFill>
                  <a:srgbClr val="16181D"/>
                </a:solidFill>
                <a:latin typeface="Georgia" pitchFamily="34" charset="0"/>
              </a:rPr>
              <a:t> </a:t>
            </a:r>
            <a:r>
              <a:rPr lang="en-US" sz="2879" b="1" kern="0" spc="-29" dirty="0" err="1">
                <a:solidFill>
                  <a:srgbClr val="16181D"/>
                </a:solidFill>
                <a:latin typeface="Georgia" pitchFamily="34" charset="0"/>
              </a:rPr>
              <a:t>en</a:t>
            </a:r>
            <a:r>
              <a:rPr lang="en-US" sz="2879" b="1" kern="0" spc="-29" dirty="0">
                <a:solidFill>
                  <a:srgbClr val="16181D"/>
                </a:solidFill>
                <a:latin typeface="Georgia" pitchFamily="34" charset="0"/>
              </a:rPr>
              <a:t> Claude</a:t>
            </a:r>
            <a:endParaRPr lang="en-US" sz="2879" dirty="0"/>
          </a:p>
        </p:txBody>
      </p:sp>
      <p:sp>
        <p:nvSpPr>
          <p:cNvPr id="23" name="s16-texto-22">
            <a:extLst>
              <a:ext uri="{FF2B5EF4-FFF2-40B4-BE49-F238E27FC236}">
                <a16:creationId xmlns:a16="http://schemas.microsoft.com/office/drawing/2014/main" id="{A564C4C7-E625-7C0B-9720-172B8B430D00}"/>
              </a:ext>
            </a:extLst>
          </p:cNvPr>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4" name="s16-texto-23">
            <a:extLst>
              <a:ext uri="{FF2B5EF4-FFF2-40B4-BE49-F238E27FC236}">
                <a16:creationId xmlns:a16="http://schemas.microsoft.com/office/drawing/2014/main" id="{EB2977E4-E784-0315-F7D5-0A68A63886ED}"/>
              </a:ext>
            </a:extLst>
          </p:cNvPr>
          <p:cNvSpPr txBox="1"/>
          <p:nvPr/>
        </p:nvSpPr>
        <p:spPr>
          <a:xfrm>
            <a:off x="7284167" y="2428056"/>
            <a:ext cx="3778854" cy="624867"/>
          </a:xfrm>
          <a:prstGeom prst="rect">
            <a:avLst/>
          </a:prstGeom>
          <a:noFill/>
          <a:ln/>
        </p:spPr>
        <p:txBody>
          <a:bodyPr wrap="square" lIns="0" tIns="0" rIns="0" bIns="0" rtlCol="0" anchor="t"/>
          <a:lstStyle/>
          <a:p>
            <a:pPr>
              <a:lnSpc>
                <a:spcPts val="1763"/>
              </a:lnSpc>
            </a:pPr>
            <a:r>
              <a:rPr lang="en-US" sz="1260" dirty="0">
                <a:solidFill>
                  <a:srgbClr val="16181D"/>
                </a:solidFill>
                <a:latin typeface="Arial" pitchFamily="34" charset="0"/>
                <a:cs typeface="Arial" pitchFamily="34" charset="-120"/>
              </a:rPr>
              <a:t>Cada </a:t>
            </a:r>
            <a:r>
              <a:rPr lang="en-US" sz="1260" dirty="0" err="1">
                <a:solidFill>
                  <a:srgbClr val="16181D"/>
                </a:solidFill>
                <a:latin typeface="Arial" pitchFamily="34" charset="0"/>
                <a:cs typeface="Arial" pitchFamily="34" charset="-120"/>
              </a:rPr>
              <a:t>llamada</a:t>
            </a:r>
            <a:r>
              <a:rPr lang="en-US" sz="1260" dirty="0">
                <a:solidFill>
                  <a:srgbClr val="16181D"/>
                </a:solidFill>
                <a:latin typeface="Arial" pitchFamily="34" charset="0"/>
                <a:cs typeface="Arial" pitchFamily="34" charset="-120"/>
              </a:rPr>
              <a:t> al </a:t>
            </a:r>
            <a:r>
              <a:rPr lang="en-US" sz="1260" dirty="0" err="1">
                <a:solidFill>
                  <a:srgbClr val="16181D"/>
                </a:solidFill>
                <a:latin typeface="Arial" pitchFamily="34" charset="0"/>
                <a:cs typeface="Arial" pitchFamily="34" charset="-120"/>
              </a:rPr>
              <a:t>modelo</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regresa</a:t>
            </a:r>
            <a:r>
              <a:rPr lang="en-US" sz="1260" dirty="0">
                <a:solidFill>
                  <a:srgbClr val="16181D"/>
                </a:solidFill>
                <a:latin typeface="Arial" pitchFamily="34" charset="0"/>
                <a:cs typeface="Arial" pitchFamily="34" charset="-120"/>
              </a:rPr>
              <a:t> un </a:t>
            </a:r>
            <a:r>
              <a:rPr lang="en-US" sz="1260" dirty="0" err="1">
                <a:solidFill>
                  <a:srgbClr val="16181D"/>
                </a:solidFill>
                <a:latin typeface="Arial" pitchFamily="34" charset="0"/>
                <a:cs typeface="Arial" pitchFamily="34" charset="-120"/>
              </a:rPr>
              <a:t>bloque</a:t>
            </a:r>
            <a:r>
              <a:rPr lang="en-US" sz="1260" dirty="0">
                <a:solidFill>
                  <a:srgbClr val="16181D"/>
                </a:solidFill>
                <a:latin typeface="Arial" pitchFamily="34" charset="0"/>
                <a:cs typeface="Arial" pitchFamily="34" charset="-120"/>
              </a:rPr>
              <a:t> con </a:t>
            </a:r>
            <a:r>
              <a:rPr lang="en-US" sz="1260" dirty="0" err="1">
                <a:solidFill>
                  <a:srgbClr val="16181D"/>
                </a:solidFill>
                <a:latin typeface="Arial" pitchFamily="34" charset="0"/>
                <a:cs typeface="Arial" pitchFamily="34" charset="-120"/>
              </a:rPr>
              <a:t>su</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respuesta</a:t>
            </a:r>
            <a:br>
              <a:rPr lang="en-US" sz="1260" dirty="0">
                <a:solidFill>
                  <a:srgbClr val="16181D"/>
                </a:solidFill>
                <a:latin typeface="Arial" pitchFamily="34" charset="0"/>
                <a:cs typeface="Arial" pitchFamily="34" charset="-120"/>
              </a:rPr>
            </a:br>
            <a:r>
              <a:rPr lang="en-US" sz="1260" dirty="0">
                <a:solidFill>
                  <a:srgbClr val="16181D"/>
                </a:solidFill>
                <a:latin typeface="Arial" pitchFamily="34" charset="0"/>
                <a:cs typeface="Arial" pitchFamily="34" charset="-120"/>
              </a:rPr>
              <a:t>Una </a:t>
            </a:r>
            <a:r>
              <a:rPr lang="en-US" sz="1260" dirty="0" err="1">
                <a:solidFill>
                  <a:srgbClr val="16181D"/>
                </a:solidFill>
                <a:latin typeface="Arial" pitchFamily="34" charset="0"/>
                <a:cs typeface="Arial" pitchFamily="34" charset="-120"/>
              </a:rPr>
              <a:t>misma</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respuesta</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puede</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traer</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varios</a:t>
            </a:r>
            <a:r>
              <a:rPr lang="en-US" sz="1260" dirty="0">
                <a:solidFill>
                  <a:srgbClr val="16181D"/>
                </a:solidFill>
                <a:latin typeface="Arial" pitchFamily="34" charset="0"/>
                <a:cs typeface="Arial" pitchFamily="34" charset="-120"/>
              </a:rPr>
              <a:t> </a:t>
            </a:r>
            <a:r>
              <a:rPr lang="en-US" sz="1260" dirty="0" err="1">
                <a:solidFill>
                  <a:srgbClr val="16181D"/>
                </a:solidFill>
                <a:latin typeface="Arial" pitchFamily="34" charset="0"/>
                <a:cs typeface="Arial" pitchFamily="34" charset="-120"/>
              </a:rPr>
              <a:t>bloques</a:t>
            </a:r>
            <a:r>
              <a:rPr lang="en-US" sz="1260" dirty="0">
                <a:solidFill>
                  <a:srgbClr val="16181D"/>
                </a:solidFill>
                <a:latin typeface="Arial" pitchFamily="34" charset="0"/>
                <a:cs typeface="Arial" pitchFamily="34" charset="-120"/>
              </a:rPr>
              <a:t>:</a:t>
            </a:r>
            <a:br>
              <a:rPr lang="en-US" sz="1260" dirty="0">
                <a:solidFill>
                  <a:srgbClr val="16181D"/>
                </a:solidFill>
                <a:latin typeface="Arial" pitchFamily="34" charset="0"/>
                <a:cs typeface="Arial" pitchFamily="34" charset="-120"/>
              </a:rPr>
            </a:br>
            <a:r>
              <a:rPr lang="es-MX" sz="1400" dirty="0"/>
              <a:t>['thinking', 'text', 'tool_use']</a:t>
            </a:r>
            <a:r>
              <a:rPr lang="en-US" sz="1260" dirty="0">
                <a:solidFill>
                  <a:srgbClr val="16181D"/>
                </a:solidFill>
                <a:latin typeface="Arial" pitchFamily="34" charset="0"/>
                <a:cs typeface="Arial" pitchFamily="34" charset="-120"/>
              </a:rPr>
              <a:t> </a:t>
            </a:r>
          </a:p>
          <a:p>
            <a:pPr marL="0" indent="0" algn="l">
              <a:lnSpc>
                <a:spcPts val="1763"/>
              </a:lnSpc>
              <a:buNone/>
            </a:pPr>
            <a:endParaRPr lang="en-US" sz="1260" dirty="0">
              <a:solidFill>
                <a:srgbClr val="16181D"/>
              </a:solidFill>
              <a:latin typeface="Arial" pitchFamily="34" charset="0"/>
              <a:cs typeface="Arial" pitchFamily="34" charset="-120"/>
            </a:endParaRPr>
          </a:p>
          <a:p>
            <a:pPr marL="0" indent="0" algn="l">
              <a:lnSpc>
                <a:spcPts val="1763"/>
              </a:lnSpc>
              <a:buNone/>
            </a:pPr>
            <a:endParaRPr lang="en-US" sz="1260" dirty="0">
              <a:solidFill>
                <a:srgbClr val="16181D"/>
              </a:solidFill>
              <a:latin typeface="Arial" pitchFamily="34" charset="0"/>
              <a:cs typeface="Arial" pitchFamily="34" charset="-120"/>
            </a:endParaRPr>
          </a:p>
          <a:p>
            <a:pPr marL="0" indent="0" algn="l">
              <a:lnSpc>
                <a:spcPts val="1763"/>
              </a:lnSpc>
              <a:buNone/>
            </a:pPr>
            <a:r>
              <a:rPr lang="en-US" sz="1260" dirty="0">
                <a:solidFill>
                  <a:srgbClr val="16181D"/>
                </a:solidFill>
                <a:latin typeface="Arial" pitchFamily="34" charset="0"/>
                <a:cs typeface="Arial" pitchFamily="34" charset="-120"/>
              </a:rPr>
              <a:t> </a:t>
            </a:r>
            <a:endParaRPr lang="en-US" sz="1260" dirty="0"/>
          </a:p>
        </p:txBody>
      </p:sp>
      <p:sp>
        <p:nvSpPr>
          <p:cNvPr id="25" name="s16-texto-24">
            <a:extLst>
              <a:ext uri="{FF2B5EF4-FFF2-40B4-BE49-F238E27FC236}">
                <a16:creationId xmlns:a16="http://schemas.microsoft.com/office/drawing/2014/main" id="{9D9A5BCC-C648-18E9-2CAB-EFCFF1800E6E}"/>
              </a:ext>
            </a:extLst>
          </p:cNvPr>
          <p:cNvSpPr txBox="1"/>
          <p:nvPr/>
        </p:nvSpPr>
        <p:spPr>
          <a:xfrm>
            <a:off x="7284167" y="350827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cs typeface="Courier New" pitchFamily="34" charset="-120"/>
              </a:rPr>
              <a:t>CONCEPTO CLAVE</a:t>
            </a:r>
            <a:endParaRPr lang="en-US" sz="900" dirty="0"/>
          </a:p>
        </p:txBody>
      </p:sp>
      <p:sp>
        <p:nvSpPr>
          <p:cNvPr id="26" name="s16-texto-25">
            <a:extLst>
              <a:ext uri="{FF2B5EF4-FFF2-40B4-BE49-F238E27FC236}">
                <a16:creationId xmlns:a16="http://schemas.microsoft.com/office/drawing/2014/main" id="{C60AC635-6532-C016-3210-FD7FF862186F}"/>
              </a:ext>
            </a:extLst>
          </p:cNvPr>
          <p:cNvSpPr txBox="1"/>
          <p:nvPr/>
        </p:nvSpPr>
        <p:spPr>
          <a:xfrm>
            <a:off x="7284167" y="3708236"/>
            <a:ext cx="3778854" cy="400986"/>
          </a:xfrm>
          <a:prstGeom prst="rect">
            <a:avLst/>
          </a:prstGeom>
          <a:noFill/>
          <a:ln/>
        </p:spPr>
        <p:txBody>
          <a:bodyPr wrap="square" lIns="0" tIns="0" rIns="0" bIns="0" rtlCol="0" anchor="t"/>
          <a:lstStyle/>
          <a:p>
            <a:pPr marL="0" indent="0" algn="l">
              <a:lnSpc>
                <a:spcPts val="1763"/>
              </a:lnSpc>
              <a:buNone/>
            </a:pPr>
            <a:r>
              <a:rPr lang="en-US" sz="1260" dirty="0" err="1">
                <a:solidFill>
                  <a:srgbClr val="16181D"/>
                </a:solidFill>
                <a:latin typeface="Arial" pitchFamily="34" charset="0"/>
                <a:ea typeface="Arial" pitchFamily="34" charset="-122"/>
                <a:cs typeface="Arial" pitchFamily="34" charset="-120"/>
              </a:rPr>
              <a:t>Existen</a:t>
            </a:r>
            <a:r>
              <a:rPr lang="en-US" sz="1260" dirty="0">
                <a:solidFill>
                  <a:srgbClr val="16181D"/>
                </a:solidFill>
                <a:latin typeface="Arial" pitchFamily="34" charset="0"/>
                <a:ea typeface="Arial" pitchFamily="34" charset="-122"/>
                <a:cs typeface="Arial" pitchFamily="34" charset="-120"/>
              </a:rPr>
              <a:t>  dos formas de </a:t>
            </a:r>
            <a:r>
              <a:rPr lang="en-US" sz="1260" dirty="0" err="1">
                <a:solidFill>
                  <a:srgbClr val="16181D"/>
                </a:solidFill>
                <a:latin typeface="Arial" pitchFamily="34" charset="0"/>
                <a:ea typeface="Arial" pitchFamily="34" charset="-122"/>
                <a:cs typeface="Arial" pitchFamily="34" charset="-120"/>
              </a:rPr>
              <a:t>terminar</a:t>
            </a:r>
            <a:r>
              <a:rPr lang="en-US" sz="1260" dirty="0">
                <a:solidFill>
                  <a:srgbClr val="16181D"/>
                </a:solidFill>
                <a:latin typeface="Arial" pitchFamily="34" charset="0"/>
                <a:ea typeface="Arial" pitchFamily="34" charset="-122"/>
                <a:cs typeface="Arial" pitchFamily="34" charset="-120"/>
              </a:rPr>
              <a:t> un </a:t>
            </a:r>
            <a:r>
              <a:rPr lang="en-US" sz="1260" dirty="0" err="1">
                <a:solidFill>
                  <a:srgbClr val="16181D"/>
                </a:solidFill>
                <a:latin typeface="Arial" pitchFamily="34" charset="0"/>
                <a:ea typeface="Arial" pitchFamily="34" charset="-122"/>
                <a:cs typeface="Arial" pitchFamily="34" charset="-120"/>
              </a:rPr>
              <a:t>cliclo</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el</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modelo</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puede</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decidirlo</a:t>
            </a:r>
            <a:r>
              <a:rPr lang="en-US" sz="1260" dirty="0">
                <a:solidFill>
                  <a:srgbClr val="16181D"/>
                </a:solidFill>
                <a:latin typeface="Arial" pitchFamily="34" charset="0"/>
                <a:ea typeface="Arial" pitchFamily="34" charset="-122"/>
                <a:cs typeface="Arial" pitchFamily="34" charset="-120"/>
              </a:rPr>
              <a:t>, o </a:t>
            </a:r>
            <a:r>
              <a:rPr lang="en-US" sz="1260" dirty="0" err="1">
                <a:solidFill>
                  <a:srgbClr val="16181D"/>
                </a:solidFill>
                <a:latin typeface="Arial" pitchFamily="34" charset="0"/>
                <a:ea typeface="Arial" pitchFamily="34" charset="-122"/>
                <a:cs typeface="Arial" pitchFamily="34" charset="-120"/>
              </a:rPr>
              <a:t>nosotros</a:t>
            </a:r>
            <a:r>
              <a:rPr lang="en-US" sz="1260" dirty="0">
                <a:solidFill>
                  <a:srgbClr val="16181D"/>
                </a:solidFill>
                <a:latin typeface="Arial" pitchFamily="34" charset="0"/>
                <a:ea typeface="Arial" pitchFamily="34" charset="-122"/>
                <a:cs typeface="Arial" pitchFamily="34" charset="-120"/>
              </a:rPr>
              <a:t> Podemos </a:t>
            </a:r>
            <a:r>
              <a:rPr lang="en-US" sz="1260" dirty="0" err="1">
                <a:solidFill>
                  <a:srgbClr val="16181D"/>
                </a:solidFill>
                <a:latin typeface="Arial" pitchFamily="34" charset="0"/>
                <a:ea typeface="Arial" pitchFamily="34" charset="-122"/>
                <a:cs typeface="Arial" pitchFamily="34" charset="-120"/>
              </a:rPr>
              <a:t>decidirlo</a:t>
            </a:r>
            <a:endParaRPr lang="en-US" sz="1260" dirty="0"/>
          </a:p>
        </p:txBody>
      </p:sp>
      <p:sp>
        <p:nvSpPr>
          <p:cNvPr id="27" name="s16-forma-26">
            <a:extLst>
              <a:ext uri="{FF2B5EF4-FFF2-40B4-BE49-F238E27FC236}">
                <a16:creationId xmlns:a16="http://schemas.microsoft.com/office/drawing/2014/main" id="{89BE6692-1ECA-EF48-5447-561B3D8A9858}"/>
              </a:ext>
            </a:extLst>
          </p:cNvPr>
          <p:cNvSpPr/>
          <p:nvPr/>
        </p:nvSpPr>
        <p:spPr>
          <a:xfrm>
            <a:off x="7227016" y="4350263"/>
            <a:ext cx="3564957" cy="899095"/>
          </a:xfrm>
          <a:prstGeom prst="rect">
            <a:avLst/>
          </a:prstGeom>
          <a:solidFill>
            <a:srgbClr val="E2D3C2"/>
          </a:solidFill>
          <a:ln/>
        </p:spPr>
        <p:txBody>
          <a:bodyPr/>
          <a:lstStyle/>
          <a:p>
            <a:endParaRPr lang="es-MX"/>
          </a:p>
        </p:txBody>
      </p:sp>
      <p:sp>
        <p:nvSpPr>
          <p:cNvPr id="28" name="s16-texto-27">
            <a:extLst>
              <a:ext uri="{FF2B5EF4-FFF2-40B4-BE49-F238E27FC236}">
                <a16:creationId xmlns:a16="http://schemas.microsoft.com/office/drawing/2014/main" id="{61B7AF39-F114-A092-E983-72B2B59CCCAB}"/>
              </a:ext>
            </a:extLst>
          </p:cNvPr>
          <p:cNvSpPr txBox="1"/>
          <p:nvPr/>
        </p:nvSpPr>
        <p:spPr>
          <a:xfrm>
            <a:off x="7349841" y="4458801"/>
            <a:ext cx="3488173" cy="131401"/>
          </a:xfrm>
          <a:prstGeom prst="rect">
            <a:avLst/>
          </a:prstGeom>
          <a:noFill/>
          <a:ln/>
        </p:spPr>
        <p:txBody>
          <a:bodyPr wrap="none" lIns="0" tIns="0" rIns="0" bIns="0" rtlCol="0" anchor="t"/>
          <a:lstStyle/>
          <a:p>
            <a:pPr marL="0" indent="0" algn="l">
              <a:lnSpc>
                <a:spcPts val="1080"/>
              </a:lnSpc>
              <a:buNone/>
            </a:pPr>
            <a:r>
              <a:rPr lang="en-US" sz="1000" b="1" kern="0" spc="90" dirty="0">
                <a:solidFill>
                  <a:srgbClr val="0033A0"/>
                </a:solidFill>
                <a:latin typeface="Courier New" pitchFamily="34" charset="0"/>
                <a:ea typeface="Courier New" pitchFamily="34" charset="-122"/>
                <a:cs typeface="Courier New" pitchFamily="34" charset="-120"/>
              </a:rPr>
              <a:t>EJEMPLO EN LA FABRICA</a:t>
            </a:r>
            <a:endParaRPr lang="en-US" sz="1000" dirty="0"/>
          </a:p>
        </p:txBody>
      </p:sp>
      <p:sp>
        <p:nvSpPr>
          <p:cNvPr id="29" name="s16-texto-28">
            <a:extLst>
              <a:ext uri="{FF2B5EF4-FFF2-40B4-BE49-F238E27FC236}">
                <a16:creationId xmlns:a16="http://schemas.microsoft.com/office/drawing/2014/main" id="{5728DA3B-23BC-7249-7142-86EBC48F9DFA}"/>
              </a:ext>
            </a:extLst>
          </p:cNvPr>
          <p:cNvSpPr txBox="1"/>
          <p:nvPr/>
        </p:nvSpPr>
        <p:spPr>
          <a:xfrm>
            <a:off x="7364129" y="4687335"/>
            <a:ext cx="3488173" cy="400986"/>
          </a:xfrm>
          <a:prstGeom prst="rect">
            <a:avLst/>
          </a:prstGeom>
          <a:noFill/>
          <a:ln/>
        </p:spPr>
        <p:txBody>
          <a:bodyPr wrap="square" lIns="0" tIns="0" rIns="0" bIns="0" rtlCol="0" anchor="t"/>
          <a:lstStyle/>
          <a:p>
            <a:pPr marL="0" indent="0" algn="l">
              <a:lnSpc>
                <a:spcPts val="1763"/>
              </a:lnSpc>
              <a:buNone/>
            </a:pPr>
            <a:r>
              <a:rPr lang="en-US" sz="1260" dirty="0" err="1">
                <a:solidFill>
                  <a:srgbClr val="16181D"/>
                </a:solidFill>
                <a:latin typeface="Arial" pitchFamily="34" charset="0"/>
                <a:ea typeface="Arial" pitchFamily="34" charset="-122"/>
                <a:cs typeface="Arial" pitchFamily="34" charset="-120"/>
              </a:rPr>
              <a:t>Establecer</a:t>
            </a:r>
            <a:r>
              <a:rPr lang="en-US" sz="1260" dirty="0">
                <a:solidFill>
                  <a:srgbClr val="16181D"/>
                </a:solidFill>
                <a:latin typeface="Arial" pitchFamily="34" charset="0"/>
                <a:ea typeface="Arial" pitchFamily="34" charset="-122"/>
                <a:cs typeface="Arial" pitchFamily="34" charset="-120"/>
              </a:rPr>
              <a:t> un </a:t>
            </a:r>
            <a:r>
              <a:rPr lang="en-US" sz="1260" dirty="0" err="1">
                <a:solidFill>
                  <a:srgbClr val="16181D"/>
                </a:solidFill>
                <a:latin typeface="Arial" pitchFamily="34" charset="0"/>
                <a:ea typeface="Arial" pitchFamily="34" charset="-122"/>
                <a:cs typeface="Arial" pitchFamily="34" charset="-120"/>
              </a:rPr>
              <a:t>máximo</a:t>
            </a:r>
            <a:r>
              <a:rPr lang="en-US" sz="1260" dirty="0">
                <a:solidFill>
                  <a:srgbClr val="16181D"/>
                </a:solidFill>
                <a:latin typeface="Arial" pitchFamily="34" charset="0"/>
                <a:ea typeface="Arial" pitchFamily="34" charset="-122"/>
                <a:cs typeface="Arial" pitchFamily="34" charset="-120"/>
              </a:rPr>
              <a:t> de tokens </a:t>
            </a:r>
            <a:r>
              <a:rPr lang="en-US" sz="1260" dirty="0" err="1">
                <a:solidFill>
                  <a:srgbClr val="16181D"/>
                </a:solidFill>
                <a:latin typeface="Arial" pitchFamily="34" charset="0"/>
                <a:ea typeface="Arial" pitchFamily="34" charset="-122"/>
                <a:cs typeface="Arial" pitchFamily="34" charset="-120"/>
              </a:rPr>
              <a:t>en</a:t>
            </a:r>
            <a:r>
              <a:rPr lang="en-US" sz="1260" dirty="0">
                <a:solidFill>
                  <a:srgbClr val="16181D"/>
                </a:solidFill>
                <a:latin typeface="Arial" pitchFamily="34" charset="0"/>
                <a:ea typeface="Arial" pitchFamily="34" charset="-122"/>
                <a:cs typeface="Arial" pitchFamily="34" charset="-120"/>
              </a:rPr>
              <a:t> </a:t>
            </a:r>
            <a:r>
              <a:rPr lang="en-US" sz="1260" dirty="0" err="1">
                <a:solidFill>
                  <a:srgbClr val="16181D"/>
                </a:solidFill>
                <a:latin typeface="Arial" pitchFamily="34" charset="0"/>
                <a:ea typeface="Arial" pitchFamily="34" charset="-122"/>
                <a:cs typeface="Arial" pitchFamily="34" charset="-120"/>
              </a:rPr>
              <a:t>agentes</a:t>
            </a:r>
            <a:r>
              <a:rPr lang="en-US" sz="1260" dirty="0">
                <a:solidFill>
                  <a:srgbClr val="16181D"/>
                </a:solidFill>
                <a:latin typeface="Arial" pitchFamily="34" charset="0"/>
                <a:ea typeface="Arial" pitchFamily="34" charset="-122"/>
                <a:cs typeface="Arial" pitchFamily="34" charset="-120"/>
              </a:rPr>
              <a:t>/</a:t>
            </a:r>
            <a:r>
              <a:rPr lang="en-US" sz="1260" dirty="0" err="1">
                <a:solidFill>
                  <a:srgbClr val="16181D"/>
                </a:solidFill>
                <a:latin typeface="Arial" pitchFamily="34" charset="0"/>
                <a:ea typeface="Arial" pitchFamily="34" charset="-122"/>
                <a:cs typeface="Arial" pitchFamily="34" charset="-120"/>
              </a:rPr>
              <a:t>base.py</a:t>
            </a:r>
            <a:r>
              <a:rPr lang="en-US" sz="1260" dirty="0">
                <a:solidFill>
                  <a:srgbClr val="16181D"/>
                </a:solidFill>
                <a:latin typeface="Arial" pitchFamily="34" charset="0"/>
                <a:ea typeface="Arial" pitchFamily="34" charset="-122"/>
                <a:cs typeface="Arial" pitchFamily="34" charset="-120"/>
              </a:rPr>
              <a:t>:.</a:t>
            </a:r>
            <a:endParaRPr lang="en-US" sz="1260" dirty="0"/>
          </a:p>
        </p:txBody>
      </p:sp>
      <p:sp>
        <p:nvSpPr>
          <p:cNvPr id="37" name="s16-forma-36">
            <a:extLst>
              <a:ext uri="{FF2B5EF4-FFF2-40B4-BE49-F238E27FC236}">
                <a16:creationId xmlns:a16="http://schemas.microsoft.com/office/drawing/2014/main" id="{88B9EBB9-71AC-ED5B-03B1-0923B1E1E121}"/>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38" name="s16-logo-37" descr="preencoded.png">
            <a:extLst>
              <a:ext uri="{FF2B5EF4-FFF2-40B4-BE49-F238E27FC236}">
                <a16:creationId xmlns:a16="http://schemas.microsoft.com/office/drawing/2014/main" id="{E50B8947-535F-1AE2-7EA7-EA7BD7842F51}"/>
              </a:ext>
            </a:extLst>
          </p:cNvPr>
          <p:cNvPicPr>
            <a:picLocks noChangeAspect="1"/>
          </p:cNvPicPr>
          <p:nvPr/>
        </p:nvPicPr>
        <p:blipFill>
          <a:blip r:embed="rId3"/>
          <a:stretch>
            <a:fillRect/>
          </a:stretch>
        </p:blipFill>
        <p:spPr>
          <a:xfrm>
            <a:off x="853390" y="6465055"/>
            <a:ext cx="687800" cy="212455"/>
          </a:xfrm>
          <a:prstGeom prst="rect">
            <a:avLst/>
          </a:prstGeom>
        </p:spPr>
      </p:pic>
      <p:sp>
        <p:nvSpPr>
          <p:cNvPr id="39" name="s16-forma-38">
            <a:extLst>
              <a:ext uri="{FF2B5EF4-FFF2-40B4-BE49-F238E27FC236}">
                <a16:creationId xmlns:a16="http://schemas.microsoft.com/office/drawing/2014/main" id="{3E14C8B6-51E9-A8D6-C153-71396C671A06}"/>
              </a:ext>
            </a:extLst>
          </p:cNvPr>
          <p:cNvSpPr/>
          <p:nvPr/>
        </p:nvSpPr>
        <p:spPr>
          <a:xfrm>
            <a:off x="1659380" y="6519865"/>
            <a:ext cx="3057208" cy="102835"/>
          </a:xfrm>
          <a:prstGeom prst="rect">
            <a:avLst/>
          </a:prstGeom>
          <a:ln/>
        </p:spPr>
        <p:txBody>
          <a:bodyPr/>
          <a:lstStyle/>
          <a:p>
            <a:endParaRPr lang="es-MX"/>
          </a:p>
        </p:txBody>
      </p:sp>
      <p:sp>
        <p:nvSpPr>
          <p:cNvPr id="40" name="s16-forma-39">
            <a:extLst>
              <a:ext uri="{FF2B5EF4-FFF2-40B4-BE49-F238E27FC236}">
                <a16:creationId xmlns:a16="http://schemas.microsoft.com/office/drawing/2014/main" id="{D4CB1822-D957-B550-F867-E543449B4E0A}"/>
              </a:ext>
            </a:extLst>
          </p:cNvPr>
          <p:cNvSpPr/>
          <p:nvPr/>
        </p:nvSpPr>
        <p:spPr>
          <a:xfrm>
            <a:off x="1659380" y="6519865"/>
            <a:ext cx="5713" cy="102835"/>
          </a:xfrm>
          <a:prstGeom prst="rect">
            <a:avLst/>
          </a:prstGeom>
          <a:solidFill>
            <a:srgbClr val="C6BFAE"/>
          </a:solidFill>
          <a:ln/>
        </p:spPr>
        <p:txBody>
          <a:bodyPr/>
          <a:lstStyle/>
          <a:p>
            <a:endParaRPr lang="es-MX"/>
          </a:p>
        </p:txBody>
      </p:sp>
      <p:sp>
        <p:nvSpPr>
          <p:cNvPr id="41" name="s16-texto-40">
            <a:extLst>
              <a:ext uri="{FF2B5EF4-FFF2-40B4-BE49-F238E27FC236}">
                <a16:creationId xmlns:a16="http://schemas.microsoft.com/office/drawing/2014/main" id="{F1EA32E9-7F08-3135-8E13-1F433C5514E5}"/>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2" name="s16-texto-41">
            <a:extLst>
              <a:ext uri="{FF2B5EF4-FFF2-40B4-BE49-F238E27FC236}">
                <a16:creationId xmlns:a16="http://schemas.microsoft.com/office/drawing/2014/main" id="{511C675E-086C-17C4-BC0C-99C8E9B98145}"/>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16 / 35</a:t>
            </a:r>
            <a:endParaRPr lang="en-US" sz="745" dirty="0"/>
          </a:p>
        </p:txBody>
      </p:sp>
      <p:sp>
        <p:nvSpPr>
          <p:cNvPr id="43" name="s16-forma-42">
            <a:extLst>
              <a:ext uri="{FF2B5EF4-FFF2-40B4-BE49-F238E27FC236}">
                <a16:creationId xmlns:a16="http://schemas.microsoft.com/office/drawing/2014/main" id="{72E303F7-44CC-7EC5-F0DF-E94302D7B0F3}"/>
              </a:ext>
            </a:extLst>
          </p:cNvPr>
          <p:cNvSpPr/>
          <p:nvPr/>
        </p:nvSpPr>
        <p:spPr>
          <a:xfrm>
            <a:off x="0" y="0"/>
            <a:ext cx="5573280" cy="17139"/>
          </a:xfrm>
          <a:prstGeom prst="rect">
            <a:avLst/>
          </a:prstGeom>
          <a:solidFill>
            <a:srgbClr val="0033A0"/>
          </a:solidFill>
          <a:ln/>
        </p:spPr>
        <p:txBody>
          <a:bodyPr/>
          <a:lstStyle/>
          <a:p>
            <a:endParaRPr lang="es-MX"/>
          </a:p>
        </p:txBody>
      </p:sp>
      <p:pic>
        <p:nvPicPr>
          <p:cNvPr id="47" name="Imagen 46">
            <a:extLst>
              <a:ext uri="{FF2B5EF4-FFF2-40B4-BE49-F238E27FC236}">
                <a16:creationId xmlns:a16="http://schemas.microsoft.com/office/drawing/2014/main" id="{838539E1-3681-3404-5B3F-E09B8D91E9D1}"/>
              </a:ext>
            </a:extLst>
          </p:cNvPr>
          <p:cNvPicPr>
            <a:picLocks noChangeAspect="1"/>
          </p:cNvPicPr>
          <p:nvPr/>
        </p:nvPicPr>
        <p:blipFill>
          <a:blip r:embed="rId4"/>
          <a:stretch>
            <a:fillRect/>
          </a:stretch>
        </p:blipFill>
        <p:spPr>
          <a:xfrm>
            <a:off x="1453995" y="2080986"/>
            <a:ext cx="4736557" cy="4109659"/>
          </a:xfrm>
          <a:prstGeom prst="rect">
            <a:avLst/>
          </a:prstGeom>
        </p:spPr>
      </p:pic>
    </p:spTree>
    <p:extLst>
      <p:ext uri="{BB962C8B-B14F-4D97-AF65-F5344CB8AC3E}">
        <p14:creationId xmlns:p14="http://schemas.microsoft.com/office/powerpoint/2010/main" val="2732435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EDE8DC"/>
        </a:solidFill>
        <a:effectLst/>
      </p:bgPr>
    </p:bg>
    <p:spTree>
      <p:nvGrpSpPr>
        <p:cNvPr id="1" name=""/>
        <p:cNvGrpSpPr/>
        <p:nvPr/>
      </p:nvGrpSpPr>
      <p:grpSpPr>
        <a:xfrm>
          <a:off x="0" y="0"/>
          <a:ext cx="0" cy="0"/>
          <a:chOff x="0" y="0"/>
          <a:chExt cx="0" cy="0"/>
        </a:xfrm>
      </p:grpSpPr>
      <p:sp>
        <p:nvSpPr>
          <p:cNvPr id="2" name="s17-forma-1"/>
          <p:cNvSpPr/>
          <p:nvPr/>
        </p:nvSpPr>
        <p:spPr>
          <a:xfrm>
            <a:off x="853390" y="520961"/>
            <a:ext cx="10484915" cy="5713"/>
          </a:xfrm>
          <a:prstGeom prst="rect">
            <a:avLst/>
          </a:prstGeom>
          <a:solidFill>
            <a:srgbClr val="C6BFAE"/>
          </a:solidFill>
          <a:ln/>
        </p:spPr>
        <p:txBody>
          <a:bodyPr/>
          <a:lstStyle/>
          <a:p>
            <a:endParaRPr lang="es-MX"/>
          </a:p>
        </p:txBody>
      </p:sp>
      <p:sp>
        <p:nvSpPr>
          <p:cNvPr id="3" name="s17-forma-2"/>
          <p:cNvSpPr/>
          <p:nvPr/>
        </p:nvSpPr>
        <p:spPr>
          <a:xfrm>
            <a:off x="853390" y="331715"/>
            <a:ext cx="81411" cy="81411"/>
          </a:xfrm>
          <a:prstGeom prst="ellipse">
            <a:avLst/>
          </a:prstGeom>
          <a:solidFill>
            <a:srgbClr val="0033A0"/>
          </a:solidFill>
          <a:ln/>
        </p:spPr>
        <p:txBody>
          <a:bodyPr/>
          <a:lstStyle/>
          <a:p>
            <a:endParaRPr lang="es-MX"/>
          </a:p>
        </p:txBody>
      </p:sp>
      <p:sp>
        <p:nvSpPr>
          <p:cNvPr id="4" name="s17-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7-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0:25 · 15 min</a:t>
            </a:r>
            <a:endParaRPr lang="en-US" sz="807" dirty="0"/>
          </a:p>
        </p:txBody>
      </p:sp>
      <p:sp>
        <p:nvSpPr>
          <p:cNvPr id="6" name="s17-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EN CÓDIGO</a:t>
            </a:r>
            <a:endParaRPr lang="en-US" sz="900" dirty="0"/>
          </a:p>
        </p:txBody>
      </p:sp>
      <p:sp>
        <p:nvSpPr>
          <p:cNvPr id="7" name="s17-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ReAct en código: el bucle es el patrón</a:t>
            </a:r>
            <a:endParaRPr lang="en-US" sz="2519" dirty="0"/>
          </a:p>
        </p:txBody>
      </p:sp>
      <p:sp>
        <p:nvSpPr>
          <p:cNvPr id="8" name="s17-forma-7"/>
          <p:cNvSpPr/>
          <p:nvPr/>
        </p:nvSpPr>
        <p:spPr>
          <a:xfrm>
            <a:off x="1342572" y="2205246"/>
            <a:ext cx="5941595" cy="3159329"/>
          </a:xfrm>
          <a:prstGeom prst="rect">
            <a:avLst/>
          </a:prstGeom>
          <a:solidFill>
            <a:srgbClr val="E8E2D5"/>
          </a:solidFill>
          <a:ln/>
        </p:spPr>
        <p:txBody>
          <a:bodyPr/>
          <a:lstStyle/>
          <a:p>
            <a:endParaRPr lang="es-MX"/>
          </a:p>
        </p:txBody>
      </p:sp>
      <p:sp>
        <p:nvSpPr>
          <p:cNvPr id="9" name="s17-forma-8"/>
          <p:cNvSpPr/>
          <p:nvPr/>
        </p:nvSpPr>
        <p:spPr>
          <a:xfrm>
            <a:off x="1342572" y="2205246"/>
            <a:ext cx="5941595" cy="5713"/>
          </a:xfrm>
          <a:prstGeom prst="rect">
            <a:avLst/>
          </a:prstGeom>
          <a:solidFill>
            <a:srgbClr val="DBD4C4"/>
          </a:solidFill>
          <a:ln/>
        </p:spPr>
        <p:txBody>
          <a:bodyPr/>
          <a:lstStyle/>
          <a:p>
            <a:endParaRPr lang="es-MX"/>
          </a:p>
        </p:txBody>
      </p:sp>
      <p:sp>
        <p:nvSpPr>
          <p:cNvPr id="10" name="s17-forma-9"/>
          <p:cNvSpPr/>
          <p:nvPr/>
        </p:nvSpPr>
        <p:spPr>
          <a:xfrm>
            <a:off x="1342572" y="5358861"/>
            <a:ext cx="5941595" cy="5713"/>
          </a:xfrm>
          <a:prstGeom prst="rect">
            <a:avLst/>
          </a:prstGeom>
          <a:solidFill>
            <a:srgbClr val="DBD4C4"/>
          </a:solidFill>
          <a:ln/>
        </p:spPr>
        <p:txBody>
          <a:bodyPr/>
          <a:lstStyle/>
          <a:p>
            <a:endParaRPr lang="es-MX"/>
          </a:p>
        </p:txBody>
      </p:sp>
      <p:sp>
        <p:nvSpPr>
          <p:cNvPr id="11" name="s17-forma-10"/>
          <p:cNvSpPr/>
          <p:nvPr/>
        </p:nvSpPr>
        <p:spPr>
          <a:xfrm>
            <a:off x="1342572" y="2205246"/>
            <a:ext cx="17139" cy="3159329"/>
          </a:xfrm>
          <a:prstGeom prst="rect">
            <a:avLst/>
          </a:prstGeom>
          <a:solidFill>
            <a:srgbClr val="C6BFAE"/>
          </a:solidFill>
          <a:ln/>
        </p:spPr>
        <p:txBody>
          <a:bodyPr/>
          <a:lstStyle/>
          <a:p>
            <a:endParaRPr lang="es-MX"/>
          </a:p>
        </p:txBody>
      </p:sp>
      <p:sp>
        <p:nvSpPr>
          <p:cNvPr id="12" name="s17-forma-11"/>
          <p:cNvSpPr/>
          <p:nvPr/>
        </p:nvSpPr>
        <p:spPr>
          <a:xfrm>
            <a:off x="7278453" y="2205246"/>
            <a:ext cx="5713" cy="3159329"/>
          </a:xfrm>
          <a:prstGeom prst="rect">
            <a:avLst/>
          </a:prstGeom>
          <a:solidFill>
            <a:srgbClr val="DBD4C4"/>
          </a:solidFill>
          <a:ln/>
        </p:spPr>
        <p:txBody>
          <a:bodyPr/>
          <a:lstStyle/>
          <a:p>
            <a:endParaRPr lang="es-MX"/>
          </a:p>
        </p:txBody>
      </p:sp>
      <p:sp>
        <p:nvSpPr>
          <p:cNvPr id="13" name="s17-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react(pregunta: str, max_pasos: int = 5) -&gt; str:</a:t>
            </a:r>
            <a:endParaRPr lang="en-US" sz="990" dirty="0"/>
          </a:p>
        </p:txBody>
      </p:sp>
      <p:sp>
        <p:nvSpPr>
          <p:cNvPr id="14" name="s17-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mensajes = [{</a:t>
            </a:r>
            <a:r>
              <a:rPr lang="en-US" sz="990" dirty="0">
                <a:solidFill>
                  <a:srgbClr val="1B6A43"/>
                </a:solidFill>
                <a:latin typeface="Courier New" pitchFamily="34" charset="0"/>
                <a:ea typeface="Courier New" pitchFamily="34" charset="-122"/>
                <a:cs typeface="Courier New" pitchFamily="34" charset="-120"/>
              </a:rPr>
              <a:t>"role"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"user"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"content"</a:t>
            </a:r>
            <a:r>
              <a:rPr lang="en-US" sz="990" dirty="0">
                <a:solidFill>
                  <a:srgbClr val="16181D"/>
                </a:solidFill>
                <a:latin typeface="Courier New" pitchFamily="34" charset="0"/>
                <a:ea typeface="Courier New" pitchFamily="34" charset="-122"/>
                <a:cs typeface="Courier New" pitchFamily="34" charset="-120"/>
              </a:rPr>
              <a:t>: pregunta}]</a:t>
            </a:r>
            <a:endParaRPr lang="en-US" sz="990" dirty="0"/>
          </a:p>
        </p:txBody>
      </p:sp>
      <p:sp>
        <p:nvSpPr>
          <p:cNvPr id="15" name="s17-forma-14"/>
          <p:cNvSpPr/>
          <p:nvPr/>
        </p:nvSpPr>
        <p:spPr>
          <a:xfrm>
            <a:off x="1451120" y="2747988"/>
            <a:ext cx="5735924" cy="188531"/>
          </a:xfrm>
          <a:prstGeom prst="rect">
            <a:avLst/>
          </a:prstGeom>
          <a:solidFill>
            <a:srgbClr val="DCE3F2"/>
          </a:solidFill>
          <a:ln/>
        </p:spPr>
        <p:txBody>
          <a:bodyPr/>
          <a:lstStyle/>
          <a:p>
            <a:endParaRPr lang="es-MX"/>
          </a:p>
        </p:txBody>
      </p:sp>
      <p:sp>
        <p:nvSpPr>
          <p:cNvPr id="16" name="s17-forma-15"/>
          <p:cNvSpPr/>
          <p:nvPr/>
        </p:nvSpPr>
        <p:spPr>
          <a:xfrm>
            <a:off x="1451120" y="2747988"/>
            <a:ext cx="22852" cy="188531"/>
          </a:xfrm>
          <a:prstGeom prst="rect">
            <a:avLst/>
          </a:prstGeom>
          <a:solidFill>
            <a:srgbClr val="AC321E"/>
          </a:solidFill>
          <a:ln/>
        </p:spPr>
        <p:txBody>
          <a:bodyPr/>
          <a:lstStyle/>
          <a:p>
            <a:endParaRPr lang="es-MX"/>
          </a:p>
        </p:txBody>
      </p:sp>
      <p:sp>
        <p:nvSpPr>
          <p:cNvPr id="17" name="s17-texto-16"/>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n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range(max_pasos):</a:t>
            </a:r>
            <a:endParaRPr lang="en-US" sz="990" dirty="0"/>
          </a:p>
        </p:txBody>
      </p:sp>
      <p:sp>
        <p:nvSpPr>
          <p:cNvPr id="18" name="s17-texto-17"/>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resp = cliente.messages.create(model=MODEL, tools=ESQUEMAS,</a:t>
            </a:r>
            <a:endParaRPr lang="en-US" sz="990" dirty="0"/>
          </a:p>
        </p:txBody>
      </p:sp>
      <p:sp>
        <p:nvSpPr>
          <p:cNvPr id="19" name="s17-texto-18"/>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messages=mensajes)</a:t>
            </a:r>
            <a:endParaRPr lang="en-US" sz="990" dirty="0"/>
          </a:p>
        </p:txBody>
      </p:sp>
      <p:sp>
        <p:nvSpPr>
          <p:cNvPr id="20" name="s17-texto-19"/>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mensajes.append({</a:t>
            </a:r>
            <a:r>
              <a:rPr lang="en-US" sz="990" dirty="0">
                <a:solidFill>
                  <a:srgbClr val="1B6A43"/>
                </a:solidFill>
                <a:latin typeface="Courier New" pitchFamily="34" charset="0"/>
                <a:ea typeface="Courier New" pitchFamily="34" charset="-122"/>
                <a:cs typeface="Courier New" pitchFamily="34" charset="-120"/>
              </a:rPr>
              <a:t>"role"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"assistant"</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"content"</a:t>
            </a:r>
            <a:r>
              <a:rPr lang="en-US" sz="990" dirty="0">
                <a:solidFill>
                  <a:srgbClr val="16181D"/>
                </a:solidFill>
                <a:latin typeface="Courier New" pitchFamily="34" charset="0"/>
                <a:ea typeface="Courier New" pitchFamily="34" charset="-122"/>
                <a:cs typeface="Courier New" pitchFamily="34" charset="-120"/>
              </a:rPr>
              <a:t>: resp.content})</a:t>
            </a:r>
            <a:endParaRPr lang="en-US" sz="990" dirty="0"/>
          </a:p>
        </p:txBody>
      </p:sp>
      <p:sp>
        <p:nvSpPr>
          <p:cNvPr id="21" name="s17-forma-20"/>
          <p:cNvSpPr/>
          <p:nvPr/>
        </p:nvSpPr>
        <p:spPr>
          <a:xfrm>
            <a:off x="1451120" y="3502113"/>
            <a:ext cx="5735924" cy="188531"/>
          </a:xfrm>
          <a:prstGeom prst="rect">
            <a:avLst/>
          </a:prstGeom>
          <a:solidFill>
            <a:srgbClr val="DCE3F2"/>
          </a:solidFill>
          <a:ln/>
        </p:spPr>
        <p:txBody>
          <a:bodyPr/>
          <a:lstStyle/>
          <a:p>
            <a:endParaRPr lang="es-MX"/>
          </a:p>
        </p:txBody>
      </p:sp>
      <p:sp>
        <p:nvSpPr>
          <p:cNvPr id="22" name="s17-forma-21"/>
          <p:cNvSpPr/>
          <p:nvPr/>
        </p:nvSpPr>
        <p:spPr>
          <a:xfrm>
            <a:off x="1451120" y="3502113"/>
            <a:ext cx="22852" cy="188531"/>
          </a:xfrm>
          <a:prstGeom prst="rect">
            <a:avLst/>
          </a:prstGeom>
          <a:solidFill>
            <a:srgbClr val="AC321E"/>
          </a:solidFill>
          <a:ln/>
        </p:spPr>
        <p:txBody>
          <a:bodyPr/>
          <a:lstStyle/>
          <a:p>
            <a:endParaRPr lang="es-MX"/>
          </a:p>
        </p:txBody>
      </p:sp>
      <p:sp>
        <p:nvSpPr>
          <p:cNvPr id="23" name="s17-texto-22"/>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resp.stop_reason != </a:t>
            </a:r>
            <a:r>
              <a:rPr lang="en-US" sz="990" dirty="0">
                <a:solidFill>
                  <a:srgbClr val="1B6A43"/>
                </a:solidFill>
                <a:latin typeface="Courier New" pitchFamily="34" charset="0"/>
                <a:ea typeface="Courier New" pitchFamily="34" charset="-122"/>
                <a:cs typeface="Courier New" pitchFamily="34" charset="-120"/>
              </a:rPr>
              <a:t>"tool_use"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ya puede responder</a:t>
            </a:r>
            <a:endParaRPr lang="en-US" sz="990" dirty="0"/>
          </a:p>
        </p:txBody>
      </p:sp>
      <p:sp>
        <p:nvSpPr>
          <p:cNvPr id="24" name="s17-texto-23"/>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a:t>
            </a:r>
            <a:r>
              <a:rPr lang="en-US" sz="990" dirty="0">
                <a:solidFill>
                  <a:srgbClr val="16181D"/>
                </a:solidFill>
                <a:latin typeface="Courier New" pitchFamily="34" charset="0"/>
                <a:ea typeface="Courier New" pitchFamily="34" charset="-122"/>
                <a:cs typeface="Courier New" pitchFamily="34" charset="-120"/>
              </a:rPr>
              <a:t>.join(b.text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b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resp.content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b.type == </a:t>
            </a:r>
            <a:r>
              <a:rPr lang="en-US" sz="990" dirty="0">
                <a:solidFill>
                  <a:srgbClr val="1B6A43"/>
                </a:solidFill>
                <a:latin typeface="Courier New" pitchFamily="34" charset="0"/>
                <a:ea typeface="Courier New" pitchFamily="34" charset="-122"/>
                <a:cs typeface="Courier New" pitchFamily="34" charset="-120"/>
              </a:rPr>
              <a:t>"text"</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5" name="s17-texto-24"/>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b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resp.content:</a:t>
            </a:r>
            <a:endParaRPr lang="en-US" sz="990" dirty="0"/>
          </a:p>
        </p:txBody>
      </p:sp>
      <p:sp>
        <p:nvSpPr>
          <p:cNvPr id="26" name="s17-texto-25"/>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b.type == </a:t>
            </a:r>
            <a:r>
              <a:rPr lang="en-US" sz="990" dirty="0">
                <a:solidFill>
                  <a:srgbClr val="1B6A43"/>
                </a:solidFill>
                <a:latin typeface="Courier New" pitchFamily="34" charset="0"/>
                <a:ea typeface="Courier New" pitchFamily="34" charset="-122"/>
                <a:cs typeface="Courier New" pitchFamily="34" charset="-120"/>
              </a:rPr>
              <a:t>"tool_use"</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7" name="s17-forma-26"/>
          <p:cNvSpPr/>
          <p:nvPr/>
        </p:nvSpPr>
        <p:spPr>
          <a:xfrm>
            <a:off x="1451120" y="4256238"/>
            <a:ext cx="5735924" cy="188531"/>
          </a:xfrm>
          <a:prstGeom prst="rect">
            <a:avLst/>
          </a:prstGeom>
          <a:solidFill>
            <a:srgbClr val="DCE3F2"/>
          </a:solidFill>
          <a:ln/>
        </p:spPr>
        <p:txBody>
          <a:bodyPr/>
          <a:lstStyle/>
          <a:p>
            <a:endParaRPr lang="es-MX"/>
          </a:p>
        </p:txBody>
      </p:sp>
      <p:sp>
        <p:nvSpPr>
          <p:cNvPr id="28" name="s17-forma-27"/>
          <p:cNvSpPr/>
          <p:nvPr/>
        </p:nvSpPr>
        <p:spPr>
          <a:xfrm>
            <a:off x="1451120" y="4256238"/>
            <a:ext cx="22852" cy="188531"/>
          </a:xfrm>
          <a:prstGeom prst="rect">
            <a:avLst/>
          </a:prstGeom>
          <a:solidFill>
            <a:srgbClr val="AC321E"/>
          </a:solidFill>
          <a:ln/>
        </p:spPr>
        <p:txBody>
          <a:bodyPr/>
          <a:lstStyle/>
          <a:p>
            <a:endParaRPr lang="es-MX"/>
          </a:p>
        </p:txBody>
      </p:sp>
      <p:sp>
        <p:nvSpPr>
          <p:cNvPr id="29" name="s17-texto-28"/>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observacion = HERRAMIENTAS[b.name](**b.input)</a:t>
            </a:r>
            <a:endParaRPr lang="en-US" sz="990" dirty="0"/>
          </a:p>
        </p:txBody>
      </p:sp>
      <p:sp>
        <p:nvSpPr>
          <p:cNvPr id="30" name="s17-texto-29"/>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resultados.append({</a:t>
            </a:r>
            <a:r>
              <a:rPr lang="en-US" sz="990" dirty="0">
                <a:solidFill>
                  <a:srgbClr val="1B6A43"/>
                </a:solidFill>
                <a:latin typeface="Courier New" pitchFamily="34" charset="0"/>
                <a:ea typeface="Courier New" pitchFamily="34" charset="-122"/>
                <a:cs typeface="Courier New" pitchFamily="34" charset="-120"/>
              </a:rPr>
              <a:t>"type"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"tool_result"</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1" name="s17-texto-30"/>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"tool_use_id"</a:t>
            </a:r>
            <a:r>
              <a:rPr lang="en-US" sz="990" dirty="0">
                <a:solidFill>
                  <a:srgbClr val="16181D"/>
                </a:solidFill>
                <a:latin typeface="Courier New" pitchFamily="34" charset="0"/>
                <a:ea typeface="Courier New" pitchFamily="34" charset="-122"/>
                <a:cs typeface="Courier New" pitchFamily="34" charset="-120"/>
              </a:rPr>
              <a:t>: b.id, </a:t>
            </a:r>
            <a:r>
              <a:rPr lang="en-US" sz="990" dirty="0">
                <a:solidFill>
                  <a:srgbClr val="1B6A43"/>
                </a:solidFill>
                <a:latin typeface="Courier New" pitchFamily="34" charset="0"/>
                <a:ea typeface="Courier New" pitchFamily="34" charset="-122"/>
                <a:cs typeface="Courier New" pitchFamily="34" charset="-120"/>
              </a:rPr>
              <a:t>"content"</a:t>
            </a:r>
            <a:r>
              <a:rPr lang="en-US" sz="990" dirty="0">
                <a:solidFill>
                  <a:srgbClr val="16181D"/>
                </a:solidFill>
                <a:latin typeface="Courier New" pitchFamily="34" charset="0"/>
                <a:ea typeface="Courier New" pitchFamily="34" charset="-122"/>
                <a:cs typeface="Courier New" pitchFamily="34" charset="-120"/>
              </a:rPr>
              <a:t>: observacion})</a:t>
            </a:r>
            <a:endParaRPr lang="en-US" sz="990" dirty="0"/>
          </a:p>
        </p:txBody>
      </p:sp>
      <p:sp>
        <p:nvSpPr>
          <p:cNvPr id="32" name="s17-forma-31"/>
          <p:cNvSpPr/>
          <p:nvPr/>
        </p:nvSpPr>
        <p:spPr>
          <a:xfrm>
            <a:off x="1451120" y="4821833"/>
            <a:ext cx="5735924" cy="188531"/>
          </a:xfrm>
          <a:prstGeom prst="rect">
            <a:avLst/>
          </a:prstGeom>
          <a:solidFill>
            <a:srgbClr val="DCE3F2"/>
          </a:solidFill>
          <a:ln/>
        </p:spPr>
        <p:txBody>
          <a:bodyPr/>
          <a:lstStyle/>
          <a:p>
            <a:endParaRPr lang="es-MX"/>
          </a:p>
        </p:txBody>
      </p:sp>
      <p:sp>
        <p:nvSpPr>
          <p:cNvPr id="33" name="s17-forma-32"/>
          <p:cNvSpPr/>
          <p:nvPr/>
        </p:nvSpPr>
        <p:spPr>
          <a:xfrm>
            <a:off x="1451120" y="4821833"/>
            <a:ext cx="22852" cy="188531"/>
          </a:xfrm>
          <a:prstGeom prst="rect">
            <a:avLst/>
          </a:prstGeom>
          <a:solidFill>
            <a:srgbClr val="AC321E"/>
          </a:solidFill>
          <a:ln/>
        </p:spPr>
        <p:txBody>
          <a:bodyPr/>
          <a:lstStyle/>
          <a:p>
            <a:endParaRPr lang="es-MX"/>
          </a:p>
        </p:txBody>
      </p:sp>
      <p:sp>
        <p:nvSpPr>
          <p:cNvPr id="34" name="s17-texto-33"/>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mensajes.append({</a:t>
            </a:r>
            <a:r>
              <a:rPr lang="en-US" sz="990" dirty="0">
                <a:solidFill>
                  <a:srgbClr val="1B6A43"/>
                </a:solidFill>
                <a:latin typeface="Courier New" pitchFamily="34" charset="0"/>
                <a:ea typeface="Courier New" pitchFamily="34" charset="-122"/>
                <a:cs typeface="Courier New" pitchFamily="34" charset="-120"/>
              </a:rPr>
              <a:t>"role"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"user"</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"content"</a:t>
            </a:r>
            <a:r>
              <a:rPr lang="en-US" sz="990" dirty="0">
                <a:solidFill>
                  <a:srgbClr val="16181D"/>
                </a:solidFill>
                <a:latin typeface="Courier New" pitchFamily="34" charset="0"/>
                <a:ea typeface="Courier New" pitchFamily="34" charset="-122"/>
                <a:cs typeface="Courier New" pitchFamily="34" charset="-120"/>
              </a:rPr>
              <a:t>: resultados})</a:t>
            </a:r>
            <a:endParaRPr lang="en-US" sz="990" dirty="0"/>
          </a:p>
        </p:txBody>
      </p:sp>
      <p:sp>
        <p:nvSpPr>
          <p:cNvPr id="35" name="s17-texto-34"/>
          <p:cNvSpPr txBox="1"/>
          <p:nvPr/>
        </p:nvSpPr>
        <p:spPr>
          <a:xfrm>
            <a:off x="1542529" y="501036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raise</a:t>
            </a:r>
            <a:r>
              <a:rPr lang="en-US" sz="990" dirty="0">
                <a:solidFill>
                  <a:srgbClr val="16181D"/>
                </a:solidFill>
                <a:latin typeface="Courier New" pitchFamily="34" charset="0"/>
                <a:ea typeface="Courier New" pitchFamily="34" charset="-122"/>
                <a:cs typeface="Courier New" pitchFamily="34" charset="-120"/>
              </a:rPr>
              <a:t> RuntimeError(</a:t>
            </a:r>
            <a:r>
              <a:rPr lang="en-US" sz="990" dirty="0">
                <a:solidFill>
                  <a:srgbClr val="1B6A43"/>
                </a:solidFill>
                <a:latin typeface="Courier New" pitchFamily="34" charset="0"/>
                <a:ea typeface="Courier New" pitchFamily="34" charset="-122"/>
                <a:cs typeface="Courier New" pitchFamily="34" charset="-120"/>
              </a:rPr>
              <a:t>"Se alcanzó el límite de pasos"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6" name="s17-texto-35"/>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7" name="s17-texto-36"/>
          <p:cNvSpPr txBox="1"/>
          <p:nvPr/>
        </p:nvSpPr>
        <p:spPr>
          <a:xfrm>
            <a:off x="7558394" y="2410916"/>
            <a:ext cx="3488173"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a:t>
            </a:r>
            <a:r>
              <a:rPr lang="en-US" sz="1170" b="1" dirty="0">
                <a:solidFill>
                  <a:srgbClr val="0033A0"/>
                </a:solidFill>
                <a:latin typeface="Arial" pitchFamily="34" charset="0"/>
                <a:ea typeface="Arial" pitchFamily="34" charset="-122"/>
                <a:cs typeface="Arial" pitchFamily="34" charset="-120"/>
              </a:rPr>
              <a:t>for</a:t>
            </a:r>
            <a:r>
              <a:rPr lang="en-US" sz="1170" dirty="0">
                <a:solidFill>
                  <a:srgbClr val="16181D"/>
                </a:solidFill>
                <a:latin typeface="Arial" pitchFamily="34" charset="0"/>
                <a:ea typeface="Arial" pitchFamily="34" charset="-122"/>
                <a:cs typeface="Arial" pitchFamily="34" charset="-120"/>
              </a:rPr>
              <a:t> que sigue mientras el modelo pida herramientas. El modelo decide cuántas vueltas; el código pone el tope.</a:t>
            </a:r>
            <a:endParaRPr lang="en-US" sz="1170" dirty="0"/>
          </a:p>
        </p:txBody>
      </p:sp>
      <p:sp>
        <p:nvSpPr>
          <p:cNvPr id="38" name="s17-texto-37"/>
          <p:cNvSpPr txBox="1"/>
          <p:nvPr/>
        </p:nvSpPr>
        <p:spPr>
          <a:xfrm>
            <a:off x="7558394" y="3154598"/>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9" name="s17-texto-38"/>
          <p:cNvSpPr txBox="1"/>
          <p:nvPr/>
        </p:nvSpPr>
        <p:spPr>
          <a:xfrm>
            <a:off x="7558394" y="3360268"/>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Plan-and-Execute: allí el siguiente paso se decide antes, no en cada vuelta.</a:t>
            </a:r>
            <a:endParaRPr lang="en-US" sz="1170" dirty="0"/>
          </a:p>
        </p:txBody>
      </p:sp>
      <p:sp>
        <p:nvSpPr>
          <p:cNvPr id="40" name="s17-texto-39"/>
          <p:cNvSpPr txBox="1"/>
          <p:nvPr/>
        </p:nvSpPr>
        <p:spPr>
          <a:xfrm>
            <a:off x="7558394" y="3896047"/>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1" name="s17-forma-40"/>
          <p:cNvSpPr/>
          <p:nvPr/>
        </p:nvSpPr>
        <p:spPr>
          <a:xfrm>
            <a:off x="7558394" y="4084579"/>
            <a:ext cx="3290729" cy="289046"/>
          </a:xfrm>
          <a:prstGeom prst="rect">
            <a:avLst/>
          </a:prstGeom>
          <a:solidFill>
            <a:srgbClr val="E3DCCB"/>
          </a:solidFill>
          <a:ln/>
        </p:spPr>
        <p:txBody>
          <a:bodyPr/>
          <a:lstStyle/>
          <a:p>
            <a:endParaRPr lang="es-MX"/>
          </a:p>
        </p:txBody>
      </p:sp>
      <p:sp>
        <p:nvSpPr>
          <p:cNvPr id="42" name="s17-texto-41"/>
          <p:cNvSpPr txBox="1"/>
          <p:nvPr/>
        </p:nvSpPr>
        <p:spPr>
          <a:xfrm>
            <a:off x="7649803" y="4164562"/>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ejemplos.s1_razonamiento.react</a:t>
            </a:r>
            <a:endParaRPr lang="en-US" sz="855" dirty="0"/>
          </a:p>
        </p:txBody>
      </p:sp>
      <p:sp>
        <p:nvSpPr>
          <p:cNvPr id="43" name="s17-forma-42"/>
          <p:cNvSpPr/>
          <p:nvPr/>
        </p:nvSpPr>
        <p:spPr>
          <a:xfrm>
            <a:off x="7558394" y="4510738"/>
            <a:ext cx="3290729" cy="832859"/>
          </a:xfrm>
          <a:prstGeom prst="rect">
            <a:avLst/>
          </a:prstGeom>
          <a:solidFill>
            <a:srgbClr val="E2D3C2"/>
          </a:solidFill>
          <a:ln/>
        </p:spPr>
        <p:txBody>
          <a:bodyPr/>
          <a:lstStyle/>
          <a:p>
            <a:endParaRPr lang="es-MX"/>
          </a:p>
        </p:txBody>
      </p:sp>
      <p:sp>
        <p:nvSpPr>
          <p:cNvPr id="44" name="s17-texto-43"/>
          <p:cNvSpPr txBox="1"/>
          <p:nvPr/>
        </p:nvSpPr>
        <p:spPr>
          <a:xfrm>
            <a:off x="7695508" y="462499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5" name="s17-texto-44"/>
          <p:cNvSpPr txBox="1"/>
          <p:nvPr/>
        </p:nvSpPr>
        <p:spPr>
          <a:xfrm>
            <a:off x="7695508" y="483067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agentes/base.py → ejecutar_agente(): el mismo bucle, con herramientas de archivos.</a:t>
            </a:r>
            <a:endParaRPr lang="en-US" sz="1170" dirty="0"/>
          </a:p>
        </p:txBody>
      </p:sp>
      <p:sp>
        <p:nvSpPr>
          <p:cNvPr id="46" name="s17-texto-4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ejemplos/s1_razonamiento/react.py · las líneas resaltadas son el patrón</a:t>
            </a:r>
            <a:endParaRPr lang="en-US" sz="1080" dirty="0"/>
          </a:p>
        </p:txBody>
      </p:sp>
      <p:sp>
        <p:nvSpPr>
          <p:cNvPr id="47" name="s17-forma-46"/>
          <p:cNvSpPr/>
          <p:nvPr/>
        </p:nvSpPr>
        <p:spPr>
          <a:xfrm>
            <a:off x="853390" y="6411138"/>
            <a:ext cx="10484915" cy="5713"/>
          </a:xfrm>
          <a:prstGeom prst="rect">
            <a:avLst/>
          </a:prstGeom>
          <a:solidFill>
            <a:srgbClr val="DBD4C4"/>
          </a:solidFill>
          <a:ln/>
        </p:spPr>
        <p:txBody>
          <a:bodyPr/>
          <a:lstStyle/>
          <a:p>
            <a:endParaRPr lang="es-MX"/>
          </a:p>
        </p:txBody>
      </p:sp>
      <p:pic>
        <p:nvPicPr>
          <p:cNvPr id="48" name="s17-logo-47" descr="preencoded.png"/>
          <p:cNvPicPr>
            <a:picLocks noChangeAspect="1"/>
          </p:cNvPicPr>
          <p:nvPr/>
        </p:nvPicPr>
        <p:blipFill>
          <a:blip r:embed="rId3"/>
          <a:stretch>
            <a:fillRect/>
          </a:stretch>
        </p:blipFill>
        <p:spPr>
          <a:xfrm>
            <a:off x="853390" y="6465055"/>
            <a:ext cx="687800" cy="212455"/>
          </a:xfrm>
          <a:prstGeom prst="rect">
            <a:avLst/>
          </a:prstGeom>
        </p:spPr>
      </p:pic>
      <p:sp>
        <p:nvSpPr>
          <p:cNvPr id="49" name="s17-forma-48"/>
          <p:cNvSpPr/>
          <p:nvPr/>
        </p:nvSpPr>
        <p:spPr>
          <a:xfrm>
            <a:off x="1659380" y="6519865"/>
            <a:ext cx="3057208" cy="102835"/>
          </a:xfrm>
          <a:prstGeom prst="rect">
            <a:avLst/>
          </a:prstGeom>
          <a:ln/>
        </p:spPr>
        <p:txBody>
          <a:bodyPr/>
          <a:lstStyle/>
          <a:p>
            <a:endParaRPr lang="es-MX"/>
          </a:p>
        </p:txBody>
      </p:sp>
      <p:sp>
        <p:nvSpPr>
          <p:cNvPr id="50" name="s17-forma-49"/>
          <p:cNvSpPr/>
          <p:nvPr/>
        </p:nvSpPr>
        <p:spPr>
          <a:xfrm>
            <a:off x="1659380" y="6519865"/>
            <a:ext cx="5713" cy="102835"/>
          </a:xfrm>
          <a:prstGeom prst="rect">
            <a:avLst/>
          </a:prstGeom>
          <a:solidFill>
            <a:srgbClr val="C6BFAE"/>
          </a:solidFill>
          <a:ln/>
        </p:spPr>
        <p:txBody>
          <a:bodyPr/>
          <a:lstStyle/>
          <a:p>
            <a:endParaRPr lang="es-MX"/>
          </a:p>
        </p:txBody>
      </p:sp>
      <p:sp>
        <p:nvSpPr>
          <p:cNvPr id="51" name="s17-texto-50"/>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2" name="s17-texto-5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17 / 35</a:t>
            </a:r>
            <a:endParaRPr lang="en-US" sz="745" dirty="0"/>
          </a:p>
        </p:txBody>
      </p:sp>
      <p:sp>
        <p:nvSpPr>
          <p:cNvPr id="53" name="s17-forma-52"/>
          <p:cNvSpPr/>
          <p:nvPr/>
        </p:nvSpPr>
        <p:spPr>
          <a:xfrm>
            <a:off x="0" y="0"/>
            <a:ext cx="5921599" cy="17139"/>
          </a:xfrm>
          <a:prstGeom prst="rect">
            <a:avLst/>
          </a:prstGeom>
          <a:solidFill>
            <a:srgbClr val="0033A0"/>
          </a:solidFill>
          <a:ln/>
        </p:spPr>
        <p:txBody>
          <a:bodyPr/>
          <a:lstStyle/>
          <a:p>
            <a:endParaRPr lang="es-MX"/>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EDE8DC"/>
        </a:solidFill>
        <a:effectLst/>
      </p:bgPr>
    </p:bg>
    <p:spTree>
      <p:nvGrpSpPr>
        <p:cNvPr id="1" name=""/>
        <p:cNvGrpSpPr/>
        <p:nvPr/>
      </p:nvGrpSpPr>
      <p:grpSpPr>
        <a:xfrm>
          <a:off x="0" y="0"/>
          <a:ext cx="0" cy="0"/>
          <a:chOff x="0" y="0"/>
          <a:chExt cx="0" cy="0"/>
        </a:xfrm>
      </p:grpSpPr>
      <p:sp>
        <p:nvSpPr>
          <p:cNvPr id="2" name="s18-forma-1"/>
          <p:cNvSpPr/>
          <p:nvPr/>
        </p:nvSpPr>
        <p:spPr>
          <a:xfrm>
            <a:off x="853390" y="331715"/>
            <a:ext cx="81411" cy="81411"/>
          </a:xfrm>
          <a:prstGeom prst="ellipse">
            <a:avLst/>
          </a:prstGeom>
          <a:solidFill>
            <a:srgbClr val="0033A0"/>
          </a:solidFill>
          <a:ln/>
        </p:spPr>
        <p:txBody>
          <a:bodyPr/>
          <a:lstStyle/>
          <a:p>
            <a:endParaRPr lang="es-MX"/>
          </a:p>
        </p:txBody>
      </p:sp>
      <p:sp>
        <p:nvSpPr>
          <p:cNvPr id="3" name="s18-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18-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5" name="s18-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1.3</a:t>
            </a:r>
            <a:endParaRPr lang="en-US" sz="869" dirty="0"/>
          </a:p>
        </p:txBody>
      </p:sp>
      <p:sp>
        <p:nvSpPr>
          <p:cNvPr id="6" name="s18-forma-5"/>
          <p:cNvSpPr/>
          <p:nvPr/>
        </p:nvSpPr>
        <p:spPr>
          <a:xfrm>
            <a:off x="853390" y="3768306"/>
            <a:ext cx="722704" cy="22852"/>
          </a:xfrm>
          <a:prstGeom prst="rect">
            <a:avLst/>
          </a:prstGeom>
          <a:solidFill>
            <a:srgbClr val="0033A0"/>
          </a:solidFill>
          <a:ln/>
        </p:spPr>
        <p:txBody>
          <a:bodyPr/>
          <a:lstStyle/>
          <a:p>
            <a:endParaRPr lang="es-MX"/>
          </a:p>
        </p:txBody>
      </p:sp>
      <p:sp>
        <p:nvSpPr>
          <p:cNvPr id="7" name="s18-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Plan-and-Execute</a:t>
            </a:r>
            <a:endParaRPr lang="en-US" sz="4242" dirty="0"/>
          </a:p>
        </p:txBody>
      </p:sp>
      <p:sp>
        <p:nvSpPr>
          <p:cNvPr id="8" name="s18-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Primero un plan que se puede aprobar; después, los pasos.</a:t>
            </a:r>
            <a:endParaRPr lang="en-US" sz="1676" dirty="0"/>
          </a:p>
        </p:txBody>
      </p:sp>
      <p:pic>
        <p:nvPicPr>
          <p:cNvPr id="9" name="s18-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8-forma-9"/>
          <p:cNvSpPr/>
          <p:nvPr/>
        </p:nvSpPr>
        <p:spPr>
          <a:xfrm>
            <a:off x="1659380" y="6519865"/>
            <a:ext cx="3057208" cy="102835"/>
          </a:xfrm>
          <a:prstGeom prst="rect">
            <a:avLst/>
          </a:prstGeom>
          <a:ln/>
        </p:spPr>
        <p:txBody>
          <a:bodyPr/>
          <a:lstStyle/>
          <a:p>
            <a:endParaRPr lang="es-MX"/>
          </a:p>
        </p:txBody>
      </p:sp>
      <p:sp>
        <p:nvSpPr>
          <p:cNvPr id="11" name="s18-forma-10"/>
          <p:cNvSpPr/>
          <p:nvPr/>
        </p:nvSpPr>
        <p:spPr>
          <a:xfrm>
            <a:off x="1659380" y="6519865"/>
            <a:ext cx="5713" cy="102835"/>
          </a:xfrm>
          <a:prstGeom prst="rect">
            <a:avLst/>
          </a:prstGeom>
          <a:solidFill>
            <a:srgbClr val="C6BFAE"/>
          </a:solidFill>
          <a:ln/>
        </p:spPr>
        <p:txBody>
          <a:bodyPr/>
          <a:lstStyle/>
          <a:p>
            <a:endParaRPr lang="es-MX"/>
          </a:p>
        </p:txBody>
      </p:sp>
      <p:sp>
        <p:nvSpPr>
          <p:cNvPr id="12" name="s18-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18-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18 / 35</a:t>
            </a:r>
            <a:endParaRPr lang="en-US" sz="745" dirty="0"/>
          </a:p>
        </p:txBody>
      </p:sp>
      <p:sp>
        <p:nvSpPr>
          <p:cNvPr id="14" name="s18-forma-13"/>
          <p:cNvSpPr/>
          <p:nvPr/>
        </p:nvSpPr>
        <p:spPr>
          <a:xfrm>
            <a:off x="0" y="0"/>
            <a:ext cx="6270007" cy="17139"/>
          </a:xfrm>
          <a:prstGeom prst="rect">
            <a:avLst/>
          </a:prstGeom>
          <a:solidFill>
            <a:srgbClr val="0033A0"/>
          </a:solidFill>
          <a:ln/>
        </p:spPr>
        <p:txBody>
          <a:bodyPr/>
          <a:lstStyle/>
          <a:p>
            <a:endParaRPr lang="es-MX"/>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EDE8DC"/>
        </a:solidFill>
        <a:effectLst/>
      </p:bgPr>
    </p:bg>
    <p:spTree>
      <p:nvGrpSpPr>
        <p:cNvPr id="1" name=""/>
        <p:cNvGrpSpPr/>
        <p:nvPr/>
      </p:nvGrpSpPr>
      <p:grpSpPr>
        <a:xfrm>
          <a:off x="0" y="0"/>
          <a:ext cx="0" cy="0"/>
          <a:chOff x="0" y="0"/>
          <a:chExt cx="0" cy="0"/>
        </a:xfrm>
      </p:grpSpPr>
      <p:sp>
        <p:nvSpPr>
          <p:cNvPr id="2" name="s19-forma-1"/>
          <p:cNvSpPr/>
          <p:nvPr/>
        </p:nvSpPr>
        <p:spPr>
          <a:xfrm>
            <a:off x="853390" y="520961"/>
            <a:ext cx="10484915" cy="5713"/>
          </a:xfrm>
          <a:prstGeom prst="rect">
            <a:avLst/>
          </a:prstGeom>
          <a:solidFill>
            <a:srgbClr val="C6BFAE"/>
          </a:solidFill>
          <a:ln/>
        </p:spPr>
        <p:txBody>
          <a:bodyPr/>
          <a:lstStyle/>
          <a:p>
            <a:endParaRPr lang="es-MX"/>
          </a:p>
        </p:txBody>
      </p:sp>
      <p:sp>
        <p:nvSpPr>
          <p:cNvPr id="3" name="s19-forma-2"/>
          <p:cNvSpPr/>
          <p:nvPr/>
        </p:nvSpPr>
        <p:spPr>
          <a:xfrm>
            <a:off x="853390" y="331715"/>
            <a:ext cx="81411" cy="81411"/>
          </a:xfrm>
          <a:prstGeom prst="ellipse">
            <a:avLst/>
          </a:prstGeom>
          <a:solidFill>
            <a:srgbClr val="0033A0"/>
          </a:solidFill>
          <a:ln/>
        </p:spPr>
        <p:txBody>
          <a:bodyPr/>
          <a:lstStyle/>
          <a:p>
            <a:endParaRPr lang="es-MX"/>
          </a:p>
        </p:txBody>
      </p:sp>
      <p:sp>
        <p:nvSpPr>
          <p:cNvPr id="4" name="s19-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6" name="s19-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LA IDEA</a:t>
            </a:r>
            <a:endParaRPr lang="en-US" sz="900" dirty="0"/>
          </a:p>
        </p:txBody>
      </p:sp>
      <p:sp>
        <p:nvSpPr>
          <p:cNvPr id="7" name="s19-texto-6"/>
          <p:cNvSpPr txBox="1"/>
          <p:nvPr/>
        </p:nvSpPr>
        <p:spPr>
          <a:xfrm>
            <a:off x="1342572" y="1456833"/>
            <a:ext cx="10076945" cy="354210"/>
          </a:xfrm>
          <a:prstGeom prst="rect">
            <a:avLst/>
          </a:prstGeom>
          <a:noFill/>
          <a:ln/>
        </p:spPr>
        <p:txBody>
          <a:bodyPr wrap="none" lIns="0" tIns="0" rIns="0" bIns="0" rtlCol="0" anchor="t"/>
          <a:lstStyle/>
          <a:p>
            <a:pPr marL="0" indent="0" algn="l">
              <a:lnSpc>
                <a:spcPts val="2623"/>
              </a:lnSpc>
              <a:buNone/>
            </a:pPr>
            <a:r>
              <a:rPr lang="en-US" sz="2384" b="1" kern="0" spc="-24" dirty="0">
                <a:solidFill>
                  <a:srgbClr val="16181D"/>
                </a:solidFill>
                <a:latin typeface="Georgia" pitchFamily="34" charset="0"/>
                <a:ea typeface="Georgia" pitchFamily="34" charset="-122"/>
                <a:cs typeface="Georgia" pitchFamily="34" charset="-120"/>
              </a:rPr>
              <a:t>Plan-and-Execute: primero el plan, después los pasos</a:t>
            </a:r>
            <a:endParaRPr lang="en-US" sz="2384" dirty="0"/>
          </a:p>
        </p:txBody>
      </p:sp>
      <p:sp>
        <p:nvSpPr>
          <p:cNvPr id="8" name="s19-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19-texto-8"/>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1. </a:t>
            </a:r>
            <a:r>
              <a:rPr lang="en-US" sz="1260" b="1" dirty="0" err="1">
                <a:solidFill>
                  <a:srgbClr val="16181D"/>
                </a:solidFill>
                <a:latin typeface="Arial" pitchFamily="34" charset="0"/>
                <a:ea typeface="Arial" pitchFamily="34" charset="-122"/>
                <a:cs typeface="Arial" pitchFamily="34" charset="-120"/>
              </a:rPr>
              <a:t>Improvisar</a:t>
            </a:r>
            <a:r>
              <a:rPr lang="en-US" sz="1260" b="1" dirty="0">
                <a:solidFill>
                  <a:srgbClr val="16181D"/>
                </a:solidFill>
                <a:latin typeface="Arial" pitchFamily="34" charset="0"/>
                <a:ea typeface="Arial" pitchFamily="34" charset="-122"/>
                <a:cs typeface="Arial" pitchFamily="34" charset="-120"/>
              </a:rPr>
              <a:t> paso a paso</a:t>
            </a:r>
            <a:endParaRPr lang="en-US" sz="1260" dirty="0"/>
          </a:p>
        </p:txBody>
      </p:sp>
      <p:sp>
        <p:nvSpPr>
          <p:cNvPr id="10" name="s19-texto-9"/>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Como ReAct: flexible, pero no ves el camino completo ni puedes aprobarlo antes de gastar.</a:t>
            </a:r>
            <a:endParaRPr lang="en-US" sz="1170" dirty="0"/>
          </a:p>
        </p:txBody>
      </p:sp>
      <p:sp>
        <p:nvSpPr>
          <p:cNvPr id="11" name="s19-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19-texto-11"/>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2. Un plan que nadie revisa</a:t>
            </a:r>
            <a:endParaRPr lang="en-US" sz="1260" dirty="0"/>
          </a:p>
        </p:txBody>
      </p:sp>
      <p:sp>
        <p:nvSpPr>
          <p:cNvPr id="13" name="s19-texto-12"/>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Escribe una lista y la sigue a ciegas: si un paso falla, no se entera.</a:t>
            </a:r>
            <a:endParaRPr lang="en-US" sz="1170" dirty="0"/>
          </a:p>
        </p:txBody>
      </p:sp>
      <p:sp>
        <p:nvSpPr>
          <p:cNvPr id="14" name="s19-forma-13"/>
          <p:cNvSpPr/>
          <p:nvPr/>
        </p:nvSpPr>
        <p:spPr>
          <a:xfrm>
            <a:off x="1342572" y="4270878"/>
            <a:ext cx="4341935" cy="1092179"/>
          </a:xfrm>
          <a:prstGeom prst="rect">
            <a:avLst/>
          </a:prstGeom>
          <a:solidFill>
            <a:srgbClr val="E2D3C2"/>
          </a:solidFill>
          <a:ln w="5713">
            <a:solidFill>
              <a:srgbClr val="984514"/>
            </a:solidFill>
            <a:prstDash val="solid"/>
          </a:ln>
        </p:spPr>
        <p:txBody>
          <a:bodyPr/>
          <a:lstStyle/>
          <a:p>
            <a:endParaRPr lang="es-MX"/>
          </a:p>
        </p:txBody>
      </p:sp>
      <p:sp>
        <p:nvSpPr>
          <p:cNvPr id="15" name="s19-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3. Plan-and-Execute</a:t>
            </a:r>
            <a:endParaRPr lang="en-US" sz="1260" dirty="0"/>
          </a:p>
        </p:txBody>
      </p:sp>
      <p:sp>
        <p:nvSpPr>
          <p:cNvPr id="16" name="s19-texto-15"/>
          <p:cNvSpPr txBox="1"/>
          <p:nvPr/>
        </p:nvSpPr>
        <p:spPr>
          <a:xfrm>
            <a:off x="1576808" y="4636515"/>
            <a:ext cx="4105870"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planificador escribe la lista completa de pasos; un ejecutor la recorre en orden, y el plan se puede aprobar o rehacer.</a:t>
            </a:r>
            <a:endParaRPr lang="en-US" sz="1170" dirty="0"/>
          </a:p>
        </p:txBody>
      </p:sp>
      <p:sp>
        <p:nvSpPr>
          <p:cNvPr id="17" name="s19-forma-16"/>
          <p:cNvSpPr/>
          <p:nvPr/>
        </p:nvSpPr>
        <p:spPr>
          <a:xfrm>
            <a:off x="6095848" y="2228098"/>
            <a:ext cx="4753276" cy="2346644"/>
          </a:xfrm>
          <a:prstGeom prst="rect">
            <a:avLst/>
          </a:prstGeom>
          <a:solidFill>
            <a:srgbClr val="E8E2D5"/>
          </a:solidFill>
          <a:ln/>
        </p:spPr>
        <p:txBody>
          <a:bodyPr/>
          <a:lstStyle/>
          <a:p>
            <a:endParaRPr lang="es-MX"/>
          </a:p>
        </p:txBody>
      </p:sp>
      <p:sp>
        <p:nvSpPr>
          <p:cNvPr id="18" name="s19-forma-17"/>
          <p:cNvSpPr/>
          <p:nvPr/>
        </p:nvSpPr>
        <p:spPr>
          <a:xfrm>
            <a:off x="6095848" y="2228098"/>
            <a:ext cx="4753276" cy="5713"/>
          </a:xfrm>
          <a:prstGeom prst="rect">
            <a:avLst/>
          </a:prstGeom>
          <a:solidFill>
            <a:srgbClr val="DBD4C4"/>
          </a:solidFill>
          <a:ln/>
        </p:spPr>
        <p:txBody>
          <a:bodyPr/>
          <a:lstStyle/>
          <a:p>
            <a:endParaRPr lang="es-MX"/>
          </a:p>
        </p:txBody>
      </p:sp>
      <p:sp>
        <p:nvSpPr>
          <p:cNvPr id="19" name="s19-forma-18"/>
          <p:cNvSpPr/>
          <p:nvPr/>
        </p:nvSpPr>
        <p:spPr>
          <a:xfrm>
            <a:off x="6095848" y="4569029"/>
            <a:ext cx="4753276" cy="5713"/>
          </a:xfrm>
          <a:prstGeom prst="rect">
            <a:avLst/>
          </a:prstGeom>
          <a:solidFill>
            <a:srgbClr val="DBD4C4"/>
          </a:solidFill>
          <a:ln/>
        </p:spPr>
        <p:txBody>
          <a:bodyPr/>
          <a:lstStyle/>
          <a:p>
            <a:endParaRPr lang="es-MX"/>
          </a:p>
        </p:txBody>
      </p:sp>
      <p:sp>
        <p:nvSpPr>
          <p:cNvPr id="20" name="s19-forma-19"/>
          <p:cNvSpPr/>
          <p:nvPr/>
        </p:nvSpPr>
        <p:spPr>
          <a:xfrm>
            <a:off x="6095848" y="2228098"/>
            <a:ext cx="17139" cy="2346644"/>
          </a:xfrm>
          <a:prstGeom prst="rect">
            <a:avLst/>
          </a:prstGeom>
          <a:solidFill>
            <a:srgbClr val="C6BFAE"/>
          </a:solidFill>
          <a:ln/>
        </p:spPr>
        <p:txBody>
          <a:bodyPr/>
          <a:lstStyle/>
          <a:p>
            <a:endParaRPr lang="es-MX"/>
          </a:p>
        </p:txBody>
      </p:sp>
      <p:sp>
        <p:nvSpPr>
          <p:cNvPr id="21" name="s19-forma-20"/>
          <p:cNvSpPr/>
          <p:nvPr/>
        </p:nvSpPr>
        <p:spPr>
          <a:xfrm>
            <a:off x="10843410" y="2228098"/>
            <a:ext cx="5713" cy="2346644"/>
          </a:xfrm>
          <a:prstGeom prst="rect">
            <a:avLst/>
          </a:prstGeom>
          <a:solidFill>
            <a:srgbClr val="DBD4C4"/>
          </a:solidFill>
          <a:ln/>
        </p:spPr>
        <p:txBody>
          <a:bodyPr/>
          <a:lstStyle/>
          <a:p>
            <a:endParaRPr lang="es-MX"/>
          </a:p>
        </p:txBody>
      </p:sp>
      <p:sp>
        <p:nvSpPr>
          <p:cNvPr id="22" name="s19-texto-21"/>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Tarea: construir el alta de empleados de HU-01</a:t>
            </a:r>
            <a:endParaRPr lang="en-US" sz="1080" dirty="0"/>
          </a:p>
        </p:txBody>
      </p:sp>
      <p:sp>
        <p:nvSpPr>
          <p:cNvPr id="23" name="s19-texto-22"/>
          <p:cNvSpPr txBox="1"/>
          <p:nvPr/>
        </p:nvSpPr>
        <p:spPr>
          <a:xfrm>
            <a:off x="6295805" y="2682823"/>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Plan ·</a:t>
            </a:r>
            <a:r>
              <a:rPr lang="en-US" sz="1080" dirty="0">
                <a:solidFill>
                  <a:srgbClr val="16181D"/>
                </a:solidFill>
                <a:latin typeface="Arial" pitchFamily="34" charset="0"/>
                <a:ea typeface="Arial" pitchFamily="34" charset="-122"/>
                <a:cs typeface="Arial" pitchFamily="34" charset="-120"/>
              </a:rPr>
              <a:t> 1 · modelo Empleado · 2 · POST /api/empleados · 3 · formulario de alta</a:t>
            </a:r>
            <a:endParaRPr lang="en-US" sz="1080" dirty="0"/>
          </a:p>
        </p:txBody>
      </p:sp>
      <p:sp>
        <p:nvSpPr>
          <p:cNvPr id="24" name="s19-texto-23"/>
          <p:cNvSpPr txBox="1"/>
          <p:nvPr/>
        </p:nvSpPr>
        <p:spPr>
          <a:xfrm>
            <a:off x="6295805" y="314665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Aprobación ·</a:t>
            </a:r>
            <a:r>
              <a:rPr lang="en-US" sz="1080" dirty="0">
                <a:solidFill>
                  <a:srgbClr val="16181D"/>
                </a:solidFill>
                <a:latin typeface="Arial" pitchFamily="34" charset="0"/>
                <a:ea typeface="Arial" pitchFamily="34" charset="-122"/>
                <a:cs typeface="Arial" pitchFamily="34" charset="-120"/>
              </a:rPr>
              <a:t> una persona revisa el plan y responde «sí»</a:t>
            </a:r>
            <a:endParaRPr lang="en-US" sz="1080" dirty="0"/>
          </a:p>
        </p:txBody>
      </p:sp>
      <p:sp>
        <p:nvSpPr>
          <p:cNvPr id="25" name="s19-texto-24"/>
          <p:cNvSpPr txBox="1"/>
          <p:nvPr/>
        </p:nvSpPr>
        <p:spPr>
          <a:xfrm>
            <a:off x="6295805" y="341855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1 ·</a:t>
            </a:r>
            <a:r>
              <a:rPr lang="en-US" sz="1080" dirty="0">
                <a:solidFill>
                  <a:srgbClr val="16181D"/>
                </a:solidFill>
                <a:latin typeface="Arial" pitchFamily="34" charset="0"/>
                <a:ea typeface="Arial" pitchFamily="34" charset="-122"/>
                <a:cs typeface="Arial" pitchFamily="34" charset="-120"/>
              </a:rPr>
              <a:t> crea el modelo Empleado con sus validaciones</a:t>
            </a:r>
            <a:endParaRPr lang="en-US" sz="1080" dirty="0"/>
          </a:p>
        </p:txBody>
      </p:sp>
      <p:sp>
        <p:nvSpPr>
          <p:cNvPr id="26" name="s19-texto-25"/>
          <p:cNvSpPr txBox="1"/>
          <p:nvPr/>
        </p:nvSpPr>
        <p:spPr>
          <a:xfrm>
            <a:off x="6295805" y="369046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2 ·</a:t>
            </a:r>
            <a:r>
              <a:rPr lang="en-US" sz="1080" dirty="0">
                <a:solidFill>
                  <a:srgbClr val="16181D"/>
                </a:solidFill>
                <a:latin typeface="Arial" pitchFamily="34" charset="0"/>
                <a:ea typeface="Arial" pitchFamily="34" charset="-122"/>
                <a:cs typeface="Arial" pitchFamily="34" charset="-120"/>
              </a:rPr>
              <a:t> crea el endpoint usando lo que dejó el paso 1</a:t>
            </a:r>
            <a:endParaRPr lang="en-US" sz="1080" dirty="0"/>
          </a:p>
        </p:txBody>
      </p:sp>
      <p:sp>
        <p:nvSpPr>
          <p:cNvPr id="27" name="s19-texto-26"/>
          <p:cNvSpPr txBox="1"/>
          <p:nvPr/>
        </p:nvSpPr>
        <p:spPr>
          <a:xfrm>
            <a:off x="6295805" y="3962372"/>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Paso 3 ·</a:t>
            </a:r>
            <a:r>
              <a:rPr lang="en-US" sz="1080" dirty="0">
                <a:solidFill>
                  <a:srgbClr val="16181D"/>
                </a:solidFill>
                <a:latin typeface="Arial" pitchFamily="34" charset="0"/>
                <a:ea typeface="Arial" pitchFamily="34" charset="-122"/>
                <a:cs typeface="Arial" pitchFamily="34" charset="-120"/>
              </a:rPr>
              <a:t> crea el formulario con sus data-testid</a:t>
            </a:r>
            <a:endParaRPr lang="en-US" sz="1080" dirty="0"/>
          </a:p>
        </p:txBody>
      </p:sp>
      <p:sp>
        <p:nvSpPr>
          <p:cNvPr id="28" name="s19-texto-27"/>
          <p:cNvSpPr txBox="1"/>
          <p:nvPr/>
        </p:nvSpPr>
        <p:spPr>
          <a:xfrm>
            <a:off x="6295805" y="423427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Resultado ·</a:t>
            </a:r>
            <a:r>
              <a:rPr lang="en-US" sz="1080" dirty="0">
                <a:solidFill>
                  <a:srgbClr val="16181D"/>
                </a:solidFill>
                <a:latin typeface="Arial" pitchFamily="34" charset="0"/>
                <a:ea typeface="Arial" pitchFamily="34" charset="-122"/>
                <a:cs typeface="Arial" pitchFamily="34" charset="-120"/>
              </a:rPr>
              <a:t> tres pasos, en el orden que se aprobó</a:t>
            </a:r>
            <a:endParaRPr lang="en-US" sz="1080" dirty="0"/>
          </a:p>
        </p:txBody>
      </p:sp>
      <p:sp>
        <p:nvSpPr>
          <p:cNvPr id="29" name="s19-texto-28"/>
          <p:cNvSpPr txBox="1"/>
          <p:nvPr/>
        </p:nvSpPr>
        <p:spPr>
          <a:xfrm>
            <a:off x="6095848" y="4751847"/>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El plan es un </a:t>
            </a:r>
            <a:r>
              <a:rPr lang="en-US" sz="1080" b="1" dirty="0">
                <a:solidFill>
                  <a:srgbClr val="0033A0"/>
                </a:solidFill>
                <a:latin typeface="Arial" pitchFamily="34" charset="0"/>
                <a:ea typeface="Arial" pitchFamily="34" charset="-122"/>
                <a:cs typeface="Arial" pitchFamily="34" charset="-120"/>
              </a:rPr>
              <a:t>dato</a:t>
            </a:r>
            <a:r>
              <a:rPr lang="en-US" sz="1080" dirty="0">
                <a:solidFill>
                  <a:srgbClr val="585E6F"/>
                </a:solidFill>
                <a:latin typeface="Arial" pitchFamily="34" charset="0"/>
                <a:ea typeface="Arial" pitchFamily="34" charset="-122"/>
                <a:cs typeface="Arial" pitchFamily="34" charset="-120"/>
              </a:rPr>
              <a:t>: se revisa antes de gastar en ejecutarlo, y si un paso falla se vuelve a planificar.</a:t>
            </a:r>
            <a:endParaRPr lang="en-US" sz="1080" dirty="0"/>
          </a:p>
        </p:txBody>
      </p:sp>
      <p:sp>
        <p:nvSpPr>
          <p:cNvPr id="30" name="s19-texto-2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 · Wang et al., «Plan-and-Solve Prompting» (2023) · LangChain, agentes Plan-and-Execute (2023)</a:t>
            </a:r>
            <a:endParaRPr lang="en-US" sz="1080" dirty="0"/>
          </a:p>
        </p:txBody>
      </p:sp>
      <p:sp>
        <p:nvSpPr>
          <p:cNvPr id="31" name="s19-forma-30"/>
          <p:cNvSpPr/>
          <p:nvPr/>
        </p:nvSpPr>
        <p:spPr>
          <a:xfrm>
            <a:off x="853390" y="6411138"/>
            <a:ext cx="10484915" cy="5713"/>
          </a:xfrm>
          <a:prstGeom prst="rect">
            <a:avLst/>
          </a:prstGeom>
          <a:solidFill>
            <a:srgbClr val="DBD4C4"/>
          </a:solidFill>
          <a:ln/>
        </p:spPr>
        <p:txBody>
          <a:bodyPr/>
          <a:lstStyle/>
          <a:p>
            <a:endParaRPr lang="es-MX"/>
          </a:p>
        </p:txBody>
      </p:sp>
      <p:pic>
        <p:nvPicPr>
          <p:cNvPr id="32" name="s19-logo-31" descr="preencoded.png"/>
          <p:cNvPicPr>
            <a:picLocks noChangeAspect="1"/>
          </p:cNvPicPr>
          <p:nvPr/>
        </p:nvPicPr>
        <p:blipFill>
          <a:blip r:embed="rId3"/>
          <a:stretch>
            <a:fillRect/>
          </a:stretch>
        </p:blipFill>
        <p:spPr>
          <a:xfrm>
            <a:off x="853390" y="6465055"/>
            <a:ext cx="687800" cy="212455"/>
          </a:xfrm>
          <a:prstGeom prst="rect">
            <a:avLst/>
          </a:prstGeom>
        </p:spPr>
      </p:pic>
      <p:sp>
        <p:nvSpPr>
          <p:cNvPr id="33" name="s19-forma-32"/>
          <p:cNvSpPr/>
          <p:nvPr/>
        </p:nvSpPr>
        <p:spPr>
          <a:xfrm>
            <a:off x="1659380" y="6519865"/>
            <a:ext cx="3057208" cy="102835"/>
          </a:xfrm>
          <a:prstGeom prst="rect">
            <a:avLst/>
          </a:prstGeom>
          <a:ln/>
        </p:spPr>
        <p:txBody>
          <a:bodyPr/>
          <a:lstStyle/>
          <a:p>
            <a:endParaRPr lang="es-MX"/>
          </a:p>
        </p:txBody>
      </p:sp>
      <p:sp>
        <p:nvSpPr>
          <p:cNvPr id="34" name="s19-forma-33"/>
          <p:cNvSpPr/>
          <p:nvPr/>
        </p:nvSpPr>
        <p:spPr>
          <a:xfrm>
            <a:off x="1659380" y="6519865"/>
            <a:ext cx="5713" cy="102835"/>
          </a:xfrm>
          <a:prstGeom prst="rect">
            <a:avLst/>
          </a:prstGeom>
          <a:solidFill>
            <a:srgbClr val="C6BFAE"/>
          </a:solidFill>
          <a:ln/>
        </p:spPr>
        <p:txBody>
          <a:bodyPr/>
          <a:lstStyle/>
          <a:p>
            <a:endParaRPr lang="es-MX"/>
          </a:p>
        </p:txBody>
      </p:sp>
      <p:sp>
        <p:nvSpPr>
          <p:cNvPr id="35" name="s19-texto-34"/>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6" name="s19-texto-35"/>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19 / 35</a:t>
            </a:r>
            <a:endParaRPr lang="en-US" sz="745" dirty="0"/>
          </a:p>
        </p:txBody>
      </p:sp>
      <p:sp>
        <p:nvSpPr>
          <p:cNvPr id="37" name="s19-forma-36"/>
          <p:cNvSpPr/>
          <p:nvPr/>
        </p:nvSpPr>
        <p:spPr>
          <a:xfrm>
            <a:off x="0" y="0"/>
            <a:ext cx="6618326" cy="17139"/>
          </a:xfrm>
          <a:prstGeom prst="rect">
            <a:avLst/>
          </a:prstGeom>
          <a:solidFill>
            <a:srgbClr val="0033A0"/>
          </a:solidFill>
          <a:ln/>
        </p:spPr>
        <p:txBody>
          <a:bodyPr/>
          <a:lstStyle/>
          <a:p>
            <a:endParaRPr lang="es-MX"/>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EDE8DC"/>
        </a:solidFill>
        <a:effectLst/>
      </p:bgPr>
    </p:bg>
    <p:spTree>
      <p:nvGrpSpPr>
        <p:cNvPr id="1" name=""/>
        <p:cNvGrpSpPr/>
        <p:nvPr/>
      </p:nvGrpSpPr>
      <p:grpSpPr>
        <a:xfrm>
          <a:off x="0" y="0"/>
          <a:ext cx="0" cy="0"/>
          <a:chOff x="0" y="0"/>
          <a:chExt cx="0" cy="0"/>
        </a:xfrm>
      </p:grpSpPr>
      <p:sp>
        <p:nvSpPr>
          <p:cNvPr id="2" name="s20-forma-1"/>
          <p:cNvSpPr/>
          <p:nvPr/>
        </p:nvSpPr>
        <p:spPr>
          <a:xfrm>
            <a:off x="853390" y="520961"/>
            <a:ext cx="10484915" cy="5713"/>
          </a:xfrm>
          <a:prstGeom prst="rect">
            <a:avLst/>
          </a:prstGeom>
          <a:solidFill>
            <a:srgbClr val="C6BFAE"/>
          </a:solidFill>
          <a:ln/>
        </p:spPr>
        <p:txBody>
          <a:bodyPr/>
          <a:lstStyle/>
          <a:p>
            <a:endParaRPr lang="es-MX"/>
          </a:p>
        </p:txBody>
      </p:sp>
      <p:sp>
        <p:nvSpPr>
          <p:cNvPr id="3" name="s20-forma-2"/>
          <p:cNvSpPr/>
          <p:nvPr/>
        </p:nvSpPr>
        <p:spPr>
          <a:xfrm>
            <a:off x="853390" y="331715"/>
            <a:ext cx="81411" cy="81411"/>
          </a:xfrm>
          <a:prstGeom prst="ellipse">
            <a:avLst/>
          </a:prstGeom>
          <a:solidFill>
            <a:srgbClr val="0033A0"/>
          </a:solidFill>
          <a:ln/>
        </p:spPr>
        <p:txBody>
          <a:bodyPr/>
          <a:lstStyle/>
          <a:p>
            <a:endParaRPr lang="es-MX"/>
          </a:p>
        </p:txBody>
      </p:sp>
      <p:sp>
        <p:nvSpPr>
          <p:cNvPr id="4" name="s20-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0-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6" name="s20-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2 DE 3</a:t>
            </a:r>
            <a:endParaRPr lang="en-US" sz="900" dirty="0"/>
          </a:p>
        </p:txBody>
      </p:sp>
      <p:sp>
        <p:nvSpPr>
          <p:cNvPr id="7" name="s20-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Plan-and-Execute: primero el plan</a:t>
            </a:r>
            <a:endParaRPr lang="en-US" sz="2879" dirty="0"/>
          </a:p>
        </p:txBody>
      </p:sp>
      <p:sp>
        <p:nvSpPr>
          <p:cNvPr id="8" name="s20-forma-7"/>
          <p:cNvSpPr/>
          <p:nvPr/>
        </p:nvSpPr>
        <p:spPr>
          <a:xfrm>
            <a:off x="1342572" y="2913667"/>
            <a:ext cx="1371137" cy="628438"/>
          </a:xfrm>
          <a:prstGeom prst="rect">
            <a:avLst/>
          </a:prstGeom>
          <a:solidFill>
            <a:srgbClr val="E2D3C2"/>
          </a:solidFill>
          <a:ln w="5713">
            <a:solidFill>
              <a:srgbClr val="984514"/>
            </a:solidFill>
            <a:prstDash val="solid"/>
          </a:ln>
        </p:spPr>
        <p:txBody>
          <a:bodyPr/>
          <a:lstStyle/>
          <a:p>
            <a:endParaRPr lang="es-MX"/>
          </a:p>
        </p:txBody>
      </p:sp>
      <p:sp>
        <p:nvSpPr>
          <p:cNvPr id="9" name="s20-texto-8"/>
          <p:cNvSpPr txBox="1"/>
          <p:nvPr/>
        </p:nvSpPr>
        <p:spPr>
          <a:xfrm>
            <a:off x="1542823" y="3045067"/>
            <a:ext cx="97054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Planificador</a:t>
            </a:r>
            <a:endParaRPr lang="en-US" sz="1260" dirty="0"/>
          </a:p>
        </p:txBody>
      </p:sp>
      <p:sp>
        <p:nvSpPr>
          <p:cNvPr id="10" name="s20-texto-9"/>
          <p:cNvSpPr txBox="1"/>
          <p:nvPr/>
        </p:nvSpPr>
        <p:spPr>
          <a:xfrm>
            <a:off x="1559477" y="3250738"/>
            <a:ext cx="93723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escribe el plan</a:t>
            </a:r>
            <a:endParaRPr lang="en-US" sz="1080" dirty="0"/>
          </a:p>
        </p:txBody>
      </p:sp>
      <p:sp>
        <p:nvSpPr>
          <p:cNvPr id="11" name="s20-forma-10"/>
          <p:cNvSpPr/>
          <p:nvPr/>
        </p:nvSpPr>
        <p:spPr>
          <a:xfrm>
            <a:off x="3170755" y="2628013"/>
            <a:ext cx="1371137" cy="1199745"/>
          </a:xfrm>
          <a:prstGeom prst="rect">
            <a:avLst/>
          </a:prstGeom>
          <a:solidFill>
            <a:srgbClr val="E3DCCB"/>
          </a:solidFill>
          <a:ln w="5713">
            <a:solidFill>
              <a:srgbClr val="585E6F"/>
            </a:solidFill>
            <a:prstDash val="dash"/>
          </a:ln>
        </p:spPr>
        <p:txBody>
          <a:bodyPr/>
          <a:lstStyle/>
          <a:p>
            <a:endParaRPr lang="es-MX"/>
          </a:p>
        </p:txBody>
      </p:sp>
      <p:sp>
        <p:nvSpPr>
          <p:cNvPr id="12" name="s20-texto-11"/>
          <p:cNvSpPr txBox="1"/>
          <p:nvPr/>
        </p:nvSpPr>
        <p:spPr>
          <a:xfrm>
            <a:off x="3313582" y="2747988"/>
            <a:ext cx="1150613"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Plan</a:t>
            </a:r>
            <a:endParaRPr lang="en-US" sz="1260" dirty="0"/>
          </a:p>
        </p:txBody>
      </p:sp>
      <p:sp>
        <p:nvSpPr>
          <p:cNvPr id="13" name="s20-texto-12"/>
          <p:cNvSpPr txBox="1"/>
          <p:nvPr/>
        </p:nvSpPr>
        <p:spPr>
          <a:xfrm>
            <a:off x="3313582" y="2976510"/>
            <a:ext cx="1150613" cy="314219"/>
          </a:xfrm>
          <a:prstGeom prst="rect">
            <a:avLst/>
          </a:prstGeom>
          <a:noFill/>
          <a:ln/>
        </p:spPr>
        <p:txBody>
          <a:bodyPr wrap="squar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1 · Modelo de datos</a:t>
            </a:r>
            <a:endParaRPr lang="en-US" sz="1080" dirty="0"/>
          </a:p>
        </p:txBody>
      </p:sp>
      <p:sp>
        <p:nvSpPr>
          <p:cNvPr id="14" name="s20-texto-13"/>
          <p:cNvSpPr txBox="1"/>
          <p:nvPr/>
        </p:nvSpPr>
        <p:spPr>
          <a:xfrm>
            <a:off x="3313582" y="3342147"/>
            <a:ext cx="1150613"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2 · Endpoints</a:t>
            </a:r>
            <a:endParaRPr lang="en-US" sz="1080" dirty="0"/>
          </a:p>
        </p:txBody>
      </p:sp>
      <p:sp>
        <p:nvSpPr>
          <p:cNvPr id="15" name="s20-texto-14"/>
          <p:cNvSpPr txBox="1"/>
          <p:nvPr/>
        </p:nvSpPr>
        <p:spPr>
          <a:xfrm>
            <a:off x="3313582" y="3547818"/>
            <a:ext cx="1150613"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3 · Pantallas</a:t>
            </a:r>
            <a:endParaRPr lang="en-US" sz="1080" dirty="0"/>
          </a:p>
        </p:txBody>
      </p:sp>
      <p:sp>
        <p:nvSpPr>
          <p:cNvPr id="16" name="s20-forma-15"/>
          <p:cNvSpPr/>
          <p:nvPr/>
        </p:nvSpPr>
        <p:spPr>
          <a:xfrm>
            <a:off x="4998938" y="2913667"/>
            <a:ext cx="1371137" cy="628438"/>
          </a:xfrm>
          <a:prstGeom prst="rect">
            <a:avLst/>
          </a:prstGeom>
          <a:solidFill>
            <a:srgbClr val="E3DCCB"/>
          </a:solidFill>
          <a:ln w="5713">
            <a:solidFill>
              <a:srgbClr val="585E6F"/>
            </a:solidFill>
            <a:prstDash val="solid"/>
          </a:ln>
        </p:spPr>
        <p:txBody>
          <a:bodyPr/>
          <a:lstStyle/>
          <a:p>
            <a:endParaRPr lang="es-MX"/>
          </a:p>
        </p:txBody>
      </p:sp>
      <p:sp>
        <p:nvSpPr>
          <p:cNvPr id="17" name="s20-texto-16"/>
          <p:cNvSpPr txBox="1"/>
          <p:nvPr/>
        </p:nvSpPr>
        <p:spPr>
          <a:xfrm>
            <a:off x="5341633" y="3045067"/>
            <a:ext cx="685747"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Ejecutor</a:t>
            </a:r>
            <a:endParaRPr lang="en-US" sz="1260" dirty="0"/>
          </a:p>
        </p:txBody>
      </p:sp>
      <p:sp>
        <p:nvSpPr>
          <p:cNvPr id="18" name="s20-texto-17"/>
          <p:cNvSpPr txBox="1"/>
          <p:nvPr/>
        </p:nvSpPr>
        <p:spPr>
          <a:xfrm>
            <a:off x="5288073" y="3250738"/>
            <a:ext cx="792867"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paso a paso</a:t>
            </a:r>
            <a:endParaRPr lang="en-US" sz="1080" dirty="0"/>
          </a:p>
        </p:txBody>
      </p:sp>
      <p:sp>
        <p:nvSpPr>
          <p:cNvPr id="19" name="s20-forma-18"/>
          <p:cNvSpPr/>
          <p:nvPr/>
        </p:nvSpPr>
        <p:spPr>
          <a:xfrm>
            <a:off x="4998938" y="4170542"/>
            <a:ext cx="1371137" cy="571307"/>
          </a:xfrm>
          <a:prstGeom prst="rect">
            <a:avLst/>
          </a:prstGeom>
          <a:solidFill>
            <a:srgbClr val="DCE3F2"/>
          </a:solidFill>
          <a:ln w="5713">
            <a:solidFill>
              <a:srgbClr val="0033A0"/>
            </a:solidFill>
            <a:prstDash val="solid"/>
          </a:ln>
        </p:spPr>
        <p:txBody>
          <a:bodyPr/>
          <a:lstStyle/>
          <a:p>
            <a:endParaRPr lang="es-MX"/>
          </a:p>
        </p:txBody>
      </p:sp>
      <p:sp>
        <p:nvSpPr>
          <p:cNvPr id="20" name="s20-texto-19"/>
          <p:cNvSpPr txBox="1"/>
          <p:nvPr/>
        </p:nvSpPr>
        <p:spPr>
          <a:xfrm>
            <a:off x="5274603" y="4364787"/>
            <a:ext cx="819717"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Resultado</a:t>
            </a:r>
            <a:endParaRPr lang="en-US" sz="1260" dirty="0"/>
          </a:p>
        </p:txBody>
      </p:sp>
      <p:sp>
        <p:nvSpPr>
          <p:cNvPr id="21" name="s20-texto-20"/>
          <p:cNvSpPr txBox="1"/>
          <p:nvPr/>
        </p:nvSpPr>
        <p:spPr>
          <a:xfrm>
            <a:off x="2645152" y="2125263"/>
            <a:ext cx="2422342" cy="154253"/>
          </a:xfrm>
          <a:prstGeom prst="rect">
            <a:avLst/>
          </a:prstGeom>
          <a:noFill/>
          <a:ln/>
        </p:spPr>
        <p:txBody>
          <a:bodyPr wrap="none" lIns="0" tIns="0" rIns="0" bIns="0" rtlCol="0" anchor="t"/>
          <a:lstStyle/>
          <a:p>
            <a:pPr marL="0" indent="0" algn="ctr">
              <a:lnSpc>
                <a:spcPts val="1296"/>
              </a:lnSpc>
              <a:buNone/>
            </a:pPr>
            <a:r>
              <a:rPr lang="en-US" sz="1080" dirty="0">
                <a:solidFill>
                  <a:srgbClr val="984514"/>
                </a:solidFill>
                <a:latin typeface="Arial" pitchFamily="34" charset="0"/>
                <a:ea typeface="Arial" pitchFamily="34" charset="-122"/>
                <a:cs typeface="Arial" pitchFamily="34" charset="-120"/>
              </a:rPr>
              <a:t>si algo falla, se re-planifica</a:t>
            </a:r>
            <a:endParaRPr lang="en-US" sz="1080" dirty="0"/>
          </a:p>
        </p:txBody>
      </p:sp>
      <p:sp>
        <p:nvSpPr>
          <p:cNvPr id="22" name="s20-forma-21"/>
          <p:cNvSpPr/>
          <p:nvPr/>
        </p:nvSpPr>
        <p:spPr>
          <a:xfrm>
            <a:off x="1342572" y="4227673"/>
            <a:ext cx="3199320" cy="566665"/>
          </a:xfrm>
          <a:prstGeom prst="rect">
            <a:avLst/>
          </a:prstGeom>
          <a:solidFill>
            <a:srgbClr val="E3DCCB"/>
          </a:solidFill>
          <a:ln/>
        </p:spPr>
        <p:txBody>
          <a:bodyPr/>
          <a:lstStyle/>
          <a:p>
            <a:endParaRPr lang="es-MX"/>
          </a:p>
        </p:txBody>
      </p:sp>
      <p:sp>
        <p:nvSpPr>
          <p:cNvPr id="23" name="s20-texto-22"/>
          <p:cNvSpPr txBox="1"/>
          <p:nvPr/>
        </p:nvSpPr>
        <p:spPr>
          <a:xfrm>
            <a:off x="1479686" y="4336221"/>
            <a:ext cx="3100598" cy="346176"/>
          </a:xfrm>
          <a:prstGeom prst="rect">
            <a:avLst/>
          </a:prstGeom>
          <a:noFill/>
          <a:ln/>
        </p:spPr>
        <p:txBody>
          <a:bodyPr wrap="squar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Una persona puede aprobar el plan antes de ejecutarlo</a:t>
            </a:r>
            <a:endParaRPr lang="en-US" sz="1080" dirty="0"/>
          </a:p>
        </p:txBody>
      </p:sp>
      <p:sp>
        <p:nvSpPr>
          <p:cNvPr id="24" name="s20-texto-23"/>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5" name="s20-texto-24"/>
          <p:cNvSpPr txBox="1"/>
          <p:nvPr/>
        </p:nvSpPr>
        <p:spPr>
          <a:xfrm>
            <a:off x="7284167" y="2428056"/>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Se escribe un plan completo; un ejecutor lo cumple paso a paso y re-planifica si algo falla.</a:t>
            </a:r>
            <a:endParaRPr lang="en-US" sz="1260" dirty="0"/>
          </a:p>
        </p:txBody>
      </p:sp>
      <p:sp>
        <p:nvSpPr>
          <p:cNvPr id="26" name="s20-texto-25"/>
          <p:cNvSpPr txBox="1"/>
          <p:nvPr/>
        </p:nvSpPr>
        <p:spPr>
          <a:xfrm>
            <a:off x="7284167" y="3012931"/>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7" name="s20-texto-26"/>
          <p:cNvSpPr txBox="1"/>
          <p:nvPr/>
        </p:nvSpPr>
        <p:spPr>
          <a:xfrm>
            <a:off x="7284167" y="3212889"/>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La tarea es larga y conviene revisar el enfoque antes de gastar en ejecutarlo.</a:t>
            </a:r>
            <a:endParaRPr lang="en-US" sz="1260" dirty="0"/>
          </a:p>
        </p:txBody>
      </p:sp>
      <p:sp>
        <p:nvSpPr>
          <p:cNvPr id="28" name="s20-forma-27"/>
          <p:cNvSpPr/>
          <p:nvPr/>
        </p:nvSpPr>
        <p:spPr>
          <a:xfrm>
            <a:off x="7284167" y="3797764"/>
            <a:ext cx="3564957" cy="899095"/>
          </a:xfrm>
          <a:prstGeom prst="rect">
            <a:avLst/>
          </a:prstGeom>
          <a:solidFill>
            <a:srgbClr val="E2D3C2"/>
          </a:solidFill>
          <a:ln/>
        </p:spPr>
        <p:txBody>
          <a:bodyPr/>
          <a:lstStyle/>
          <a:p>
            <a:endParaRPr lang="es-MX"/>
          </a:p>
        </p:txBody>
      </p:sp>
      <p:sp>
        <p:nvSpPr>
          <p:cNvPr id="29" name="s20-texto-28"/>
          <p:cNvSpPr txBox="1"/>
          <p:nvPr/>
        </p:nvSpPr>
        <p:spPr>
          <a:xfrm>
            <a:off x="7421280" y="3934878"/>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0" name="s20-texto-29"/>
          <p:cNvSpPr txBox="1"/>
          <p:nvPr/>
        </p:nvSpPr>
        <p:spPr>
          <a:xfrm>
            <a:off x="7421280" y="4134836"/>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Agente 3: planificar, aprobar y construir. Es el modo plan de Claude Code.</a:t>
            </a:r>
            <a:endParaRPr lang="en-US" sz="1260" dirty="0"/>
          </a:p>
        </p:txBody>
      </p:sp>
      <p:sp>
        <p:nvSpPr>
          <p:cNvPr id="31" name="s20-texto-30"/>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 · lo usarás en la sesión 2</a:t>
            </a:r>
            <a:endParaRPr lang="en-US" sz="1080" dirty="0"/>
          </a:p>
        </p:txBody>
      </p:sp>
      <p:sp>
        <p:nvSpPr>
          <p:cNvPr id="32" name="s20-linea-31-0"/>
          <p:cNvSpPr/>
          <p:nvPr/>
        </p:nvSpPr>
        <p:spPr>
          <a:xfrm>
            <a:off x="2713709" y="3227886"/>
            <a:ext cx="457046" cy="0"/>
          </a:xfrm>
          <a:prstGeom prst="line">
            <a:avLst/>
          </a:prstGeom>
          <a:noFill/>
          <a:ln w="17140">
            <a:solidFill>
              <a:srgbClr val="585E6F"/>
            </a:solidFill>
            <a:prstDash val="solid"/>
            <a:tailEnd type="triangle"/>
          </a:ln>
        </p:spPr>
        <p:txBody>
          <a:bodyPr/>
          <a:lstStyle/>
          <a:p>
            <a:endParaRPr lang="es-MX"/>
          </a:p>
        </p:txBody>
      </p:sp>
      <p:sp>
        <p:nvSpPr>
          <p:cNvPr id="33" name="s20-linea-32-0"/>
          <p:cNvSpPr/>
          <p:nvPr/>
        </p:nvSpPr>
        <p:spPr>
          <a:xfrm>
            <a:off x="4541892" y="3227886"/>
            <a:ext cx="457046" cy="0"/>
          </a:xfrm>
          <a:prstGeom prst="line">
            <a:avLst/>
          </a:prstGeom>
          <a:noFill/>
          <a:ln w="17140">
            <a:solidFill>
              <a:srgbClr val="585E6F"/>
            </a:solidFill>
            <a:prstDash val="solid"/>
            <a:tailEnd type="triangle"/>
          </a:ln>
        </p:spPr>
        <p:txBody>
          <a:bodyPr/>
          <a:lstStyle/>
          <a:p>
            <a:endParaRPr lang="es-MX"/>
          </a:p>
        </p:txBody>
      </p:sp>
      <p:sp>
        <p:nvSpPr>
          <p:cNvPr id="34" name="s20-linea-33-0"/>
          <p:cNvSpPr/>
          <p:nvPr/>
        </p:nvSpPr>
        <p:spPr>
          <a:xfrm flipV="1">
            <a:off x="5684506" y="2399490"/>
            <a:ext cx="0" cy="514176"/>
          </a:xfrm>
          <a:prstGeom prst="line">
            <a:avLst/>
          </a:prstGeom>
          <a:noFill/>
          <a:ln w="17140">
            <a:solidFill>
              <a:srgbClr val="984514"/>
            </a:solidFill>
            <a:prstDash val="solid"/>
          </a:ln>
        </p:spPr>
        <p:txBody>
          <a:bodyPr/>
          <a:lstStyle/>
          <a:p>
            <a:endParaRPr lang="es-MX"/>
          </a:p>
        </p:txBody>
      </p:sp>
      <p:sp>
        <p:nvSpPr>
          <p:cNvPr id="35" name="s20-linea-34-0"/>
          <p:cNvSpPr/>
          <p:nvPr/>
        </p:nvSpPr>
        <p:spPr>
          <a:xfrm flipH="1">
            <a:off x="2028140" y="2399490"/>
            <a:ext cx="3656366" cy="0"/>
          </a:xfrm>
          <a:prstGeom prst="line">
            <a:avLst/>
          </a:prstGeom>
          <a:noFill/>
          <a:ln w="17140">
            <a:solidFill>
              <a:srgbClr val="984514"/>
            </a:solidFill>
            <a:prstDash val="solid"/>
          </a:ln>
        </p:spPr>
        <p:txBody>
          <a:bodyPr/>
          <a:lstStyle/>
          <a:p>
            <a:endParaRPr lang="es-MX"/>
          </a:p>
        </p:txBody>
      </p:sp>
      <p:sp>
        <p:nvSpPr>
          <p:cNvPr id="36" name="s20-linea-35-0"/>
          <p:cNvSpPr/>
          <p:nvPr/>
        </p:nvSpPr>
        <p:spPr>
          <a:xfrm>
            <a:off x="2028140" y="2399490"/>
            <a:ext cx="0" cy="514176"/>
          </a:xfrm>
          <a:prstGeom prst="line">
            <a:avLst/>
          </a:prstGeom>
          <a:noFill/>
          <a:ln w="17140">
            <a:solidFill>
              <a:srgbClr val="984514"/>
            </a:solidFill>
            <a:prstDash val="solid"/>
            <a:tailEnd type="triangle"/>
          </a:ln>
        </p:spPr>
        <p:txBody>
          <a:bodyPr/>
          <a:lstStyle/>
          <a:p>
            <a:endParaRPr lang="es-MX"/>
          </a:p>
        </p:txBody>
      </p:sp>
      <p:sp>
        <p:nvSpPr>
          <p:cNvPr id="37" name="s20-linea-36-0"/>
          <p:cNvSpPr/>
          <p:nvPr/>
        </p:nvSpPr>
        <p:spPr>
          <a:xfrm>
            <a:off x="5684506" y="3542105"/>
            <a:ext cx="0" cy="628438"/>
          </a:xfrm>
          <a:prstGeom prst="line">
            <a:avLst/>
          </a:prstGeom>
          <a:noFill/>
          <a:ln w="17140">
            <a:solidFill>
              <a:srgbClr val="0033A0"/>
            </a:solidFill>
            <a:prstDash val="solid"/>
            <a:tailEnd type="triangle"/>
          </a:ln>
        </p:spPr>
        <p:txBody>
          <a:bodyPr/>
          <a:lstStyle/>
          <a:p>
            <a:endParaRPr lang="es-MX"/>
          </a:p>
        </p:txBody>
      </p:sp>
      <p:sp>
        <p:nvSpPr>
          <p:cNvPr id="38" name="s20-forma-37"/>
          <p:cNvSpPr/>
          <p:nvPr/>
        </p:nvSpPr>
        <p:spPr>
          <a:xfrm>
            <a:off x="853390" y="6411138"/>
            <a:ext cx="10484915" cy="5713"/>
          </a:xfrm>
          <a:prstGeom prst="rect">
            <a:avLst/>
          </a:prstGeom>
          <a:solidFill>
            <a:srgbClr val="DBD4C4"/>
          </a:solidFill>
          <a:ln/>
        </p:spPr>
        <p:txBody>
          <a:bodyPr/>
          <a:lstStyle/>
          <a:p>
            <a:endParaRPr lang="es-MX"/>
          </a:p>
        </p:txBody>
      </p:sp>
      <p:pic>
        <p:nvPicPr>
          <p:cNvPr id="39" name="s20-logo-38" descr="preencoded.png"/>
          <p:cNvPicPr>
            <a:picLocks noChangeAspect="1"/>
          </p:cNvPicPr>
          <p:nvPr/>
        </p:nvPicPr>
        <p:blipFill>
          <a:blip r:embed="rId3"/>
          <a:stretch>
            <a:fillRect/>
          </a:stretch>
        </p:blipFill>
        <p:spPr>
          <a:xfrm>
            <a:off x="853390" y="6465055"/>
            <a:ext cx="687800" cy="212455"/>
          </a:xfrm>
          <a:prstGeom prst="rect">
            <a:avLst/>
          </a:prstGeom>
        </p:spPr>
      </p:pic>
      <p:sp>
        <p:nvSpPr>
          <p:cNvPr id="40" name="s20-forma-39"/>
          <p:cNvSpPr/>
          <p:nvPr/>
        </p:nvSpPr>
        <p:spPr>
          <a:xfrm>
            <a:off x="1659380" y="6519865"/>
            <a:ext cx="3057208" cy="102835"/>
          </a:xfrm>
          <a:prstGeom prst="rect">
            <a:avLst/>
          </a:prstGeom>
          <a:ln/>
        </p:spPr>
        <p:txBody>
          <a:bodyPr/>
          <a:lstStyle/>
          <a:p>
            <a:endParaRPr lang="es-MX"/>
          </a:p>
        </p:txBody>
      </p:sp>
      <p:sp>
        <p:nvSpPr>
          <p:cNvPr id="41" name="s20-forma-40"/>
          <p:cNvSpPr/>
          <p:nvPr/>
        </p:nvSpPr>
        <p:spPr>
          <a:xfrm>
            <a:off x="1659380" y="6519865"/>
            <a:ext cx="5713" cy="102835"/>
          </a:xfrm>
          <a:prstGeom prst="rect">
            <a:avLst/>
          </a:prstGeom>
          <a:solidFill>
            <a:srgbClr val="C6BFAE"/>
          </a:solidFill>
          <a:ln/>
        </p:spPr>
        <p:txBody>
          <a:bodyPr/>
          <a:lstStyle/>
          <a:p>
            <a:endParaRPr lang="es-MX"/>
          </a:p>
        </p:txBody>
      </p:sp>
      <p:sp>
        <p:nvSpPr>
          <p:cNvPr id="42" name="s20-texto-4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3" name="s20-texto-4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20 / 35</a:t>
            </a:r>
            <a:endParaRPr lang="en-US" sz="745" dirty="0"/>
          </a:p>
        </p:txBody>
      </p:sp>
      <p:sp>
        <p:nvSpPr>
          <p:cNvPr id="44" name="s20-forma-43"/>
          <p:cNvSpPr/>
          <p:nvPr/>
        </p:nvSpPr>
        <p:spPr>
          <a:xfrm>
            <a:off x="0" y="0"/>
            <a:ext cx="6966645" cy="17139"/>
          </a:xfrm>
          <a:prstGeom prst="rect">
            <a:avLst/>
          </a:prstGeom>
          <a:solidFill>
            <a:srgbClr val="0033A0"/>
          </a:solidFill>
          <a:ln/>
        </p:spPr>
        <p:txBody>
          <a:bodyPr/>
          <a:lstStyle/>
          <a:p>
            <a:endParaRPr lang="es-MX"/>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EDE8DC"/>
        </a:solidFill>
        <a:effectLst/>
      </p:bgPr>
    </p:bg>
    <p:spTree>
      <p:nvGrpSpPr>
        <p:cNvPr id="1" name=""/>
        <p:cNvGrpSpPr/>
        <p:nvPr/>
      </p:nvGrpSpPr>
      <p:grpSpPr>
        <a:xfrm>
          <a:off x="0" y="0"/>
          <a:ext cx="0" cy="0"/>
          <a:chOff x="0" y="0"/>
          <a:chExt cx="0" cy="0"/>
        </a:xfrm>
      </p:grpSpPr>
      <p:sp>
        <p:nvSpPr>
          <p:cNvPr id="2" name="s21-forma-1"/>
          <p:cNvSpPr/>
          <p:nvPr/>
        </p:nvSpPr>
        <p:spPr>
          <a:xfrm>
            <a:off x="853390" y="520961"/>
            <a:ext cx="10484915" cy="5713"/>
          </a:xfrm>
          <a:prstGeom prst="rect">
            <a:avLst/>
          </a:prstGeom>
          <a:solidFill>
            <a:srgbClr val="C6BFAE"/>
          </a:solidFill>
          <a:ln/>
        </p:spPr>
        <p:txBody>
          <a:bodyPr/>
          <a:lstStyle/>
          <a:p>
            <a:endParaRPr lang="es-MX"/>
          </a:p>
        </p:txBody>
      </p:sp>
      <p:sp>
        <p:nvSpPr>
          <p:cNvPr id="3" name="s21-forma-2"/>
          <p:cNvSpPr/>
          <p:nvPr/>
        </p:nvSpPr>
        <p:spPr>
          <a:xfrm>
            <a:off x="853390" y="331715"/>
            <a:ext cx="81411" cy="81411"/>
          </a:xfrm>
          <a:prstGeom prst="ellipse">
            <a:avLst/>
          </a:prstGeom>
          <a:solidFill>
            <a:srgbClr val="0033A0"/>
          </a:solidFill>
          <a:ln/>
        </p:spPr>
        <p:txBody>
          <a:bodyPr/>
          <a:lstStyle/>
          <a:p>
            <a:endParaRPr lang="es-MX"/>
          </a:p>
        </p:txBody>
      </p:sp>
      <p:sp>
        <p:nvSpPr>
          <p:cNvPr id="4" name="s21-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1-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0:40 · 10 min</a:t>
            </a:r>
            <a:endParaRPr lang="en-US" sz="807" dirty="0"/>
          </a:p>
        </p:txBody>
      </p:sp>
      <p:sp>
        <p:nvSpPr>
          <p:cNvPr id="6" name="s21-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EN CÓDIGO</a:t>
            </a:r>
            <a:endParaRPr lang="en-US" sz="900" dirty="0"/>
          </a:p>
        </p:txBody>
      </p:sp>
      <p:sp>
        <p:nvSpPr>
          <p:cNvPr id="7" name="s21-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Plan-and-Execute en código: dos fases</a:t>
            </a:r>
            <a:endParaRPr lang="en-US" sz="2519" dirty="0"/>
          </a:p>
        </p:txBody>
      </p:sp>
      <p:sp>
        <p:nvSpPr>
          <p:cNvPr id="8" name="s21-forma-7"/>
          <p:cNvSpPr/>
          <p:nvPr/>
        </p:nvSpPr>
        <p:spPr>
          <a:xfrm>
            <a:off x="1342572" y="2205246"/>
            <a:ext cx="5941595" cy="3536391"/>
          </a:xfrm>
          <a:prstGeom prst="rect">
            <a:avLst/>
          </a:prstGeom>
          <a:solidFill>
            <a:srgbClr val="E8E2D5"/>
          </a:solidFill>
          <a:ln/>
        </p:spPr>
        <p:txBody>
          <a:bodyPr/>
          <a:lstStyle/>
          <a:p>
            <a:endParaRPr lang="es-MX"/>
          </a:p>
        </p:txBody>
      </p:sp>
      <p:sp>
        <p:nvSpPr>
          <p:cNvPr id="9" name="s21-forma-8"/>
          <p:cNvSpPr/>
          <p:nvPr/>
        </p:nvSpPr>
        <p:spPr>
          <a:xfrm>
            <a:off x="1342572" y="2205246"/>
            <a:ext cx="5941595" cy="5713"/>
          </a:xfrm>
          <a:prstGeom prst="rect">
            <a:avLst/>
          </a:prstGeom>
          <a:solidFill>
            <a:srgbClr val="DBD4C4"/>
          </a:solidFill>
          <a:ln/>
        </p:spPr>
        <p:txBody>
          <a:bodyPr/>
          <a:lstStyle/>
          <a:p>
            <a:endParaRPr lang="es-MX"/>
          </a:p>
        </p:txBody>
      </p:sp>
      <p:sp>
        <p:nvSpPr>
          <p:cNvPr id="10" name="s21-forma-9"/>
          <p:cNvSpPr/>
          <p:nvPr/>
        </p:nvSpPr>
        <p:spPr>
          <a:xfrm>
            <a:off x="1342572" y="5735924"/>
            <a:ext cx="5941595" cy="5713"/>
          </a:xfrm>
          <a:prstGeom prst="rect">
            <a:avLst/>
          </a:prstGeom>
          <a:solidFill>
            <a:srgbClr val="DBD4C4"/>
          </a:solidFill>
          <a:ln/>
        </p:spPr>
        <p:txBody>
          <a:bodyPr/>
          <a:lstStyle/>
          <a:p>
            <a:endParaRPr lang="es-MX"/>
          </a:p>
        </p:txBody>
      </p:sp>
      <p:sp>
        <p:nvSpPr>
          <p:cNvPr id="11" name="s21-forma-10"/>
          <p:cNvSpPr/>
          <p:nvPr/>
        </p:nvSpPr>
        <p:spPr>
          <a:xfrm>
            <a:off x="1342572" y="2205246"/>
            <a:ext cx="17139" cy="3536391"/>
          </a:xfrm>
          <a:prstGeom prst="rect">
            <a:avLst/>
          </a:prstGeom>
          <a:solidFill>
            <a:srgbClr val="C6BFAE"/>
          </a:solidFill>
          <a:ln/>
        </p:spPr>
        <p:txBody>
          <a:bodyPr/>
          <a:lstStyle/>
          <a:p>
            <a:endParaRPr lang="es-MX"/>
          </a:p>
        </p:txBody>
      </p:sp>
      <p:sp>
        <p:nvSpPr>
          <p:cNvPr id="12" name="s21-forma-11"/>
          <p:cNvSpPr/>
          <p:nvPr/>
        </p:nvSpPr>
        <p:spPr>
          <a:xfrm>
            <a:off x="7278453" y="2205246"/>
            <a:ext cx="5713" cy="3536391"/>
          </a:xfrm>
          <a:prstGeom prst="rect">
            <a:avLst/>
          </a:prstGeom>
          <a:solidFill>
            <a:srgbClr val="DBD4C4"/>
          </a:solidFill>
          <a:ln/>
        </p:spPr>
        <p:txBody>
          <a:bodyPr/>
          <a:lstStyle/>
          <a:p>
            <a:endParaRPr lang="es-MX"/>
          </a:p>
        </p:txBody>
      </p:sp>
      <p:sp>
        <p:nvSpPr>
          <p:cNvPr id="13" name="s21-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r>
              <a:rPr lang="en-US" sz="990" dirty="0">
                <a:solidFill>
                  <a:srgbClr val="16181D"/>
                </a:solidFill>
                <a:latin typeface="Courier New" pitchFamily="34" charset="0"/>
                <a:ea typeface="Courier New" pitchFamily="34" charset="-122"/>
                <a:cs typeface="Courier New" pitchFamily="34" charset="-120"/>
              </a:rPr>
              <a:t> Plan(</a:t>
            </a:r>
            <a:r>
              <a:rPr lang="en-US" sz="990" dirty="0">
                <a:solidFill>
                  <a:srgbClr val="0033A0"/>
                </a:solidFill>
                <a:latin typeface="Courier New" pitchFamily="34" charset="0"/>
                <a:ea typeface="Courier New" pitchFamily="34" charset="-122"/>
                <a:cs typeface="Courier New" pitchFamily="34" charset="-120"/>
              </a:rPr>
              <a:t>BaseModel</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4" name="s21-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pasos: list[str]</a:t>
            </a:r>
            <a:endParaRPr lang="en-US" sz="990" dirty="0"/>
          </a:p>
        </p:txBody>
      </p:sp>
      <p:sp>
        <p:nvSpPr>
          <p:cNvPr id="15" name="s21-texto-14"/>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planificar(tarea: str) -&gt; Plan:                    </a:t>
            </a:r>
            <a:r>
              <a:rPr lang="en-US" sz="990" dirty="0">
                <a:solidFill>
                  <a:srgbClr val="585E6F"/>
                </a:solidFill>
                <a:latin typeface="Courier New" pitchFamily="34" charset="0"/>
                <a:ea typeface="Courier New" pitchFamily="34" charset="-122"/>
                <a:cs typeface="Courier New" pitchFamily="34" charset="-120"/>
              </a:rPr>
              <a:t># FASE 1</a:t>
            </a:r>
            <a:endParaRPr lang="en-US" sz="990" dirty="0"/>
          </a:p>
        </p:txBody>
      </p:sp>
      <p:sp>
        <p:nvSpPr>
          <p:cNvPr id="16" name="s21-forma-15"/>
          <p:cNvSpPr/>
          <p:nvPr/>
        </p:nvSpPr>
        <p:spPr>
          <a:xfrm>
            <a:off x="1451120" y="3125050"/>
            <a:ext cx="5735924" cy="188531"/>
          </a:xfrm>
          <a:prstGeom prst="rect">
            <a:avLst/>
          </a:prstGeom>
          <a:solidFill>
            <a:srgbClr val="DCE3F2"/>
          </a:solidFill>
          <a:ln/>
        </p:spPr>
        <p:txBody>
          <a:bodyPr/>
          <a:lstStyle/>
          <a:p>
            <a:endParaRPr lang="es-MX"/>
          </a:p>
        </p:txBody>
      </p:sp>
      <p:sp>
        <p:nvSpPr>
          <p:cNvPr id="17" name="s21-forma-16"/>
          <p:cNvSpPr/>
          <p:nvPr/>
        </p:nvSpPr>
        <p:spPr>
          <a:xfrm>
            <a:off x="1451120" y="3125050"/>
            <a:ext cx="22852" cy="188531"/>
          </a:xfrm>
          <a:prstGeom prst="rect">
            <a:avLst/>
          </a:prstGeom>
          <a:solidFill>
            <a:srgbClr val="AC321E"/>
          </a:solidFill>
          <a:ln/>
        </p:spPr>
        <p:txBody>
          <a:bodyPr/>
          <a:lstStyle/>
          <a:p>
            <a:endParaRPr lang="es-MX"/>
          </a:p>
        </p:txBody>
      </p:sp>
      <p:sp>
        <p:nvSpPr>
          <p:cNvPr id="18" name="s21-texto-17"/>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resp = cliente.messages.create(..., tools=[esquema_plan],</a:t>
            </a:r>
            <a:endParaRPr lang="en-US" sz="990" dirty="0"/>
          </a:p>
        </p:txBody>
      </p:sp>
      <p:sp>
        <p:nvSpPr>
          <p:cNvPr id="19" name="s21-forma-18"/>
          <p:cNvSpPr/>
          <p:nvPr/>
        </p:nvSpPr>
        <p:spPr>
          <a:xfrm>
            <a:off x="1451120" y="3313582"/>
            <a:ext cx="5735924" cy="188531"/>
          </a:xfrm>
          <a:prstGeom prst="rect">
            <a:avLst/>
          </a:prstGeom>
          <a:solidFill>
            <a:srgbClr val="DCE3F2"/>
          </a:solidFill>
          <a:ln/>
        </p:spPr>
        <p:txBody>
          <a:bodyPr/>
          <a:lstStyle/>
          <a:p>
            <a:endParaRPr lang="es-MX"/>
          </a:p>
        </p:txBody>
      </p:sp>
      <p:sp>
        <p:nvSpPr>
          <p:cNvPr id="20" name="s21-forma-19"/>
          <p:cNvSpPr/>
          <p:nvPr/>
        </p:nvSpPr>
        <p:spPr>
          <a:xfrm>
            <a:off x="1451120" y="3313582"/>
            <a:ext cx="22852" cy="188531"/>
          </a:xfrm>
          <a:prstGeom prst="rect">
            <a:avLst/>
          </a:prstGeom>
          <a:solidFill>
            <a:srgbClr val="AC321E"/>
          </a:solidFill>
          <a:ln/>
        </p:spPr>
        <p:txBody>
          <a:bodyPr/>
          <a:lstStyle/>
          <a:p>
            <a:endParaRPr lang="es-MX"/>
          </a:p>
        </p:txBody>
      </p:sp>
      <p:sp>
        <p:nvSpPr>
          <p:cNvPr id="21" name="s21-texto-20"/>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tool_choice={</a:t>
            </a:r>
            <a:r>
              <a:rPr lang="en-US" sz="990" dirty="0">
                <a:solidFill>
                  <a:srgbClr val="1B6A43"/>
                </a:solidFill>
                <a:latin typeface="Courier New" pitchFamily="34" charset="0"/>
                <a:ea typeface="Courier New" pitchFamily="34" charset="-122"/>
                <a:cs typeface="Courier New" pitchFamily="34" charset="-120"/>
              </a:rPr>
              <a:t>"type"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"tool"</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"name"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"plan"</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2" name="s21-texto-21"/>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Plan.model_validate(resp.content[0].input)</a:t>
            </a:r>
            <a:endParaRPr lang="en-US" sz="990" dirty="0"/>
          </a:p>
        </p:txBody>
      </p:sp>
      <p:sp>
        <p:nvSpPr>
          <p:cNvPr id="23" name="s21-texto-22"/>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ejecutar(tarea: str, plan: Plan) -&gt; str:           </a:t>
            </a:r>
            <a:r>
              <a:rPr lang="en-US" sz="990" dirty="0">
                <a:solidFill>
                  <a:srgbClr val="585E6F"/>
                </a:solidFill>
                <a:latin typeface="Courier New" pitchFamily="34" charset="0"/>
                <a:ea typeface="Courier New" pitchFamily="34" charset="-122"/>
                <a:cs typeface="Courier New" pitchFamily="34" charset="-120"/>
              </a:rPr>
              <a:t># FASE 2</a:t>
            </a:r>
            <a:endParaRPr lang="en-US" sz="990" dirty="0"/>
          </a:p>
        </p:txBody>
      </p:sp>
      <p:sp>
        <p:nvSpPr>
          <p:cNvPr id="24" name="s21-texto-23"/>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avance = </a:t>
            </a:r>
            <a:r>
              <a:rPr lang="en-US" sz="990" dirty="0">
                <a:solidFill>
                  <a:srgbClr val="1B6A43"/>
                </a:solidFill>
                <a:latin typeface="Courier New" pitchFamily="34" charset="0"/>
                <a:ea typeface="Courier New" pitchFamily="34" charset="-122"/>
                <a:cs typeface="Courier New" pitchFamily="34" charset="-120"/>
              </a:rPr>
              <a:t>""</a:t>
            </a:r>
            <a:endParaRPr lang="en-US" sz="990" dirty="0"/>
          </a:p>
        </p:txBody>
      </p:sp>
      <p:sp>
        <p:nvSpPr>
          <p:cNvPr id="25" name="s21-forma-24"/>
          <p:cNvSpPr/>
          <p:nvPr/>
        </p:nvSpPr>
        <p:spPr>
          <a:xfrm>
            <a:off x="1451120" y="4256238"/>
            <a:ext cx="5735924" cy="188531"/>
          </a:xfrm>
          <a:prstGeom prst="rect">
            <a:avLst/>
          </a:prstGeom>
          <a:solidFill>
            <a:srgbClr val="DCE3F2"/>
          </a:solidFill>
          <a:ln/>
        </p:spPr>
        <p:txBody>
          <a:bodyPr/>
          <a:lstStyle/>
          <a:p>
            <a:endParaRPr lang="es-MX"/>
          </a:p>
        </p:txBody>
      </p:sp>
      <p:sp>
        <p:nvSpPr>
          <p:cNvPr id="26" name="s21-forma-25"/>
          <p:cNvSpPr/>
          <p:nvPr/>
        </p:nvSpPr>
        <p:spPr>
          <a:xfrm>
            <a:off x="1451120" y="4256238"/>
            <a:ext cx="22852" cy="188531"/>
          </a:xfrm>
          <a:prstGeom prst="rect">
            <a:avLst/>
          </a:prstGeom>
          <a:solidFill>
            <a:srgbClr val="AC321E"/>
          </a:solidFill>
          <a:ln/>
        </p:spPr>
        <p:txBody>
          <a:bodyPr/>
          <a:lstStyle/>
          <a:p>
            <a:endParaRPr lang="es-MX"/>
          </a:p>
        </p:txBody>
      </p:sp>
      <p:sp>
        <p:nvSpPr>
          <p:cNvPr id="27" name="s21-texto-26"/>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i, instruccion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enumerate(plan.pasos, 1):</a:t>
            </a:r>
            <a:endParaRPr lang="en-US" sz="990" dirty="0"/>
          </a:p>
        </p:txBody>
      </p:sp>
      <p:sp>
        <p:nvSpPr>
          <p:cNvPr id="28" name="s21-texto-27"/>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avance += llamar(f</a:t>
            </a:r>
            <a:r>
              <a:rPr lang="en-US" sz="990" dirty="0">
                <a:solidFill>
                  <a:srgbClr val="1B6A43"/>
                </a:solidFill>
                <a:latin typeface="Courier New" pitchFamily="34" charset="0"/>
                <a:ea typeface="Courier New" pitchFamily="34" charset="-122"/>
                <a:cs typeface="Courier New" pitchFamily="34" charset="-120"/>
              </a:rPr>
              <a:t>"{avance}\nHaz SOLO: {instruccion}"</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9" name="s21-texto-28"/>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avance</a:t>
            </a:r>
            <a:endParaRPr lang="en-US" sz="990" dirty="0"/>
          </a:p>
        </p:txBody>
      </p:sp>
      <p:sp>
        <p:nvSpPr>
          <p:cNvPr id="30" name="s21-texto-29"/>
          <p:cNvSpPr txBox="1"/>
          <p:nvPr/>
        </p:nvSpPr>
        <p:spPr>
          <a:xfrm>
            <a:off x="1542529" y="501036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plan = planificar(tarea)</a:t>
            </a:r>
            <a:endParaRPr lang="en-US" sz="990" dirty="0"/>
          </a:p>
        </p:txBody>
      </p:sp>
      <p:sp>
        <p:nvSpPr>
          <p:cNvPr id="31" name="s21-forma-30"/>
          <p:cNvSpPr/>
          <p:nvPr/>
        </p:nvSpPr>
        <p:spPr>
          <a:xfrm>
            <a:off x="1451120" y="5198895"/>
            <a:ext cx="5735924" cy="188531"/>
          </a:xfrm>
          <a:prstGeom prst="rect">
            <a:avLst/>
          </a:prstGeom>
          <a:solidFill>
            <a:srgbClr val="DCE3F2"/>
          </a:solidFill>
          <a:ln/>
        </p:spPr>
        <p:txBody>
          <a:bodyPr/>
          <a:lstStyle/>
          <a:p>
            <a:endParaRPr lang="es-MX"/>
          </a:p>
        </p:txBody>
      </p:sp>
      <p:sp>
        <p:nvSpPr>
          <p:cNvPr id="32" name="s21-forma-31"/>
          <p:cNvSpPr/>
          <p:nvPr/>
        </p:nvSpPr>
        <p:spPr>
          <a:xfrm>
            <a:off x="1451120" y="5198895"/>
            <a:ext cx="22852" cy="188531"/>
          </a:xfrm>
          <a:prstGeom prst="rect">
            <a:avLst/>
          </a:prstGeom>
          <a:solidFill>
            <a:srgbClr val="AC321E"/>
          </a:solidFill>
          <a:ln/>
        </p:spPr>
        <p:txBody>
          <a:bodyPr/>
          <a:lstStyle/>
          <a:p>
            <a:endParaRPr lang="es-MX"/>
          </a:p>
        </p:txBody>
      </p:sp>
      <p:sp>
        <p:nvSpPr>
          <p:cNvPr id="33" name="s21-texto-32"/>
          <p:cNvSpPr txBox="1"/>
          <p:nvPr/>
        </p:nvSpPr>
        <p:spPr>
          <a:xfrm>
            <a:off x="1542529" y="519889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input(</a:t>
            </a:r>
            <a:r>
              <a:rPr lang="en-US" sz="990" dirty="0">
                <a:solidFill>
                  <a:srgbClr val="1B6A43"/>
                </a:solidFill>
                <a:latin typeface="Courier New" pitchFamily="34" charset="0"/>
                <a:ea typeface="Courier New" pitchFamily="34" charset="-122"/>
                <a:cs typeface="Courier New" pitchFamily="34" charset="-120"/>
              </a:rPr>
              <a:t>"¿Aprobar el plan? "</a:t>
            </a:r>
            <a:r>
              <a:rPr lang="en-US" sz="990" dirty="0">
                <a:solidFill>
                  <a:srgbClr val="16181D"/>
                </a:solidFill>
                <a:latin typeface="Courier New" pitchFamily="34" charset="0"/>
                <a:ea typeface="Courier New" pitchFamily="34" charset="-122"/>
                <a:cs typeface="Courier New" pitchFamily="34" charset="-120"/>
              </a:rPr>
              <a:t>) == </a:t>
            </a:r>
            <a:r>
              <a:rPr lang="en-US" sz="990" dirty="0">
                <a:solidFill>
                  <a:srgbClr val="1B6A43"/>
                </a:solidFill>
                <a:latin typeface="Courier New" pitchFamily="34" charset="0"/>
                <a:ea typeface="Courier New" pitchFamily="34" charset="-122"/>
                <a:cs typeface="Courier New" pitchFamily="34" charset="-120"/>
              </a:rPr>
              <a:t>"si"</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control humano</a:t>
            </a:r>
            <a:endParaRPr lang="en-US" sz="990" dirty="0"/>
          </a:p>
        </p:txBody>
      </p:sp>
      <p:sp>
        <p:nvSpPr>
          <p:cNvPr id="34" name="s21-texto-33"/>
          <p:cNvSpPr txBox="1"/>
          <p:nvPr/>
        </p:nvSpPr>
        <p:spPr>
          <a:xfrm>
            <a:off x="1542529" y="538742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ejecutar(tarea, plan)</a:t>
            </a:r>
            <a:endParaRPr lang="en-US" sz="990" dirty="0"/>
          </a:p>
        </p:txBody>
      </p:sp>
      <p:sp>
        <p:nvSpPr>
          <p:cNvPr id="35" name="s21-texto-34"/>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6" name="s21-texto-35"/>
          <p:cNvSpPr txBox="1"/>
          <p:nvPr/>
        </p:nvSpPr>
        <p:spPr>
          <a:xfrm>
            <a:off x="7558394" y="2410916"/>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El plan es un </a:t>
            </a:r>
            <a:r>
              <a:rPr lang="en-US" sz="1170" b="1" dirty="0">
                <a:solidFill>
                  <a:srgbClr val="0033A0"/>
                </a:solidFill>
                <a:latin typeface="Arial" pitchFamily="34" charset="0"/>
                <a:ea typeface="Arial" pitchFamily="34" charset="-122"/>
                <a:cs typeface="Arial" pitchFamily="34" charset="-120"/>
              </a:rPr>
              <a:t>dato</a:t>
            </a:r>
            <a:r>
              <a:rPr lang="en-US" sz="1170" dirty="0">
                <a:solidFill>
                  <a:srgbClr val="16181D"/>
                </a:solidFill>
                <a:latin typeface="Arial" pitchFamily="34" charset="0"/>
                <a:ea typeface="Arial" pitchFamily="34" charset="-122"/>
                <a:cs typeface="Arial" pitchFamily="34" charset="-120"/>
              </a:rPr>
              <a:t> (Pydantic) que se puede revisar y aprobar antes de gastar en ejecutarlo.</a:t>
            </a:r>
            <a:endParaRPr lang="en-US" sz="1170" dirty="0"/>
          </a:p>
        </p:txBody>
      </p:sp>
      <p:sp>
        <p:nvSpPr>
          <p:cNvPr id="37" name="s21-texto-36"/>
          <p:cNvSpPr txBox="1"/>
          <p:nvPr/>
        </p:nvSpPr>
        <p:spPr>
          <a:xfrm>
            <a:off x="7558394" y="2946695"/>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8" name="s21-texto-37"/>
          <p:cNvSpPr txBox="1"/>
          <p:nvPr/>
        </p:nvSpPr>
        <p:spPr>
          <a:xfrm>
            <a:off x="7558394" y="3152366"/>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ReAct: allí no hay plan; cada vuelta decide la siguiente.</a:t>
            </a:r>
            <a:endParaRPr lang="en-US" sz="1170" dirty="0"/>
          </a:p>
        </p:txBody>
      </p:sp>
      <p:sp>
        <p:nvSpPr>
          <p:cNvPr id="39" name="s21-texto-38"/>
          <p:cNvSpPr txBox="1"/>
          <p:nvPr/>
        </p:nvSpPr>
        <p:spPr>
          <a:xfrm>
            <a:off x="7558394" y="3688145"/>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0" name="s21-forma-39"/>
          <p:cNvSpPr/>
          <p:nvPr/>
        </p:nvSpPr>
        <p:spPr>
          <a:xfrm>
            <a:off x="7558394" y="3876676"/>
            <a:ext cx="3290729" cy="440978"/>
          </a:xfrm>
          <a:prstGeom prst="rect">
            <a:avLst/>
          </a:prstGeom>
          <a:solidFill>
            <a:srgbClr val="E3DCCB"/>
          </a:solidFill>
          <a:ln/>
        </p:spPr>
        <p:txBody>
          <a:bodyPr/>
          <a:lstStyle/>
          <a:p>
            <a:endParaRPr lang="es-MX"/>
          </a:p>
        </p:txBody>
      </p:sp>
      <p:sp>
        <p:nvSpPr>
          <p:cNvPr id="41" name="s21-texto-40"/>
          <p:cNvSpPr txBox="1"/>
          <p:nvPr/>
        </p:nvSpPr>
        <p:spPr>
          <a:xfrm>
            <a:off x="7649803" y="3956659"/>
            <a:ext cx="3294386" cy="277620"/>
          </a:xfrm>
          <a:prstGeom prst="rect">
            <a:avLst/>
          </a:prstGeom>
          <a:noFill/>
          <a:ln/>
        </p:spPr>
        <p:txBody>
          <a:bodyPr wrap="squar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ejemplos.s1_razonamiento.plan_ejecucion</a:t>
            </a:r>
            <a:endParaRPr lang="en-US" sz="855" dirty="0"/>
          </a:p>
        </p:txBody>
      </p:sp>
      <p:sp>
        <p:nvSpPr>
          <p:cNvPr id="42" name="s21-forma-41"/>
          <p:cNvSpPr/>
          <p:nvPr/>
        </p:nvSpPr>
        <p:spPr>
          <a:xfrm>
            <a:off x="7558394" y="4454768"/>
            <a:ext cx="3290729" cy="832859"/>
          </a:xfrm>
          <a:prstGeom prst="rect">
            <a:avLst/>
          </a:prstGeom>
          <a:solidFill>
            <a:srgbClr val="E2D3C2"/>
          </a:solidFill>
          <a:ln/>
        </p:spPr>
        <p:txBody>
          <a:bodyPr/>
          <a:lstStyle/>
          <a:p>
            <a:endParaRPr lang="es-MX"/>
          </a:p>
        </p:txBody>
      </p:sp>
      <p:sp>
        <p:nvSpPr>
          <p:cNvPr id="43" name="s21-texto-42"/>
          <p:cNvSpPr txBox="1"/>
          <p:nvPr/>
        </p:nvSpPr>
        <p:spPr>
          <a:xfrm>
            <a:off x="7695508" y="456902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4" name="s21-texto-43"/>
          <p:cNvSpPr txBox="1"/>
          <p:nvPr/>
        </p:nvSpPr>
        <p:spPr>
          <a:xfrm>
            <a:off x="7695508" y="477470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agentes/desarrollador.py → planificar() y construir(); aprobar_plan en flujo_s2.py.</a:t>
            </a:r>
            <a:endParaRPr lang="en-US" sz="1170" dirty="0"/>
          </a:p>
        </p:txBody>
      </p:sp>
      <p:sp>
        <p:nvSpPr>
          <p:cNvPr id="45" name="s21-texto-4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ejemplos/s1_razonamiento/plan_ejecucion.py · las líneas resaltadas son el patrón</a:t>
            </a:r>
            <a:endParaRPr lang="en-US" sz="1080" dirty="0"/>
          </a:p>
        </p:txBody>
      </p:sp>
      <p:sp>
        <p:nvSpPr>
          <p:cNvPr id="46" name="s21-forma-45"/>
          <p:cNvSpPr/>
          <p:nvPr/>
        </p:nvSpPr>
        <p:spPr>
          <a:xfrm>
            <a:off x="853390" y="6411138"/>
            <a:ext cx="10484915" cy="5713"/>
          </a:xfrm>
          <a:prstGeom prst="rect">
            <a:avLst/>
          </a:prstGeom>
          <a:solidFill>
            <a:srgbClr val="DBD4C4"/>
          </a:solidFill>
          <a:ln/>
        </p:spPr>
        <p:txBody>
          <a:bodyPr/>
          <a:lstStyle/>
          <a:p>
            <a:endParaRPr lang="es-MX"/>
          </a:p>
        </p:txBody>
      </p:sp>
      <p:pic>
        <p:nvPicPr>
          <p:cNvPr id="47" name="s21-logo-46" descr="preencoded.png"/>
          <p:cNvPicPr>
            <a:picLocks noChangeAspect="1"/>
          </p:cNvPicPr>
          <p:nvPr/>
        </p:nvPicPr>
        <p:blipFill>
          <a:blip r:embed="rId3"/>
          <a:stretch>
            <a:fillRect/>
          </a:stretch>
        </p:blipFill>
        <p:spPr>
          <a:xfrm>
            <a:off x="853390" y="6465055"/>
            <a:ext cx="687800" cy="212455"/>
          </a:xfrm>
          <a:prstGeom prst="rect">
            <a:avLst/>
          </a:prstGeom>
        </p:spPr>
      </p:pic>
      <p:sp>
        <p:nvSpPr>
          <p:cNvPr id="48" name="s21-forma-47"/>
          <p:cNvSpPr/>
          <p:nvPr/>
        </p:nvSpPr>
        <p:spPr>
          <a:xfrm>
            <a:off x="1659380" y="6519865"/>
            <a:ext cx="3057208" cy="102835"/>
          </a:xfrm>
          <a:prstGeom prst="rect">
            <a:avLst/>
          </a:prstGeom>
          <a:ln/>
        </p:spPr>
        <p:txBody>
          <a:bodyPr/>
          <a:lstStyle/>
          <a:p>
            <a:endParaRPr lang="es-MX"/>
          </a:p>
        </p:txBody>
      </p:sp>
      <p:sp>
        <p:nvSpPr>
          <p:cNvPr id="49" name="s21-forma-48"/>
          <p:cNvSpPr/>
          <p:nvPr/>
        </p:nvSpPr>
        <p:spPr>
          <a:xfrm>
            <a:off x="1659380" y="6519865"/>
            <a:ext cx="5713" cy="102835"/>
          </a:xfrm>
          <a:prstGeom prst="rect">
            <a:avLst/>
          </a:prstGeom>
          <a:solidFill>
            <a:srgbClr val="C6BFAE"/>
          </a:solidFill>
          <a:ln/>
        </p:spPr>
        <p:txBody>
          <a:bodyPr/>
          <a:lstStyle/>
          <a:p>
            <a:endParaRPr lang="es-MX"/>
          </a:p>
        </p:txBody>
      </p:sp>
      <p:sp>
        <p:nvSpPr>
          <p:cNvPr id="50" name="s21-texto-49"/>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1" name="s21-texto-50"/>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21 / 35</a:t>
            </a:r>
            <a:endParaRPr lang="en-US" sz="745" dirty="0"/>
          </a:p>
        </p:txBody>
      </p:sp>
      <p:sp>
        <p:nvSpPr>
          <p:cNvPr id="52" name="s21-forma-51"/>
          <p:cNvSpPr/>
          <p:nvPr/>
        </p:nvSpPr>
        <p:spPr>
          <a:xfrm>
            <a:off x="0" y="0"/>
            <a:ext cx="7314964" cy="17139"/>
          </a:xfrm>
          <a:prstGeom prst="rect">
            <a:avLst/>
          </a:prstGeom>
          <a:solidFill>
            <a:srgbClr val="0033A0"/>
          </a:solidFill>
          <a:ln/>
        </p:spPr>
        <p:txBody>
          <a:bodyPr/>
          <a:lstStyle/>
          <a:p>
            <a:endParaRPr lang="es-MX"/>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EDE8DC"/>
        </a:solidFill>
        <a:effectLst/>
      </p:bgPr>
    </p:bg>
    <p:spTree>
      <p:nvGrpSpPr>
        <p:cNvPr id="1" name=""/>
        <p:cNvGrpSpPr/>
        <p:nvPr/>
      </p:nvGrpSpPr>
      <p:grpSpPr>
        <a:xfrm>
          <a:off x="0" y="0"/>
          <a:ext cx="0" cy="0"/>
          <a:chOff x="0" y="0"/>
          <a:chExt cx="0" cy="0"/>
        </a:xfrm>
      </p:grpSpPr>
      <p:sp>
        <p:nvSpPr>
          <p:cNvPr id="2" name="s22-forma-1"/>
          <p:cNvSpPr/>
          <p:nvPr/>
        </p:nvSpPr>
        <p:spPr>
          <a:xfrm>
            <a:off x="853390" y="331715"/>
            <a:ext cx="81411" cy="81411"/>
          </a:xfrm>
          <a:prstGeom prst="ellipse">
            <a:avLst/>
          </a:prstGeom>
          <a:solidFill>
            <a:srgbClr val="0033A0"/>
          </a:solidFill>
          <a:ln/>
        </p:spPr>
        <p:txBody>
          <a:bodyPr/>
          <a:lstStyle/>
          <a:p>
            <a:endParaRPr lang="es-MX"/>
          </a:p>
        </p:txBody>
      </p:sp>
      <p:sp>
        <p:nvSpPr>
          <p:cNvPr id="3" name="s22-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2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5" name="s22-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1.4</a:t>
            </a:r>
            <a:endParaRPr lang="en-US" sz="869" dirty="0"/>
          </a:p>
        </p:txBody>
      </p:sp>
      <p:sp>
        <p:nvSpPr>
          <p:cNvPr id="6" name="s22-forma-5"/>
          <p:cNvSpPr/>
          <p:nvPr/>
        </p:nvSpPr>
        <p:spPr>
          <a:xfrm>
            <a:off x="853390" y="4059138"/>
            <a:ext cx="722704" cy="22852"/>
          </a:xfrm>
          <a:prstGeom prst="rect">
            <a:avLst/>
          </a:prstGeom>
          <a:solidFill>
            <a:srgbClr val="0033A0"/>
          </a:solidFill>
          <a:ln/>
        </p:spPr>
        <p:txBody>
          <a:bodyPr/>
          <a:lstStyle/>
          <a:p>
            <a:endParaRPr lang="es-MX"/>
          </a:p>
        </p:txBody>
      </p:sp>
      <p:sp>
        <p:nvSpPr>
          <p:cNvPr id="7" name="s22-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Salidas estructuradas y reflexión</a:t>
            </a:r>
            <a:endParaRPr lang="en-US" sz="4242" dirty="0"/>
          </a:p>
        </p:txBody>
      </p:sp>
      <p:sp>
        <p:nvSpPr>
          <p:cNvPr id="8" name="s22-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El agente propone; el código decide.</a:t>
            </a:r>
            <a:endParaRPr lang="en-US" sz="1676" dirty="0"/>
          </a:p>
        </p:txBody>
      </p:sp>
      <p:pic>
        <p:nvPicPr>
          <p:cNvPr id="9" name="s2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2-forma-9"/>
          <p:cNvSpPr/>
          <p:nvPr/>
        </p:nvSpPr>
        <p:spPr>
          <a:xfrm>
            <a:off x="1659380" y="6519865"/>
            <a:ext cx="3057208" cy="102835"/>
          </a:xfrm>
          <a:prstGeom prst="rect">
            <a:avLst/>
          </a:prstGeom>
          <a:ln/>
        </p:spPr>
        <p:txBody>
          <a:bodyPr/>
          <a:lstStyle/>
          <a:p>
            <a:endParaRPr lang="es-MX"/>
          </a:p>
        </p:txBody>
      </p:sp>
      <p:sp>
        <p:nvSpPr>
          <p:cNvPr id="11" name="s22-forma-10"/>
          <p:cNvSpPr/>
          <p:nvPr/>
        </p:nvSpPr>
        <p:spPr>
          <a:xfrm>
            <a:off x="1659380" y="6519865"/>
            <a:ext cx="5713" cy="102835"/>
          </a:xfrm>
          <a:prstGeom prst="rect">
            <a:avLst/>
          </a:prstGeom>
          <a:solidFill>
            <a:srgbClr val="C6BFAE"/>
          </a:solidFill>
          <a:ln/>
        </p:spPr>
        <p:txBody>
          <a:bodyPr/>
          <a:lstStyle/>
          <a:p>
            <a:endParaRPr lang="es-MX"/>
          </a:p>
        </p:txBody>
      </p:sp>
      <p:sp>
        <p:nvSpPr>
          <p:cNvPr id="12" name="s22-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22-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22 / 35</a:t>
            </a:r>
            <a:endParaRPr lang="en-US" sz="745" dirty="0"/>
          </a:p>
        </p:txBody>
      </p:sp>
      <p:sp>
        <p:nvSpPr>
          <p:cNvPr id="14" name="s22-forma-13"/>
          <p:cNvSpPr/>
          <p:nvPr/>
        </p:nvSpPr>
        <p:spPr>
          <a:xfrm>
            <a:off x="0" y="0"/>
            <a:ext cx="7663282" cy="17139"/>
          </a:xfrm>
          <a:prstGeom prst="rect">
            <a:avLst/>
          </a:prstGeom>
          <a:solidFill>
            <a:srgbClr val="0033A0"/>
          </a:solidFill>
          <a:ln/>
        </p:spPr>
        <p:txBody>
          <a:bodyPr/>
          <a:lstStyle/>
          <a:p>
            <a:endParaRPr lang="es-MX"/>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21BB0-E916-3A21-8E9D-CF54141C1F6B}"/>
            </a:ext>
          </a:extLst>
        </p:cNvPr>
        <p:cNvGrpSpPr/>
        <p:nvPr/>
      </p:nvGrpSpPr>
      <p:grpSpPr>
        <a:xfrm>
          <a:off x="0" y="0"/>
          <a:ext cx="0" cy="0"/>
          <a:chOff x="0" y="0"/>
          <a:chExt cx="0" cy="0"/>
        </a:xfrm>
      </p:grpSpPr>
      <p:sp>
        <p:nvSpPr>
          <p:cNvPr id="2" name="s23-forma-1">
            <a:extLst>
              <a:ext uri="{FF2B5EF4-FFF2-40B4-BE49-F238E27FC236}">
                <a16:creationId xmlns:a16="http://schemas.microsoft.com/office/drawing/2014/main" id="{8ECF46D1-2156-9825-2DA1-1BBE3D1DF538}"/>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23-forma-2">
            <a:extLst>
              <a:ext uri="{FF2B5EF4-FFF2-40B4-BE49-F238E27FC236}">
                <a16:creationId xmlns:a16="http://schemas.microsoft.com/office/drawing/2014/main" id="{258DEBD8-B2E7-9A2A-63A5-C3F0366DA256}"/>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23-texto-3">
            <a:extLst>
              <a:ext uri="{FF2B5EF4-FFF2-40B4-BE49-F238E27FC236}">
                <a16:creationId xmlns:a16="http://schemas.microsoft.com/office/drawing/2014/main" id="{835D73E4-D9B9-CEA7-711E-BDAD8D6F8B5C}"/>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3-texto-4">
            <a:extLst>
              <a:ext uri="{FF2B5EF4-FFF2-40B4-BE49-F238E27FC236}">
                <a16:creationId xmlns:a16="http://schemas.microsoft.com/office/drawing/2014/main" id="{9F65A80B-F850-2A82-1980-4CAEB776BB4E}"/>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3-texto-5">
            <a:extLst>
              <a:ext uri="{FF2B5EF4-FFF2-40B4-BE49-F238E27FC236}">
                <a16:creationId xmlns:a16="http://schemas.microsoft.com/office/drawing/2014/main" id="{A8B697EE-4189-0C48-04F3-A160515F6E11}"/>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1.3 · SALIDAS ESTRUCTURADAS Y VERIFICACIÓN</a:t>
            </a:r>
            <a:endParaRPr lang="en-US" sz="900" dirty="0"/>
          </a:p>
        </p:txBody>
      </p:sp>
      <p:sp>
        <p:nvSpPr>
          <p:cNvPr id="7" name="s23-texto-6">
            <a:extLst>
              <a:ext uri="{FF2B5EF4-FFF2-40B4-BE49-F238E27FC236}">
                <a16:creationId xmlns:a16="http://schemas.microsoft.com/office/drawing/2014/main" id="{D7C8DF7E-2AA1-AF89-2C13-46BDF637E621}"/>
              </a:ext>
            </a:extLst>
          </p:cNvPr>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err="1">
                <a:solidFill>
                  <a:srgbClr val="16181D"/>
                </a:solidFill>
                <a:latin typeface="Georgia" pitchFamily="34" charset="0"/>
                <a:ea typeface="Georgia" pitchFamily="34" charset="-122"/>
                <a:cs typeface="Georgia" pitchFamily="34" charset="-120"/>
              </a:rPr>
              <a:t>Paréntesis</a:t>
            </a:r>
            <a:r>
              <a:rPr lang="en-US" sz="2879" b="1" kern="0" spc="-29" dirty="0">
                <a:solidFill>
                  <a:srgbClr val="16181D"/>
                </a:solidFill>
                <a:latin typeface="Georgia" pitchFamily="34" charset="0"/>
                <a:ea typeface="Georgia" pitchFamily="34" charset="-122"/>
                <a:cs typeface="Georgia" pitchFamily="34" charset="-120"/>
              </a:rPr>
              <a:t>: ¿</a:t>
            </a:r>
            <a:r>
              <a:rPr lang="en-US" sz="2879" b="1" kern="0" spc="-29" dirty="0" err="1">
                <a:solidFill>
                  <a:srgbClr val="16181D"/>
                </a:solidFill>
                <a:latin typeface="Georgia" pitchFamily="34" charset="0"/>
                <a:ea typeface="Georgia" pitchFamily="34" charset="-122"/>
                <a:cs typeface="Georgia" pitchFamily="34" charset="-120"/>
              </a:rPr>
              <a:t>Qué</a:t>
            </a:r>
            <a:r>
              <a:rPr lang="en-US" sz="2879" b="1" kern="0" spc="-29" dirty="0">
                <a:solidFill>
                  <a:srgbClr val="16181D"/>
                </a:solidFill>
                <a:latin typeface="Georgia" pitchFamily="34" charset="0"/>
                <a:ea typeface="Georgia" pitchFamily="34" charset="-122"/>
                <a:cs typeface="Georgia" pitchFamily="34" charset="-120"/>
              </a:rPr>
              <a:t> es Gherkin?</a:t>
            </a:r>
            <a:endParaRPr lang="en-US" sz="2879" dirty="0"/>
          </a:p>
        </p:txBody>
      </p:sp>
      <p:sp>
        <p:nvSpPr>
          <p:cNvPr id="24" name="s23-forma-23">
            <a:extLst>
              <a:ext uri="{FF2B5EF4-FFF2-40B4-BE49-F238E27FC236}">
                <a16:creationId xmlns:a16="http://schemas.microsoft.com/office/drawing/2014/main" id="{AAD2D183-33A9-3E70-08AD-A419835DCF1A}"/>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25" name="s23-logo-24" descr="preencoded.png">
            <a:extLst>
              <a:ext uri="{FF2B5EF4-FFF2-40B4-BE49-F238E27FC236}">
                <a16:creationId xmlns:a16="http://schemas.microsoft.com/office/drawing/2014/main" id="{EDB5D53A-A242-6A94-D183-7756538EFA1A}"/>
              </a:ext>
            </a:extLst>
          </p:cNvPr>
          <p:cNvPicPr>
            <a:picLocks noChangeAspect="1"/>
          </p:cNvPicPr>
          <p:nvPr/>
        </p:nvPicPr>
        <p:blipFill>
          <a:blip r:embed="rId3"/>
          <a:stretch>
            <a:fillRect/>
          </a:stretch>
        </p:blipFill>
        <p:spPr>
          <a:xfrm>
            <a:off x="853390" y="6465055"/>
            <a:ext cx="687800" cy="212455"/>
          </a:xfrm>
          <a:prstGeom prst="rect">
            <a:avLst/>
          </a:prstGeom>
        </p:spPr>
      </p:pic>
      <p:sp>
        <p:nvSpPr>
          <p:cNvPr id="26" name="s23-forma-25">
            <a:extLst>
              <a:ext uri="{FF2B5EF4-FFF2-40B4-BE49-F238E27FC236}">
                <a16:creationId xmlns:a16="http://schemas.microsoft.com/office/drawing/2014/main" id="{BB4918E5-2169-BF7E-0B8C-DB2642E3D76E}"/>
              </a:ext>
            </a:extLst>
          </p:cNvPr>
          <p:cNvSpPr/>
          <p:nvPr/>
        </p:nvSpPr>
        <p:spPr>
          <a:xfrm>
            <a:off x="1659380" y="6519865"/>
            <a:ext cx="3057208" cy="102835"/>
          </a:xfrm>
          <a:prstGeom prst="rect">
            <a:avLst/>
          </a:prstGeom>
          <a:ln/>
        </p:spPr>
        <p:txBody>
          <a:bodyPr/>
          <a:lstStyle/>
          <a:p>
            <a:endParaRPr lang="es-MX"/>
          </a:p>
        </p:txBody>
      </p:sp>
      <p:sp>
        <p:nvSpPr>
          <p:cNvPr id="27" name="s23-forma-26">
            <a:extLst>
              <a:ext uri="{FF2B5EF4-FFF2-40B4-BE49-F238E27FC236}">
                <a16:creationId xmlns:a16="http://schemas.microsoft.com/office/drawing/2014/main" id="{566873D0-5FBB-0520-87F9-246F2ABA77E3}"/>
              </a:ext>
            </a:extLst>
          </p:cNvPr>
          <p:cNvSpPr/>
          <p:nvPr/>
        </p:nvSpPr>
        <p:spPr>
          <a:xfrm>
            <a:off x="1659380" y="6519865"/>
            <a:ext cx="5713" cy="102835"/>
          </a:xfrm>
          <a:prstGeom prst="rect">
            <a:avLst/>
          </a:prstGeom>
          <a:solidFill>
            <a:srgbClr val="C6BFAE"/>
          </a:solidFill>
          <a:ln/>
        </p:spPr>
        <p:txBody>
          <a:bodyPr/>
          <a:lstStyle/>
          <a:p>
            <a:endParaRPr lang="es-MX"/>
          </a:p>
        </p:txBody>
      </p:sp>
      <p:sp>
        <p:nvSpPr>
          <p:cNvPr id="28" name="s23-texto-27">
            <a:extLst>
              <a:ext uri="{FF2B5EF4-FFF2-40B4-BE49-F238E27FC236}">
                <a16:creationId xmlns:a16="http://schemas.microsoft.com/office/drawing/2014/main" id="{2EC40E58-F93F-424F-E862-71C27E24F1F2}"/>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9" name="s23-texto-28">
            <a:extLst>
              <a:ext uri="{FF2B5EF4-FFF2-40B4-BE49-F238E27FC236}">
                <a16:creationId xmlns:a16="http://schemas.microsoft.com/office/drawing/2014/main" id="{7C7D79F4-212B-86E3-0C03-FBA3A25CF957}"/>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23 / 35</a:t>
            </a:r>
            <a:endParaRPr lang="en-US" sz="745" dirty="0"/>
          </a:p>
        </p:txBody>
      </p:sp>
      <p:sp>
        <p:nvSpPr>
          <p:cNvPr id="30" name="s23-forma-29">
            <a:extLst>
              <a:ext uri="{FF2B5EF4-FFF2-40B4-BE49-F238E27FC236}">
                <a16:creationId xmlns:a16="http://schemas.microsoft.com/office/drawing/2014/main" id="{A0405B7C-737C-AA97-DF84-19BFAE317EC4}"/>
              </a:ext>
            </a:extLst>
          </p:cNvPr>
          <p:cNvSpPr/>
          <p:nvPr/>
        </p:nvSpPr>
        <p:spPr>
          <a:xfrm>
            <a:off x="0" y="0"/>
            <a:ext cx="8011601" cy="17139"/>
          </a:xfrm>
          <a:prstGeom prst="rect">
            <a:avLst/>
          </a:prstGeom>
          <a:solidFill>
            <a:srgbClr val="0033A0"/>
          </a:solidFill>
          <a:ln/>
        </p:spPr>
        <p:txBody>
          <a:bodyPr/>
          <a:lstStyle/>
          <a:p>
            <a:endParaRPr lang="es-MX"/>
          </a:p>
        </p:txBody>
      </p:sp>
      <p:pic>
        <p:nvPicPr>
          <p:cNvPr id="9" name="Imagen 8">
            <a:extLst>
              <a:ext uri="{FF2B5EF4-FFF2-40B4-BE49-F238E27FC236}">
                <a16:creationId xmlns:a16="http://schemas.microsoft.com/office/drawing/2014/main" id="{1FF705EF-D62F-614D-8896-7C6FF80DAAD2}"/>
              </a:ext>
            </a:extLst>
          </p:cNvPr>
          <p:cNvPicPr>
            <a:picLocks noChangeAspect="1"/>
          </p:cNvPicPr>
          <p:nvPr/>
        </p:nvPicPr>
        <p:blipFill>
          <a:blip r:embed="rId4"/>
          <a:stretch>
            <a:fillRect/>
          </a:stretch>
        </p:blipFill>
        <p:spPr>
          <a:xfrm>
            <a:off x="1197290" y="2095627"/>
            <a:ext cx="9536587" cy="4045825"/>
          </a:xfrm>
          <a:prstGeom prst="rect">
            <a:avLst/>
          </a:prstGeom>
        </p:spPr>
      </p:pic>
      <p:pic>
        <p:nvPicPr>
          <p:cNvPr id="10" name="Picture 2">
            <a:extLst>
              <a:ext uri="{FF2B5EF4-FFF2-40B4-BE49-F238E27FC236}">
                <a16:creationId xmlns:a16="http://schemas.microsoft.com/office/drawing/2014/main" id="{6C38C661-6BBE-F34B-A977-CC9AEBB5C0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2327" y="2034197"/>
            <a:ext cx="1380855" cy="92517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Conector recto de flecha 11">
            <a:extLst>
              <a:ext uri="{FF2B5EF4-FFF2-40B4-BE49-F238E27FC236}">
                <a16:creationId xmlns:a16="http://schemas.microsoft.com/office/drawing/2014/main" id="{14848072-F8AE-976C-13B7-ACC3CBFDD921}"/>
              </a:ext>
            </a:extLst>
          </p:cNvPr>
          <p:cNvCxnSpPr>
            <a:cxnSpLocks/>
          </p:cNvCxnSpPr>
          <p:nvPr/>
        </p:nvCxnSpPr>
        <p:spPr>
          <a:xfrm flipV="1">
            <a:off x="2613182" y="2468207"/>
            <a:ext cx="215743" cy="1"/>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0501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EDE8DC"/>
        </a:solidFill>
        <a:effectLst/>
      </p:bgPr>
    </p:bg>
    <p:spTree>
      <p:nvGrpSpPr>
        <p:cNvPr id="1" name=""/>
        <p:cNvGrpSpPr/>
        <p:nvPr/>
      </p:nvGrpSpPr>
      <p:grpSpPr>
        <a:xfrm>
          <a:off x="0" y="0"/>
          <a:ext cx="0" cy="0"/>
          <a:chOff x="0" y="0"/>
          <a:chExt cx="0" cy="0"/>
        </a:xfrm>
      </p:grpSpPr>
      <p:sp>
        <p:nvSpPr>
          <p:cNvPr id="2" name="s23-forma-1"/>
          <p:cNvSpPr/>
          <p:nvPr/>
        </p:nvSpPr>
        <p:spPr>
          <a:xfrm>
            <a:off x="853390" y="520961"/>
            <a:ext cx="10484915" cy="5713"/>
          </a:xfrm>
          <a:prstGeom prst="rect">
            <a:avLst/>
          </a:prstGeom>
          <a:solidFill>
            <a:srgbClr val="C6BFAE"/>
          </a:solidFill>
          <a:ln/>
        </p:spPr>
        <p:txBody>
          <a:bodyPr/>
          <a:lstStyle/>
          <a:p>
            <a:endParaRPr lang="es-MX"/>
          </a:p>
        </p:txBody>
      </p:sp>
      <p:sp>
        <p:nvSpPr>
          <p:cNvPr id="3" name="s23-forma-2"/>
          <p:cNvSpPr/>
          <p:nvPr/>
        </p:nvSpPr>
        <p:spPr>
          <a:xfrm>
            <a:off x="853390" y="331715"/>
            <a:ext cx="81411" cy="81411"/>
          </a:xfrm>
          <a:prstGeom prst="ellipse">
            <a:avLst/>
          </a:prstGeom>
          <a:solidFill>
            <a:srgbClr val="0033A0"/>
          </a:solidFill>
          <a:ln/>
        </p:spPr>
        <p:txBody>
          <a:bodyPr/>
          <a:lstStyle/>
          <a:p>
            <a:endParaRPr lang="es-MX"/>
          </a:p>
        </p:txBody>
      </p:sp>
      <p:sp>
        <p:nvSpPr>
          <p:cNvPr id="4" name="s23-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3-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1.3 · SALIDAS ESTRUCTURADAS Y VERIFICACIÓN</a:t>
            </a:r>
            <a:endParaRPr lang="en-US" sz="900" dirty="0"/>
          </a:p>
        </p:txBody>
      </p:sp>
      <p:sp>
        <p:nvSpPr>
          <p:cNvPr id="7" name="s23-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Salidas </a:t>
            </a:r>
            <a:r>
              <a:rPr lang="en-US" sz="2879" b="1" kern="0" spc="-29" dirty="0" err="1">
                <a:solidFill>
                  <a:srgbClr val="16181D"/>
                </a:solidFill>
                <a:latin typeface="Georgia" pitchFamily="34" charset="0"/>
                <a:ea typeface="Georgia" pitchFamily="34" charset="-122"/>
                <a:cs typeface="Georgia" pitchFamily="34" charset="-120"/>
              </a:rPr>
              <a:t>Estructuradas</a:t>
            </a:r>
            <a:endParaRPr lang="en-US" sz="2879" dirty="0"/>
          </a:p>
        </p:txBody>
      </p:sp>
      <p:sp>
        <p:nvSpPr>
          <p:cNvPr id="24" name="s23-forma-23"/>
          <p:cNvSpPr/>
          <p:nvPr/>
        </p:nvSpPr>
        <p:spPr>
          <a:xfrm>
            <a:off x="853390" y="6411138"/>
            <a:ext cx="10484915" cy="5713"/>
          </a:xfrm>
          <a:prstGeom prst="rect">
            <a:avLst/>
          </a:prstGeom>
          <a:solidFill>
            <a:srgbClr val="DBD4C4"/>
          </a:solidFill>
          <a:ln/>
        </p:spPr>
        <p:txBody>
          <a:bodyPr/>
          <a:lstStyle/>
          <a:p>
            <a:endParaRPr lang="es-MX"/>
          </a:p>
        </p:txBody>
      </p:sp>
      <p:pic>
        <p:nvPicPr>
          <p:cNvPr id="25" name="s23-logo-24" descr="preencoded.png"/>
          <p:cNvPicPr>
            <a:picLocks noChangeAspect="1"/>
          </p:cNvPicPr>
          <p:nvPr/>
        </p:nvPicPr>
        <p:blipFill>
          <a:blip r:embed="rId3"/>
          <a:stretch>
            <a:fillRect/>
          </a:stretch>
        </p:blipFill>
        <p:spPr>
          <a:xfrm>
            <a:off x="853390" y="6465055"/>
            <a:ext cx="687800" cy="212455"/>
          </a:xfrm>
          <a:prstGeom prst="rect">
            <a:avLst/>
          </a:prstGeom>
        </p:spPr>
      </p:pic>
      <p:sp>
        <p:nvSpPr>
          <p:cNvPr id="26" name="s23-forma-25"/>
          <p:cNvSpPr/>
          <p:nvPr/>
        </p:nvSpPr>
        <p:spPr>
          <a:xfrm>
            <a:off x="1659380" y="6519865"/>
            <a:ext cx="3057208" cy="102835"/>
          </a:xfrm>
          <a:prstGeom prst="rect">
            <a:avLst/>
          </a:prstGeom>
          <a:ln/>
        </p:spPr>
        <p:txBody>
          <a:bodyPr/>
          <a:lstStyle/>
          <a:p>
            <a:endParaRPr lang="es-MX"/>
          </a:p>
        </p:txBody>
      </p:sp>
      <p:sp>
        <p:nvSpPr>
          <p:cNvPr id="27" name="s23-forma-26"/>
          <p:cNvSpPr/>
          <p:nvPr/>
        </p:nvSpPr>
        <p:spPr>
          <a:xfrm>
            <a:off x="1659380" y="6519865"/>
            <a:ext cx="5713" cy="102835"/>
          </a:xfrm>
          <a:prstGeom prst="rect">
            <a:avLst/>
          </a:prstGeom>
          <a:solidFill>
            <a:srgbClr val="C6BFAE"/>
          </a:solidFill>
          <a:ln/>
        </p:spPr>
        <p:txBody>
          <a:bodyPr/>
          <a:lstStyle/>
          <a:p>
            <a:endParaRPr lang="es-MX"/>
          </a:p>
        </p:txBody>
      </p:sp>
      <p:sp>
        <p:nvSpPr>
          <p:cNvPr id="28" name="s23-texto-27"/>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9" name="s23-texto-28"/>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23 / 35</a:t>
            </a:r>
            <a:endParaRPr lang="en-US" sz="745" dirty="0"/>
          </a:p>
        </p:txBody>
      </p:sp>
      <p:sp>
        <p:nvSpPr>
          <p:cNvPr id="30" name="s23-forma-29"/>
          <p:cNvSpPr/>
          <p:nvPr/>
        </p:nvSpPr>
        <p:spPr>
          <a:xfrm>
            <a:off x="0" y="0"/>
            <a:ext cx="8011601" cy="17139"/>
          </a:xfrm>
          <a:prstGeom prst="rect">
            <a:avLst/>
          </a:prstGeom>
          <a:solidFill>
            <a:srgbClr val="0033A0"/>
          </a:solidFill>
          <a:ln/>
        </p:spPr>
        <p:txBody>
          <a:bodyPr/>
          <a:lstStyle/>
          <a:p>
            <a:endParaRPr lang="es-MX"/>
          </a:p>
        </p:txBody>
      </p:sp>
      <p:pic>
        <p:nvPicPr>
          <p:cNvPr id="43" name="Imagen 42">
            <a:extLst>
              <a:ext uri="{FF2B5EF4-FFF2-40B4-BE49-F238E27FC236}">
                <a16:creationId xmlns:a16="http://schemas.microsoft.com/office/drawing/2014/main" id="{9251179E-F928-8A9C-7DF3-8EFE172977AE}"/>
              </a:ext>
            </a:extLst>
          </p:cNvPr>
          <p:cNvPicPr>
            <a:picLocks noChangeAspect="1"/>
          </p:cNvPicPr>
          <p:nvPr/>
        </p:nvPicPr>
        <p:blipFill>
          <a:blip r:embed="rId4"/>
          <a:stretch>
            <a:fillRect/>
          </a:stretch>
        </p:blipFill>
        <p:spPr>
          <a:xfrm>
            <a:off x="1007018" y="2192750"/>
            <a:ext cx="10012502" cy="343863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E7EF6-D6AE-2558-20B3-3271349D8C39}"/>
            </a:ext>
          </a:extLst>
        </p:cNvPr>
        <p:cNvGrpSpPr/>
        <p:nvPr/>
      </p:nvGrpSpPr>
      <p:grpSpPr>
        <a:xfrm>
          <a:off x="0" y="0"/>
          <a:ext cx="0" cy="0"/>
          <a:chOff x="0" y="0"/>
          <a:chExt cx="0" cy="0"/>
        </a:xfrm>
      </p:grpSpPr>
      <p:sp>
        <p:nvSpPr>
          <p:cNvPr id="2" name="s23-forma-1">
            <a:extLst>
              <a:ext uri="{FF2B5EF4-FFF2-40B4-BE49-F238E27FC236}">
                <a16:creationId xmlns:a16="http://schemas.microsoft.com/office/drawing/2014/main" id="{9DCA2592-54DF-FC06-627C-BF81DA191A8E}"/>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23-forma-2">
            <a:extLst>
              <a:ext uri="{FF2B5EF4-FFF2-40B4-BE49-F238E27FC236}">
                <a16:creationId xmlns:a16="http://schemas.microsoft.com/office/drawing/2014/main" id="{3743E353-9704-D163-E432-57E7A4001DCF}"/>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23-texto-3">
            <a:extLst>
              <a:ext uri="{FF2B5EF4-FFF2-40B4-BE49-F238E27FC236}">
                <a16:creationId xmlns:a16="http://schemas.microsoft.com/office/drawing/2014/main" id="{6AA239E4-C0CC-EC5E-B36D-8D4CB7C56CEA}"/>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3-texto-4">
            <a:extLst>
              <a:ext uri="{FF2B5EF4-FFF2-40B4-BE49-F238E27FC236}">
                <a16:creationId xmlns:a16="http://schemas.microsoft.com/office/drawing/2014/main" id="{D2F130C4-A2EA-F131-AA83-E186B2090396}"/>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3-texto-5">
            <a:extLst>
              <a:ext uri="{FF2B5EF4-FFF2-40B4-BE49-F238E27FC236}">
                <a16:creationId xmlns:a16="http://schemas.microsoft.com/office/drawing/2014/main" id="{B40C2171-233E-D5A1-D715-39D2B9A879FA}"/>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1.3 · SALIDAS ESTRUCTURADAS Y VERIFICACIÓN</a:t>
            </a:r>
            <a:endParaRPr lang="en-US" sz="900" dirty="0"/>
          </a:p>
        </p:txBody>
      </p:sp>
      <p:sp>
        <p:nvSpPr>
          <p:cNvPr id="7" name="s23-texto-6">
            <a:extLst>
              <a:ext uri="{FF2B5EF4-FFF2-40B4-BE49-F238E27FC236}">
                <a16:creationId xmlns:a16="http://schemas.microsoft.com/office/drawing/2014/main" id="{95606206-9DED-9CC8-2534-ED52F012CDCB}"/>
              </a:ext>
            </a:extLst>
          </p:cNvPr>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El agente propone; el validador decide</a:t>
            </a:r>
            <a:endParaRPr lang="en-US" sz="2879" dirty="0"/>
          </a:p>
        </p:txBody>
      </p:sp>
      <p:sp>
        <p:nvSpPr>
          <p:cNvPr id="8" name="s23-forma-7">
            <a:extLst>
              <a:ext uri="{FF2B5EF4-FFF2-40B4-BE49-F238E27FC236}">
                <a16:creationId xmlns:a16="http://schemas.microsoft.com/office/drawing/2014/main" id="{1CF9411A-79FB-12A1-DD23-ECF37DD72E8B}"/>
              </a:ext>
            </a:extLst>
          </p:cNvPr>
          <p:cNvSpPr/>
          <p:nvPr/>
        </p:nvSpPr>
        <p:spPr>
          <a:xfrm>
            <a:off x="1342572" y="2144634"/>
            <a:ext cx="3046942" cy="1524140"/>
          </a:xfrm>
          <a:prstGeom prst="rect">
            <a:avLst/>
          </a:prstGeom>
          <a:solidFill>
            <a:srgbClr val="E3DCCB"/>
          </a:solidFill>
          <a:ln w="5713">
            <a:solidFill>
              <a:srgbClr val="C6BFAE"/>
            </a:solidFill>
            <a:prstDash val="solid"/>
          </a:ln>
        </p:spPr>
        <p:txBody>
          <a:bodyPr/>
          <a:lstStyle/>
          <a:p>
            <a:endParaRPr lang="es-MX"/>
          </a:p>
        </p:txBody>
      </p:sp>
      <p:sp>
        <p:nvSpPr>
          <p:cNvPr id="9" name="s23-texto-8">
            <a:extLst>
              <a:ext uri="{FF2B5EF4-FFF2-40B4-BE49-F238E27FC236}">
                <a16:creationId xmlns:a16="http://schemas.microsoft.com/office/drawing/2014/main" id="{4DE43A2D-EF3F-EFA1-8AA3-CB495C7F43BC}"/>
              </a:ext>
            </a:extLst>
          </p:cNvPr>
          <p:cNvSpPr txBox="1"/>
          <p:nvPr/>
        </p:nvSpPr>
        <p:spPr>
          <a:xfrm>
            <a:off x="1576808" y="2378870"/>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CONTRATO</a:t>
            </a:r>
            <a:endParaRPr lang="en-US" sz="1799" dirty="0"/>
          </a:p>
        </p:txBody>
      </p:sp>
      <p:sp>
        <p:nvSpPr>
          <p:cNvPr id="10" name="s23-texto-9">
            <a:extLst>
              <a:ext uri="{FF2B5EF4-FFF2-40B4-BE49-F238E27FC236}">
                <a16:creationId xmlns:a16="http://schemas.microsoft.com/office/drawing/2014/main" id="{ED4A369F-81D7-811C-13A6-F11AF5D4E965}"/>
              </a:ext>
            </a:extLst>
          </p:cNvPr>
          <p:cNvSpPr txBox="1"/>
          <p:nvPr/>
        </p:nvSpPr>
        <p:spPr>
          <a:xfrm>
            <a:off x="1576808" y="2761645"/>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Gherkin para los criterios; JSON con esquema Pydantic para los casos.</a:t>
            </a:r>
            <a:endParaRPr lang="en-US" sz="1170" dirty="0"/>
          </a:p>
        </p:txBody>
      </p:sp>
      <p:sp>
        <p:nvSpPr>
          <p:cNvPr id="11" name="s23-forma-10">
            <a:extLst>
              <a:ext uri="{FF2B5EF4-FFF2-40B4-BE49-F238E27FC236}">
                <a16:creationId xmlns:a16="http://schemas.microsoft.com/office/drawing/2014/main" id="{DF1086ED-F9B8-2DC5-9D5E-41B462ECBF3D}"/>
              </a:ext>
            </a:extLst>
          </p:cNvPr>
          <p:cNvSpPr/>
          <p:nvPr/>
        </p:nvSpPr>
        <p:spPr>
          <a:xfrm>
            <a:off x="4572332" y="2144634"/>
            <a:ext cx="3046942" cy="1524140"/>
          </a:xfrm>
          <a:prstGeom prst="rect">
            <a:avLst/>
          </a:prstGeom>
          <a:solidFill>
            <a:srgbClr val="E3DCCB"/>
          </a:solidFill>
          <a:ln w="5713">
            <a:solidFill>
              <a:srgbClr val="C6BFAE"/>
            </a:solidFill>
            <a:prstDash val="solid"/>
          </a:ln>
        </p:spPr>
        <p:txBody>
          <a:bodyPr/>
          <a:lstStyle/>
          <a:p>
            <a:endParaRPr lang="es-MX"/>
          </a:p>
        </p:txBody>
      </p:sp>
      <p:sp>
        <p:nvSpPr>
          <p:cNvPr id="12" name="s23-texto-11">
            <a:extLst>
              <a:ext uri="{FF2B5EF4-FFF2-40B4-BE49-F238E27FC236}">
                <a16:creationId xmlns:a16="http://schemas.microsoft.com/office/drawing/2014/main" id="{956DCC4A-99CF-71F8-75E7-AA55FEF404C9}"/>
              </a:ext>
            </a:extLst>
          </p:cNvPr>
          <p:cNvSpPr txBox="1"/>
          <p:nvPr/>
        </p:nvSpPr>
        <p:spPr>
          <a:xfrm>
            <a:off x="4806568" y="2378870"/>
            <a:ext cx="2733178" cy="542742"/>
          </a:xfrm>
          <a:prstGeom prst="rect">
            <a:avLst/>
          </a:prstGeom>
          <a:noFill/>
          <a:ln/>
        </p:spPr>
        <p:txBody>
          <a:bodyPr wrap="squar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EVALUADOR DETERMINISTA</a:t>
            </a:r>
            <a:endParaRPr lang="en-US" sz="1799" dirty="0"/>
          </a:p>
        </p:txBody>
      </p:sp>
      <p:sp>
        <p:nvSpPr>
          <p:cNvPr id="13" name="s23-texto-12">
            <a:extLst>
              <a:ext uri="{FF2B5EF4-FFF2-40B4-BE49-F238E27FC236}">
                <a16:creationId xmlns:a16="http://schemas.microsoft.com/office/drawing/2014/main" id="{F2AE9C43-19DF-DC45-4682-3858BC4A8A89}"/>
              </a:ext>
            </a:extLst>
          </p:cNvPr>
          <p:cNvSpPr txBox="1"/>
          <p:nvPr/>
        </p:nvSpPr>
        <p:spPr>
          <a:xfrm>
            <a:off x="4806568" y="3035873"/>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validar_gherkin y validar_plan: reglas en código, no otro LLM opinando.</a:t>
            </a:r>
            <a:endParaRPr lang="en-US" sz="1170" dirty="0"/>
          </a:p>
        </p:txBody>
      </p:sp>
      <p:sp>
        <p:nvSpPr>
          <p:cNvPr id="14" name="s23-forma-13">
            <a:extLst>
              <a:ext uri="{FF2B5EF4-FFF2-40B4-BE49-F238E27FC236}">
                <a16:creationId xmlns:a16="http://schemas.microsoft.com/office/drawing/2014/main" id="{4FF8AA35-728C-151A-5D7F-0E89B6352E38}"/>
              </a:ext>
            </a:extLst>
          </p:cNvPr>
          <p:cNvSpPr/>
          <p:nvPr/>
        </p:nvSpPr>
        <p:spPr>
          <a:xfrm>
            <a:off x="7802092" y="2144634"/>
            <a:ext cx="3046942" cy="1524140"/>
          </a:xfrm>
          <a:prstGeom prst="rect">
            <a:avLst/>
          </a:prstGeom>
          <a:solidFill>
            <a:srgbClr val="E3DCCB"/>
          </a:solidFill>
          <a:ln w="5713">
            <a:solidFill>
              <a:srgbClr val="C6BFAE"/>
            </a:solidFill>
            <a:prstDash val="solid"/>
          </a:ln>
        </p:spPr>
        <p:txBody>
          <a:bodyPr/>
          <a:lstStyle/>
          <a:p>
            <a:endParaRPr lang="es-MX"/>
          </a:p>
        </p:txBody>
      </p:sp>
      <p:sp>
        <p:nvSpPr>
          <p:cNvPr id="15" name="s23-texto-14">
            <a:extLst>
              <a:ext uri="{FF2B5EF4-FFF2-40B4-BE49-F238E27FC236}">
                <a16:creationId xmlns:a16="http://schemas.microsoft.com/office/drawing/2014/main" id="{204E4A89-B833-3B54-EDF0-421BFA56D4E7}"/>
              </a:ext>
            </a:extLst>
          </p:cNvPr>
          <p:cNvSpPr txBox="1"/>
          <p:nvPr/>
        </p:nvSpPr>
        <p:spPr>
          <a:xfrm>
            <a:off x="8036328" y="2378870"/>
            <a:ext cx="2733178"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REFLEXIÓN GUIADA</a:t>
            </a:r>
            <a:endParaRPr lang="en-US" sz="1799" dirty="0"/>
          </a:p>
        </p:txBody>
      </p:sp>
      <p:sp>
        <p:nvSpPr>
          <p:cNvPr id="16" name="s23-texto-15">
            <a:extLst>
              <a:ext uri="{FF2B5EF4-FFF2-40B4-BE49-F238E27FC236}">
                <a16:creationId xmlns:a16="http://schemas.microsoft.com/office/drawing/2014/main" id="{C79321EF-5C36-458D-8058-0745D0C0A9FD}"/>
              </a:ext>
            </a:extLst>
          </p:cNvPr>
          <p:cNvSpPr txBox="1"/>
          <p:nvPr/>
        </p:nvSpPr>
        <p:spPr>
          <a:xfrm>
            <a:off x="8036328" y="2761645"/>
            <a:ext cx="273317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Los problemas regresan al agente para corregir; máximo 2 intentos.</a:t>
            </a:r>
            <a:endParaRPr lang="en-US" sz="1170" dirty="0"/>
          </a:p>
        </p:txBody>
      </p:sp>
      <p:sp>
        <p:nvSpPr>
          <p:cNvPr id="17" name="s23-forma-16">
            <a:extLst>
              <a:ext uri="{FF2B5EF4-FFF2-40B4-BE49-F238E27FC236}">
                <a16:creationId xmlns:a16="http://schemas.microsoft.com/office/drawing/2014/main" id="{4C117CAC-1CF4-4645-9CDC-DE58519B2C70}"/>
              </a:ext>
            </a:extLst>
          </p:cNvPr>
          <p:cNvSpPr/>
          <p:nvPr/>
        </p:nvSpPr>
        <p:spPr>
          <a:xfrm>
            <a:off x="1295528" y="4148538"/>
            <a:ext cx="9506551" cy="1199745"/>
          </a:xfrm>
          <a:prstGeom prst="rect">
            <a:avLst/>
          </a:prstGeom>
          <a:solidFill>
            <a:srgbClr val="E8E2D5"/>
          </a:solidFill>
          <a:ln/>
        </p:spPr>
        <p:txBody>
          <a:bodyPr/>
          <a:lstStyle/>
          <a:p>
            <a:endParaRPr lang="es-MX"/>
          </a:p>
        </p:txBody>
      </p:sp>
      <p:sp>
        <p:nvSpPr>
          <p:cNvPr id="18" name="s23-forma-17">
            <a:extLst>
              <a:ext uri="{FF2B5EF4-FFF2-40B4-BE49-F238E27FC236}">
                <a16:creationId xmlns:a16="http://schemas.microsoft.com/office/drawing/2014/main" id="{98166FAF-9666-E098-1D77-B695292629E9}"/>
              </a:ext>
            </a:extLst>
          </p:cNvPr>
          <p:cNvSpPr/>
          <p:nvPr/>
        </p:nvSpPr>
        <p:spPr>
          <a:xfrm>
            <a:off x="1295528" y="4148538"/>
            <a:ext cx="9506551" cy="5713"/>
          </a:xfrm>
          <a:prstGeom prst="rect">
            <a:avLst/>
          </a:prstGeom>
          <a:solidFill>
            <a:srgbClr val="DBD4C4"/>
          </a:solidFill>
          <a:ln/>
        </p:spPr>
        <p:txBody>
          <a:bodyPr/>
          <a:lstStyle/>
          <a:p>
            <a:endParaRPr lang="es-MX"/>
          </a:p>
        </p:txBody>
      </p:sp>
      <p:sp>
        <p:nvSpPr>
          <p:cNvPr id="19" name="s23-forma-18">
            <a:extLst>
              <a:ext uri="{FF2B5EF4-FFF2-40B4-BE49-F238E27FC236}">
                <a16:creationId xmlns:a16="http://schemas.microsoft.com/office/drawing/2014/main" id="{148590AE-3FEF-280E-05B1-4740B44A74BC}"/>
              </a:ext>
            </a:extLst>
          </p:cNvPr>
          <p:cNvSpPr/>
          <p:nvPr/>
        </p:nvSpPr>
        <p:spPr>
          <a:xfrm>
            <a:off x="1295528" y="5342570"/>
            <a:ext cx="9506551" cy="5713"/>
          </a:xfrm>
          <a:prstGeom prst="rect">
            <a:avLst/>
          </a:prstGeom>
          <a:solidFill>
            <a:srgbClr val="DBD4C4"/>
          </a:solidFill>
          <a:ln/>
        </p:spPr>
        <p:txBody>
          <a:bodyPr/>
          <a:lstStyle/>
          <a:p>
            <a:endParaRPr lang="es-MX"/>
          </a:p>
        </p:txBody>
      </p:sp>
      <p:sp>
        <p:nvSpPr>
          <p:cNvPr id="20" name="s23-forma-19">
            <a:extLst>
              <a:ext uri="{FF2B5EF4-FFF2-40B4-BE49-F238E27FC236}">
                <a16:creationId xmlns:a16="http://schemas.microsoft.com/office/drawing/2014/main" id="{73CB1A83-751F-05B6-C663-9AB5235CA451}"/>
              </a:ext>
            </a:extLst>
          </p:cNvPr>
          <p:cNvSpPr/>
          <p:nvPr/>
        </p:nvSpPr>
        <p:spPr>
          <a:xfrm>
            <a:off x="1295528" y="4148538"/>
            <a:ext cx="17139" cy="1199745"/>
          </a:xfrm>
          <a:prstGeom prst="rect">
            <a:avLst/>
          </a:prstGeom>
          <a:solidFill>
            <a:srgbClr val="C6BFAE"/>
          </a:solidFill>
          <a:ln/>
        </p:spPr>
        <p:txBody>
          <a:bodyPr/>
          <a:lstStyle/>
          <a:p>
            <a:endParaRPr lang="es-MX"/>
          </a:p>
        </p:txBody>
      </p:sp>
      <p:sp>
        <p:nvSpPr>
          <p:cNvPr id="21" name="s23-forma-20">
            <a:extLst>
              <a:ext uri="{FF2B5EF4-FFF2-40B4-BE49-F238E27FC236}">
                <a16:creationId xmlns:a16="http://schemas.microsoft.com/office/drawing/2014/main" id="{F9C04A29-E7EA-FDFB-79CD-96FFE45A35EE}"/>
              </a:ext>
            </a:extLst>
          </p:cNvPr>
          <p:cNvSpPr/>
          <p:nvPr/>
        </p:nvSpPr>
        <p:spPr>
          <a:xfrm>
            <a:off x="10796366" y="4148538"/>
            <a:ext cx="5713" cy="1199745"/>
          </a:xfrm>
          <a:prstGeom prst="rect">
            <a:avLst/>
          </a:prstGeom>
          <a:solidFill>
            <a:srgbClr val="DBD4C4"/>
          </a:solidFill>
          <a:ln/>
        </p:spPr>
        <p:txBody>
          <a:bodyPr/>
          <a:lstStyle/>
          <a:p>
            <a:endParaRPr lang="es-MX"/>
          </a:p>
        </p:txBody>
      </p:sp>
      <p:sp>
        <p:nvSpPr>
          <p:cNvPr id="22" name="s23-texto-21">
            <a:extLst>
              <a:ext uri="{FF2B5EF4-FFF2-40B4-BE49-F238E27FC236}">
                <a16:creationId xmlns:a16="http://schemas.microsoft.com/office/drawing/2014/main" id="{839D2C30-53F3-8BC4-970E-90FF43D7F709}"/>
              </a:ext>
            </a:extLst>
          </p:cNvPr>
          <p:cNvSpPr txBox="1"/>
          <p:nvPr/>
        </p:nvSpPr>
        <p:spPr>
          <a:xfrm>
            <a:off x="1541190" y="4359922"/>
            <a:ext cx="9568253" cy="771265"/>
          </a:xfrm>
          <a:prstGeom prst="rect">
            <a:avLst/>
          </a:prstGeom>
          <a:noFill/>
          <a:ln/>
        </p:spPr>
        <p:txBody>
          <a:bodyPr wrap="square" lIns="0" tIns="0" rIns="0" bIns="0" rtlCol="0" anchor="t"/>
          <a:lstStyle/>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problemas = validar_gherkin(destino.read_text())</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if not problemas: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return destino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tarea += "Tu versión anterior tiene estos problemas; corrígelos: ..."</a:t>
            </a:r>
            <a:endParaRPr lang="en-US" sz="1080" dirty="0"/>
          </a:p>
        </p:txBody>
      </p:sp>
      <p:sp>
        <p:nvSpPr>
          <p:cNvPr id="23" name="s23-texto-22">
            <a:extLst>
              <a:ext uri="{FF2B5EF4-FFF2-40B4-BE49-F238E27FC236}">
                <a16:creationId xmlns:a16="http://schemas.microsoft.com/office/drawing/2014/main" id="{AE0AA222-DE90-48B8-5C84-D1EB1D9477C7}"/>
              </a:ext>
            </a:extLst>
          </p:cNvPr>
          <p:cNvSpPr txBox="1"/>
          <p:nvPr/>
        </p:nvSpPr>
        <p:spPr>
          <a:xfrm>
            <a:off x="1295528" y="5522562"/>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ReAct en el bucle, reflexión aquí y Plan-and-Execute en la sesión 2</a:t>
            </a:r>
            <a:endParaRPr lang="en-US" sz="1080" dirty="0"/>
          </a:p>
        </p:txBody>
      </p:sp>
      <p:sp>
        <p:nvSpPr>
          <p:cNvPr id="24" name="s23-forma-23">
            <a:extLst>
              <a:ext uri="{FF2B5EF4-FFF2-40B4-BE49-F238E27FC236}">
                <a16:creationId xmlns:a16="http://schemas.microsoft.com/office/drawing/2014/main" id="{8F997DCA-9EF9-FF60-C1C0-D5AB3B71AD32}"/>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25" name="s23-logo-24" descr="preencoded.png">
            <a:extLst>
              <a:ext uri="{FF2B5EF4-FFF2-40B4-BE49-F238E27FC236}">
                <a16:creationId xmlns:a16="http://schemas.microsoft.com/office/drawing/2014/main" id="{A0ADB9B8-D4AA-4E2D-3B8A-7E226AC69382}"/>
              </a:ext>
            </a:extLst>
          </p:cNvPr>
          <p:cNvPicPr>
            <a:picLocks noChangeAspect="1"/>
          </p:cNvPicPr>
          <p:nvPr/>
        </p:nvPicPr>
        <p:blipFill>
          <a:blip r:embed="rId3"/>
          <a:stretch>
            <a:fillRect/>
          </a:stretch>
        </p:blipFill>
        <p:spPr>
          <a:xfrm>
            <a:off x="853390" y="6465055"/>
            <a:ext cx="687800" cy="212455"/>
          </a:xfrm>
          <a:prstGeom prst="rect">
            <a:avLst/>
          </a:prstGeom>
        </p:spPr>
      </p:pic>
      <p:sp>
        <p:nvSpPr>
          <p:cNvPr id="26" name="s23-forma-25">
            <a:extLst>
              <a:ext uri="{FF2B5EF4-FFF2-40B4-BE49-F238E27FC236}">
                <a16:creationId xmlns:a16="http://schemas.microsoft.com/office/drawing/2014/main" id="{F63D24E4-9B2D-F7A7-3144-F1882DEFFF77}"/>
              </a:ext>
            </a:extLst>
          </p:cNvPr>
          <p:cNvSpPr/>
          <p:nvPr/>
        </p:nvSpPr>
        <p:spPr>
          <a:xfrm>
            <a:off x="1659380" y="6519865"/>
            <a:ext cx="3057208" cy="102835"/>
          </a:xfrm>
          <a:prstGeom prst="rect">
            <a:avLst/>
          </a:prstGeom>
          <a:ln/>
        </p:spPr>
        <p:txBody>
          <a:bodyPr/>
          <a:lstStyle/>
          <a:p>
            <a:endParaRPr lang="es-MX"/>
          </a:p>
        </p:txBody>
      </p:sp>
      <p:sp>
        <p:nvSpPr>
          <p:cNvPr id="27" name="s23-forma-26">
            <a:extLst>
              <a:ext uri="{FF2B5EF4-FFF2-40B4-BE49-F238E27FC236}">
                <a16:creationId xmlns:a16="http://schemas.microsoft.com/office/drawing/2014/main" id="{55A00092-1CCA-10AE-A987-11558C10A8E5}"/>
              </a:ext>
            </a:extLst>
          </p:cNvPr>
          <p:cNvSpPr/>
          <p:nvPr/>
        </p:nvSpPr>
        <p:spPr>
          <a:xfrm>
            <a:off x="1659380" y="6519865"/>
            <a:ext cx="5713" cy="102835"/>
          </a:xfrm>
          <a:prstGeom prst="rect">
            <a:avLst/>
          </a:prstGeom>
          <a:solidFill>
            <a:srgbClr val="C6BFAE"/>
          </a:solidFill>
          <a:ln/>
        </p:spPr>
        <p:txBody>
          <a:bodyPr/>
          <a:lstStyle/>
          <a:p>
            <a:endParaRPr lang="es-MX"/>
          </a:p>
        </p:txBody>
      </p:sp>
      <p:sp>
        <p:nvSpPr>
          <p:cNvPr id="28" name="s23-texto-27">
            <a:extLst>
              <a:ext uri="{FF2B5EF4-FFF2-40B4-BE49-F238E27FC236}">
                <a16:creationId xmlns:a16="http://schemas.microsoft.com/office/drawing/2014/main" id="{69634F7D-25C3-1DD4-F27F-1B93CF26ADD0}"/>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9" name="s23-texto-28">
            <a:extLst>
              <a:ext uri="{FF2B5EF4-FFF2-40B4-BE49-F238E27FC236}">
                <a16:creationId xmlns:a16="http://schemas.microsoft.com/office/drawing/2014/main" id="{50A8176E-2435-9215-EBD3-6ED8D8D3C7C8}"/>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23 / 35</a:t>
            </a:r>
            <a:endParaRPr lang="en-US" sz="745" dirty="0"/>
          </a:p>
        </p:txBody>
      </p:sp>
      <p:sp>
        <p:nvSpPr>
          <p:cNvPr id="30" name="s23-forma-29">
            <a:extLst>
              <a:ext uri="{FF2B5EF4-FFF2-40B4-BE49-F238E27FC236}">
                <a16:creationId xmlns:a16="http://schemas.microsoft.com/office/drawing/2014/main" id="{C4FB3426-E2C6-CDD6-2301-835ED49849DE}"/>
              </a:ext>
            </a:extLst>
          </p:cNvPr>
          <p:cNvSpPr/>
          <p:nvPr/>
        </p:nvSpPr>
        <p:spPr>
          <a:xfrm>
            <a:off x="0" y="0"/>
            <a:ext cx="8011601" cy="17139"/>
          </a:xfrm>
          <a:prstGeom prst="rect">
            <a:avLst/>
          </a:prstGeom>
          <a:solidFill>
            <a:srgbClr val="0033A0"/>
          </a:solidFill>
          <a:ln/>
        </p:spPr>
        <p:txBody>
          <a:bodyPr/>
          <a:lstStyle/>
          <a:p>
            <a:endParaRPr lang="es-MX"/>
          </a:p>
        </p:txBody>
      </p:sp>
      <p:sp>
        <p:nvSpPr>
          <p:cNvPr id="31" name="s23-texto-9">
            <a:extLst>
              <a:ext uri="{FF2B5EF4-FFF2-40B4-BE49-F238E27FC236}">
                <a16:creationId xmlns:a16="http://schemas.microsoft.com/office/drawing/2014/main" id="{9EC65B15-CF06-75ED-D711-E08909D6CDDB}"/>
              </a:ext>
            </a:extLst>
          </p:cNvPr>
          <p:cNvSpPr txBox="1"/>
          <p:nvPr/>
        </p:nvSpPr>
        <p:spPr>
          <a:xfrm>
            <a:off x="1359710" y="3870502"/>
            <a:ext cx="9218235" cy="522790"/>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	 </a:t>
            </a:r>
            <a:endParaRPr lang="en-US" sz="1170" dirty="0"/>
          </a:p>
        </p:txBody>
      </p:sp>
    </p:spTree>
    <p:extLst>
      <p:ext uri="{BB962C8B-B14F-4D97-AF65-F5344CB8AC3E}">
        <p14:creationId xmlns:p14="http://schemas.microsoft.com/office/powerpoint/2010/main" val="1651755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EDE8DC"/>
        </a:solidFill>
        <a:effectLst/>
      </p:bgPr>
    </p:bg>
    <p:spTree>
      <p:nvGrpSpPr>
        <p:cNvPr id="1" name=""/>
        <p:cNvGrpSpPr/>
        <p:nvPr/>
      </p:nvGrpSpPr>
      <p:grpSpPr>
        <a:xfrm>
          <a:off x="0" y="0"/>
          <a:ext cx="0" cy="0"/>
          <a:chOff x="0" y="0"/>
          <a:chExt cx="0" cy="0"/>
        </a:xfrm>
      </p:grpSpPr>
      <p:sp>
        <p:nvSpPr>
          <p:cNvPr id="2" name="s24-forma-1"/>
          <p:cNvSpPr/>
          <p:nvPr/>
        </p:nvSpPr>
        <p:spPr>
          <a:xfrm>
            <a:off x="853390" y="520961"/>
            <a:ext cx="10484915" cy="5713"/>
          </a:xfrm>
          <a:prstGeom prst="rect">
            <a:avLst/>
          </a:prstGeom>
          <a:solidFill>
            <a:srgbClr val="C6BFAE"/>
          </a:solidFill>
          <a:ln/>
        </p:spPr>
        <p:txBody>
          <a:bodyPr/>
          <a:lstStyle/>
          <a:p>
            <a:endParaRPr lang="es-MX"/>
          </a:p>
        </p:txBody>
      </p:sp>
      <p:sp>
        <p:nvSpPr>
          <p:cNvPr id="3" name="s24-forma-2"/>
          <p:cNvSpPr/>
          <p:nvPr/>
        </p:nvSpPr>
        <p:spPr>
          <a:xfrm>
            <a:off x="853390" y="331715"/>
            <a:ext cx="81411" cy="81411"/>
          </a:xfrm>
          <a:prstGeom prst="ellipse">
            <a:avLst/>
          </a:prstGeom>
          <a:solidFill>
            <a:srgbClr val="0033A0"/>
          </a:solidFill>
          <a:ln/>
        </p:spPr>
        <p:txBody>
          <a:bodyPr/>
          <a:lstStyle/>
          <a:p>
            <a:endParaRPr lang="es-MX"/>
          </a:p>
        </p:txBody>
      </p:sp>
      <p:sp>
        <p:nvSpPr>
          <p:cNvPr id="4" name="s24-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4-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4-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SALIDAS ESTRUCTURADAS · CONCEPTO</a:t>
            </a:r>
            <a:endParaRPr lang="en-US" sz="900" dirty="0"/>
          </a:p>
        </p:txBody>
      </p:sp>
      <p:sp>
        <p:nvSpPr>
          <p:cNvPr id="7" name="s24-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El modelo propone; el código decide</a:t>
            </a:r>
            <a:endParaRPr lang="en-US" sz="2879" dirty="0"/>
          </a:p>
        </p:txBody>
      </p:sp>
      <p:sp>
        <p:nvSpPr>
          <p:cNvPr id="8" name="s24-forma-7"/>
          <p:cNvSpPr/>
          <p:nvPr/>
        </p:nvSpPr>
        <p:spPr>
          <a:xfrm>
            <a:off x="1342572" y="2913667"/>
            <a:ext cx="914091" cy="628438"/>
          </a:xfrm>
          <a:prstGeom prst="rect">
            <a:avLst/>
          </a:prstGeom>
          <a:solidFill>
            <a:srgbClr val="E2D3C2"/>
          </a:solidFill>
          <a:ln w="5713">
            <a:solidFill>
              <a:srgbClr val="984514"/>
            </a:solidFill>
            <a:prstDash val="solid"/>
          </a:ln>
        </p:spPr>
        <p:txBody>
          <a:bodyPr/>
          <a:lstStyle/>
          <a:p>
            <a:endParaRPr lang="es-MX"/>
          </a:p>
        </p:txBody>
      </p:sp>
      <p:sp>
        <p:nvSpPr>
          <p:cNvPr id="9" name="s24-texto-8"/>
          <p:cNvSpPr txBox="1"/>
          <p:nvPr/>
        </p:nvSpPr>
        <p:spPr>
          <a:xfrm>
            <a:off x="1496825" y="3045067"/>
            <a:ext cx="60558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Modelo</a:t>
            </a:r>
            <a:endParaRPr lang="en-US" sz="1260" dirty="0"/>
          </a:p>
        </p:txBody>
      </p:sp>
      <p:sp>
        <p:nvSpPr>
          <p:cNvPr id="10" name="s24-texto-9"/>
          <p:cNvSpPr txBox="1"/>
          <p:nvPr/>
        </p:nvSpPr>
        <p:spPr>
          <a:xfrm>
            <a:off x="1525122" y="3250738"/>
            <a:ext cx="548901"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propone</a:t>
            </a:r>
            <a:endParaRPr lang="en-US" sz="1080" dirty="0"/>
          </a:p>
        </p:txBody>
      </p:sp>
      <p:sp>
        <p:nvSpPr>
          <p:cNvPr id="11" name="s24-forma-10"/>
          <p:cNvSpPr/>
          <p:nvPr/>
        </p:nvSpPr>
        <p:spPr>
          <a:xfrm>
            <a:off x="2485186" y="2913667"/>
            <a:ext cx="914091" cy="628438"/>
          </a:xfrm>
          <a:prstGeom prst="rect">
            <a:avLst/>
          </a:prstGeom>
          <a:solidFill>
            <a:srgbClr val="E3DCCB"/>
          </a:solidFill>
          <a:ln w="5713">
            <a:solidFill>
              <a:srgbClr val="585E6F"/>
            </a:solidFill>
            <a:prstDash val="solid"/>
          </a:ln>
        </p:spPr>
        <p:txBody>
          <a:bodyPr/>
          <a:lstStyle/>
          <a:p>
            <a:endParaRPr lang="es-MX"/>
          </a:p>
        </p:txBody>
      </p:sp>
      <p:sp>
        <p:nvSpPr>
          <p:cNvPr id="12" name="s24-texto-11"/>
          <p:cNvSpPr txBox="1"/>
          <p:nvPr/>
        </p:nvSpPr>
        <p:spPr>
          <a:xfrm>
            <a:off x="2586147" y="3045067"/>
            <a:ext cx="71217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Contrato</a:t>
            </a:r>
            <a:endParaRPr lang="en-US" sz="1260" dirty="0"/>
          </a:p>
        </p:txBody>
      </p:sp>
      <p:sp>
        <p:nvSpPr>
          <p:cNvPr id="13" name="s24-texto-12"/>
          <p:cNvSpPr txBox="1"/>
          <p:nvPr/>
        </p:nvSpPr>
        <p:spPr>
          <a:xfrm>
            <a:off x="2656400" y="3250738"/>
            <a:ext cx="571664"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Pydantic</a:t>
            </a:r>
            <a:endParaRPr lang="en-US" sz="1080" dirty="0"/>
          </a:p>
        </p:txBody>
      </p:sp>
      <p:sp>
        <p:nvSpPr>
          <p:cNvPr id="14" name="s24-forma-13"/>
          <p:cNvSpPr/>
          <p:nvPr/>
        </p:nvSpPr>
        <p:spPr>
          <a:xfrm>
            <a:off x="3627801" y="2913667"/>
            <a:ext cx="914091" cy="628438"/>
          </a:xfrm>
          <a:prstGeom prst="rect">
            <a:avLst/>
          </a:prstGeom>
          <a:solidFill>
            <a:srgbClr val="DCE3F2"/>
          </a:solidFill>
          <a:ln w="5713">
            <a:solidFill>
              <a:srgbClr val="0033A0"/>
            </a:solidFill>
            <a:prstDash val="solid"/>
          </a:ln>
        </p:spPr>
        <p:txBody>
          <a:bodyPr/>
          <a:lstStyle/>
          <a:p>
            <a:endParaRPr lang="es-MX"/>
          </a:p>
        </p:txBody>
      </p:sp>
      <p:sp>
        <p:nvSpPr>
          <p:cNvPr id="15" name="s24-texto-14"/>
          <p:cNvSpPr txBox="1"/>
          <p:nvPr/>
        </p:nvSpPr>
        <p:spPr>
          <a:xfrm>
            <a:off x="3706355" y="3045067"/>
            <a:ext cx="756982"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Esquema</a:t>
            </a:r>
            <a:endParaRPr lang="en-US" sz="1260" dirty="0"/>
          </a:p>
        </p:txBody>
      </p:sp>
      <p:sp>
        <p:nvSpPr>
          <p:cNvPr id="16" name="s24-texto-15"/>
          <p:cNvSpPr txBox="1"/>
          <p:nvPr/>
        </p:nvSpPr>
        <p:spPr>
          <a:xfrm>
            <a:off x="3863822" y="3250738"/>
            <a:ext cx="442049"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nivel 1</a:t>
            </a:r>
            <a:endParaRPr lang="en-US" sz="1080" dirty="0"/>
          </a:p>
        </p:txBody>
      </p:sp>
      <p:sp>
        <p:nvSpPr>
          <p:cNvPr id="17" name="s24-forma-16"/>
          <p:cNvSpPr/>
          <p:nvPr/>
        </p:nvSpPr>
        <p:spPr>
          <a:xfrm>
            <a:off x="4770415" y="2913667"/>
            <a:ext cx="914091" cy="628438"/>
          </a:xfrm>
          <a:prstGeom prst="rect">
            <a:avLst/>
          </a:prstGeom>
          <a:solidFill>
            <a:srgbClr val="DCE3F2"/>
          </a:solidFill>
          <a:ln w="5713">
            <a:solidFill>
              <a:srgbClr val="0033A0"/>
            </a:solidFill>
            <a:prstDash val="solid"/>
          </a:ln>
        </p:spPr>
        <p:txBody>
          <a:bodyPr/>
          <a:lstStyle/>
          <a:p>
            <a:endParaRPr lang="es-MX"/>
          </a:p>
        </p:txBody>
      </p:sp>
      <p:sp>
        <p:nvSpPr>
          <p:cNvPr id="18" name="s24-texto-17"/>
          <p:cNvSpPr txBox="1"/>
          <p:nvPr/>
        </p:nvSpPr>
        <p:spPr>
          <a:xfrm>
            <a:off x="4942253" y="3045067"/>
            <a:ext cx="570325"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Reglas</a:t>
            </a:r>
            <a:endParaRPr lang="en-US" sz="1260" dirty="0"/>
          </a:p>
        </p:txBody>
      </p:sp>
      <p:sp>
        <p:nvSpPr>
          <p:cNvPr id="19" name="s24-texto-18"/>
          <p:cNvSpPr txBox="1"/>
          <p:nvPr/>
        </p:nvSpPr>
        <p:spPr>
          <a:xfrm>
            <a:off x="5006436" y="3250738"/>
            <a:ext cx="442049"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nivel 2</a:t>
            </a:r>
            <a:endParaRPr lang="en-US" sz="1080" dirty="0"/>
          </a:p>
        </p:txBody>
      </p:sp>
      <p:sp>
        <p:nvSpPr>
          <p:cNvPr id="20" name="s24-forma-19"/>
          <p:cNvSpPr/>
          <p:nvPr/>
        </p:nvSpPr>
        <p:spPr>
          <a:xfrm>
            <a:off x="5913029" y="2913667"/>
            <a:ext cx="914091" cy="628438"/>
          </a:xfrm>
          <a:prstGeom prst="rect">
            <a:avLst/>
          </a:prstGeom>
          <a:solidFill>
            <a:srgbClr val="DCE3F2"/>
          </a:solidFill>
          <a:ln w="5713">
            <a:solidFill>
              <a:srgbClr val="0033A0"/>
            </a:solidFill>
            <a:prstDash val="solid"/>
          </a:ln>
        </p:spPr>
        <p:txBody>
          <a:bodyPr/>
          <a:lstStyle/>
          <a:p>
            <a:endParaRPr lang="es-MX"/>
          </a:p>
        </p:txBody>
      </p:sp>
      <p:sp>
        <p:nvSpPr>
          <p:cNvPr id="21" name="s24-texto-20"/>
          <p:cNvSpPr txBox="1"/>
          <p:nvPr/>
        </p:nvSpPr>
        <p:spPr>
          <a:xfrm>
            <a:off x="6031576" y="3045067"/>
            <a:ext cx="676999"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Pruebas</a:t>
            </a:r>
            <a:endParaRPr lang="en-US" sz="1260" dirty="0"/>
          </a:p>
        </p:txBody>
      </p:sp>
      <p:sp>
        <p:nvSpPr>
          <p:cNvPr id="22" name="s24-texto-21"/>
          <p:cNvSpPr txBox="1"/>
          <p:nvPr/>
        </p:nvSpPr>
        <p:spPr>
          <a:xfrm>
            <a:off x="6149051" y="3250738"/>
            <a:ext cx="442049"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nivel 3</a:t>
            </a:r>
            <a:endParaRPr lang="en-US" sz="1080" dirty="0"/>
          </a:p>
        </p:txBody>
      </p:sp>
      <p:sp>
        <p:nvSpPr>
          <p:cNvPr id="23" name="s24-texto-22"/>
          <p:cNvSpPr txBox="1"/>
          <p:nvPr/>
        </p:nvSpPr>
        <p:spPr>
          <a:xfrm>
            <a:off x="3970585" y="2296655"/>
            <a:ext cx="2422342" cy="154253"/>
          </a:xfrm>
          <a:prstGeom prst="rect">
            <a:avLst/>
          </a:prstGeom>
          <a:noFill/>
          <a:ln/>
        </p:spPr>
        <p:txBody>
          <a:bodyPr wrap="none" lIns="0" tIns="0" rIns="0" bIns="0" rtlCol="0" anchor="t"/>
          <a:lstStyle/>
          <a:p>
            <a:pPr marL="0" indent="0" algn="l">
              <a:lnSpc>
                <a:spcPts val="1296"/>
              </a:lnSpc>
              <a:buNone/>
            </a:pPr>
            <a:r>
              <a:rPr lang="en-US" sz="1080" dirty="0">
                <a:solidFill>
                  <a:srgbClr val="0033A0"/>
                </a:solidFill>
                <a:latin typeface="Arial" pitchFamily="34" charset="0"/>
                <a:ea typeface="Arial" pitchFamily="34" charset="-122"/>
                <a:cs typeface="Arial" pitchFamily="34" charset="-120"/>
              </a:rPr>
              <a:t>pasa los tres → siguiente agente</a:t>
            </a:r>
            <a:endParaRPr lang="en-US" sz="1080" dirty="0"/>
          </a:p>
        </p:txBody>
      </p:sp>
      <p:sp>
        <p:nvSpPr>
          <p:cNvPr id="24" name="s24-texto-23"/>
          <p:cNvSpPr txBox="1"/>
          <p:nvPr/>
        </p:nvSpPr>
        <p:spPr>
          <a:xfrm>
            <a:off x="1913879" y="4010576"/>
            <a:ext cx="2180108" cy="314219"/>
          </a:xfrm>
          <a:prstGeom prst="rect">
            <a:avLst/>
          </a:prstGeom>
          <a:noFill/>
          <a:ln/>
        </p:spPr>
        <p:txBody>
          <a:bodyPr wrap="squar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falla: el problema regresa al modelo</a:t>
            </a:r>
            <a:endParaRPr lang="en-US" sz="1080" dirty="0"/>
          </a:p>
        </p:txBody>
      </p:sp>
      <p:sp>
        <p:nvSpPr>
          <p:cNvPr id="25" name="s24-forma-24"/>
          <p:cNvSpPr/>
          <p:nvPr/>
        </p:nvSpPr>
        <p:spPr>
          <a:xfrm>
            <a:off x="4541892" y="4456196"/>
            <a:ext cx="1371137" cy="514176"/>
          </a:xfrm>
          <a:prstGeom prst="rect">
            <a:avLst/>
          </a:prstGeom>
          <a:solidFill>
            <a:srgbClr val="E3DCCB"/>
          </a:solidFill>
          <a:ln w="5713">
            <a:solidFill>
              <a:srgbClr val="585E6F"/>
            </a:solidFill>
            <a:prstDash val="dash"/>
          </a:ln>
        </p:spPr>
        <p:txBody>
          <a:bodyPr/>
          <a:lstStyle/>
          <a:p>
            <a:endParaRPr lang="es-MX"/>
          </a:p>
        </p:txBody>
      </p:sp>
      <p:sp>
        <p:nvSpPr>
          <p:cNvPr id="26" name="s24-texto-25"/>
          <p:cNvSpPr txBox="1"/>
          <p:nvPr/>
        </p:nvSpPr>
        <p:spPr>
          <a:xfrm>
            <a:off x="4600682" y="4530466"/>
            <a:ext cx="125346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Persona decide</a:t>
            </a:r>
            <a:endParaRPr lang="en-US" sz="1260" dirty="0"/>
          </a:p>
        </p:txBody>
      </p:sp>
      <p:sp>
        <p:nvSpPr>
          <p:cNvPr id="27" name="s24-texto-26"/>
          <p:cNvSpPr txBox="1"/>
          <p:nvPr/>
        </p:nvSpPr>
        <p:spPr>
          <a:xfrm>
            <a:off x="4637582" y="4736137"/>
            <a:ext cx="1179756"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si se agota el tope</a:t>
            </a:r>
            <a:endParaRPr lang="en-US" sz="1080" dirty="0"/>
          </a:p>
        </p:txBody>
      </p:sp>
      <p:sp>
        <p:nvSpPr>
          <p:cNvPr id="28" name="s24-forma-27"/>
          <p:cNvSpPr/>
          <p:nvPr/>
        </p:nvSpPr>
        <p:spPr>
          <a:xfrm>
            <a:off x="1342572" y="5141765"/>
            <a:ext cx="2970797" cy="374742"/>
          </a:xfrm>
          <a:prstGeom prst="rect">
            <a:avLst/>
          </a:prstGeom>
          <a:solidFill>
            <a:srgbClr val="E3DCCB"/>
          </a:solidFill>
          <a:ln/>
        </p:spPr>
        <p:txBody>
          <a:bodyPr/>
          <a:lstStyle/>
          <a:p>
            <a:endParaRPr lang="es-MX"/>
          </a:p>
        </p:txBody>
      </p:sp>
      <p:sp>
        <p:nvSpPr>
          <p:cNvPr id="29" name="s24-texto-28"/>
          <p:cNvSpPr txBox="1"/>
          <p:nvPr/>
        </p:nvSpPr>
        <p:spPr>
          <a:xfrm>
            <a:off x="1479686" y="5250313"/>
            <a:ext cx="2858364"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Arial" pitchFamily="34" charset="0"/>
                <a:ea typeface="Arial" pitchFamily="34" charset="-122"/>
                <a:cs typeface="Arial" pitchFamily="34" charset="-120"/>
              </a:rPr>
              <a:t>Máximo 2 intentos</a:t>
            </a:r>
            <a:endParaRPr lang="en-US" sz="1080" dirty="0"/>
          </a:p>
        </p:txBody>
      </p:sp>
      <p:sp>
        <p:nvSpPr>
          <p:cNvPr id="30" name="s24-texto-29"/>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31" name="s24-texto-30"/>
          <p:cNvSpPr txBox="1"/>
          <p:nvPr/>
        </p:nvSpPr>
        <p:spPr>
          <a:xfrm>
            <a:off x="7284167" y="2428056"/>
            <a:ext cx="3778854"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El contrato se define antes que el prompt; el modelo lo llena y el código lo revisa en tres niveles.</a:t>
            </a:r>
            <a:endParaRPr lang="en-US" sz="1260" dirty="0"/>
          </a:p>
        </p:txBody>
      </p:sp>
      <p:sp>
        <p:nvSpPr>
          <p:cNvPr id="32" name="s24-texto-31"/>
          <p:cNvSpPr txBox="1"/>
          <p:nvPr/>
        </p:nvSpPr>
        <p:spPr>
          <a:xfrm>
            <a:off x="7284167" y="3236812"/>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33" name="s24-texto-32"/>
          <p:cNvSpPr txBox="1"/>
          <p:nvPr/>
        </p:nvSpPr>
        <p:spPr>
          <a:xfrm>
            <a:off x="7284167" y="3436770"/>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Siempre que la salida de un agente sea la entrada de otro agente o de un sistema.</a:t>
            </a:r>
            <a:endParaRPr lang="en-US" sz="1260" dirty="0"/>
          </a:p>
        </p:txBody>
      </p:sp>
      <p:sp>
        <p:nvSpPr>
          <p:cNvPr id="34" name="s24-forma-33"/>
          <p:cNvSpPr/>
          <p:nvPr/>
        </p:nvSpPr>
        <p:spPr>
          <a:xfrm>
            <a:off x="7284167" y="4021645"/>
            <a:ext cx="3564957" cy="1122976"/>
          </a:xfrm>
          <a:prstGeom prst="rect">
            <a:avLst/>
          </a:prstGeom>
          <a:solidFill>
            <a:srgbClr val="E2D3C2"/>
          </a:solidFill>
          <a:ln/>
        </p:spPr>
        <p:txBody>
          <a:bodyPr/>
          <a:lstStyle/>
          <a:p>
            <a:endParaRPr lang="es-MX"/>
          </a:p>
        </p:txBody>
      </p:sp>
      <p:sp>
        <p:nvSpPr>
          <p:cNvPr id="35" name="s24-texto-34"/>
          <p:cNvSpPr txBox="1"/>
          <p:nvPr/>
        </p:nvSpPr>
        <p:spPr>
          <a:xfrm>
            <a:off x="7421280" y="4158759"/>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36" name="s24-texto-35"/>
          <p:cNvSpPr txBox="1"/>
          <p:nvPr/>
        </p:nvSpPr>
        <p:spPr>
          <a:xfrm>
            <a:off x="7421280" y="4358717"/>
            <a:ext cx="3488173"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Gherkin y PlanPruebas son contratos; validar_gherkin, validar_plan y verificar_app, los niveles.</a:t>
            </a:r>
            <a:endParaRPr lang="en-US" sz="1260" dirty="0"/>
          </a:p>
        </p:txBody>
      </p:sp>
      <p:sp>
        <p:nvSpPr>
          <p:cNvPr id="37" name="s24-texto-36"/>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Salidas estructuradas y validación</a:t>
            </a:r>
            <a:endParaRPr lang="en-US" sz="1080" dirty="0"/>
          </a:p>
        </p:txBody>
      </p:sp>
      <p:sp>
        <p:nvSpPr>
          <p:cNvPr id="38" name="s24-linea-37-0"/>
          <p:cNvSpPr/>
          <p:nvPr/>
        </p:nvSpPr>
        <p:spPr>
          <a:xfrm>
            <a:off x="2256663" y="3227886"/>
            <a:ext cx="228523" cy="0"/>
          </a:xfrm>
          <a:prstGeom prst="line">
            <a:avLst/>
          </a:prstGeom>
          <a:noFill/>
          <a:ln w="17140">
            <a:solidFill>
              <a:srgbClr val="585E6F"/>
            </a:solidFill>
            <a:prstDash val="solid"/>
            <a:tailEnd type="triangle"/>
          </a:ln>
        </p:spPr>
        <p:txBody>
          <a:bodyPr/>
          <a:lstStyle/>
          <a:p>
            <a:endParaRPr lang="es-MX"/>
          </a:p>
        </p:txBody>
      </p:sp>
      <p:sp>
        <p:nvSpPr>
          <p:cNvPr id="39" name="s24-linea-38-0"/>
          <p:cNvSpPr/>
          <p:nvPr/>
        </p:nvSpPr>
        <p:spPr>
          <a:xfrm>
            <a:off x="3399278" y="3227886"/>
            <a:ext cx="228523" cy="0"/>
          </a:xfrm>
          <a:prstGeom prst="line">
            <a:avLst/>
          </a:prstGeom>
          <a:noFill/>
          <a:ln w="17140">
            <a:solidFill>
              <a:srgbClr val="585E6F"/>
            </a:solidFill>
            <a:prstDash val="solid"/>
            <a:tailEnd type="triangle"/>
          </a:ln>
        </p:spPr>
        <p:txBody>
          <a:bodyPr/>
          <a:lstStyle/>
          <a:p>
            <a:endParaRPr lang="es-MX"/>
          </a:p>
        </p:txBody>
      </p:sp>
      <p:sp>
        <p:nvSpPr>
          <p:cNvPr id="40" name="s24-linea-39-0"/>
          <p:cNvSpPr/>
          <p:nvPr/>
        </p:nvSpPr>
        <p:spPr>
          <a:xfrm>
            <a:off x="4541892" y="3227886"/>
            <a:ext cx="228523" cy="0"/>
          </a:xfrm>
          <a:prstGeom prst="line">
            <a:avLst/>
          </a:prstGeom>
          <a:noFill/>
          <a:ln w="17140">
            <a:solidFill>
              <a:srgbClr val="585E6F"/>
            </a:solidFill>
            <a:prstDash val="solid"/>
            <a:tailEnd type="triangle"/>
          </a:ln>
        </p:spPr>
        <p:txBody>
          <a:bodyPr/>
          <a:lstStyle/>
          <a:p>
            <a:endParaRPr lang="es-MX"/>
          </a:p>
        </p:txBody>
      </p:sp>
      <p:sp>
        <p:nvSpPr>
          <p:cNvPr id="41" name="s24-linea-40-0"/>
          <p:cNvSpPr/>
          <p:nvPr/>
        </p:nvSpPr>
        <p:spPr>
          <a:xfrm>
            <a:off x="5684506" y="3227886"/>
            <a:ext cx="228523" cy="0"/>
          </a:xfrm>
          <a:prstGeom prst="line">
            <a:avLst/>
          </a:prstGeom>
          <a:noFill/>
          <a:ln w="17140">
            <a:solidFill>
              <a:srgbClr val="585E6F"/>
            </a:solidFill>
            <a:prstDash val="solid"/>
            <a:tailEnd type="triangle"/>
          </a:ln>
        </p:spPr>
        <p:txBody>
          <a:bodyPr/>
          <a:lstStyle/>
          <a:p>
            <a:endParaRPr lang="es-MX"/>
          </a:p>
        </p:txBody>
      </p:sp>
      <p:sp>
        <p:nvSpPr>
          <p:cNvPr id="42" name="s24-linea-41-0"/>
          <p:cNvSpPr/>
          <p:nvPr/>
        </p:nvSpPr>
        <p:spPr>
          <a:xfrm flipV="1">
            <a:off x="6370075" y="2399490"/>
            <a:ext cx="0" cy="514176"/>
          </a:xfrm>
          <a:prstGeom prst="line">
            <a:avLst/>
          </a:prstGeom>
          <a:noFill/>
          <a:ln w="17140">
            <a:solidFill>
              <a:srgbClr val="0033A0"/>
            </a:solidFill>
            <a:prstDash val="solid"/>
            <a:tailEnd type="triangle"/>
          </a:ln>
        </p:spPr>
        <p:txBody>
          <a:bodyPr/>
          <a:lstStyle/>
          <a:p>
            <a:endParaRPr lang="es-MX"/>
          </a:p>
        </p:txBody>
      </p:sp>
      <p:sp>
        <p:nvSpPr>
          <p:cNvPr id="43" name="s24-linea-42-0"/>
          <p:cNvSpPr/>
          <p:nvPr/>
        </p:nvSpPr>
        <p:spPr>
          <a:xfrm>
            <a:off x="4084846" y="3542105"/>
            <a:ext cx="0" cy="399915"/>
          </a:xfrm>
          <a:prstGeom prst="line">
            <a:avLst/>
          </a:prstGeom>
          <a:noFill/>
          <a:ln w="17140">
            <a:solidFill>
              <a:srgbClr val="984514"/>
            </a:solidFill>
            <a:prstDash val="solid"/>
          </a:ln>
        </p:spPr>
        <p:txBody>
          <a:bodyPr/>
          <a:lstStyle/>
          <a:p>
            <a:endParaRPr lang="es-MX"/>
          </a:p>
        </p:txBody>
      </p:sp>
      <p:sp>
        <p:nvSpPr>
          <p:cNvPr id="44" name="s24-linea-43-0"/>
          <p:cNvSpPr/>
          <p:nvPr/>
        </p:nvSpPr>
        <p:spPr>
          <a:xfrm>
            <a:off x="5227461" y="3542105"/>
            <a:ext cx="0" cy="399915"/>
          </a:xfrm>
          <a:prstGeom prst="line">
            <a:avLst/>
          </a:prstGeom>
          <a:noFill/>
          <a:ln w="17140">
            <a:solidFill>
              <a:srgbClr val="984514"/>
            </a:solidFill>
            <a:prstDash val="solid"/>
          </a:ln>
        </p:spPr>
        <p:txBody>
          <a:bodyPr/>
          <a:lstStyle/>
          <a:p>
            <a:endParaRPr lang="es-MX"/>
          </a:p>
        </p:txBody>
      </p:sp>
      <p:sp>
        <p:nvSpPr>
          <p:cNvPr id="45" name="s24-linea-44-0"/>
          <p:cNvSpPr/>
          <p:nvPr/>
        </p:nvSpPr>
        <p:spPr>
          <a:xfrm>
            <a:off x="6370075" y="3542105"/>
            <a:ext cx="0" cy="399915"/>
          </a:xfrm>
          <a:prstGeom prst="line">
            <a:avLst/>
          </a:prstGeom>
          <a:noFill/>
          <a:ln w="17140">
            <a:solidFill>
              <a:srgbClr val="984514"/>
            </a:solidFill>
            <a:prstDash val="solid"/>
          </a:ln>
        </p:spPr>
        <p:txBody>
          <a:bodyPr/>
          <a:lstStyle/>
          <a:p>
            <a:endParaRPr lang="es-MX"/>
          </a:p>
        </p:txBody>
      </p:sp>
      <p:sp>
        <p:nvSpPr>
          <p:cNvPr id="46" name="s24-linea-45-0"/>
          <p:cNvSpPr/>
          <p:nvPr/>
        </p:nvSpPr>
        <p:spPr>
          <a:xfrm flipH="1">
            <a:off x="1799618" y="3942020"/>
            <a:ext cx="4570457" cy="0"/>
          </a:xfrm>
          <a:prstGeom prst="line">
            <a:avLst/>
          </a:prstGeom>
          <a:noFill/>
          <a:ln w="17140">
            <a:solidFill>
              <a:srgbClr val="984514"/>
            </a:solidFill>
            <a:prstDash val="solid"/>
          </a:ln>
        </p:spPr>
        <p:txBody>
          <a:bodyPr/>
          <a:lstStyle/>
          <a:p>
            <a:endParaRPr lang="es-MX"/>
          </a:p>
        </p:txBody>
      </p:sp>
      <p:sp>
        <p:nvSpPr>
          <p:cNvPr id="47" name="s24-linea-46-0"/>
          <p:cNvSpPr/>
          <p:nvPr/>
        </p:nvSpPr>
        <p:spPr>
          <a:xfrm flipV="1">
            <a:off x="1799618" y="3542105"/>
            <a:ext cx="0" cy="399915"/>
          </a:xfrm>
          <a:prstGeom prst="line">
            <a:avLst/>
          </a:prstGeom>
          <a:noFill/>
          <a:ln w="17140">
            <a:solidFill>
              <a:srgbClr val="984514"/>
            </a:solidFill>
            <a:prstDash val="solid"/>
            <a:tailEnd type="triangle"/>
          </a:ln>
        </p:spPr>
        <p:txBody>
          <a:bodyPr/>
          <a:lstStyle/>
          <a:p>
            <a:endParaRPr lang="es-MX"/>
          </a:p>
        </p:txBody>
      </p:sp>
      <p:sp>
        <p:nvSpPr>
          <p:cNvPr id="48" name="s24-linea-47-0"/>
          <p:cNvSpPr/>
          <p:nvPr/>
        </p:nvSpPr>
        <p:spPr>
          <a:xfrm>
            <a:off x="5227461" y="3942020"/>
            <a:ext cx="0" cy="514176"/>
          </a:xfrm>
          <a:prstGeom prst="line">
            <a:avLst/>
          </a:prstGeom>
          <a:noFill/>
          <a:ln w="17140">
            <a:solidFill>
              <a:srgbClr val="984514"/>
            </a:solidFill>
            <a:prstDash val="dash"/>
            <a:tailEnd type="triangle"/>
          </a:ln>
        </p:spPr>
        <p:txBody>
          <a:bodyPr/>
          <a:lstStyle/>
          <a:p>
            <a:endParaRPr lang="es-MX"/>
          </a:p>
        </p:txBody>
      </p:sp>
      <p:sp>
        <p:nvSpPr>
          <p:cNvPr id="49" name="s24-forma-48"/>
          <p:cNvSpPr/>
          <p:nvPr/>
        </p:nvSpPr>
        <p:spPr>
          <a:xfrm>
            <a:off x="853390" y="6411138"/>
            <a:ext cx="10484915" cy="5713"/>
          </a:xfrm>
          <a:prstGeom prst="rect">
            <a:avLst/>
          </a:prstGeom>
          <a:solidFill>
            <a:srgbClr val="DBD4C4"/>
          </a:solidFill>
          <a:ln/>
        </p:spPr>
        <p:txBody>
          <a:bodyPr/>
          <a:lstStyle/>
          <a:p>
            <a:endParaRPr lang="es-MX"/>
          </a:p>
        </p:txBody>
      </p:sp>
      <p:pic>
        <p:nvPicPr>
          <p:cNvPr id="50" name="s24-logo-49" descr="preencoded.png"/>
          <p:cNvPicPr>
            <a:picLocks noChangeAspect="1"/>
          </p:cNvPicPr>
          <p:nvPr/>
        </p:nvPicPr>
        <p:blipFill>
          <a:blip r:embed="rId3"/>
          <a:stretch>
            <a:fillRect/>
          </a:stretch>
        </p:blipFill>
        <p:spPr>
          <a:xfrm>
            <a:off x="853390" y="6465055"/>
            <a:ext cx="687800" cy="212455"/>
          </a:xfrm>
          <a:prstGeom prst="rect">
            <a:avLst/>
          </a:prstGeom>
        </p:spPr>
      </p:pic>
      <p:sp>
        <p:nvSpPr>
          <p:cNvPr id="51" name="s24-forma-50"/>
          <p:cNvSpPr/>
          <p:nvPr/>
        </p:nvSpPr>
        <p:spPr>
          <a:xfrm>
            <a:off x="1659380" y="6519865"/>
            <a:ext cx="3057208" cy="102835"/>
          </a:xfrm>
          <a:prstGeom prst="rect">
            <a:avLst/>
          </a:prstGeom>
          <a:ln/>
        </p:spPr>
        <p:txBody>
          <a:bodyPr/>
          <a:lstStyle/>
          <a:p>
            <a:endParaRPr lang="es-MX"/>
          </a:p>
        </p:txBody>
      </p:sp>
      <p:sp>
        <p:nvSpPr>
          <p:cNvPr id="52" name="s24-forma-51"/>
          <p:cNvSpPr/>
          <p:nvPr/>
        </p:nvSpPr>
        <p:spPr>
          <a:xfrm>
            <a:off x="1659380" y="6519865"/>
            <a:ext cx="5713" cy="102835"/>
          </a:xfrm>
          <a:prstGeom prst="rect">
            <a:avLst/>
          </a:prstGeom>
          <a:solidFill>
            <a:srgbClr val="C6BFAE"/>
          </a:solidFill>
          <a:ln/>
        </p:spPr>
        <p:txBody>
          <a:bodyPr/>
          <a:lstStyle/>
          <a:p>
            <a:endParaRPr lang="es-MX"/>
          </a:p>
        </p:txBody>
      </p:sp>
      <p:sp>
        <p:nvSpPr>
          <p:cNvPr id="53" name="s24-texto-52"/>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4" name="s24-texto-53"/>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24 / 35</a:t>
            </a:r>
            <a:endParaRPr lang="en-US" sz="745" dirty="0"/>
          </a:p>
        </p:txBody>
      </p:sp>
      <p:sp>
        <p:nvSpPr>
          <p:cNvPr id="55" name="s24-forma-54"/>
          <p:cNvSpPr/>
          <p:nvPr/>
        </p:nvSpPr>
        <p:spPr>
          <a:xfrm>
            <a:off x="0" y="0"/>
            <a:ext cx="8360009" cy="17139"/>
          </a:xfrm>
          <a:prstGeom prst="rect">
            <a:avLst/>
          </a:prstGeom>
          <a:solidFill>
            <a:srgbClr val="0033A0"/>
          </a:solidFill>
          <a:ln/>
        </p:spPr>
        <p:txBody>
          <a:bodyPr/>
          <a:lstStyle/>
          <a:p>
            <a:endParaRPr lang="es-MX"/>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EDE8DC"/>
        </a:solidFill>
        <a:effectLst/>
      </p:bgPr>
    </p:bg>
    <p:spTree>
      <p:nvGrpSpPr>
        <p:cNvPr id="1" name=""/>
        <p:cNvGrpSpPr/>
        <p:nvPr/>
      </p:nvGrpSpPr>
      <p:grpSpPr>
        <a:xfrm>
          <a:off x="0" y="0"/>
          <a:ext cx="0" cy="0"/>
          <a:chOff x="0" y="0"/>
          <a:chExt cx="0" cy="0"/>
        </a:xfrm>
      </p:grpSpPr>
      <p:sp>
        <p:nvSpPr>
          <p:cNvPr id="2" name="s25-forma-1"/>
          <p:cNvSpPr/>
          <p:nvPr/>
        </p:nvSpPr>
        <p:spPr>
          <a:xfrm>
            <a:off x="853390" y="520961"/>
            <a:ext cx="10484915" cy="5713"/>
          </a:xfrm>
          <a:prstGeom prst="rect">
            <a:avLst/>
          </a:prstGeom>
          <a:solidFill>
            <a:srgbClr val="C6BFAE"/>
          </a:solidFill>
          <a:ln/>
        </p:spPr>
        <p:txBody>
          <a:bodyPr/>
          <a:lstStyle/>
          <a:p>
            <a:endParaRPr lang="es-MX"/>
          </a:p>
        </p:txBody>
      </p:sp>
      <p:sp>
        <p:nvSpPr>
          <p:cNvPr id="3" name="s25-forma-2"/>
          <p:cNvSpPr/>
          <p:nvPr/>
        </p:nvSpPr>
        <p:spPr>
          <a:xfrm>
            <a:off x="853390" y="331715"/>
            <a:ext cx="81411" cy="81411"/>
          </a:xfrm>
          <a:prstGeom prst="ellipse">
            <a:avLst/>
          </a:prstGeom>
          <a:solidFill>
            <a:srgbClr val="0033A0"/>
          </a:solidFill>
          <a:ln/>
        </p:spPr>
        <p:txBody>
          <a:bodyPr/>
          <a:lstStyle/>
          <a:p>
            <a:endParaRPr lang="es-MX"/>
          </a:p>
        </p:txBody>
      </p:sp>
      <p:sp>
        <p:nvSpPr>
          <p:cNvPr id="4" name="s25-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5-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SALIDAS ESTRUCTURADAS · EN CÓDIGO</a:t>
            </a:r>
            <a:endParaRPr lang="en-US" sz="900" dirty="0"/>
          </a:p>
        </p:txBody>
      </p:sp>
      <p:sp>
        <p:nvSpPr>
          <p:cNvPr id="7" name="s25-texto-6"/>
          <p:cNvSpPr txBox="1"/>
          <p:nvPr/>
        </p:nvSpPr>
        <p:spPr>
          <a:xfrm>
            <a:off x="1342572" y="1451120"/>
            <a:ext cx="10076945" cy="365637"/>
          </a:xfrm>
          <a:prstGeom prst="rect">
            <a:avLst/>
          </a:prstGeom>
          <a:noFill/>
          <a:ln/>
        </p:spPr>
        <p:txBody>
          <a:bodyPr wrap="none" lIns="0" tIns="0" rIns="0" bIns="0" rtlCol="0" anchor="t"/>
          <a:lstStyle/>
          <a:p>
            <a:pPr marL="0" indent="0" algn="l">
              <a:lnSpc>
                <a:spcPts val="2672"/>
              </a:lnSpc>
              <a:buNone/>
            </a:pPr>
            <a:r>
              <a:rPr lang="en-US" sz="2429" b="1" kern="0" spc="-24" dirty="0">
                <a:solidFill>
                  <a:srgbClr val="16181D"/>
                </a:solidFill>
                <a:latin typeface="Georgia" pitchFamily="34" charset="0"/>
                <a:ea typeface="Georgia" pitchFamily="34" charset="-122"/>
                <a:cs typeface="Georgia" pitchFamily="34" charset="-120"/>
              </a:rPr>
              <a:t>Salidas estructuradas en código: contrato y niveles</a:t>
            </a:r>
            <a:endParaRPr lang="en-US" sz="2429" dirty="0"/>
          </a:p>
        </p:txBody>
      </p:sp>
      <p:sp>
        <p:nvSpPr>
          <p:cNvPr id="8" name="s25-forma-7"/>
          <p:cNvSpPr/>
          <p:nvPr/>
        </p:nvSpPr>
        <p:spPr>
          <a:xfrm>
            <a:off x="1342572" y="2205246"/>
            <a:ext cx="5941595" cy="3159329"/>
          </a:xfrm>
          <a:prstGeom prst="rect">
            <a:avLst/>
          </a:prstGeom>
          <a:solidFill>
            <a:srgbClr val="E8E2D5"/>
          </a:solidFill>
          <a:ln/>
        </p:spPr>
        <p:txBody>
          <a:bodyPr/>
          <a:lstStyle/>
          <a:p>
            <a:endParaRPr lang="es-MX"/>
          </a:p>
        </p:txBody>
      </p:sp>
      <p:sp>
        <p:nvSpPr>
          <p:cNvPr id="9" name="s25-forma-8"/>
          <p:cNvSpPr/>
          <p:nvPr/>
        </p:nvSpPr>
        <p:spPr>
          <a:xfrm>
            <a:off x="1342572" y="2205246"/>
            <a:ext cx="5941595" cy="5713"/>
          </a:xfrm>
          <a:prstGeom prst="rect">
            <a:avLst/>
          </a:prstGeom>
          <a:solidFill>
            <a:srgbClr val="DBD4C4"/>
          </a:solidFill>
          <a:ln/>
        </p:spPr>
        <p:txBody>
          <a:bodyPr/>
          <a:lstStyle/>
          <a:p>
            <a:endParaRPr lang="es-MX"/>
          </a:p>
        </p:txBody>
      </p:sp>
      <p:sp>
        <p:nvSpPr>
          <p:cNvPr id="10" name="s25-forma-9"/>
          <p:cNvSpPr/>
          <p:nvPr/>
        </p:nvSpPr>
        <p:spPr>
          <a:xfrm>
            <a:off x="1342572" y="5358861"/>
            <a:ext cx="5941595" cy="5713"/>
          </a:xfrm>
          <a:prstGeom prst="rect">
            <a:avLst/>
          </a:prstGeom>
          <a:solidFill>
            <a:srgbClr val="DBD4C4"/>
          </a:solidFill>
          <a:ln/>
        </p:spPr>
        <p:txBody>
          <a:bodyPr/>
          <a:lstStyle/>
          <a:p>
            <a:endParaRPr lang="es-MX"/>
          </a:p>
        </p:txBody>
      </p:sp>
      <p:sp>
        <p:nvSpPr>
          <p:cNvPr id="11" name="s25-forma-10"/>
          <p:cNvSpPr/>
          <p:nvPr/>
        </p:nvSpPr>
        <p:spPr>
          <a:xfrm>
            <a:off x="1342572" y="2205246"/>
            <a:ext cx="17139" cy="3159329"/>
          </a:xfrm>
          <a:prstGeom prst="rect">
            <a:avLst/>
          </a:prstGeom>
          <a:solidFill>
            <a:srgbClr val="C6BFAE"/>
          </a:solidFill>
          <a:ln/>
        </p:spPr>
        <p:txBody>
          <a:bodyPr/>
          <a:lstStyle/>
          <a:p>
            <a:endParaRPr lang="es-MX"/>
          </a:p>
        </p:txBody>
      </p:sp>
      <p:sp>
        <p:nvSpPr>
          <p:cNvPr id="12" name="s25-forma-11"/>
          <p:cNvSpPr/>
          <p:nvPr/>
        </p:nvSpPr>
        <p:spPr>
          <a:xfrm>
            <a:off x="7278453" y="2205246"/>
            <a:ext cx="5713" cy="3159329"/>
          </a:xfrm>
          <a:prstGeom prst="rect">
            <a:avLst/>
          </a:prstGeom>
          <a:solidFill>
            <a:srgbClr val="DBD4C4"/>
          </a:solidFill>
          <a:ln/>
        </p:spPr>
        <p:txBody>
          <a:bodyPr/>
          <a:lstStyle/>
          <a:p>
            <a:endParaRPr lang="es-MX"/>
          </a:p>
        </p:txBody>
      </p:sp>
      <p:sp>
        <p:nvSpPr>
          <p:cNvPr id="13" name="s25-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class</a:t>
            </a:r>
            <a:r>
              <a:rPr lang="en-US" sz="990" dirty="0">
                <a:solidFill>
                  <a:srgbClr val="16181D"/>
                </a:solidFill>
                <a:latin typeface="Courier New" pitchFamily="34" charset="0"/>
                <a:ea typeface="Courier New" pitchFamily="34" charset="-122"/>
                <a:cs typeface="Courier New" pitchFamily="34" charset="-120"/>
              </a:rPr>
              <a:t> AltaEmpleado(</a:t>
            </a:r>
            <a:r>
              <a:rPr lang="en-US" sz="990" dirty="0">
                <a:solidFill>
                  <a:srgbClr val="0033A0"/>
                </a:solidFill>
                <a:latin typeface="Courier New" pitchFamily="34" charset="0"/>
                <a:ea typeface="Courier New" pitchFamily="34" charset="-122"/>
                <a:cs typeface="Courier New" pitchFamily="34" charset="-120"/>
              </a:rPr>
              <a:t>BaseModel</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1 · contrato</a:t>
            </a:r>
            <a:endParaRPr lang="en-US" sz="990" dirty="0"/>
          </a:p>
        </p:txBody>
      </p:sp>
      <p:sp>
        <p:nvSpPr>
          <p:cNvPr id="14" name="s25-forma-13"/>
          <p:cNvSpPr/>
          <p:nvPr/>
        </p:nvSpPr>
        <p:spPr>
          <a:xfrm>
            <a:off x="1451120" y="2559456"/>
            <a:ext cx="5735924" cy="188531"/>
          </a:xfrm>
          <a:prstGeom prst="rect">
            <a:avLst/>
          </a:prstGeom>
          <a:solidFill>
            <a:srgbClr val="DCE3F2"/>
          </a:solidFill>
          <a:ln/>
        </p:spPr>
        <p:txBody>
          <a:bodyPr/>
          <a:lstStyle/>
          <a:p>
            <a:endParaRPr lang="es-MX"/>
          </a:p>
        </p:txBody>
      </p:sp>
      <p:sp>
        <p:nvSpPr>
          <p:cNvPr id="15" name="s25-forma-14"/>
          <p:cNvSpPr/>
          <p:nvPr/>
        </p:nvSpPr>
        <p:spPr>
          <a:xfrm>
            <a:off x="1451120" y="2559456"/>
            <a:ext cx="22852" cy="188531"/>
          </a:xfrm>
          <a:prstGeom prst="rect">
            <a:avLst/>
          </a:prstGeom>
          <a:solidFill>
            <a:srgbClr val="AC321E"/>
          </a:solidFill>
          <a:ln/>
        </p:spPr>
        <p:txBody>
          <a:bodyPr/>
          <a:lstStyle/>
          <a:p>
            <a:endParaRPr lang="es-MX"/>
          </a:p>
        </p:txBody>
      </p:sp>
      <p:sp>
        <p:nvSpPr>
          <p:cNvPr id="16" name="s25-texto-15"/>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departamento: </a:t>
            </a:r>
            <a:r>
              <a:rPr lang="en-US" sz="990" dirty="0">
                <a:solidFill>
                  <a:srgbClr val="0033A0"/>
                </a:solidFill>
                <a:latin typeface="Courier New" pitchFamily="34" charset="0"/>
                <a:ea typeface="Courier New" pitchFamily="34" charset="-122"/>
                <a:cs typeface="Courier New" pitchFamily="34" charset="-120"/>
              </a:rPr>
              <a:t>Literal</a:t>
            </a:r>
            <a:r>
              <a:rPr lang="en-US" sz="990" dirty="0">
                <a:solidFill>
                  <a:srgbClr val="16181D"/>
                </a:solidFill>
                <a:latin typeface="Courier New" pitchFamily="34" charset="0"/>
                <a:ea typeface="Courier New" pitchFamily="34" charset="-122"/>
                <a:cs typeface="Courier New" pitchFamily="34" charset="-120"/>
              </a:rPr>
              <a:t>[</a:t>
            </a:r>
            <a:r>
              <a:rPr lang="en-US" sz="990" dirty="0">
                <a:solidFill>
                  <a:srgbClr val="1B6A43"/>
                </a:solidFill>
                <a:latin typeface="Courier New" pitchFamily="34" charset="0"/>
                <a:ea typeface="Courier New" pitchFamily="34" charset="-122"/>
                <a:cs typeface="Courier New" pitchFamily="34" charset="-120"/>
              </a:rPr>
              <a:t>"Tecnología"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"Ventas"</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"Finanzas"</a:t>
            </a:r>
            <a:r>
              <a:rPr lang="en-US" sz="990" dirty="0">
                <a:solidFill>
                  <a:srgbClr val="16181D"/>
                </a:solidFill>
                <a:latin typeface="Courier New" pitchFamily="34" charset="0"/>
                <a:ea typeface="Courier New" pitchFamily="34" charset="-122"/>
                <a:cs typeface="Courier New" pitchFamily="34" charset="-120"/>
              </a:rPr>
              <a:t>, ...]</a:t>
            </a:r>
            <a:endParaRPr lang="en-US" sz="990" dirty="0"/>
          </a:p>
        </p:txBody>
      </p:sp>
      <p:sp>
        <p:nvSpPr>
          <p:cNvPr id="17" name="s25-texto-16"/>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fecha_ingreso: date</a:t>
            </a:r>
            <a:endParaRPr lang="en-US" sz="990" dirty="0"/>
          </a:p>
        </p:txBody>
      </p:sp>
      <p:sp>
        <p:nvSpPr>
          <p:cNvPr id="18" name="s25-forma-17"/>
          <p:cNvSpPr/>
          <p:nvPr/>
        </p:nvSpPr>
        <p:spPr>
          <a:xfrm>
            <a:off x="1451120" y="2936519"/>
            <a:ext cx="5735924" cy="188531"/>
          </a:xfrm>
          <a:prstGeom prst="rect">
            <a:avLst/>
          </a:prstGeom>
          <a:solidFill>
            <a:srgbClr val="DCE3F2"/>
          </a:solidFill>
          <a:ln/>
        </p:spPr>
        <p:txBody>
          <a:bodyPr/>
          <a:lstStyle/>
          <a:p>
            <a:endParaRPr lang="es-MX"/>
          </a:p>
        </p:txBody>
      </p:sp>
      <p:sp>
        <p:nvSpPr>
          <p:cNvPr id="19" name="s25-forma-18"/>
          <p:cNvSpPr/>
          <p:nvPr/>
        </p:nvSpPr>
        <p:spPr>
          <a:xfrm>
            <a:off x="1451120" y="2936519"/>
            <a:ext cx="22852" cy="188531"/>
          </a:xfrm>
          <a:prstGeom prst="rect">
            <a:avLst/>
          </a:prstGeom>
          <a:solidFill>
            <a:srgbClr val="AC321E"/>
          </a:solidFill>
          <a:ln/>
        </p:spPr>
        <p:txBody>
          <a:bodyPr/>
          <a:lstStyle/>
          <a:p>
            <a:endParaRPr lang="es-MX"/>
          </a:p>
        </p:txBody>
      </p:sp>
      <p:sp>
        <p:nvSpPr>
          <p:cNvPr id="20" name="s25-texto-19"/>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dudas: list[str]                </a:t>
            </a:r>
            <a:r>
              <a:rPr lang="en-US" sz="990" dirty="0">
                <a:solidFill>
                  <a:srgbClr val="585E6F"/>
                </a:solidFill>
                <a:latin typeface="Courier New" pitchFamily="34" charset="0"/>
                <a:ea typeface="Courier New" pitchFamily="34" charset="-122"/>
                <a:cs typeface="Courier New" pitchFamily="34" charset="-120"/>
              </a:rPr>
              <a:t># lo que no sabe, no lo inventa</a:t>
            </a:r>
            <a:endParaRPr lang="en-US" sz="990" dirty="0"/>
          </a:p>
        </p:txBody>
      </p:sp>
      <p:sp>
        <p:nvSpPr>
          <p:cNvPr id="21" name="s25-texto-20"/>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resp = cliente.messages.create(..., tools=[{</a:t>
            </a:r>
            <a:r>
              <a:rPr lang="en-US" sz="990" dirty="0">
                <a:solidFill>
                  <a:srgbClr val="1B6A43"/>
                </a:solidFill>
                <a:latin typeface="Courier New" pitchFamily="34" charset="0"/>
                <a:ea typeface="Courier New" pitchFamily="34" charset="-122"/>
                <a:cs typeface="Courier New" pitchFamily="34" charset="-120"/>
              </a:rPr>
              <a:t>"name"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"registrar_alta"</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22" name="s25-forma-21"/>
          <p:cNvSpPr/>
          <p:nvPr/>
        </p:nvSpPr>
        <p:spPr>
          <a:xfrm>
            <a:off x="1451120" y="3502113"/>
            <a:ext cx="5735924" cy="188531"/>
          </a:xfrm>
          <a:prstGeom prst="rect">
            <a:avLst/>
          </a:prstGeom>
          <a:solidFill>
            <a:srgbClr val="DCE3F2"/>
          </a:solidFill>
          <a:ln/>
        </p:spPr>
        <p:txBody>
          <a:bodyPr/>
          <a:lstStyle/>
          <a:p>
            <a:endParaRPr lang="es-MX"/>
          </a:p>
        </p:txBody>
      </p:sp>
      <p:sp>
        <p:nvSpPr>
          <p:cNvPr id="23" name="s25-forma-22"/>
          <p:cNvSpPr/>
          <p:nvPr/>
        </p:nvSpPr>
        <p:spPr>
          <a:xfrm>
            <a:off x="1451120" y="3502113"/>
            <a:ext cx="22852" cy="188531"/>
          </a:xfrm>
          <a:prstGeom prst="rect">
            <a:avLst/>
          </a:prstGeom>
          <a:solidFill>
            <a:srgbClr val="AC321E"/>
          </a:solidFill>
          <a:ln/>
        </p:spPr>
        <p:txBody>
          <a:bodyPr/>
          <a:lstStyle/>
          <a:p>
            <a:endParaRPr lang="es-MX"/>
          </a:p>
        </p:txBody>
      </p:sp>
      <p:sp>
        <p:nvSpPr>
          <p:cNvPr id="24" name="s25-texto-23"/>
          <p:cNvSpPr txBox="1"/>
          <p:nvPr/>
        </p:nvSpPr>
        <p:spPr>
          <a:xfrm>
            <a:off x="1542529" y="350211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"input_schema"</a:t>
            </a:r>
            <a:r>
              <a:rPr lang="en-US" sz="990" dirty="0">
                <a:solidFill>
                  <a:srgbClr val="16181D"/>
                </a:solidFill>
                <a:latin typeface="Courier New" pitchFamily="34" charset="0"/>
                <a:ea typeface="Courier New" pitchFamily="34" charset="-122"/>
                <a:cs typeface="Courier New" pitchFamily="34" charset="-120"/>
              </a:rPr>
              <a:t>: AltaEmpleado.model_json_schema()}],</a:t>
            </a:r>
            <a:endParaRPr lang="en-US" sz="990" dirty="0"/>
          </a:p>
        </p:txBody>
      </p:sp>
      <p:sp>
        <p:nvSpPr>
          <p:cNvPr id="25" name="s25-forma-24"/>
          <p:cNvSpPr/>
          <p:nvPr/>
        </p:nvSpPr>
        <p:spPr>
          <a:xfrm>
            <a:off x="1451120" y="3690644"/>
            <a:ext cx="5735924" cy="188531"/>
          </a:xfrm>
          <a:prstGeom prst="rect">
            <a:avLst/>
          </a:prstGeom>
          <a:solidFill>
            <a:srgbClr val="DCE3F2"/>
          </a:solidFill>
          <a:ln/>
        </p:spPr>
        <p:txBody>
          <a:bodyPr/>
          <a:lstStyle/>
          <a:p>
            <a:endParaRPr lang="es-MX"/>
          </a:p>
        </p:txBody>
      </p:sp>
      <p:sp>
        <p:nvSpPr>
          <p:cNvPr id="26" name="s25-forma-25"/>
          <p:cNvSpPr/>
          <p:nvPr/>
        </p:nvSpPr>
        <p:spPr>
          <a:xfrm>
            <a:off x="1451120" y="3690644"/>
            <a:ext cx="22852" cy="188531"/>
          </a:xfrm>
          <a:prstGeom prst="rect">
            <a:avLst/>
          </a:prstGeom>
          <a:solidFill>
            <a:srgbClr val="AC321E"/>
          </a:solidFill>
          <a:ln/>
        </p:spPr>
        <p:txBody>
          <a:bodyPr/>
          <a:lstStyle/>
          <a:p>
            <a:endParaRPr lang="es-MX"/>
          </a:p>
        </p:txBody>
      </p:sp>
      <p:sp>
        <p:nvSpPr>
          <p:cNvPr id="27" name="s25-texto-26"/>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tool_choice={</a:t>
            </a:r>
            <a:r>
              <a:rPr lang="en-US" sz="990" dirty="0">
                <a:solidFill>
                  <a:srgbClr val="1B6A43"/>
                </a:solidFill>
                <a:latin typeface="Courier New" pitchFamily="34" charset="0"/>
                <a:ea typeface="Courier New" pitchFamily="34" charset="-122"/>
                <a:cs typeface="Courier New" pitchFamily="34" charset="-120"/>
              </a:rPr>
              <a:t>"type"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"tool"</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"name"</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1B6A43"/>
                </a:solidFill>
                <a:latin typeface="Courier New" pitchFamily="34" charset="0"/>
                <a:ea typeface="Courier New" pitchFamily="34" charset="-122"/>
                <a:cs typeface="Courier New" pitchFamily="34" charset="-120"/>
              </a:rPr>
              <a:t>"registrar_alta"</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585E6F"/>
                </a:solidFill>
                <a:latin typeface="Courier New" pitchFamily="34" charset="0"/>
                <a:ea typeface="Courier New" pitchFamily="34" charset="-122"/>
                <a:cs typeface="Courier New" pitchFamily="34" charset="-120"/>
              </a:rPr>
              <a:t># 2</a:t>
            </a:r>
            <a:endParaRPr lang="en-US" sz="990" dirty="0"/>
          </a:p>
        </p:txBody>
      </p:sp>
      <p:sp>
        <p:nvSpPr>
          <p:cNvPr id="28" name="s25-texto-27"/>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try:</a:t>
            </a:r>
            <a:endParaRPr lang="en-US" sz="990" dirty="0"/>
          </a:p>
        </p:txBody>
      </p:sp>
      <p:sp>
        <p:nvSpPr>
          <p:cNvPr id="29" name="s25-forma-28"/>
          <p:cNvSpPr/>
          <p:nvPr/>
        </p:nvSpPr>
        <p:spPr>
          <a:xfrm>
            <a:off x="1451120" y="4067707"/>
            <a:ext cx="5735924" cy="188531"/>
          </a:xfrm>
          <a:prstGeom prst="rect">
            <a:avLst/>
          </a:prstGeom>
          <a:solidFill>
            <a:srgbClr val="DCE3F2"/>
          </a:solidFill>
          <a:ln/>
        </p:spPr>
        <p:txBody>
          <a:bodyPr/>
          <a:lstStyle/>
          <a:p>
            <a:endParaRPr lang="es-MX"/>
          </a:p>
        </p:txBody>
      </p:sp>
      <p:sp>
        <p:nvSpPr>
          <p:cNvPr id="30" name="s25-forma-29"/>
          <p:cNvSpPr/>
          <p:nvPr/>
        </p:nvSpPr>
        <p:spPr>
          <a:xfrm>
            <a:off x="1451120" y="4067707"/>
            <a:ext cx="22852" cy="188531"/>
          </a:xfrm>
          <a:prstGeom prst="rect">
            <a:avLst/>
          </a:prstGeom>
          <a:solidFill>
            <a:srgbClr val="AC321E"/>
          </a:solidFill>
          <a:ln/>
        </p:spPr>
        <p:txBody>
          <a:bodyPr/>
          <a:lstStyle/>
          <a:p>
            <a:endParaRPr lang="es-MX"/>
          </a:p>
        </p:txBody>
      </p:sp>
      <p:sp>
        <p:nvSpPr>
          <p:cNvPr id="31" name="s25-texto-30"/>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alta = AltaEmpleado.model_validate(datos)       </a:t>
            </a:r>
            <a:r>
              <a:rPr lang="en-US" sz="990" dirty="0">
                <a:solidFill>
                  <a:srgbClr val="585E6F"/>
                </a:solidFill>
                <a:latin typeface="Courier New" pitchFamily="34" charset="0"/>
                <a:ea typeface="Courier New" pitchFamily="34" charset="-122"/>
                <a:cs typeface="Courier New" pitchFamily="34" charset="-120"/>
              </a:rPr>
              <a:t># 3a · esquema</a:t>
            </a:r>
            <a:endParaRPr lang="en-US" sz="990" dirty="0"/>
          </a:p>
        </p:txBody>
      </p:sp>
      <p:sp>
        <p:nvSpPr>
          <p:cNvPr id="32" name="s25-forma-31"/>
          <p:cNvSpPr/>
          <p:nvPr/>
        </p:nvSpPr>
        <p:spPr>
          <a:xfrm>
            <a:off x="1451120" y="4256238"/>
            <a:ext cx="5735924" cy="188531"/>
          </a:xfrm>
          <a:prstGeom prst="rect">
            <a:avLst/>
          </a:prstGeom>
          <a:solidFill>
            <a:srgbClr val="DCE3F2"/>
          </a:solidFill>
          <a:ln/>
        </p:spPr>
        <p:txBody>
          <a:bodyPr/>
          <a:lstStyle/>
          <a:p>
            <a:endParaRPr lang="es-MX"/>
          </a:p>
        </p:txBody>
      </p:sp>
      <p:sp>
        <p:nvSpPr>
          <p:cNvPr id="33" name="s25-forma-32"/>
          <p:cNvSpPr/>
          <p:nvPr/>
        </p:nvSpPr>
        <p:spPr>
          <a:xfrm>
            <a:off x="1451120" y="4256238"/>
            <a:ext cx="22852" cy="188531"/>
          </a:xfrm>
          <a:prstGeom prst="rect">
            <a:avLst/>
          </a:prstGeom>
          <a:solidFill>
            <a:srgbClr val="AC321E"/>
          </a:solidFill>
          <a:ln/>
        </p:spPr>
        <p:txBody>
          <a:bodyPr/>
          <a:lstStyle/>
          <a:p>
            <a:endParaRPr lang="es-MX"/>
          </a:p>
        </p:txBody>
      </p:sp>
      <p:sp>
        <p:nvSpPr>
          <p:cNvPr id="34" name="s25-texto-33"/>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 = reglas_de_negocio(alta)             </a:t>
            </a:r>
            <a:r>
              <a:rPr lang="en-US" sz="990" dirty="0">
                <a:solidFill>
                  <a:srgbClr val="585E6F"/>
                </a:solidFill>
                <a:latin typeface="Courier New" pitchFamily="34" charset="0"/>
                <a:ea typeface="Courier New" pitchFamily="34" charset="-122"/>
                <a:cs typeface="Courier New" pitchFamily="34" charset="-120"/>
              </a:rPr>
              <a:t># 3b · reglas</a:t>
            </a:r>
            <a:endParaRPr lang="en-US" sz="990" dirty="0"/>
          </a:p>
        </p:txBody>
      </p:sp>
      <p:sp>
        <p:nvSpPr>
          <p:cNvPr id="35" name="s25-texto-34"/>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except ValidationError as e:</a:t>
            </a:r>
            <a:endParaRPr lang="en-US" sz="990" dirty="0"/>
          </a:p>
        </p:txBody>
      </p:sp>
      <p:sp>
        <p:nvSpPr>
          <p:cNvPr id="36" name="s25-texto-35"/>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 = [err[</a:t>
            </a:r>
            <a:r>
              <a:rPr lang="en-US" sz="990" dirty="0">
                <a:solidFill>
                  <a:srgbClr val="1B6A43"/>
                </a:solidFill>
                <a:latin typeface="Courier New" pitchFamily="34" charset="0"/>
                <a:ea typeface="Courier New" pitchFamily="34" charset="-122"/>
                <a:cs typeface="Courier New" pitchFamily="34" charset="-120"/>
              </a:rPr>
              <a:t>"msg"</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err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e.errors()]</a:t>
            </a:r>
            <a:endParaRPr lang="en-US" sz="990" dirty="0"/>
          </a:p>
        </p:txBody>
      </p:sp>
      <p:sp>
        <p:nvSpPr>
          <p:cNvPr id="37" name="s25-texto-36"/>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problemas </a:t>
            </a:r>
            <a:r>
              <a:rPr lang="en-US" sz="990" dirty="0">
                <a:solidFill>
                  <a:srgbClr val="AC321E"/>
                </a:solidFill>
                <a:latin typeface="Courier New" pitchFamily="34" charset="0"/>
                <a:ea typeface="Courier New" pitchFamily="34" charset="-122"/>
                <a:cs typeface="Courier New" pitchFamily="34" charset="-120"/>
              </a:rPr>
              <a:t>and</a:t>
            </a:r>
            <a:r>
              <a:rPr lang="en-US" sz="990" dirty="0">
                <a:solidFill>
                  <a:srgbClr val="16181D"/>
                </a:solidFill>
                <a:latin typeface="Courier New" pitchFamily="34" charset="0"/>
                <a:ea typeface="Courier New" pitchFamily="34" charset="-122"/>
                <a:cs typeface="Courier New" pitchFamily="34" charset="-120"/>
              </a:rPr>
              <a:t> intento == MAX_INTENTOS:</a:t>
            </a:r>
            <a:endParaRPr lang="en-US" sz="990" dirty="0"/>
          </a:p>
        </p:txBody>
      </p:sp>
      <p:sp>
        <p:nvSpPr>
          <p:cNvPr id="38" name="s25-texto-37"/>
          <p:cNvSpPr txBox="1"/>
          <p:nvPr/>
        </p:nvSpPr>
        <p:spPr>
          <a:xfrm>
            <a:off x="1542529" y="501036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problemas                         </a:t>
            </a:r>
            <a:r>
              <a:rPr lang="en-US" sz="990" dirty="0">
                <a:solidFill>
                  <a:srgbClr val="585E6F"/>
                </a:solidFill>
                <a:latin typeface="Courier New" pitchFamily="34" charset="0"/>
                <a:ea typeface="Courier New" pitchFamily="34" charset="-122"/>
                <a:cs typeface="Courier New" pitchFamily="34" charset="-120"/>
              </a:rPr>
              <a:t># decide una persona</a:t>
            </a:r>
            <a:endParaRPr lang="en-US" sz="990" dirty="0"/>
          </a:p>
        </p:txBody>
      </p:sp>
      <p:sp>
        <p:nvSpPr>
          <p:cNvPr id="39" name="s25-texto-38"/>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40" name="s25-texto-39"/>
          <p:cNvSpPr txBox="1"/>
          <p:nvPr/>
        </p:nvSpPr>
        <p:spPr>
          <a:xfrm>
            <a:off x="7558394" y="2410916"/>
            <a:ext cx="3488173"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El esquema </a:t>
            </a:r>
            <a:r>
              <a:rPr lang="en-US" sz="1170" b="1" dirty="0">
                <a:solidFill>
                  <a:srgbClr val="0033A0"/>
                </a:solidFill>
                <a:latin typeface="Arial" pitchFamily="34" charset="0"/>
                <a:ea typeface="Arial" pitchFamily="34" charset="-122"/>
                <a:cs typeface="Arial" pitchFamily="34" charset="-120"/>
              </a:rPr>
              <a:t>es</a:t>
            </a:r>
            <a:r>
              <a:rPr lang="en-US" sz="1170" dirty="0">
                <a:solidFill>
                  <a:srgbClr val="16181D"/>
                </a:solidFill>
                <a:latin typeface="Arial" pitchFamily="34" charset="0"/>
                <a:ea typeface="Arial" pitchFamily="34" charset="-122"/>
                <a:cs typeface="Arial" pitchFamily="34" charset="-120"/>
              </a:rPr>
              <a:t> la herramienta forzada, y la validación es código en dos niveles; si no se corrige, decide una persona.</a:t>
            </a:r>
            <a:endParaRPr lang="en-US" sz="1170" dirty="0"/>
          </a:p>
        </p:txBody>
      </p:sp>
      <p:sp>
        <p:nvSpPr>
          <p:cNvPr id="41" name="s25-texto-40"/>
          <p:cNvSpPr txBox="1"/>
          <p:nvPr/>
        </p:nvSpPr>
        <p:spPr>
          <a:xfrm>
            <a:off x="7558394" y="3154598"/>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42" name="s25-texto-41"/>
          <p:cNvSpPr txBox="1"/>
          <p:nvPr/>
        </p:nvSpPr>
        <p:spPr>
          <a:xfrm>
            <a:off x="7558394" y="3360268"/>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Reflexión: allí los problemas regresan al prompt para otro intento.</a:t>
            </a:r>
            <a:endParaRPr lang="en-US" sz="1170" dirty="0"/>
          </a:p>
        </p:txBody>
      </p:sp>
      <p:sp>
        <p:nvSpPr>
          <p:cNvPr id="43" name="s25-texto-42"/>
          <p:cNvSpPr txBox="1"/>
          <p:nvPr/>
        </p:nvSpPr>
        <p:spPr>
          <a:xfrm>
            <a:off x="7558394" y="3896047"/>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44" name="s25-forma-43"/>
          <p:cNvSpPr/>
          <p:nvPr/>
        </p:nvSpPr>
        <p:spPr>
          <a:xfrm>
            <a:off x="7558394" y="4084579"/>
            <a:ext cx="3290729" cy="440978"/>
          </a:xfrm>
          <a:prstGeom prst="rect">
            <a:avLst/>
          </a:prstGeom>
          <a:solidFill>
            <a:srgbClr val="E3DCCB"/>
          </a:solidFill>
          <a:ln/>
        </p:spPr>
        <p:txBody>
          <a:bodyPr/>
          <a:lstStyle/>
          <a:p>
            <a:endParaRPr lang="es-MX"/>
          </a:p>
        </p:txBody>
      </p:sp>
      <p:sp>
        <p:nvSpPr>
          <p:cNvPr id="45" name="s25-texto-44"/>
          <p:cNvSpPr txBox="1"/>
          <p:nvPr/>
        </p:nvSpPr>
        <p:spPr>
          <a:xfrm>
            <a:off x="7649803" y="4164562"/>
            <a:ext cx="3294386" cy="277620"/>
          </a:xfrm>
          <a:prstGeom prst="rect">
            <a:avLst/>
          </a:prstGeom>
          <a:noFill/>
          <a:ln/>
        </p:spPr>
        <p:txBody>
          <a:bodyPr wrap="squar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ejemplos.s1_razonamiento.salidas_estructuradas</a:t>
            </a:r>
            <a:endParaRPr lang="en-US" sz="855" dirty="0"/>
          </a:p>
        </p:txBody>
      </p:sp>
      <p:sp>
        <p:nvSpPr>
          <p:cNvPr id="46" name="s25-forma-45"/>
          <p:cNvSpPr/>
          <p:nvPr/>
        </p:nvSpPr>
        <p:spPr>
          <a:xfrm>
            <a:off x="7558394" y="4662670"/>
            <a:ext cx="3290729" cy="832859"/>
          </a:xfrm>
          <a:prstGeom prst="rect">
            <a:avLst/>
          </a:prstGeom>
          <a:solidFill>
            <a:srgbClr val="E2D3C2"/>
          </a:solidFill>
          <a:ln/>
        </p:spPr>
        <p:txBody>
          <a:bodyPr/>
          <a:lstStyle/>
          <a:p>
            <a:endParaRPr lang="es-MX"/>
          </a:p>
        </p:txBody>
      </p:sp>
      <p:sp>
        <p:nvSpPr>
          <p:cNvPr id="47" name="s25-texto-46"/>
          <p:cNvSpPr txBox="1"/>
          <p:nvPr/>
        </p:nvSpPr>
        <p:spPr>
          <a:xfrm>
            <a:off x="7695508" y="4776931"/>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8" name="s25-texto-47"/>
          <p:cNvSpPr txBox="1"/>
          <p:nvPr/>
        </p:nvSpPr>
        <p:spPr>
          <a:xfrm>
            <a:off x="7695508" y="4982602"/>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agentes/disenador_pruebas.py → PlanPruebas y validar_plan().</a:t>
            </a:r>
            <a:endParaRPr lang="en-US" sz="1170" dirty="0"/>
          </a:p>
        </p:txBody>
      </p:sp>
      <p:sp>
        <p:nvSpPr>
          <p:cNvPr id="49" name="s25-texto-4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ejemplos/s1_razonamiento/salidas_estructuradas.py · las líneas resaltadas son el patrón</a:t>
            </a:r>
            <a:endParaRPr lang="en-US" sz="1080" dirty="0"/>
          </a:p>
        </p:txBody>
      </p:sp>
      <p:sp>
        <p:nvSpPr>
          <p:cNvPr id="50" name="s25-forma-49"/>
          <p:cNvSpPr/>
          <p:nvPr/>
        </p:nvSpPr>
        <p:spPr>
          <a:xfrm>
            <a:off x="853390" y="6411138"/>
            <a:ext cx="10484915" cy="5713"/>
          </a:xfrm>
          <a:prstGeom prst="rect">
            <a:avLst/>
          </a:prstGeom>
          <a:solidFill>
            <a:srgbClr val="DBD4C4"/>
          </a:solidFill>
          <a:ln/>
        </p:spPr>
        <p:txBody>
          <a:bodyPr/>
          <a:lstStyle/>
          <a:p>
            <a:endParaRPr lang="es-MX"/>
          </a:p>
        </p:txBody>
      </p:sp>
      <p:pic>
        <p:nvPicPr>
          <p:cNvPr id="51" name="s25-logo-50" descr="preencoded.png"/>
          <p:cNvPicPr>
            <a:picLocks noChangeAspect="1"/>
          </p:cNvPicPr>
          <p:nvPr/>
        </p:nvPicPr>
        <p:blipFill>
          <a:blip r:embed="rId3"/>
          <a:stretch>
            <a:fillRect/>
          </a:stretch>
        </p:blipFill>
        <p:spPr>
          <a:xfrm>
            <a:off x="853390" y="6465055"/>
            <a:ext cx="687800" cy="212455"/>
          </a:xfrm>
          <a:prstGeom prst="rect">
            <a:avLst/>
          </a:prstGeom>
        </p:spPr>
      </p:pic>
      <p:sp>
        <p:nvSpPr>
          <p:cNvPr id="52" name="s25-forma-51"/>
          <p:cNvSpPr/>
          <p:nvPr/>
        </p:nvSpPr>
        <p:spPr>
          <a:xfrm>
            <a:off x="1659380" y="6519865"/>
            <a:ext cx="3057208" cy="102835"/>
          </a:xfrm>
          <a:prstGeom prst="rect">
            <a:avLst/>
          </a:prstGeom>
          <a:ln/>
        </p:spPr>
        <p:txBody>
          <a:bodyPr/>
          <a:lstStyle/>
          <a:p>
            <a:endParaRPr lang="es-MX"/>
          </a:p>
        </p:txBody>
      </p:sp>
      <p:sp>
        <p:nvSpPr>
          <p:cNvPr id="53" name="s25-forma-52"/>
          <p:cNvSpPr/>
          <p:nvPr/>
        </p:nvSpPr>
        <p:spPr>
          <a:xfrm>
            <a:off x="1659380" y="6519865"/>
            <a:ext cx="5713" cy="102835"/>
          </a:xfrm>
          <a:prstGeom prst="rect">
            <a:avLst/>
          </a:prstGeom>
          <a:solidFill>
            <a:srgbClr val="C6BFAE"/>
          </a:solidFill>
          <a:ln/>
        </p:spPr>
        <p:txBody>
          <a:bodyPr/>
          <a:lstStyle/>
          <a:p>
            <a:endParaRPr lang="es-MX"/>
          </a:p>
        </p:txBody>
      </p:sp>
      <p:sp>
        <p:nvSpPr>
          <p:cNvPr id="54" name="s25-texto-53"/>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55" name="s25-texto-5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25 / 35</a:t>
            </a:r>
            <a:endParaRPr lang="en-US" sz="745" dirty="0"/>
          </a:p>
        </p:txBody>
      </p:sp>
      <p:sp>
        <p:nvSpPr>
          <p:cNvPr id="56" name="s25-forma-55"/>
          <p:cNvSpPr/>
          <p:nvPr/>
        </p:nvSpPr>
        <p:spPr>
          <a:xfrm>
            <a:off x="0" y="0"/>
            <a:ext cx="8708328" cy="17139"/>
          </a:xfrm>
          <a:prstGeom prst="rect">
            <a:avLst/>
          </a:prstGeom>
          <a:solidFill>
            <a:srgbClr val="0033A0"/>
          </a:solidFill>
          <a:ln/>
        </p:spPr>
        <p:txBody>
          <a:bodyPr/>
          <a:lstStyle/>
          <a:p>
            <a:endParaRPr lang="es-MX"/>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EDE8DC"/>
        </a:solidFill>
        <a:effectLst/>
      </p:bgPr>
    </p:bg>
    <p:spTree>
      <p:nvGrpSpPr>
        <p:cNvPr id="1" name=""/>
        <p:cNvGrpSpPr/>
        <p:nvPr/>
      </p:nvGrpSpPr>
      <p:grpSpPr>
        <a:xfrm>
          <a:off x="0" y="0"/>
          <a:ext cx="0" cy="0"/>
          <a:chOff x="0" y="0"/>
          <a:chExt cx="0" cy="0"/>
        </a:xfrm>
      </p:grpSpPr>
      <p:sp>
        <p:nvSpPr>
          <p:cNvPr id="2" name="s26-forma-1"/>
          <p:cNvSpPr/>
          <p:nvPr/>
        </p:nvSpPr>
        <p:spPr>
          <a:xfrm>
            <a:off x="853390" y="520961"/>
            <a:ext cx="10484915" cy="5713"/>
          </a:xfrm>
          <a:prstGeom prst="rect">
            <a:avLst/>
          </a:prstGeom>
          <a:solidFill>
            <a:srgbClr val="C6BFAE"/>
          </a:solidFill>
          <a:ln/>
        </p:spPr>
        <p:txBody>
          <a:bodyPr/>
          <a:lstStyle/>
          <a:p>
            <a:endParaRPr lang="es-MX"/>
          </a:p>
        </p:txBody>
      </p:sp>
      <p:sp>
        <p:nvSpPr>
          <p:cNvPr id="3" name="s26-forma-2"/>
          <p:cNvSpPr/>
          <p:nvPr/>
        </p:nvSpPr>
        <p:spPr>
          <a:xfrm>
            <a:off x="853390" y="331715"/>
            <a:ext cx="81411" cy="81411"/>
          </a:xfrm>
          <a:prstGeom prst="ellipse">
            <a:avLst/>
          </a:prstGeom>
          <a:solidFill>
            <a:srgbClr val="0033A0"/>
          </a:solidFill>
          <a:ln/>
        </p:spPr>
        <p:txBody>
          <a:bodyPr/>
          <a:lstStyle/>
          <a:p>
            <a:endParaRPr lang="es-MX"/>
          </a:p>
        </p:txBody>
      </p:sp>
      <p:sp>
        <p:nvSpPr>
          <p:cNvPr id="4" name="s2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LA IDEA</a:t>
            </a:r>
            <a:endParaRPr lang="en-US" sz="900" dirty="0"/>
          </a:p>
        </p:txBody>
      </p:sp>
      <p:sp>
        <p:nvSpPr>
          <p:cNvPr id="7" name="s26-texto-6"/>
          <p:cNvSpPr txBox="1"/>
          <p:nvPr/>
        </p:nvSpPr>
        <p:spPr>
          <a:xfrm>
            <a:off x="1342572" y="1451120"/>
            <a:ext cx="10076945" cy="394202"/>
          </a:xfrm>
          <a:prstGeom prst="rect">
            <a:avLst/>
          </a:prstGeom>
          <a:noFill/>
          <a:ln/>
        </p:spPr>
        <p:txBody>
          <a:bodyPr wrap="none" lIns="0" tIns="0" rIns="0" bIns="0" rtlCol="0" anchor="t"/>
          <a:lstStyle/>
          <a:p>
            <a:pPr marL="0" indent="0" algn="l">
              <a:lnSpc>
                <a:spcPts val="2920"/>
              </a:lnSpc>
              <a:buNone/>
            </a:pPr>
            <a:r>
              <a:rPr lang="en-US" sz="2654" b="1" kern="0" spc="-27" dirty="0">
                <a:solidFill>
                  <a:srgbClr val="16181D"/>
                </a:solidFill>
                <a:latin typeface="Georgia" pitchFamily="34" charset="0"/>
                <a:ea typeface="Georgia" pitchFamily="34" charset="-122"/>
                <a:cs typeface="Georgia" pitchFamily="34" charset="-120"/>
              </a:rPr>
              <a:t>Reflexión: revisar y corregir el propio trabajo</a:t>
            </a:r>
            <a:endParaRPr lang="en-US" sz="2654" dirty="0"/>
          </a:p>
        </p:txBody>
      </p:sp>
      <p:sp>
        <p:nvSpPr>
          <p:cNvPr id="8" name="s26-forma-7"/>
          <p:cNvSpPr/>
          <p:nvPr/>
        </p:nvSpPr>
        <p:spPr>
          <a:xfrm>
            <a:off x="1342572" y="2228098"/>
            <a:ext cx="4341935" cy="884276"/>
          </a:xfrm>
          <a:prstGeom prst="rect">
            <a:avLst/>
          </a:prstGeom>
          <a:solidFill>
            <a:srgbClr val="E3DCCB"/>
          </a:solidFill>
          <a:ln w="5713">
            <a:solidFill>
              <a:srgbClr val="585E6F"/>
            </a:solidFill>
            <a:prstDash val="dash"/>
          </a:ln>
        </p:spPr>
        <p:txBody>
          <a:bodyPr/>
          <a:lstStyle/>
          <a:p>
            <a:endParaRPr lang="es-MX"/>
          </a:p>
        </p:txBody>
      </p:sp>
      <p:sp>
        <p:nvSpPr>
          <p:cNvPr id="9" name="s26-texto-8"/>
          <p:cNvSpPr txBox="1"/>
          <p:nvPr/>
        </p:nvSpPr>
        <p:spPr>
          <a:xfrm>
            <a:off x="1576808" y="234807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1. Una sola pasada</a:t>
            </a:r>
            <a:endParaRPr lang="en-US" sz="1260" dirty="0"/>
          </a:p>
        </p:txBody>
      </p:sp>
      <p:sp>
        <p:nvSpPr>
          <p:cNvPr id="10" name="s26-texto-9"/>
          <p:cNvSpPr txBox="1"/>
          <p:nvPr/>
        </p:nvSpPr>
        <p:spPr>
          <a:xfrm>
            <a:off x="1576808" y="259373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Entrega el primer borrador aunque tenga errores que el propio modelo podría detectar.</a:t>
            </a:r>
            <a:endParaRPr lang="en-US" sz="1170" dirty="0"/>
          </a:p>
        </p:txBody>
      </p:sp>
      <p:sp>
        <p:nvSpPr>
          <p:cNvPr id="11" name="s26-forma-10"/>
          <p:cNvSpPr/>
          <p:nvPr/>
        </p:nvSpPr>
        <p:spPr>
          <a:xfrm>
            <a:off x="1342572" y="3249488"/>
            <a:ext cx="4341935" cy="884276"/>
          </a:xfrm>
          <a:prstGeom prst="rect">
            <a:avLst/>
          </a:prstGeom>
          <a:solidFill>
            <a:srgbClr val="E3DCCB"/>
          </a:solidFill>
          <a:ln w="5713">
            <a:solidFill>
              <a:srgbClr val="585E6F"/>
            </a:solidFill>
            <a:prstDash val="dash"/>
          </a:ln>
        </p:spPr>
        <p:txBody>
          <a:bodyPr/>
          <a:lstStyle/>
          <a:p>
            <a:endParaRPr lang="es-MX"/>
          </a:p>
        </p:txBody>
      </p:sp>
      <p:sp>
        <p:nvSpPr>
          <p:cNvPr id="12" name="s26-texto-11"/>
          <p:cNvSpPr txBox="1"/>
          <p:nvPr/>
        </p:nvSpPr>
        <p:spPr>
          <a:xfrm>
            <a:off x="1576808" y="3369463"/>
            <a:ext cx="4105870" cy="177105"/>
          </a:xfrm>
          <a:prstGeom prst="rect">
            <a:avLst/>
          </a:prstGeom>
          <a:noFill/>
          <a:ln/>
        </p:spPr>
        <p:txBody>
          <a:bodyPr wrap="none" lIns="0" tIns="0" rIns="0" bIns="0" rtlCol="0" anchor="t"/>
          <a:lstStyle/>
          <a:p>
            <a:pPr marL="0" indent="0" algn="l">
              <a:lnSpc>
                <a:spcPts val="1512"/>
              </a:lnSpc>
              <a:buNone/>
            </a:pPr>
            <a:r>
              <a:rPr lang="en-US" sz="1260" b="1" dirty="0" err="1">
                <a:solidFill>
                  <a:srgbClr val="16181D"/>
                </a:solidFill>
                <a:latin typeface="Arial" pitchFamily="34" charset="0"/>
                <a:ea typeface="Arial" pitchFamily="34" charset="-122"/>
                <a:cs typeface="Arial" pitchFamily="34" charset="-120"/>
              </a:rPr>
              <a:t>Problema</a:t>
            </a:r>
            <a:r>
              <a:rPr lang="en-US" sz="1260" b="1" dirty="0">
                <a:solidFill>
                  <a:srgbClr val="16181D"/>
                </a:solidFill>
                <a:latin typeface="Arial" pitchFamily="34" charset="0"/>
                <a:ea typeface="Arial" pitchFamily="34" charset="-122"/>
                <a:cs typeface="Arial" pitchFamily="34" charset="-120"/>
              </a:rPr>
              <a:t> 2. </a:t>
            </a:r>
            <a:r>
              <a:rPr lang="en-US" sz="1260" b="1" dirty="0" err="1">
                <a:solidFill>
                  <a:srgbClr val="16181D"/>
                </a:solidFill>
                <a:latin typeface="Arial" pitchFamily="34" charset="0"/>
                <a:ea typeface="Arial" pitchFamily="34" charset="-122"/>
                <a:cs typeface="Arial" pitchFamily="34" charset="-120"/>
              </a:rPr>
              <a:t>Reintentar</a:t>
            </a:r>
            <a:r>
              <a:rPr lang="en-US" sz="1260" b="1" dirty="0">
                <a:solidFill>
                  <a:srgbClr val="16181D"/>
                </a:solidFill>
                <a:latin typeface="Arial" pitchFamily="34" charset="0"/>
                <a:ea typeface="Arial" pitchFamily="34" charset="-122"/>
                <a:cs typeface="Arial" pitchFamily="34" charset="-120"/>
              </a:rPr>
              <a:t> a ciegas</a:t>
            </a:r>
            <a:endParaRPr lang="en-US" sz="1260" dirty="0"/>
          </a:p>
        </p:txBody>
      </p:sp>
      <p:sp>
        <p:nvSpPr>
          <p:cNvPr id="13" name="s26-texto-12"/>
          <p:cNvSpPr txBox="1"/>
          <p:nvPr/>
        </p:nvSpPr>
        <p:spPr>
          <a:xfrm>
            <a:off x="1576808" y="361512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Si falla, lo intenta otra vez sin saber qué estuvo mal, y repite el error.</a:t>
            </a:r>
            <a:endParaRPr lang="en-US" sz="1170" dirty="0"/>
          </a:p>
        </p:txBody>
      </p:sp>
      <p:sp>
        <p:nvSpPr>
          <p:cNvPr id="14" name="s26-forma-13"/>
          <p:cNvSpPr/>
          <p:nvPr/>
        </p:nvSpPr>
        <p:spPr>
          <a:xfrm>
            <a:off x="1342572" y="4270878"/>
            <a:ext cx="4341935" cy="884276"/>
          </a:xfrm>
          <a:prstGeom prst="rect">
            <a:avLst/>
          </a:prstGeom>
          <a:solidFill>
            <a:srgbClr val="E2D3C2"/>
          </a:solidFill>
          <a:ln w="5713">
            <a:solidFill>
              <a:srgbClr val="984514"/>
            </a:solidFill>
            <a:prstDash val="solid"/>
          </a:ln>
        </p:spPr>
        <p:txBody>
          <a:bodyPr/>
          <a:lstStyle/>
          <a:p>
            <a:endParaRPr lang="es-MX"/>
          </a:p>
        </p:txBody>
      </p:sp>
      <p:sp>
        <p:nvSpPr>
          <p:cNvPr id="15" name="s26-texto-14"/>
          <p:cNvSpPr txBox="1"/>
          <p:nvPr/>
        </p:nvSpPr>
        <p:spPr>
          <a:xfrm>
            <a:off x="1576808" y="4390853"/>
            <a:ext cx="410587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Reflexión</a:t>
            </a:r>
            <a:endParaRPr lang="en-US" sz="1260" dirty="0"/>
          </a:p>
        </p:txBody>
      </p:sp>
      <p:sp>
        <p:nvSpPr>
          <p:cNvPr id="16" name="s26-texto-15"/>
          <p:cNvSpPr txBox="1"/>
          <p:nvPr/>
        </p:nvSpPr>
        <p:spPr>
          <a:xfrm>
            <a:off x="1576808" y="4636515"/>
            <a:ext cx="4105870"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Genera, critica contra criterios explícitos y usa esa crítica como contexto del siguiente intento, con un tope.</a:t>
            </a:r>
            <a:endParaRPr lang="en-US" sz="1170" dirty="0"/>
          </a:p>
        </p:txBody>
      </p:sp>
      <p:sp>
        <p:nvSpPr>
          <p:cNvPr id="17" name="s26-forma-16"/>
          <p:cNvSpPr/>
          <p:nvPr/>
        </p:nvSpPr>
        <p:spPr>
          <a:xfrm>
            <a:off x="6095848" y="2228098"/>
            <a:ext cx="4753276" cy="2074738"/>
          </a:xfrm>
          <a:prstGeom prst="rect">
            <a:avLst/>
          </a:prstGeom>
          <a:solidFill>
            <a:srgbClr val="E8E2D5"/>
          </a:solidFill>
          <a:ln/>
        </p:spPr>
        <p:txBody>
          <a:bodyPr/>
          <a:lstStyle/>
          <a:p>
            <a:endParaRPr lang="es-MX"/>
          </a:p>
        </p:txBody>
      </p:sp>
      <p:sp>
        <p:nvSpPr>
          <p:cNvPr id="18" name="s26-forma-17"/>
          <p:cNvSpPr/>
          <p:nvPr/>
        </p:nvSpPr>
        <p:spPr>
          <a:xfrm>
            <a:off x="6095848" y="2228098"/>
            <a:ext cx="4753276" cy="5713"/>
          </a:xfrm>
          <a:prstGeom prst="rect">
            <a:avLst/>
          </a:prstGeom>
          <a:solidFill>
            <a:srgbClr val="DBD4C4"/>
          </a:solidFill>
          <a:ln/>
        </p:spPr>
        <p:txBody>
          <a:bodyPr/>
          <a:lstStyle/>
          <a:p>
            <a:endParaRPr lang="es-MX"/>
          </a:p>
        </p:txBody>
      </p:sp>
      <p:sp>
        <p:nvSpPr>
          <p:cNvPr id="19" name="s26-forma-18"/>
          <p:cNvSpPr/>
          <p:nvPr/>
        </p:nvSpPr>
        <p:spPr>
          <a:xfrm>
            <a:off x="6095848" y="4297123"/>
            <a:ext cx="4753276" cy="5713"/>
          </a:xfrm>
          <a:prstGeom prst="rect">
            <a:avLst/>
          </a:prstGeom>
          <a:solidFill>
            <a:srgbClr val="DBD4C4"/>
          </a:solidFill>
          <a:ln/>
        </p:spPr>
        <p:txBody>
          <a:bodyPr/>
          <a:lstStyle/>
          <a:p>
            <a:endParaRPr lang="es-MX"/>
          </a:p>
        </p:txBody>
      </p:sp>
      <p:sp>
        <p:nvSpPr>
          <p:cNvPr id="20" name="s26-forma-19"/>
          <p:cNvSpPr/>
          <p:nvPr/>
        </p:nvSpPr>
        <p:spPr>
          <a:xfrm>
            <a:off x="6095848" y="2228098"/>
            <a:ext cx="17139" cy="2074738"/>
          </a:xfrm>
          <a:prstGeom prst="rect">
            <a:avLst/>
          </a:prstGeom>
          <a:solidFill>
            <a:srgbClr val="C6BFAE"/>
          </a:solidFill>
          <a:ln/>
        </p:spPr>
        <p:txBody>
          <a:bodyPr/>
          <a:lstStyle/>
          <a:p>
            <a:endParaRPr lang="es-MX"/>
          </a:p>
        </p:txBody>
      </p:sp>
      <p:sp>
        <p:nvSpPr>
          <p:cNvPr id="21" name="s26-forma-20"/>
          <p:cNvSpPr/>
          <p:nvPr/>
        </p:nvSpPr>
        <p:spPr>
          <a:xfrm>
            <a:off x="10843410" y="2228098"/>
            <a:ext cx="5713" cy="2074738"/>
          </a:xfrm>
          <a:prstGeom prst="rect">
            <a:avLst/>
          </a:prstGeom>
          <a:solidFill>
            <a:srgbClr val="DBD4C4"/>
          </a:solidFill>
          <a:ln/>
        </p:spPr>
        <p:txBody>
          <a:bodyPr/>
          <a:lstStyle/>
          <a:p>
            <a:endParaRPr lang="es-MX"/>
          </a:p>
        </p:txBody>
      </p:sp>
      <p:sp>
        <p:nvSpPr>
          <p:cNvPr id="22" name="s26-texto-21"/>
          <p:cNvSpPr txBox="1"/>
          <p:nvPr/>
        </p:nvSpPr>
        <p:spPr>
          <a:xfrm>
            <a:off x="6295805" y="2410916"/>
            <a:ext cx="4626674" cy="154253"/>
          </a:xfrm>
          <a:prstGeom prst="rect">
            <a:avLst/>
          </a:prstGeom>
          <a:noFill/>
          <a:ln/>
        </p:spPr>
        <p:txBody>
          <a:bodyPr wrap="non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Tarea: criterios de aceptación en Gherkin para HU-01</a:t>
            </a:r>
            <a:endParaRPr lang="en-US" sz="1080" dirty="0"/>
          </a:p>
        </p:txBody>
      </p:sp>
      <p:sp>
        <p:nvSpPr>
          <p:cNvPr id="23" name="s26-texto-22"/>
          <p:cNvSpPr txBox="1"/>
          <p:nvPr/>
        </p:nvSpPr>
        <p:spPr>
          <a:xfrm>
            <a:off x="6295805" y="2682823"/>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Intento 1 ·</a:t>
            </a:r>
            <a:r>
              <a:rPr lang="en-US" sz="1080" dirty="0">
                <a:solidFill>
                  <a:srgbClr val="16181D"/>
                </a:solidFill>
                <a:latin typeface="Arial" pitchFamily="34" charset="0"/>
                <a:ea typeface="Arial" pitchFamily="34" charset="-122"/>
                <a:cs typeface="Arial" pitchFamily="34" charset="-120"/>
              </a:rPr>
              <a:t> dos escenarios: alta exitosa y correo duplicado</a:t>
            </a:r>
            <a:endParaRPr lang="en-US" sz="1080" dirty="0"/>
          </a:p>
        </p:txBody>
      </p:sp>
      <p:sp>
        <p:nvSpPr>
          <p:cNvPr id="24" name="s26-texto-23"/>
          <p:cNvSpPr txBox="1"/>
          <p:nvPr/>
        </p:nvSpPr>
        <p:spPr>
          <a:xfrm>
            <a:off x="6295805" y="2954729"/>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Crítica ·</a:t>
            </a:r>
            <a:r>
              <a:rPr lang="en-US" sz="1080" dirty="0">
                <a:solidFill>
                  <a:srgbClr val="16181D"/>
                </a:solidFill>
                <a:latin typeface="Arial" pitchFamily="34" charset="0"/>
                <a:ea typeface="Arial" pitchFamily="34" charset="-122"/>
                <a:cs typeface="Arial" pitchFamily="34" charset="-120"/>
              </a:rPr>
              <a:t> se necesitan 3 escenarios; falta el del correo no corporativo</a:t>
            </a:r>
            <a:endParaRPr lang="en-US" sz="1080" dirty="0"/>
          </a:p>
        </p:txBody>
      </p:sp>
      <p:sp>
        <p:nvSpPr>
          <p:cNvPr id="25" name="s26-texto-24"/>
          <p:cNvSpPr txBox="1"/>
          <p:nvPr/>
        </p:nvSpPr>
        <p:spPr>
          <a:xfrm>
            <a:off x="6295805" y="3226636"/>
            <a:ext cx="4626674" cy="346176"/>
          </a:xfrm>
          <a:prstGeom prst="rect">
            <a:avLst/>
          </a:prstGeom>
          <a:noFill/>
          <a:ln/>
        </p:spPr>
        <p:txBody>
          <a:bodyPr wrap="squar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Intento 2 ·</a:t>
            </a:r>
            <a:r>
              <a:rPr lang="en-US" sz="1080" dirty="0">
                <a:solidFill>
                  <a:srgbClr val="16181D"/>
                </a:solidFill>
                <a:latin typeface="Arial" pitchFamily="34" charset="0"/>
                <a:ea typeface="Arial" pitchFamily="34" charset="-122"/>
                <a:cs typeface="Arial" pitchFamily="34" charset="-120"/>
              </a:rPr>
              <a:t> agrega el escenario «Usa el correo corporativo @empresa.com»</a:t>
            </a:r>
            <a:endParaRPr lang="en-US" sz="1080" dirty="0"/>
          </a:p>
        </p:txBody>
      </p:sp>
      <p:sp>
        <p:nvSpPr>
          <p:cNvPr id="26" name="s26-texto-25"/>
          <p:cNvSpPr txBox="1"/>
          <p:nvPr/>
        </p:nvSpPr>
        <p:spPr>
          <a:xfrm>
            <a:off x="6295805" y="3690466"/>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AC321E"/>
                </a:solidFill>
                <a:latin typeface="Arial" pitchFamily="34" charset="0"/>
                <a:ea typeface="Arial" pitchFamily="34" charset="-122"/>
                <a:cs typeface="Arial" pitchFamily="34" charset="-120"/>
              </a:rPr>
              <a:t>Crítica ·</a:t>
            </a:r>
            <a:r>
              <a:rPr lang="en-US" sz="1080" dirty="0">
                <a:solidFill>
                  <a:srgbClr val="16181D"/>
                </a:solidFill>
                <a:latin typeface="Arial" pitchFamily="34" charset="0"/>
                <a:ea typeface="Arial" pitchFamily="34" charset="-122"/>
                <a:cs typeface="Arial" pitchFamily="34" charset="-120"/>
              </a:rPr>
              <a:t> sin problemas</a:t>
            </a:r>
            <a:endParaRPr lang="en-US" sz="1080" dirty="0"/>
          </a:p>
        </p:txBody>
      </p:sp>
      <p:sp>
        <p:nvSpPr>
          <p:cNvPr id="27" name="s26-texto-26"/>
          <p:cNvSpPr txBox="1"/>
          <p:nvPr/>
        </p:nvSpPr>
        <p:spPr>
          <a:xfrm>
            <a:off x="6295805" y="3962372"/>
            <a:ext cx="4626674" cy="154253"/>
          </a:xfrm>
          <a:prstGeom prst="rect">
            <a:avLst/>
          </a:prstGeom>
          <a:noFill/>
          <a:ln/>
        </p:spPr>
        <p:txBody>
          <a:bodyPr wrap="none" lIns="0" tIns="0" rIns="0" bIns="0" rtlCol="0" anchor="t"/>
          <a:lstStyle/>
          <a:p>
            <a:pPr marL="0" indent="0" algn="l">
              <a:lnSpc>
                <a:spcPts val="1512"/>
              </a:lnSpc>
              <a:buNone/>
            </a:pPr>
            <a:r>
              <a:rPr lang="en-US" sz="1080" b="1" dirty="0">
                <a:solidFill>
                  <a:srgbClr val="16181D"/>
                </a:solidFill>
                <a:latin typeface="Arial" pitchFamily="34" charset="0"/>
                <a:ea typeface="Arial" pitchFamily="34" charset="-122"/>
                <a:cs typeface="Arial" pitchFamily="34" charset="-120"/>
              </a:rPr>
              <a:t>Resultado ·</a:t>
            </a:r>
            <a:r>
              <a:rPr lang="en-US" sz="1080" dirty="0">
                <a:solidFill>
                  <a:srgbClr val="16181D"/>
                </a:solidFill>
                <a:latin typeface="Arial" pitchFamily="34" charset="0"/>
                <a:ea typeface="Arial" pitchFamily="34" charset="-122"/>
                <a:cs typeface="Arial" pitchFamily="34" charset="-120"/>
              </a:rPr>
              <a:t> criterios aprobados en 2 de 3 intentos posibles</a:t>
            </a:r>
            <a:endParaRPr lang="en-US" sz="1080" dirty="0"/>
          </a:p>
        </p:txBody>
      </p:sp>
      <p:sp>
        <p:nvSpPr>
          <p:cNvPr id="28" name="s26-texto-27"/>
          <p:cNvSpPr txBox="1"/>
          <p:nvPr/>
        </p:nvSpPr>
        <p:spPr>
          <a:xfrm>
            <a:off x="6095848" y="4479941"/>
            <a:ext cx="503847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La crítica es más confiable cuando la hace código o un criterio verificable que cuando la hace el mismo modelo opinando.</a:t>
            </a:r>
            <a:endParaRPr lang="en-US" sz="1080" dirty="0"/>
          </a:p>
        </p:txBody>
      </p:sp>
      <p:sp>
        <p:nvSpPr>
          <p:cNvPr id="29" name="s26-texto-2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 · Shinn et al., «Reflexion» (2023) · Madaan et al., «Self-Refine» (2023)</a:t>
            </a:r>
            <a:endParaRPr lang="en-US" sz="1080" dirty="0"/>
          </a:p>
        </p:txBody>
      </p:sp>
      <p:sp>
        <p:nvSpPr>
          <p:cNvPr id="30" name="s26-forma-29"/>
          <p:cNvSpPr/>
          <p:nvPr/>
        </p:nvSpPr>
        <p:spPr>
          <a:xfrm>
            <a:off x="853390" y="6411138"/>
            <a:ext cx="10484915" cy="5713"/>
          </a:xfrm>
          <a:prstGeom prst="rect">
            <a:avLst/>
          </a:prstGeom>
          <a:solidFill>
            <a:srgbClr val="DBD4C4"/>
          </a:solidFill>
          <a:ln/>
        </p:spPr>
        <p:txBody>
          <a:bodyPr/>
          <a:lstStyle/>
          <a:p>
            <a:endParaRPr lang="es-MX"/>
          </a:p>
        </p:txBody>
      </p:sp>
      <p:pic>
        <p:nvPicPr>
          <p:cNvPr id="31" name="s26-logo-30" descr="preencoded.png"/>
          <p:cNvPicPr>
            <a:picLocks noChangeAspect="1"/>
          </p:cNvPicPr>
          <p:nvPr/>
        </p:nvPicPr>
        <p:blipFill>
          <a:blip r:embed="rId3"/>
          <a:stretch>
            <a:fillRect/>
          </a:stretch>
        </p:blipFill>
        <p:spPr>
          <a:xfrm>
            <a:off x="853390" y="6465055"/>
            <a:ext cx="687800" cy="212455"/>
          </a:xfrm>
          <a:prstGeom prst="rect">
            <a:avLst/>
          </a:prstGeom>
        </p:spPr>
      </p:pic>
      <p:sp>
        <p:nvSpPr>
          <p:cNvPr id="32" name="s26-forma-31"/>
          <p:cNvSpPr/>
          <p:nvPr/>
        </p:nvSpPr>
        <p:spPr>
          <a:xfrm>
            <a:off x="1659380" y="6519865"/>
            <a:ext cx="3057208" cy="102835"/>
          </a:xfrm>
          <a:prstGeom prst="rect">
            <a:avLst/>
          </a:prstGeom>
          <a:ln/>
        </p:spPr>
        <p:txBody>
          <a:bodyPr/>
          <a:lstStyle/>
          <a:p>
            <a:endParaRPr lang="es-MX"/>
          </a:p>
        </p:txBody>
      </p:sp>
      <p:sp>
        <p:nvSpPr>
          <p:cNvPr id="33" name="s26-forma-32"/>
          <p:cNvSpPr/>
          <p:nvPr/>
        </p:nvSpPr>
        <p:spPr>
          <a:xfrm>
            <a:off x="1659380" y="6519865"/>
            <a:ext cx="5713" cy="102835"/>
          </a:xfrm>
          <a:prstGeom prst="rect">
            <a:avLst/>
          </a:prstGeom>
          <a:solidFill>
            <a:srgbClr val="C6BFAE"/>
          </a:solidFill>
          <a:ln/>
        </p:spPr>
        <p:txBody>
          <a:bodyPr/>
          <a:lstStyle/>
          <a:p>
            <a:endParaRPr lang="es-MX"/>
          </a:p>
        </p:txBody>
      </p:sp>
      <p:sp>
        <p:nvSpPr>
          <p:cNvPr id="34" name="s26-texto-33"/>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5" name="s26-texto-3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26 / 35</a:t>
            </a:r>
            <a:endParaRPr lang="en-US" sz="745" dirty="0"/>
          </a:p>
        </p:txBody>
      </p:sp>
      <p:sp>
        <p:nvSpPr>
          <p:cNvPr id="36" name="s26-forma-35"/>
          <p:cNvSpPr/>
          <p:nvPr/>
        </p:nvSpPr>
        <p:spPr>
          <a:xfrm>
            <a:off x="0" y="0"/>
            <a:ext cx="9056647" cy="17139"/>
          </a:xfrm>
          <a:prstGeom prst="rect">
            <a:avLst/>
          </a:prstGeom>
          <a:solidFill>
            <a:srgbClr val="0033A0"/>
          </a:solidFill>
          <a:ln/>
        </p:spPr>
        <p:txBody>
          <a:bodyPr/>
          <a:lstStyle/>
          <a:p>
            <a:endParaRPr lang="es-MX"/>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BBBFB-F599-1BCE-0F23-65A933783243}"/>
            </a:ext>
          </a:extLst>
        </p:cNvPr>
        <p:cNvGrpSpPr/>
        <p:nvPr/>
      </p:nvGrpSpPr>
      <p:grpSpPr>
        <a:xfrm>
          <a:off x="0" y="0"/>
          <a:ext cx="0" cy="0"/>
          <a:chOff x="0" y="0"/>
          <a:chExt cx="0" cy="0"/>
        </a:xfrm>
      </p:grpSpPr>
      <p:sp>
        <p:nvSpPr>
          <p:cNvPr id="2" name="s26-forma-1">
            <a:extLst>
              <a:ext uri="{FF2B5EF4-FFF2-40B4-BE49-F238E27FC236}">
                <a16:creationId xmlns:a16="http://schemas.microsoft.com/office/drawing/2014/main" id="{720A81E3-D0D0-187E-EF40-39D3023290DA}"/>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26-forma-2">
            <a:extLst>
              <a:ext uri="{FF2B5EF4-FFF2-40B4-BE49-F238E27FC236}">
                <a16:creationId xmlns:a16="http://schemas.microsoft.com/office/drawing/2014/main" id="{6C0D689B-8F06-1D06-A701-CD57B442477A}"/>
              </a:ext>
            </a:extLst>
          </p:cNvPr>
          <p:cNvSpPr/>
          <p:nvPr/>
        </p:nvSpPr>
        <p:spPr>
          <a:xfrm>
            <a:off x="853390" y="331715"/>
            <a:ext cx="81411" cy="81411"/>
          </a:xfrm>
          <a:prstGeom prst="ellipse">
            <a:avLst/>
          </a:prstGeom>
          <a:solidFill>
            <a:srgbClr val="0033A0"/>
          </a:solidFill>
          <a:ln/>
        </p:spPr>
        <p:txBody>
          <a:bodyPr/>
          <a:lstStyle/>
          <a:p>
            <a:endParaRPr lang="es-MX"/>
          </a:p>
        </p:txBody>
      </p:sp>
      <p:sp>
        <p:nvSpPr>
          <p:cNvPr id="4" name="s26-texto-3">
            <a:extLst>
              <a:ext uri="{FF2B5EF4-FFF2-40B4-BE49-F238E27FC236}">
                <a16:creationId xmlns:a16="http://schemas.microsoft.com/office/drawing/2014/main" id="{E053B9E6-85E8-8050-68B4-207F45CED70D}"/>
              </a:ext>
            </a:extLst>
          </p:cNvPr>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6-texto-4">
            <a:extLst>
              <a:ext uri="{FF2B5EF4-FFF2-40B4-BE49-F238E27FC236}">
                <a16:creationId xmlns:a16="http://schemas.microsoft.com/office/drawing/2014/main" id="{E05257A2-C112-A8BC-8D18-731CBEEADF41}"/>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6-texto-5">
            <a:extLst>
              <a:ext uri="{FF2B5EF4-FFF2-40B4-BE49-F238E27FC236}">
                <a16:creationId xmlns:a16="http://schemas.microsoft.com/office/drawing/2014/main" id="{D6E884B8-AF61-9D68-04AB-1C7FCC09F7D3}"/>
              </a:ext>
            </a:extLst>
          </p:cNvPr>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LA IDEA</a:t>
            </a:r>
            <a:endParaRPr lang="en-US" sz="900" dirty="0"/>
          </a:p>
        </p:txBody>
      </p:sp>
      <p:sp>
        <p:nvSpPr>
          <p:cNvPr id="7" name="s26-texto-6">
            <a:extLst>
              <a:ext uri="{FF2B5EF4-FFF2-40B4-BE49-F238E27FC236}">
                <a16:creationId xmlns:a16="http://schemas.microsoft.com/office/drawing/2014/main" id="{DBB0ED96-01A2-23C2-8713-B6AC6BED92C6}"/>
              </a:ext>
            </a:extLst>
          </p:cNvPr>
          <p:cNvSpPr txBox="1"/>
          <p:nvPr/>
        </p:nvSpPr>
        <p:spPr>
          <a:xfrm>
            <a:off x="1342572" y="1451120"/>
            <a:ext cx="10076945" cy="394202"/>
          </a:xfrm>
          <a:prstGeom prst="rect">
            <a:avLst/>
          </a:prstGeom>
          <a:noFill/>
          <a:ln/>
        </p:spPr>
        <p:txBody>
          <a:bodyPr wrap="none" lIns="0" tIns="0" rIns="0" bIns="0" rtlCol="0" anchor="t"/>
          <a:lstStyle/>
          <a:p>
            <a:pPr marL="0" indent="0" algn="l">
              <a:lnSpc>
                <a:spcPts val="2920"/>
              </a:lnSpc>
              <a:buNone/>
            </a:pPr>
            <a:r>
              <a:rPr lang="en-US" sz="2654" b="1" kern="0" spc="-27" dirty="0">
                <a:solidFill>
                  <a:srgbClr val="16181D"/>
                </a:solidFill>
                <a:latin typeface="Georgia" pitchFamily="34" charset="0"/>
                <a:ea typeface="Georgia" pitchFamily="34" charset="-122"/>
                <a:cs typeface="Georgia" pitchFamily="34" charset="-120"/>
              </a:rPr>
              <a:t>Reflexión: revisar y corregir el propio trabajo</a:t>
            </a:r>
            <a:endParaRPr lang="en-US" sz="2654" dirty="0"/>
          </a:p>
        </p:txBody>
      </p:sp>
      <p:sp>
        <p:nvSpPr>
          <p:cNvPr id="30" name="s26-forma-29">
            <a:extLst>
              <a:ext uri="{FF2B5EF4-FFF2-40B4-BE49-F238E27FC236}">
                <a16:creationId xmlns:a16="http://schemas.microsoft.com/office/drawing/2014/main" id="{758F0691-55EC-EEC7-CCA1-B2BD2D547CA4}"/>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31" name="s26-logo-30" descr="preencoded.png">
            <a:extLst>
              <a:ext uri="{FF2B5EF4-FFF2-40B4-BE49-F238E27FC236}">
                <a16:creationId xmlns:a16="http://schemas.microsoft.com/office/drawing/2014/main" id="{977049F7-2DF8-C3B9-6D5C-D8FD9054EBBD}"/>
              </a:ext>
            </a:extLst>
          </p:cNvPr>
          <p:cNvPicPr>
            <a:picLocks noChangeAspect="1"/>
          </p:cNvPicPr>
          <p:nvPr/>
        </p:nvPicPr>
        <p:blipFill>
          <a:blip r:embed="rId3"/>
          <a:stretch>
            <a:fillRect/>
          </a:stretch>
        </p:blipFill>
        <p:spPr>
          <a:xfrm>
            <a:off x="853390" y="6465055"/>
            <a:ext cx="687800" cy="212455"/>
          </a:xfrm>
          <a:prstGeom prst="rect">
            <a:avLst/>
          </a:prstGeom>
        </p:spPr>
      </p:pic>
      <p:sp>
        <p:nvSpPr>
          <p:cNvPr id="32" name="s26-forma-31">
            <a:extLst>
              <a:ext uri="{FF2B5EF4-FFF2-40B4-BE49-F238E27FC236}">
                <a16:creationId xmlns:a16="http://schemas.microsoft.com/office/drawing/2014/main" id="{42C9B79E-772A-27EC-4CB6-E889288D1B0C}"/>
              </a:ext>
            </a:extLst>
          </p:cNvPr>
          <p:cNvSpPr/>
          <p:nvPr/>
        </p:nvSpPr>
        <p:spPr>
          <a:xfrm>
            <a:off x="1659380" y="6519865"/>
            <a:ext cx="3057208" cy="102835"/>
          </a:xfrm>
          <a:prstGeom prst="rect">
            <a:avLst/>
          </a:prstGeom>
          <a:ln/>
        </p:spPr>
        <p:txBody>
          <a:bodyPr/>
          <a:lstStyle/>
          <a:p>
            <a:endParaRPr lang="es-MX"/>
          </a:p>
        </p:txBody>
      </p:sp>
      <p:sp>
        <p:nvSpPr>
          <p:cNvPr id="33" name="s26-forma-32">
            <a:extLst>
              <a:ext uri="{FF2B5EF4-FFF2-40B4-BE49-F238E27FC236}">
                <a16:creationId xmlns:a16="http://schemas.microsoft.com/office/drawing/2014/main" id="{9178DF53-25DC-F872-D298-C1C8D71E8776}"/>
              </a:ext>
            </a:extLst>
          </p:cNvPr>
          <p:cNvSpPr/>
          <p:nvPr/>
        </p:nvSpPr>
        <p:spPr>
          <a:xfrm>
            <a:off x="1659380" y="6519865"/>
            <a:ext cx="5713" cy="102835"/>
          </a:xfrm>
          <a:prstGeom prst="rect">
            <a:avLst/>
          </a:prstGeom>
          <a:solidFill>
            <a:srgbClr val="C6BFAE"/>
          </a:solidFill>
          <a:ln/>
        </p:spPr>
        <p:txBody>
          <a:bodyPr/>
          <a:lstStyle/>
          <a:p>
            <a:endParaRPr lang="es-MX"/>
          </a:p>
        </p:txBody>
      </p:sp>
      <p:sp>
        <p:nvSpPr>
          <p:cNvPr id="34" name="s26-texto-33">
            <a:extLst>
              <a:ext uri="{FF2B5EF4-FFF2-40B4-BE49-F238E27FC236}">
                <a16:creationId xmlns:a16="http://schemas.microsoft.com/office/drawing/2014/main" id="{E9DA7DB0-2148-BE52-703F-6A6971310A82}"/>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5" name="s26-texto-34">
            <a:extLst>
              <a:ext uri="{FF2B5EF4-FFF2-40B4-BE49-F238E27FC236}">
                <a16:creationId xmlns:a16="http://schemas.microsoft.com/office/drawing/2014/main" id="{7622C8EC-CA46-8FEA-AC65-3108CE77E3CE}"/>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26 / 35</a:t>
            </a:r>
            <a:endParaRPr lang="en-US" sz="745" dirty="0"/>
          </a:p>
        </p:txBody>
      </p:sp>
      <p:sp>
        <p:nvSpPr>
          <p:cNvPr id="36" name="s26-forma-35">
            <a:extLst>
              <a:ext uri="{FF2B5EF4-FFF2-40B4-BE49-F238E27FC236}">
                <a16:creationId xmlns:a16="http://schemas.microsoft.com/office/drawing/2014/main" id="{7ED69F0F-C27E-DEAB-2DA5-697070A95428}"/>
              </a:ext>
            </a:extLst>
          </p:cNvPr>
          <p:cNvSpPr/>
          <p:nvPr/>
        </p:nvSpPr>
        <p:spPr>
          <a:xfrm>
            <a:off x="0" y="0"/>
            <a:ext cx="9056647" cy="17139"/>
          </a:xfrm>
          <a:prstGeom prst="rect">
            <a:avLst/>
          </a:prstGeom>
          <a:solidFill>
            <a:srgbClr val="0033A0"/>
          </a:solidFill>
          <a:ln/>
        </p:spPr>
        <p:txBody>
          <a:bodyPr/>
          <a:lstStyle/>
          <a:p>
            <a:endParaRPr lang="es-MX"/>
          </a:p>
        </p:txBody>
      </p:sp>
      <p:pic>
        <p:nvPicPr>
          <p:cNvPr id="38" name="Imagen 37">
            <a:extLst>
              <a:ext uri="{FF2B5EF4-FFF2-40B4-BE49-F238E27FC236}">
                <a16:creationId xmlns:a16="http://schemas.microsoft.com/office/drawing/2014/main" id="{EA5E4BDF-4AB9-B658-CCE2-D067C5F13514}"/>
              </a:ext>
            </a:extLst>
          </p:cNvPr>
          <p:cNvPicPr>
            <a:picLocks noChangeAspect="1"/>
          </p:cNvPicPr>
          <p:nvPr/>
        </p:nvPicPr>
        <p:blipFill>
          <a:blip r:embed="rId4"/>
          <a:stretch>
            <a:fillRect/>
          </a:stretch>
        </p:blipFill>
        <p:spPr>
          <a:xfrm>
            <a:off x="438071" y="2192750"/>
            <a:ext cx="10436850" cy="3478950"/>
          </a:xfrm>
          <a:prstGeom prst="rect">
            <a:avLst/>
          </a:prstGeom>
        </p:spPr>
      </p:pic>
    </p:spTree>
    <p:extLst>
      <p:ext uri="{BB962C8B-B14F-4D97-AF65-F5344CB8AC3E}">
        <p14:creationId xmlns:p14="http://schemas.microsoft.com/office/powerpoint/2010/main" val="4041944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EDE8DC"/>
        </a:solidFill>
        <a:effectLst/>
      </p:bgPr>
    </p:bg>
    <p:spTree>
      <p:nvGrpSpPr>
        <p:cNvPr id="1" name=""/>
        <p:cNvGrpSpPr/>
        <p:nvPr/>
      </p:nvGrpSpPr>
      <p:grpSpPr>
        <a:xfrm>
          <a:off x="0" y="0"/>
          <a:ext cx="0" cy="0"/>
          <a:chOff x="0" y="0"/>
          <a:chExt cx="0" cy="0"/>
        </a:xfrm>
      </p:grpSpPr>
      <p:sp>
        <p:nvSpPr>
          <p:cNvPr id="2" name="s27-forma-1"/>
          <p:cNvSpPr/>
          <p:nvPr/>
        </p:nvSpPr>
        <p:spPr>
          <a:xfrm>
            <a:off x="853390" y="520961"/>
            <a:ext cx="10484915" cy="5713"/>
          </a:xfrm>
          <a:prstGeom prst="rect">
            <a:avLst/>
          </a:prstGeom>
          <a:solidFill>
            <a:srgbClr val="C6BFAE"/>
          </a:solidFill>
          <a:ln/>
        </p:spPr>
        <p:txBody>
          <a:bodyPr/>
          <a:lstStyle/>
          <a:p>
            <a:endParaRPr lang="es-MX"/>
          </a:p>
        </p:txBody>
      </p:sp>
      <p:sp>
        <p:nvSpPr>
          <p:cNvPr id="3" name="s27-forma-2"/>
          <p:cNvSpPr/>
          <p:nvPr/>
        </p:nvSpPr>
        <p:spPr>
          <a:xfrm>
            <a:off x="853390" y="331715"/>
            <a:ext cx="81411" cy="81411"/>
          </a:xfrm>
          <a:prstGeom prst="ellipse">
            <a:avLst/>
          </a:prstGeom>
          <a:solidFill>
            <a:srgbClr val="0033A0"/>
          </a:solidFill>
          <a:ln/>
        </p:spPr>
        <p:txBody>
          <a:bodyPr/>
          <a:lstStyle/>
          <a:p>
            <a:endParaRPr lang="es-MX"/>
          </a:p>
        </p:txBody>
      </p:sp>
      <p:sp>
        <p:nvSpPr>
          <p:cNvPr id="4" name="s27-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7-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7-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3 DE 3</a:t>
            </a:r>
            <a:endParaRPr lang="en-US" sz="900" dirty="0"/>
          </a:p>
        </p:txBody>
      </p:sp>
      <p:sp>
        <p:nvSpPr>
          <p:cNvPr id="7" name="s27-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Reflexión: revisar y corregir</a:t>
            </a:r>
            <a:endParaRPr lang="en-US" sz="2879" dirty="0"/>
          </a:p>
        </p:txBody>
      </p:sp>
      <p:sp>
        <p:nvSpPr>
          <p:cNvPr id="8" name="s27-forma-7"/>
          <p:cNvSpPr/>
          <p:nvPr/>
        </p:nvSpPr>
        <p:spPr>
          <a:xfrm>
            <a:off x="1342572" y="2913667"/>
            <a:ext cx="1371137" cy="628438"/>
          </a:xfrm>
          <a:prstGeom prst="rect">
            <a:avLst/>
          </a:prstGeom>
          <a:solidFill>
            <a:srgbClr val="E2D3C2"/>
          </a:solidFill>
          <a:ln w="5713">
            <a:solidFill>
              <a:srgbClr val="984514"/>
            </a:solidFill>
            <a:prstDash val="solid"/>
          </a:ln>
        </p:spPr>
        <p:txBody>
          <a:bodyPr/>
          <a:lstStyle/>
          <a:p>
            <a:endParaRPr lang="es-MX"/>
          </a:p>
        </p:txBody>
      </p:sp>
      <p:sp>
        <p:nvSpPr>
          <p:cNvPr id="9" name="s27-texto-8"/>
          <p:cNvSpPr txBox="1"/>
          <p:nvPr/>
        </p:nvSpPr>
        <p:spPr>
          <a:xfrm>
            <a:off x="1698478" y="3045067"/>
            <a:ext cx="659324"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Generar</a:t>
            </a:r>
            <a:endParaRPr lang="en-US" sz="1260" dirty="0"/>
          </a:p>
        </p:txBody>
      </p:sp>
      <p:sp>
        <p:nvSpPr>
          <p:cNvPr id="10" name="s27-texto-9"/>
          <p:cNvSpPr txBox="1"/>
          <p:nvPr/>
        </p:nvSpPr>
        <p:spPr>
          <a:xfrm>
            <a:off x="1723116" y="3250738"/>
            <a:ext cx="609960"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el agente</a:t>
            </a:r>
            <a:endParaRPr lang="en-US" sz="1080" dirty="0"/>
          </a:p>
        </p:txBody>
      </p:sp>
      <p:sp>
        <p:nvSpPr>
          <p:cNvPr id="11" name="s27-forma-10"/>
          <p:cNvSpPr/>
          <p:nvPr/>
        </p:nvSpPr>
        <p:spPr>
          <a:xfrm>
            <a:off x="3170755" y="2913667"/>
            <a:ext cx="1371137" cy="628438"/>
          </a:xfrm>
          <a:prstGeom prst="rect">
            <a:avLst/>
          </a:prstGeom>
          <a:solidFill>
            <a:srgbClr val="DCE3F2"/>
          </a:solidFill>
          <a:ln w="5713">
            <a:solidFill>
              <a:srgbClr val="0033A0"/>
            </a:solidFill>
            <a:prstDash val="solid"/>
          </a:ln>
        </p:spPr>
        <p:txBody>
          <a:bodyPr/>
          <a:lstStyle/>
          <a:p>
            <a:endParaRPr lang="es-MX"/>
          </a:p>
        </p:txBody>
      </p:sp>
      <p:sp>
        <p:nvSpPr>
          <p:cNvPr id="12" name="s27-texto-11"/>
          <p:cNvSpPr txBox="1"/>
          <p:nvPr/>
        </p:nvSpPr>
        <p:spPr>
          <a:xfrm>
            <a:off x="3544425" y="3045067"/>
            <a:ext cx="623796"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Revisar</a:t>
            </a:r>
            <a:endParaRPr lang="en-US" sz="1260" dirty="0"/>
          </a:p>
        </p:txBody>
      </p:sp>
      <p:sp>
        <p:nvSpPr>
          <p:cNvPr id="13" name="s27-texto-12"/>
          <p:cNvSpPr txBox="1"/>
          <p:nvPr/>
        </p:nvSpPr>
        <p:spPr>
          <a:xfrm>
            <a:off x="3323030" y="3250738"/>
            <a:ext cx="1066588"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reglas en código</a:t>
            </a:r>
            <a:endParaRPr lang="en-US" sz="1080" dirty="0"/>
          </a:p>
        </p:txBody>
      </p:sp>
      <p:sp>
        <p:nvSpPr>
          <p:cNvPr id="14" name="s27-forma-13"/>
          <p:cNvSpPr/>
          <p:nvPr/>
        </p:nvSpPr>
        <p:spPr>
          <a:xfrm>
            <a:off x="4998938" y="2913667"/>
            <a:ext cx="1371137" cy="628438"/>
          </a:xfrm>
          <a:prstGeom prst="rect">
            <a:avLst/>
          </a:prstGeom>
          <a:solidFill>
            <a:srgbClr val="E3DCCB"/>
          </a:solidFill>
          <a:ln w="5713">
            <a:solidFill>
              <a:srgbClr val="585E6F"/>
            </a:solidFill>
            <a:prstDash val="solid"/>
          </a:ln>
        </p:spPr>
        <p:txBody>
          <a:bodyPr/>
          <a:lstStyle/>
          <a:p>
            <a:endParaRPr lang="es-MX"/>
          </a:p>
        </p:txBody>
      </p:sp>
      <p:sp>
        <p:nvSpPr>
          <p:cNvPr id="15" name="s27-texto-14"/>
          <p:cNvSpPr txBox="1"/>
          <p:nvPr/>
        </p:nvSpPr>
        <p:spPr>
          <a:xfrm>
            <a:off x="5332706" y="3045067"/>
            <a:ext cx="70360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Entregar</a:t>
            </a:r>
            <a:endParaRPr lang="en-US" sz="1260" dirty="0"/>
          </a:p>
        </p:txBody>
      </p:sp>
      <p:sp>
        <p:nvSpPr>
          <p:cNvPr id="16" name="s27-texto-15"/>
          <p:cNvSpPr txBox="1"/>
          <p:nvPr/>
        </p:nvSpPr>
        <p:spPr>
          <a:xfrm>
            <a:off x="5191619" y="3250738"/>
            <a:ext cx="98568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artefacto válido</a:t>
            </a:r>
            <a:endParaRPr lang="en-US" sz="1080" dirty="0"/>
          </a:p>
        </p:txBody>
      </p:sp>
      <p:sp>
        <p:nvSpPr>
          <p:cNvPr id="17" name="s27-texto-16"/>
          <p:cNvSpPr txBox="1"/>
          <p:nvPr/>
        </p:nvSpPr>
        <p:spPr>
          <a:xfrm>
            <a:off x="4587597" y="2942232"/>
            <a:ext cx="388489" cy="154253"/>
          </a:xfrm>
          <a:prstGeom prst="rect">
            <a:avLst/>
          </a:prstGeom>
          <a:noFill/>
          <a:ln/>
        </p:spPr>
        <p:txBody>
          <a:bodyPr wrap="none" lIns="0" tIns="0" rIns="0" bIns="0" rtlCol="0" anchor="t"/>
          <a:lstStyle/>
          <a:p>
            <a:pPr marL="0" indent="0" algn="ctr">
              <a:lnSpc>
                <a:spcPts val="1296"/>
              </a:lnSpc>
              <a:buNone/>
            </a:pPr>
            <a:r>
              <a:rPr lang="en-US" sz="1080" dirty="0">
                <a:solidFill>
                  <a:srgbClr val="0033A0"/>
                </a:solidFill>
                <a:latin typeface="Arial" pitchFamily="34" charset="0"/>
                <a:ea typeface="Arial" pitchFamily="34" charset="-122"/>
                <a:cs typeface="Arial" pitchFamily="34" charset="-120"/>
              </a:rPr>
              <a:t>ok</a:t>
            </a:r>
            <a:endParaRPr lang="en-US" sz="1080" dirty="0"/>
          </a:p>
        </p:txBody>
      </p:sp>
      <p:sp>
        <p:nvSpPr>
          <p:cNvPr id="18" name="s27-texto-17"/>
          <p:cNvSpPr txBox="1"/>
          <p:nvPr/>
        </p:nvSpPr>
        <p:spPr>
          <a:xfrm>
            <a:off x="2119550" y="4170542"/>
            <a:ext cx="3633514" cy="154253"/>
          </a:xfrm>
          <a:prstGeom prst="rect">
            <a:avLst/>
          </a:prstGeom>
          <a:noFill/>
          <a:ln/>
        </p:spPr>
        <p:txBody>
          <a:bodyPr wrap="non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los problemas regresan · máximo 2 intentos</a:t>
            </a:r>
            <a:endParaRPr lang="en-US" sz="1080" dirty="0"/>
          </a:p>
        </p:txBody>
      </p:sp>
      <p:sp>
        <p:nvSpPr>
          <p:cNvPr id="19" name="s27-forma-18"/>
          <p:cNvSpPr/>
          <p:nvPr/>
        </p:nvSpPr>
        <p:spPr>
          <a:xfrm>
            <a:off x="1342572" y="4627588"/>
            <a:ext cx="5027503" cy="374742"/>
          </a:xfrm>
          <a:prstGeom prst="rect">
            <a:avLst/>
          </a:prstGeom>
          <a:solidFill>
            <a:srgbClr val="E3DCCB"/>
          </a:solidFill>
          <a:ln/>
        </p:spPr>
        <p:txBody>
          <a:bodyPr/>
          <a:lstStyle/>
          <a:p>
            <a:endParaRPr lang="es-MX"/>
          </a:p>
        </p:txBody>
      </p:sp>
      <p:sp>
        <p:nvSpPr>
          <p:cNvPr id="20" name="s27-texto-19"/>
          <p:cNvSpPr txBox="1"/>
          <p:nvPr/>
        </p:nvSpPr>
        <p:spPr>
          <a:xfrm>
            <a:off x="1479686" y="4736137"/>
            <a:ext cx="5038472" cy="154253"/>
          </a:xfrm>
          <a:prstGeom prst="rect">
            <a:avLst/>
          </a:prstGeom>
          <a:noFill/>
          <a:ln/>
        </p:spPr>
        <p:txBody>
          <a:bodyPr wrap="none" lIns="0" tIns="0" rIns="0" bIns="0" rtlCol="0" anchor="t"/>
          <a:lstStyle/>
          <a:p>
            <a:pPr marL="0" indent="0" algn="l">
              <a:lnSpc>
                <a:spcPts val="1512"/>
              </a:lnSpc>
              <a:buNone/>
            </a:pPr>
            <a:r>
              <a:rPr lang="en-US" sz="1080" dirty="0">
                <a:solidFill>
                  <a:srgbClr val="16181D"/>
                </a:solidFill>
                <a:latin typeface="Courier New" pitchFamily="34" charset="0"/>
                <a:ea typeface="Courier New" pitchFamily="34" charset="-122"/>
                <a:cs typeface="Courier New" pitchFamily="34" charset="-120"/>
              </a:rPr>
              <a:t>«El escenario 2 no tiene 'Entonces'.» → el agente corrige</a:t>
            </a:r>
            <a:endParaRPr lang="en-US" sz="1080" dirty="0"/>
          </a:p>
        </p:txBody>
      </p:sp>
      <p:sp>
        <p:nvSpPr>
          <p:cNvPr id="21" name="s27-texto-20"/>
          <p:cNvSpPr txBox="1"/>
          <p:nvPr/>
        </p:nvSpPr>
        <p:spPr>
          <a:xfrm>
            <a:off x="7284167" y="2228098"/>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CÓMO FUNCIONA</a:t>
            </a:r>
            <a:endParaRPr lang="en-US" sz="900" dirty="0"/>
          </a:p>
        </p:txBody>
      </p:sp>
      <p:sp>
        <p:nvSpPr>
          <p:cNvPr id="22" name="s27-texto-21"/>
          <p:cNvSpPr txBox="1"/>
          <p:nvPr/>
        </p:nvSpPr>
        <p:spPr>
          <a:xfrm>
            <a:off x="7284167" y="2428056"/>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Se revisa el resultado contra criterios; los problemas regresan al agente para que corrija.</a:t>
            </a:r>
            <a:endParaRPr lang="en-US" sz="1260" dirty="0"/>
          </a:p>
        </p:txBody>
      </p:sp>
      <p:sp>
        <p:nvSpPr>
          <p:cNvPr id="23" name="s27-texto-22"/>
          <p:cNvSpPr txBox="1"/>
          <p:nvPr/>
        </p:nvSpPr>
        <p:spPr>
          <a:xfrm>
            <a:off x="7284167" y="3012931"/>
            <a:ext cx="3778854"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ÚSALO CUANDO</a:t>
            </a:r>
            <a:endParaRPr lang="en-US" sz="900" dirty="0"/>
          </a:p>
        </p:txBody>
      </p:sp>
      <p:sp>
        <p:nvSpPr>
          <p:cNvPr id="24" name="s27-texto-23"/>
          <p:cNvSpPr txBox="1"/>
          <p:nvPr/>
        </p:nvSpPr>
        <p:spPr>
          <a:xfrm>
            <a:off x="7284167" y="3212889"/>
            <a:ext cx="3778854"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Hay criterios verificables y un error cuesta más que una llamada extra.</a:t>
            </a:r>
            <a:endParaRPr lang="en-US" sz="1260" dirty="0"/>
          </a:p>
        </p:txBody>
      </p:sp>
      <p:sp>
        <p:nvSpPr>
          <p:cNvPr id="25" name="s27-forma-24"/>
          <p:cNvSpPr/>
          <p:nvPr/>
        </p:nvSpPr>
        <p:spPr>
          <a:xfrm>
            <a:off x="7284167" y="3797764"/>
            <a:ext cx="3564957" cy="899095"/>
          </a:xfrm>
          <a:prstGeom prst="rect">
            <a:avLst/>
          </a:prstGeom>
          <a:solidFill>
            <a:srgbClr val="E2D3C2"/>
          </a:solidFill>
          <a:ln/>
        </p:spPr>
        <p:txBody>
          <a:bodyPr/>
          <a:lstStyle/>
          <a:p>
            <a:endParaRPr lang="es-MX"/>
          </a:p>
        </p:txBody>
      </p:sp>
      <p:sp>
        <p:nvSpPr>
          <p:cNvPr id="26" name="s27-texto-25"/>
          <p:cNvSpPr txBox="1"/>
          <p:nvPr/>
        </p:nvSpPr>
        <p:spPr>
          <a:xfrm>
            <a:off x="7421280" y="3934878"/>
            <a:ext cx="3488173"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 TU FÁBRICA</a:t>
            </a:r>
            <a:endParaRPr lang="en-US" sz="900" dirty="0"/>
          </a:p>
        </p:txBody>
      </p:sp>
      <p:sp>
        <p:nvSpPr>
          <p:cNvPr id="27" name="s27-texto-26"/>
          <p:cNvSpPr txBox="1"/>
          <p:nvPr/>
        </p:nvSpPr>
        <p:spPr>
          <a:xfrm>
            <a:off x="7421280" y="4134836"/>
            <a:ext cx="3488173"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validar_gherkin y validar_plan revisan al analista y al diseñador.</a:t>
            </a:r>
            <a:endParaRPr lang="en-US" sz="1260" dirty="0"/>
          </a:p>
        </p:txBody>
      </p:sp>
      <p:sp>
        <p:nvSpPr>
          <p:cNvPr id="28" name="s27-texto-27"/>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1 · Patrones de razonamiento</a:t>
            </a:r>
            <a:endParaRPr lang="en-US" sz="1080" dirty="0"/>
          </a:p>
        </p:txBody>
      </p:sp>
      <p:sp>
        <p:nvSpPr>
          <p:cNvPr id="29" name="s27-linea-28-0"/>
          <p:cNvSpPr/>
          <p:nvPr/>
        </p:nvSpPr>
        <p:spPr>
          <a:xfrm>
            <a:off x="2713709" y="3227886"/>
            <a:ext cx="457046" cy="0"/>
          </a:xfrm>
          <a:prstGeom prst="line">
            <a:avLst/>
          </a:prstGeom>
          <a:noFill/>
          <a:ln w="17140">
            <a:solidFill>
              <a:srgbClr val="585E6F"/>
            </a:solidFill>
            <a:prstDash val="solid"/>
            <a:tailEnd type="triangle"/>
          </a:ln>
        </p:spPr>
        <p:txBody>
          <a:bodyPr/>
          <a:lstStyle/>
          <a:p>
            <a:endParaRPr lang="es-MX"/>
          </a:p>
        </p:txBody>
      </p:sp>
      <p:sp>
        <p:nvSpPr>
          <p:cNvPr id="30" name="s27-linea-29-0"/>
          <p:cNvSpPr/>
          <p:nvPr/>
        </p:nvSpPr>
        <p:spPr>
          <a:xfrm>
            <a:off x="4541892" y="3227886"/>
            <a:ext cx="457046" cy="0"/>
          </a:xfrm>
          <a:prstGeom prst="line">
            <a:avLst/>
          </a:prstGeom>
          <a:noFill/>
          <a:ln w="17140">
            <a:solidFill>
              <a:srgbClr val="0033A0"/>
            </a:solidFill>
            <a:prstDash val="solid"/>
            <a:tailEnd type="triangle"/>
          </a:ln>
        </p:spPr>
        <p:txBody>
          <a:bodyPr/>
          <a:lstStyle/>
          <a:p>
            <a:endParaRPr lang="es-MX"/>
          </a:p>
        </p:txBody>
      </p:sp>
      <p:sp>
        <p:nvSpPr>
          <p:cNvPr id="31" name="s27-linea-30-0"/>
          <p:cNvSpPr/>
          <p:nvPr/>
        </p:nvSpPr>
        <p:spPr>
          <a:xfrm>
            <a:off x="3856323" y="3542105"/>
            <a:ext cx="0" cy="514176"/>
          </a:xfrm>
          <a:prstGeom prst="line">
            <a:avLst/>
          </a:prstGeom>
          <a:noFill/>
          <a:ln w="17140">
            <a:solidFill>
              <a:srgbClr val="984514"/>
            </a:solidFill>
            <a:prstDash val="solid"/>
          </a:ln>
        </p:spPr>
        <p:txBody>
          <a:bodyPr/>
          <a:lstStyle/>
          <a:p>
            <a:endParaRPr lang="es-MX"/>
          </a:p>
        </p:txBody>
      </p:sp>
      <p:sp>
        <p:nvSpPr>
          <p:cNvPr id="32" name="s27-linea-31-0"/>
          <p:cNvSpPr/>
          <p:nvPr/>
        </p:nvSpPr>
        <p:spPr>
          <a:xfrm flipH="1">
            <a:off x="2028140" y="4056281"/>
            <a:ext cx="1828183" cy="0"/>
          </a:xfrm>
          <a:prstGeom prst="line">
            <a:avLst/>
          </a:prstGeom>
          <a:noFill/>
          <a:ln w="17140">
            <a:solidFill>
              <a:srgbClr val="984514"/>
            </a:solidFill>
            <a:prstDash val="solid"/>
          </a:ln>
        </p:spPr>
        <p:txBody>
          <a:bodyPr/>
          <a:lstStyle/>
          <a:p>
            <a:endParaRPr lang="es-MX"/>
          </a:p>
        </p:txBody>
      </p:sp>
      <p:sp>
        <p:nvSpPr>
          <p:cNvPr id="33" name="s27-linea-32-0"/>
          <p:cNvSpPr/>
          <p:nvPr/>
        </p:nvSpPr>
        <p:spPr>
          <a:xfrm flipV="1">
            <a:off x="2028140" y="3542105"/>
            <a:ext cx="0" cy="514176"/>
          </a:xfrm>
          <a:prstGeom prst="line">
            <a:avLst/>
          </a:prstGeom>
          <a:noFill/>
          <a:ln w="17140">
            <a:solidFill>
              <a:srgbClr val="984514"/>
            </a:solidFill>
            <a:prstDash val="solid"/>
            <a:tailEnd type="triangle"/>
          </a:ln>
        </p:spPr>
        <p:txBody>
          <a:bodyPr/>
          <a:lstStyle/>
          <a:p>
            <a:endParaRPr lang="es-MX"/>
          </a:p>
        </p:txBody>
      </p:sp>
      <p:sp>
        <p:nvSpPr>
          <p:cNvPr id="34" name="s27-forma-33"/>
          <p:cNvSpPr/>
          <p:nvPr/>
        </p:nvSpPr>
        <p:spPr>
          <a:xfrm>
            <a:off x="853390" y="6411138"/>
            <a:ext cx="10484915" cy="5713"/>
          </a:xfrm>
          <a:prstGeom prst="rect">
            <a:avLst/>
          </a:prstGeom>
          <a:solidFill>
            <a:srgbClr val="DBD4C4"/>
          </a:solidFill>
          <a:ln/>
        </p:spPr>
        <p:txBody>
          <a:bodyPr/>
          <a:lstStyle/>
          <a:p>
            <a:endParaRPr lang="es-MX"/>
          </a:p>
        </p:txBody>
      </p:sp>
      <p:pic>
        <p:nvPicPr>
          <p:cNvPr id="35" name="s27-logo-34" descr="preencoded.png"/>
          <p:cNvPicPr>
            <a:picLocks noChangeAspect="1"/>
          </p:cNvPicPr>
          <p:nvPr/>
        </p:nvPicPr>
        <p:blipFill>
          <a:blip r:embed="rId3"/>
          <a:stretch>
            <a:fillRect/>
          </a:stretch>
        </p:blipFill>
        <p:spPr>
          <a:xfrm>
            <a:off x="853390" y="6465055"/>
            <a:ext cx="687800" cy="212455"/>
          </a:xfrm>
          <a:prstGeom prst="rect">
            <a:avLst/>
          </a:prstGeom>
        </p:spPr>
      </p:pic>
      <p:sp>
        <p:nvSpPr>
          <p:cNvPr id="36" name="s27-forma-35"/>
          <p:cNvSpPr/>
          <p:nvPr/>
        </p:nvSpPr>
        <p:spPr>
          <a:xfrm>
            <a:off x="1659380" y="6519865"/>
            <a:ext cx="3057208" cy="102835"/>
          </a:xfrm>
          <a:prstGeom prst="rect">
            <a:avLst/>
          </a:prstGeom>
          <a:ln/>
        </p:spPr>
        <p:txBody>
          <a:bodyPr/>
          <a:lstStyle/>
          <a:p>
            <a:endParaRPr lang="es-MX"/>
          </a:p>
        </p:txBody>
      </p:sp>
      <p:sp>
        <p:nvSpPr>
          <p:cNvPr id="37" name="s27-forma-36"/>
          <p:cNvSpPr/>
          <p:nvPr/>
        </p:nvSpPr>
        <p:spPr>
          <a:xfrm>
            <a:off x="1659380" y="6519865"/>
            <a:ext cx="5713" cy="102835"/>
          </a:xfrm>
          <a:prstGeom prst="rect">
            <a:avLst/>
          </a:prstGeom>
          <a:solidFill>
            <a:srgbClr val="C6BFAE"/>
          </a:solidFill>
          <a:ln/>
        </p:spPr>
        <p:txBody>
          <a:bodyPr/>
          <a:lstStyle/>
          <a:p>
            <a:endParaRPr lang="es-MX"/>
          </a:p>
        </p:txBody>
      </p:sp>
      <p:sp>
        <p:nvSpPr>
          <p:cNvPr id="38" name="s27-texto-37"/>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9" name="s27-texto-38"/>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27 / 35</a:t>
            </a:r>
            <a:endParaRPr lang="en-US" sz="745" dirty="0"/>
          </a:p>
        </p:txBody>
      </p:sp>
      <p:sp>
        <p:nvSpPr>
          <p:cNvPr id="40" name="s27-forma-39"/>
          <p:cNvSpPr/>
          <p:nvPr/>
        </p:nvSpPr>
        <p:spPr>
          <a:xfrm>
            <a:off x="0" y="0"/>
            <a:ext cx="9404966" cy="17139"/>
          </a:xfrm>
          <a:prstGeom prst="rect">
            <a:avLst/>
          </a:prstGeom>
          <a:solidFill>
            <a:srgbClr val="0033A0"/>
          </a:solidFill>
          <a:ln/>
        </p:spPr>
        <p:txBody>
          <a:bodyPr/>
          <a:lstStyle/>
          <a:p>
            <a:endParaRPr lang="es-MX"/>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EDE8DC"/>
        </a:solidFill>
        <a:effectLst/>
      </p:bgPr>
    </p:bg>
    <p:spTree>
      <p:nvGrpSpPr>
        <p:cNvPr id="1" name=""/>
        <p:cNvGrpSpPr/>
        <p:nvPr/>
      </p:nvGrpSpPr>
      <p:grpSpPr>
        <a:xfrm>
          <a:off x="0" y="0"/>
          <a:ext cx="0" cy="0"/>
          <a:chOff x="0" y="0"/>
          <a:chExt cx="0" cy="0"/>
        </a:xfrm>
      </p:grpSpPr>
      <p:sp>
        <p:nvSpPr>
          <p:cNvPr id="2" name="s28-forma-1"/>
          <p:cNvSpPr/>
          <p:nvPr/>
        </p:nvSpPr>
        <p:spPr>
          <a:xfrm>
            <a:off x="853390" y="520961"/>
            <a:ext cx="10484915" cy="5713"/>
          </a:xfrm>
          <a:prstGeom prst="rect">
            <a:avLst/>
          </a:prstGeom>
          <a:solidFill>
            <a:srgbClr val="C6BFAE"/>
          </a:solidFill>
          <a:ln/>
        </p:spPr>
        <p:txBody>
          <a:bodyPr/>
          <a:lstStyle/>
          <a:p>
            <a:endParaRPr lang="es-MX"/>
          </a:p>
        </p:txBody>
      </p:sp>
      <p:sp>
        <p:nvSpPr>
          <p:cNvPr id="3" name="s28-forma-2"/>
          <p:cNvSpPr/>
          <p:nvPr/>
        </p:nvSpPr>
        <p:spPr>
          <a:xfrm>
            <a:off x="853390" y="331715"/>
            <a:ext cx="81411" cy="81411"/>
          </a:xfrm>
          <a:prstGeom prst="ellipse">
            <a:avLst/>
          </a:prstGeom>
          <a:solidFill>
            <a:srgbClr val="0033A0"/>
          </a:solidFill>
          <a:ln/>
        </p:spPr>
        <p:txBody>
          <a:bodyPr/>
          <a:lstStyle/>
          <a:p>
            <a:endParaRPr lang="es-MX"/>
          </a:p>
        </p:txBody>
      </p:sp>
      <p:sp>
        <p:nvSpPr>
          <p:cNvPr id="4" name="s28-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28-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0:50 · 20 min</a:t>
            </a:r>
            <a:endParaRPr lang="en-US" sz="807" dirty="0"/>
          </a:p>
        </p:txBody>
      </p:sp>
      <p:sp>
        <p:nvSpPr>
          <p:cNvPr id="6" name="s28-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PATRÓN DE RAZONAMIENTO · EN CÓDIGO</a:t>
            </a:r>
            <a:endParaRPr lang="en-US" sz="900" dirty="0"/>
          </a:p>
        </p:txBody>
      </p:sp>
      <p:sp>
        <p:nvSpPr>
          <p:cNvPr id="7" name="s28-texto-6"/>
          <p:cNvSpPr txBox="1"/>
          <p:nvPr/>
        </p:nvSpPr>
        <p:spPr>
          <a:xfrm>
            <a:off x="1342572" y="1451120"/>
            <a:ext cx="10076945" cy="377063"/>
          </a:xfrm>
          <a:prstGeom prst="rect">
            <a:avLst/>
          </a:prstGeom>
          <a:noFill/>
          <a:ln/>
        </p:spPr>
        <p:txBody>
          <a:bodyPr wrap="none" lIns="0" tIns="0" rIns="0" bIns="0" rtlCol="0" anchor="t"/>
          <a:lstStyle/>
          <a:p>
            <a:pPr marL="0" indent="0" algn="l">
              <a:lnSpc>
                <a:spcPts val="2771"/>
              </a:lnSpc>
              <a:buNone/>
            </a:pPr>
            <a:r>
              <a:rPr lang="en-US" sz="2519" b="1" kern="0" spc="-25" dirty="0">
                <a:solidFill>
                  <a:srgbClr val="16181D"/>
                </a:solidFill>
                <a:latin typeface="Georgia" pitchFamily="34" charset="0"/>
                <a:ea typeface="Georgia" pitchFamily="34" charset="-122"/>
                <a:cs typeface="Georgia" pitchFamily="34" charset="-120"/>
              </a:rPr>
              <a:t>Reflexión en código: la crítica vuelve al prompt</a:t>
            </a:r>
            <a:endParaRPr lang="en-US" sz="2519" dirty="0"/>
          </a:p>
        </p:txBody>
      </p:sp>
      <p:sp>
        <p:nvSpPr>
          <p:cNvPr id="8" name="s28-forma-7"/>
          <p:cNvSpPr/>
          <p:nvPr/>
        </p:nvSpPr>
        <p:spPr>
          <a:xfrm>
            <a:off x="1342572" y="2205246"/>
            <a:ext cx="5941595" cy="2970797"/>
          </a:xfrm>
          <a:prstGeom prst="rect">
            <a:avLst/>
          </a:prstGeom>
          <a:solidFill>
            <a:srgbClr val="E8E2D5"/>
          </a:solidFill>
          <a:ln/>
        </p:spPr>
        <p:txBody>
          <a:bodyPr/>
          <a:lstStyle/>
          <a:p>
            <a:endParaRPr lang="es-MX"/>
          </a:p>
        </p:txBody>
      </p:sp>
      <p:sp>
        <p:nvSpPr>
          <p:cNvPr id="9" name="s28-forma-8"/>
          <p:cNvSpPr/>
          <p:nvPr/>
        </p:nvSpPr>
        <p:spPr>
          <a:xfrm>
            <a:off x="1342572" y="2205246"/>
            <a:ext cx="5941595" cy="5713"/>
          </a:xfrm>
          <a:prstGeom prst="rect">
            <a:avLst/>
          </a:prstGeom>
          <a:solidFill>
            <a:srgbClr val="DBD4C4"/>
          </a:solidFill>
          <a:ln/>
        </p:spPr>
        <p:txBody>
          <a:bodyPr/>
          <a:lstStyle/>
          <a:p>
            <a:endParaRPr lang="es-MX"/>
          </a:p>
        </p:txBody>
      </p:sp>
      <p:sp>
        <p:nvSpPr>
          <p:cNvPr id="10" name="s28-forma-9"/>
          <p:cNvSpPr/>
          <p:nvPr/>
        </p:nvSpPr>
        <p:spPr>
          <a:xfrm>
            <a:off x="1342572" y="5170330"/>
            <a:ext cx="5941595" cy="5713"/>
          </a:xfrm>
          <a:prstGeom prst="rect">
            <a:avLst/>
          </a:prstGeom>
          <a:solidFill>
            <a:srgbClr val="DBD4C4"/>
          </a:solidFill>
          <a:ln/>
        </p:spPr>
        <p:txBody>
          <a:bodyPr/>
          <a:lstStyle/>
          <a:p>
            <a:endParaRPr lang="es-MX"/>
          </a:p>
        </p:txBody>
      </p:sp>
      <p:sp>
        <p:nvSpPr>
          <p:cNvPr id="11" name="s28-forma-10"/>
          <p:cNvSpPr/>
          <p:nvPr/>
        </p:nvSpPr>
        <p:spPr>
          <a:xfrm>
            <a:off x="1342572" y="2205246"/>
            <a:ext cx="17139" cy="2970797"/>
          </a:xfrm>
          <a:prstGeom prst="rect">
            <a:avLst/>
          </a:prstGeom>
          <a:solidFill>
            <a:srgbClr val="C6BFAE"/>
          </a:solidFill>
          <a:ln/>
        </p:spPr>
        <p:txBody>
          <a:bodyPr/>
          <a:lstStyle/>
          <a:p>
            <a:endParaRPr lang="es-MX"/>
          </a:p>
        </p:txBody>
      </p:sp>
      <p:sp>
        <p:nvSpPr>
          <p:cNvPr id="12" name="s28-forma-11"/>
          <p:cNvSpPr/>
          <p:nvPr/>
        </p:nvSpPr>
        <p:spPr>
          <a:xfrm>
            <a:off x="7278453" y="2205246"/>
            <a:ext cx="5713" cy="2970797"/>
          </a:xfrm>
          <a:prstGeom prst="rect">
            <a:avLst/>
          </a:prstGeom>
          <a:solidFill>
            <a:srgbClr val="DBD4C4"/>
          </a:solidFill>
          <a:ln/>
        </p:spPr>
        <p:txBody>
          <a:bodyPr/>
          <a:lstStyle/>
          <a:p>
            <a:endParaRPr lang="es-MX"/>
          </a:p>
        </p:txBody>
      </p:sp>
      <p:sp>
        <p:nvSpPr>
          <p:cNvPr id="13" name="s28-texto-12"/>
          <p:cNvSpPr txBox="1"/>
          <p:nvPr/>
        </p:nvSpPr>
        <p:spPr>
          <a:xfrm>
            <a:off x="1542529" y="2370925"/>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def</a:t>
            </a:r>
            <a:r>
              <a:rPr lang="en-US" sz="990" dirty="0">
                <a:solidFill>
                  <a:srgbClr val="16181D"/>
                </a:solidFill>
                <a:latin typeface="Courier New" pitchFamily="34" charset="0"/>
                <a:ea typeface="Courier New" pitchFamily="34" charset="-122"/>
                <a:cs typeface="Courier New" pitchFamily="34" charset="-120"/>
              </a:rPr>
              <a:t> revisar(gherkin: str) -&gt; list[str]:          </a:t>
            </a:r>
            <a:r>
              <a:rPr lang="en-US" sz="990" dirty="0">
                <a:solidFill>
                  <a:srgbClr val="585E6F"/>
                </a:solidFill>
                <a:latin typeface="Courier New" pitchFamily="34" charset="0"/>
                <a:ea typeface="Courier New" pitchFamily="34" charset="-122"/>
                <a:cs typeface="Courier New" pitchFamily="34" charset="-120"/>
              </a:rPr>
              <a:t># el revisor es código</a:t>
            </a:r>
            <a:endParaRPr lang="en-US" sz="990" dirty="0"/>
          </a:p>
        </p:txBody>
      </p:sp>
      <p:sp>
        <p:nvSpPr>
          <p:cNvPr id="14" name="s28-texto-13"/>
          <p:cNvSpPr txBox="1"/>
          <p:nvPr/>
        </p:nvSpPr>
        <p:spPr>
          <a:xfrm>
            <a:off x="1542529" y="255945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 = []</a:t>
            </a:r>
            <a:endParaRPr lang="en-US" sz="990" dirty="0"/>
          </a:p>
        </p:txBody>
      </p:sp>
      <p:sp>
        <p:nvSpPr>
          <p:cNvPr id="15" name="s28-texto-14"/>
          <p:cNvSpPr txBox="1"/>
          <p:nvPr/>
        </p:nvSpPr>
        <p:spPr>
          <a:xfrm>
            <a:off x="1542529" y="274798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gherkin.count(</a:t>
            </a:r>
            <a:r>
              <a:rPr lang="en-US" sz="990" dirty="0">
                <a:solidFill>
                  <a:srgbClr val="1B6A43"/>
                </a:solidFill>
                <a:latin typeface="Courier New" pitchFamily="34" charset="0"/>
                <a:ea typeface="Courier New" pitchFamily="34" charset="-122"/>
                <a:cs typeface="Courier New" pitchFamily="34" charset="-120"/>
              </a:rPr>
              <a:t>"Escenario:"</a:t>
            </a:r>
            <a:r>
              <a:rPr lang="en-US" sz="990" dirty="0">
                <a:solidFill>
                  <a:srgbClr val="16181D"/>
                </a:solidFill>
                <a:latin typeface="Courier New" pitchFamily="34" charset="0"/>
                <a:ea typeface="Courier New" pitchFamily="34" charset="-122"/>
                <a:cs typeface="Courier New" pitchFamily="34" charset="-120"/>
              </a:rPr>
              <a:t>) &lt; 3:</a:t>
            </a:r>
            <a:endParaRPr lang="en-US" sz="990" dirty="0"/>
          </a:p>
        </p:txBody>
      </p:sp>
      <p:sp>
        <p:nvSpPr>
          <p:cNvPr id="16" name="s28-texto-15"/>
          <p:cNvSpPr txBox="1"/>
          <p:nvPr/>
        </p:nvSpPr>
        <p:spPr>
          <a:xfrm>
            <a:off x="1542529" y="2936519"/>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problemas.append(</a:t>
            </a:r>
            <a:r>
              <a:rPr lang="en-US" sz="990" dirty="0">
                <a:solidFill>
                  <a:srgbClr val="1B6A43"/>
                </a:solidFill>
                <a:latin typeface="Courier New" pitchFamily="34" charset="0"/>
                <a:ea typeface="Courier New" pitchFamily="34" charset="-122"/>
                <a:cs typeface="Courier New" pitchFamily="34" charset="-120"/>
              </a:rPr>
              <a:t>"Se necesitan al menos 3 escenarios."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17" name="s28-texto-16"/>
          <p:cNvSpPr txBox="1"/>
          <p:nvPr/>
        </p:nvSpPr>
        <p:spPr>
          <a:xfrm>
            <a:off x="1542529" y="312505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endParaRPr lang="en-US" sz="990" dirty="0"/>
          </a:p>
        </p:txBody>
      </p:sp>
      <p:sp>
        <p:nvSpPr>
          <p:cNvPr id="18" name="s28-texto-17"/>
          <p:cNvSpPr txBox="1"/>
          <p:nvPr/>
        </p:nvSpPr>
        <p:spPr>
          <a:xfrm>
            <a:off x="1542529" y="3313582"/>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problemas</a:t>
            </a:r>
            <a:endParaRPr lang="en-US" sz="990" dirty="0"/>
          </a:p>
        </p:txBody>
      </p:sp>
      <p:sp>
        <p:nvSpPr>
          <p:cNvPr id="19" name="s28-forma-18"/>
          <p:cNvSpPr/>
          <p:nvPr/>
        </p:nvSpPr>
        <p:spPr>
          <a:xfrm>
            <a:off x="1451120" y="3690644"/>
            <a:ext cx="5735924" cy="188531"/>
          </a:xfrm>
          <a:prstGeom prst="rect">
            <a:avLst/>
          </a:prstGeom>
          <a:solidFill>
            <a:srgbClr val="DCE3F2"/>
          </a:solidFill>
          <a:ln/>
        </p:spPr>
        <p:txBody>
          <a:bodyPr/>
          <a:lstStyle/>
          <a:p>
            <a:endParaRPr lang="es-MX"/>
          </a:p>
        </p:txBody>
      </p:sp>
      <p:sp>
        <p:nvSpPr>
          <p:cNvPr id="20" name="s28-forma-19"/>
          <p:cNvSpPr/>
          <p:nvPr/>
        </p:nvSpPr>
        <p:spPr>
          <a:xfrm>
            <a:off x="1451120" y="3690644"/>
            <a:ext cx="22852" cy="188531"/>
          </a:xfrm>
          <a:prstGeom prst="rect">
            <a:avLst/>
          </a:prstGeom>
          <a:solidFill>
            <a:srgbClr val="AC321E"/>
          </a:solidFill>
          <a:ln/>
        </p:spPr>
        <p:txBody>
          <a:bodyPr/>
          <a:lstStyle/>
          <a:p>
            <a:endParaRPr lang="es-MX"/>
          </a:p>
        </p:txBody>
      </p:sp>
      <p:sp>
        <p:nvSpPr>
          <p:cNvPr id="21" name="s28-texto-20"/>
          <p:cNvSpPr txBox="1"/>
          <p:nvPr/>
        </p:nvSpPr>
        <p:spPr>
          <a:xfrm>
            <a:off x="1542529" y="3690644"/>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for</a:t>
            </a:r>
            <a:r>
              <a:rPr lang="en-US" sz="990" dirty="0">
                <a:solidFill>
                  <a:srgbClr val="16181D"/>
                </a:solidFill>
                <a:latin typeface="Courier New" pitchFamily="34" charset="0"/>
                <a:ea typeface="Courier New" pitchFamily="34" charset="-122"/>
                <a:cs typeface="Courier New" pitchFamily="34" charset="-120"/>
              </a:rPr>
              <a:t> intento </a:t>
            </a:r>
            <a:r>
              <a:rPr lang="en-US" sz="990" dirty="0">
                <a:solidFill>
                  <a:srgbClr val="AC321E"/>
                </a:solidFill>
                <a:latin typeface="Courier New" pitchFamily="34" charset="0"/>
                <a:ea typeface="Courier New" pitchFamily="34" charset="-122"/>
                <a:cs typeface="Courier New" pitchFamily="34" charset="-120"/>
              </a:rPr>
              <a:t>in</a:t>
            </a:r>
            <a:r>
              <a:rPr lang="en-US" sz="990" dirty="0">
                <a:solidFill>
                  <a:srgbClr val="16181D"/>
                </a:solidFill>
                <a:latin typeface="Courier New" pitchFamily="34" charset="0"/>
                <a:ea typeface="Courier New" pitchFamily="34" charset="-122"/>
                <a:cs typeface="Courier New" pitchFamily="34" charset="-120"/>
              </a:rPr>
              <a:t> range(1, MAX_INTENTOS + 1):</a:t>
            </a:r>
            <a:endParaRPr lang="en-US" sz="990" dirty="0"/>
          </a:p>
        </p:txBody>
      </p:sp>
      <p:sp>
        <p:nvSpPr>
          <p:cNvPr id="22" name="s28-texto-21"/>
          <p:cNvSpPr txBox="1"/>
          <p:nvPr/>
        </p:nvSpPr>
        <p:spPr>
          <a:xfrm>
            <a:off x="1542529" y="3879176"/>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gherkin = llamar(tarea)</a:t>
            </a:r>
            <a:endParaRPr lang="en-US" sz="990" dirty="0"/>
          </a:p>
        </p:txBody>
      </p:sp>
      <p:sp>
        <p:nvSpPr>
          <p:cNvPr id="23" name="s28-forma-22"/>
          <p:cNvSpPr/>
          <p:nvPr/>
        </p:nvSpPr>
        <p:spPr>
          <a:xfrm>
            <a:off x="1451120" y="4067707"/>
            <a:ext cx="5735924" cy="188531"/>
          </a:xfrm>
          <a:prstGeom prst="rect">
            <a:avLst/>
          </a:prstGeom>
          <a:solidFill>
            <a:srgbClr val="DCE3F2"/>
          </a:solidFill>
          <a:ln/>
        </p:spPr>
        <p:txBody>
          <a:bodyPr/>
          <a:lstStyle/>
          <a:p>
            <a:endParaRPr lang="es-MX"/>
          </a:p>
        </p:txBody>
      </p:sp>
      <p:sp>
        <p:nvSpPr>
          <p:cNvPr id="24" name="s28-forma-23"/>
          <p:cNvSpPr/>
          <p:nvPr/>
        </p:nvSpPr>
        <p:spPr>
          <a:xfrm>
            <a:off x="1451120" y="4067707"/>
            <a:ext cx="22852" cy="188531"/>
          </a:xfrm>
          <a:prstGeom prst="rect">
            <a:avLst/>
          </a:prstGeom>
          <a:solidFill>
            <a:srgbClr val="AC321E"/>
          </a:solidFill>
          <a:ln/>
        </p:spPr>
        <p:txBody>
          <a:bodyPr/>
          <a:lstStyle/>
          <a:p>
            <a:endParaRPr lang="es-MX"/>
          </a:p>
        </p:txBody>
      </p:sp>
      <p:sp>
        <p:nvSpPr>
          <p:cNvPr id="25" name="s28-texto-24"/>
          <p:cNvSpPr txBox="1"/>
          <p:nvPr/>
        </p:nvSpPr>
        <p:spPr>
          <a:xfrm>
            <a:off x="1542529" y="4067707"/>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problemas = revisar(gherkin)</a:t>
            </a:r>
            <a:endParaRPr lang="en-US" sz="990" dirty="0"/>
          </a:p>
        </p:txBody>
      </p:sp>
      <p:sp>
        <p:nvSpPr>
          <p:cNvPr id="26" name="s28-texto-25"/>
          <p:cNvSpPr txBox="1"/>
          <p:nvPr/>
        </p:nvSpPr>
        <p:spPr>
          <a:xfrm>
            <a:off x="1542529" y="4256238"/>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if</a:t>
            </a: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not</a:t>
            </a:r>
            <a:r>
              <a:rPr lang="en-US" sz="990" dirty="0">
                <a:solidFill>
                  <a:srgbClr val="16181D"/>
                </a:solidFill>
                <a:latin typeface="Courier New" pitchFamily="34" charset="0"/>
                <a:ea typeface="Courier New" pitchFamily="34" charset="-122"/>
                <a:cs typeface="Courier New" pitchFamily="34" charset="-120"/>
              </a:rPr>
              <a:t> problemas:</a:t>
            </a:r>
            <a:endParaRPr lang="en-US" sz="990" dirty="0"/>
          </a:p>
        </p:txBody>
      </p:sp>
      <p:sp>
        <p:nvSpPr>
          <p:cNvPr id="27" name="s28-texto-26"/>
          <p:cNvSpPr txBox="1"/>
          <p:nvPr/>
        </p:nvSpPr>
        <p:spPr>
          <a:xfrm>
            <a:off x="1542529" y="4444770"/>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a:t>
            </a:r>
            <a:r>
              <a:rPr lang="en-US" sz="990" dirty="0">
                <a:solidFill>
                  <a:srgbClr val="AC321E"/>
                </a:solidFill>
                <a:latin typeface="Courier New" pitchFamily="34" charset="0"/>
                <a:ea typeface="Courier New" pitchFamily="34" charset="-122"/>
                <a:cs typeface="Courier New" pitchFamily="34" charset="-120"/>
              </a:rPr>
              <a:t>return</a:t>
            </a:r>
            <a:r>
              <a:rPr lang="en-US" sz="990" dirty="0">
                <a:solidFill>
                  <a:srgbClr val="16181D"/>
                </a:solidFill>
                <a:latin typeface="Courier New" pitchFamily="34" charset="0"/>
                <a:ea typeface="Courier New" pitchFamily="34" charset="-122"/>
                <a:cs typeface="Courier New" pitchFamily="34" charset="-120"/>
              </a:rPr>
              <a:t> gherkin</a:t>
            </a:r>
            <a:endParaRPr lang="en-US" sz="990" dirty="0"/>
          </a:p>
        </p:txBody>
      </p:sp>
      <p:sp>
        <p:nvSpPr>
          <p:cNvPr id="28" name="s28-forma-27"/>
          <p:cNvSpPr/>
          <p:nvPr/>
        </p:nvSpPr>
        <p:spPr>
          <a:xfrm>
            <a:off x="1451120" y="4633301"/>
            <a:ext cx="5735924" cy="188531"/>
          </a:xfrm>
          <a:prstGeom prst="rect">
            <a:avLst/>
          </a:prstGeom>
          <a:solidFill>
            <a:srgbClr val="DCE3F2"/>
          </a:solidFill>
          <a:ln/>
        </p:spPr>
        <p:txBody>
          <a:bodyPr/>
          <a:lstStyle/>
          <a:p>
            <a:endParaRPr lang="es-MX"/>
          </a:p>
        </p:txBody>
      </p:sp>
      <p:sp>
        <p:nvSpPr>
          <p:cNvPr id="29" name="s28-forma-28"/>
          <p:cNvSpPr/>
          <p:nvPr/>
        </p:nvSpPr>
        <p:spPr>
          <a:xfrm>
            <a:off x="1451120" y="4633301"/>
            <a:ext cx="22852" cy="188531"/>
          </a:xfrm>
          <a:prstGeom prst="rect">
            <a:avLst/>
          </a:prstGeom>
          <a:solidFill>
            <a:srgbClr val="AC321E"/>
          </a:solidFill>
          <a:ln/>
        </p:spPr>
        <p:txBody>
          <a:bodyPr/>
          <a:lstStyle/>
          <a:p>
            <a:endParaRPr lang="es-MX"/>
          </a:p>
        </p:txBody>
      </p:sp>
      <p:sp>
        <p:nvSpPr>
          <p:cNvPr id="30" name="s28-texto-29"/>
          <p:cNvSpPr txBox="1"/>
          <p:nvPr/>
        </p:nvSpPr>
        <p:spPr>
          <a:xfrm>
            <a:off x="1542529" y="4633301"/>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    tarea += </a:t>
            </a:r>
            <a:r>
              <a:rPr lang="en-US" sz="990" dirty="0">
                <a:solidFill>
                  <a:srgbClr val="1B6A43"/>
                </a:solidFill>
                <a:latin typeface="Courier New" pitchFamily="34" charset="0"/>
                <a:ea typeface="Courier New" pitchFamily="34" charset="-122"/>
                <a:cs typeface="Courier New" pitchFamily="34" charset="-120"/>
              </a:rPr>
              <a:t>"\nCorrige estos problemas:\n- "</a:t>
            </a:r>
            <a:r>
              <a:rPr lang="en-US" sz="990" dirty="0">
                <a:solidFill>
                  <a:srgbClr val="16181D"/>
                </a:solidFill>
                <a:latin typeface="Courier New" pitchFamily="34" charset="0"/>
                <a:ea typeface="Courier New" pitchFamily="34" charset="-122"/>
                <a:cs typeface="Courier New" pitchFamily="34" charset="-120"/>
              </a:rPr>
              <a:t> + </a:t>
            </a:r>
            <a:r>
              <a:rPr lang="en-US" sz="990" dirty="0">
                <a:solidFill>
                  <a:srgbClr val="1B6A43"/>
                </a:solidFill>
                <a:latin typeface="Courier New" pitchFamily="34" charset="0"/>
                <a:ea typeface="Courier New" pitchFamily="34" charset="-122"/>
                <a:cs typeface="Courier New" pitchFamily="34" charset="-120"/>
              </a:rPr>
              <a:t>"\n- "</a:t>
            </a:r>
            <a:r>
              <a:rPr lang="en-US" sz="990" dirty="0">
                <a:solidFill>
                  <a:srgbClr val="16181D"/>
                </a:solidFill>
                <a:latin typeface="Courier New" pitchFamily="34" charset="0"/>
                <a:ea typeface="Courier New" pitchFamily="34" charset="-122"/>
                <a:cs typeface="Courier New" pitchFamily="34" charset="-120"/>
              </a:rPr>
              <a:t>.join(problemas)</a:t>
            </a:r>
            <a:endParaRPr lang="en-US" sz="990" dirty="0"/>
          </a:p>
        </p:txBody>
      </p:sp>
      <p:sp>
        <p:nvSpPr>
          <p:cNvPr id="31" name="s28-texto-30"/>
          <p:cNvSpPr txBox="1"/>
          <p:nvPr/>
        </p:nvSpPr>
        <p:spPr>
          <a:xfrm>
            <a:off x="1542529" y="4821833"/>
            <a:ext cx="5553106" cy="188531"/>
          </a:xfrm>
          <a:prstGeom prst="rect">
            <a:avLst/>
          </a:prstGeom>
          <a:noFill/>
          <a:ln/>
        </p:spPr>
        <p:txBody>
          <a:bodyPr wrap="none" lIns="0" tIns="0" rIns="0" bIns="0" rtlCol="0" anchor="t"/>
          <a:lstStyle/>
          <a:p>
            <a:pPr marL="0" indent="0" algn="l">
              <a:lnSpc>
                <a:spcPts val="1485"/>
              </a:lnSpc>
              <a:buNone/>
            </a:pPr>
            <a:r>
              <a:rPr lang="en-US" sz="990" dirty="0">
                <a:solidFill>
                  <a:srgbClr val="AC321E"/>
                </a:solidFill>
                <a:latin typeface="Courier New" pitchFamily="34" charset="0"/>
                <a:ea typeface="Courier New" pitchFamily="34" charset="-122"/>
                <a:cs typeface="Courier New" pitchFamily="34" charset="-120"/>
              </a:rPr>
              <a:t>raise</a:t>
            </a:r>
            <a:r>
              <a:rPr lang="en-US" sz="990" dirty="0">
                <a:solidFill>
                  <a:srgbClr val="16181D"/>
                </a:solidFill>
                <a:latin typeface="Courier New" pitchFamily="34" charset="0"/>
                <a:ea typeface="Courier New" pitchFamily="34" charset="-122"/>
                <a:cs typeface="Courier New" pitchFamily="34" charset="-120"/>
              </a:rPr>
              <a:t> RuntimeError(</a:t>
            </a:r>
            <a:r>
              <a:rPr lang="en-US" sz="990" dirty="0">
                <a:solidFill>
                  <a:srgbClr val="1B6A43"/>
                </a:solidFill>
                <a:latin typeface="Courier New" pitchFamily="34" charset="0"/>
                <a:ea typeface="Courier New" pitchFamily="34" charset="-122"/>
                <a:cs typeface="Courier New" pitchFamily="34" charset="-120"/>
              </a:rPr>
              <a:t>"Sigue habiendo problemas"</a:t>
            </a:r>
            <a:r>
              <a:rPr lang="en-US" sz="990" dirty="0">
                <a:solidFill>
                  <a:srgbClr val="16181D"/>
                </a:solidFill>
                <a:latin typeface="Courier New" pitchFamily="34" charset="0"/>
                <a:ea typeface="Courier New" pitchFamily="34" charset="-122"/>
                <a:cs typeface="Courier New" pitchFamily="34" charset="-120"/>
              </a:rPr>
              <a:t>)</a:t>
            </a:r>
            <a:endParaRPr lang="en-US" sz="990" dirty="0"/>
          </a:p>
        </p:txBody>
      </p:sp>
      <p:sp>
        <p:nvSpPr>
          <p:cNvPr id="32" name="s28-texto-31"/>
          <p:cNvSpPr txBox="1"/>
          <p:nvPr/>
        </p:nvSpPr>
        <p:spPr>
          <a:xfrm>
            <a:off x="7558394" y="2205246"/>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LO QUE LO DISTINGUE</a:t>
            </a:r>
            <a:endParaRPr lang="en-US" sz="990" dirty="0"/>
          </a:p>
        </p:txBody>
      </p:sp>
      <p:sp>
        <p:nvSpPr>
          <p:cNvPr id="33" name="s28-texto-32"/>
          <p:cNvSpPr txBox="1"/>
          <p:nvPr/>
        </p:nvSpPr>
        <p:spPr>
          <a:xfrm>
            <a:off x="7558394" y="2410916"/>
            <a:ext cx="3488173" cy="587197"/>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Un </a:t>
            </a:r>
            <a:r>
              <a:rPr lang="en-US" sz="1170" b="1" dirty="0">
                <a:solidFill>
                  <a:srgbClr val="0033A0"/>
                </a:solidFill>
                <a:latin typeface="Arial" pitchFamily="34" charset="0"/>
                <a:ea typeface="Arial" pitchFamily="34" charset="-122"/>
                <a:cs typeface="Arial" pitchFamily="34" charset="-120"/>
              </a:rPr>
              <a:t>for intento</a:t>
            </a:r>
            <a:r>
              <a:rPr lang="en-US" sz="1170" dirty="0">
                <a:solidFill>
                  <a:srgbClr val="16181D"/>
                </a:solidFill>
                <a:latin typeface="Arial" pitchFamily="34" charset="0"/>
                <a:ea typeface="Arial" pitchFamily="34" charset="-122"/>
                <a:cs typeface="Arial" pitchFamily="34" charset="-120"/>
              </a:rPr>
              <a:t> con tope: los problemas encontrados se agregan a la tarea del siguiente intento.</a:t>
            </a:r>
            <a:endParaRPr lang="en-US" sz="1170" dirty="0"/>
          </a:p>
        </p:txBody>
      </p:sp>
      <p:sp>
        <p:nvSpPr>
          <p:cNvPr id="34" name="s28-texto-33"/>
          <p:cNvSpPr txBox="1"/>
          <p:nvPr/>
        </p:nvSpPr>
        <p:spPr>
          <a:xfrm>
            <a:off x="7558394" y="3154598"/>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COMPÁRALO CON</a:t>
            </a:r>
            <a:endParaRPr lang="en-US" sz="990" dirty="0"/>
          </a:p>
        </p:txBody>
      </p:sp>
      <p:sp>
        <p:nvSpPr>
          <p:cNvPr id="35" name="s28-texto-34"/>
          <p:cNvSpPr txBox="1"/>
          <p:nvPr/>
        </p:nvSpPr>
        <p:spPr>
          <a:xfrm>
            <a:off x="7558394" y="3360268"/>
            <a:ext cx="3488173"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Evaluador-optimizador (sesión 2): allí el juez es independiente del generador.</a:t>
            </a:r>
            <a:endParaRPr lang="en-US" sz="1170" dirty="0"/>
          </a:p>
        </p:txBody>
      </p:sp>
      <p:sp>
        <p:nvSpPr>
          <p:cNvPr id="36" name="s28-texto-35"/>
          <p:cNvSpPr txBox="1"/>
          <p:nvPr/>
        </p:nvSpPr>
        <p:spPr>
          <a:xfrm>
            <a:off x="7558394" y="3896047"/>
            <a:ext cx="3488173"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EJECÚTALO</a:t>
            </a:r>
            <a:endParaRPr lang="en-US" sz="990" dirty="0"/>
          </a:p>
        </p:txBody>
      </p:sp>
      <p:sp>
        <p:nvSpPr>
          <p:cNvPr id="37" name="s28-forma-36"/>
          <p:cNvSpPr/>
          <p:nvPr/>
        </p:nvSpPr>
        <p:spPr>
          <a:xfrm>
            <a:off x="7558394" y="4084579"/>
            <a:ext cx="3290729" cy="289046"/>
          </a:xfrm>
          <a:prstGeom prst="rect">
            <a:avLst/>
          </a:prstGeom>
          <a:solidFill>
            <a:srgbClr val="E3DCCB"/>
          </a:solidFill>
          <a:ln/>
        </p:spPr>
        <p:txBody>
          <a:bodyPr/>
          <a:lstStyle/>
          <a:p>
            <a:endParaRPr lang="es-MX"/>
          </a:p>
        </p:txBody>
      </p:sp>
      <p:sp>
        <p:nvSpPr>
          <p:cNvPr id="38" name="s28-texto-37"/>
          <p:cNvSpPr txBox="1"/>
          <p:nvPr/>
        </p:nvSpPr>
        <p:spPr>
          <a:xfrm>
            <a:off x="7649803" y="4164562"/>
            <a:ext cx="3294386" cy="125688"/>
          </a:xfrm>
          <a:prstGeom prst="rect">
            <a:avLst/>
          </a:prstGeom>
          <a:noFill/>
          <a:ln/>
        </p:spPr>
        <p:txBody>
          <a:bodyPr wrap="none" lIns="0" tIns="0" rIns="0" bIns="0" rtlCol="0" anchor="t"/>
          <a:lstStyle/>
          <a:p>
            <a:pPr marL="0" indent="0" algn="l">
              <a:lnSpc>
                <a:spcPts val="1197"/>
              </a:lnSpc>
              <a:buNone/>
            </a:pPr>
            <a:r>
              <a:rPr lang="en-US" sz="855" dirty="0">
                <a:solidFill>
                  <a:srgbClr val="16181D"/>
                </a:solidFill>
                <a:latin typeface="Courier New" pitchFamily="34" charset="0"/>
                <a:ea typeface="Courier New" pitchFamily="34" charset="-122"/>
                <a:cs typeface="Courier New" pitchFamily="34" charset="-120"/>
              </a:rPr>
              <a:t>python -m ejemplos.s1_razonamiento.reflexion</a:t>
            </a:r>
            <a:endParaRPr lang="en-US" sz="855" dirty="0"/>
          </a:p>
        </p:txBody>
      </p:sp>
      <p:sp>
        <p:nvSpPr>
          <p:cNvPr id="39" name="s28-forma-38"/>
          <p:cNvSpPr/>
          <p:nvPr/>
        </p:nvSpPr>
        <p:spPr>
          <a:xfrm>
            <a:off x="7558394" y="4510738"/>
            <a:ext cx="3290729" cy="832859"/>
          </a:xfrm>
          <a:prstGeom prst="rect">
            <a:avLst/>
          </a:prstGeom>
          <a:solidFill>
            <a:srgbClr val="E2D3C2"/>
          </a:solidFill>
          <a:ln/>
        </p:spPr>
        <p:txBody>
          <a:bodyPr/>
          <a:lstStyle/>
          <a:p>
            <a:endParaRPr lang="es-MX"/>
          </a:p>
        </p:txBody>
      </p:sp>
      <p:sp>
        <p:nvSpPr>
          <p:cNvPr id="40" name="s28-texto-39"/>
          <p:cNvSpPr txBox="1"/>
          <p:nvPr/>
        </p:nvSpPr>
        <p:spPr>
          <a:xfrm>
            <a:off x="7695508" y="4624999"/>
            <a:ext cx="3197492" cy="142827"/>
          </a:xfrm>
          <a:prstGeom prst="rect">
            <a:avLst/>
          </a:prstGeom>
          <a:noFill/>
          <a:ln/>
        </p:spPr>
        <p:txBody>
          <a:bodyPr wrap="none" lIns="0" tIns="0" rIns="0" bIns="0" rtlCol="0" anchor="t"/>
          <a:lstStyle/>
          <a:p>
            <a:pPr marL="0" indent="0" algn="l">
              <a:lnSpc>
                <a:spcPts val="1188"/>
              </a:lnSpc>
              <a:buNone/>
            </a:pPr>
            <a:r>
              <a:rPr lang="en-US" sz="990" b="1" kern="0" spc="90" dirty="0">
                <a:solidFill>
                  <a:srgbClr val="0033A0"/>
                </a:solidFill>
                <a:latin typeface="Courier New" pitchFamily="34" charset="0"/>
                <a:ea typeface="Courier New" pitchFamily="34" charset="-122"/>
                <a:cs typeface="Courier New" pitchFamily="34" charset="-120"/>
              </a:rPr>
              <a:t>EN TU FÁBRICA</a:t>
            </a:r>
            <a:endParaRPr lang="en-US" sz="990" dirty="0"/>
          </a:p>
        </p:txBody>
      </p:sp>
      <p:sp>
        <p:nvSpPr>
          <p:cNvPr id="41" name="s28-texto-40"/>
          <p:cNvSpPr txBox="1"/>
          <p:nvPr/>
        </p:nvSpPr>
        <p:spPr>
          <a:xfrm>
            <a:off x="7695508" y="4830670"/>
            <a:ext cx="3197492" cy="379294"/>
          </a:xfrm>
          <a:prstGeom prst="rect">
            <a:avLst/>
          </a:prstGeom>
          <a:noFill/>
          <a:ln/>
        </p:spPr>
        <p:txBody>
          <a:bodyPr wrap="square" lIns="0" tIns="0" rIns="0" bIns="0" rtlCol="0" anchor="t"/>
          <a:lstStyle/>
          <a:p>
            <a:pPr marL="0" indent="0" algn="l">
              <a:lnSpc>
                <a:spcPts val="1637"/>
              </a:lnSpc>
              <a:buNone/>
            </a:pPr>
            <a:r>
              <a:rPr lang="en-US" sz="1170" dirty="0">
                <a:solidFill>
                  <a:srgbClr val="16181D"/>
                </a:solidFill>
                <a:latin typeface="Arial" pitchFamily="34" charset="0"/>
                <a:ea typeface="Arial" pitchFamily="34" charset="-122"/>
                <a:cs typeface="Arial" pitchFamily="34" charset="-120"/>
              </a:rPr>
              <a:t>agentes/analista.py → validar_gherkin() dentro de generar_criterios().</a:t>
            </a:r>
            <a:endParaRPr lang="en-US" sz="1170" dirty="0"/>
          </a:p>
        </p:txBody>
      </p:sp>
      <p:sp>
        <p:nvSpPr>
          <p:cNvPr id="42" name="s28-texto-41"/>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Fragmento simplificado de ejemplos/s1_razonamiento/reflexion.py · las líneas resaltadas son el patrón</a:t>
            </a:r>
            <a:endParaRPr lang="en-US" sz="1080" dirty="0"/>
          </a:p>
        </p:txBody>
      </p:sp>
      <p:sp>
        <p:nvSpPr>
          <p:cNvPr id="43" name="s28-forma-42"/>
          <p:cNvSpPr/>
          <p:nvPr/>
        </p:nvSpPr>
        <p:spPr>
          <a:xfrm>
            <a:off x="853390" y="6411138"/>
            <a:ext cx="10484915" cy="5713"/>
          </a:xfrm>
          <a:prstGeom prst="rect">
            <a:avLst/>
          </a:prstGeom>
          <a:solidFill>
            <a:srgbClr val="DBD4C4"/>
          </a:solidFill>
          <a:ln/>
        </p:spPr>
        <p:txBody>
          <a:bodyPr/>
          <a:lstStyle/>
          <a:p>
            <a:endParaRPr lang="es-MX"/>
          </a:p>
        </p:txBody>
      </p:sp>
      <p:pic>
        <p:nvPicPr>
          <p:cNvPr id="44" name="s28-logo-43" descr="preencoded.png"/>
          <p:cNvPicPr>
            <a:picLocks noChangeAspect="1"/>
          </p:cNvPicPr>
          <p:nvPr/>
        </p:nvPicPr>
        <p:blipFill>
          <a:blip r:embed="rId3"/>
          <a:stretch>
            <a:fillRect/>
          </a:stretch>
        </p:blipFill>
        <p:spPr>
          <a:xfrm>
            <a:off x="853390" y="6465055"/>
            <a:ext cx="687800" cy="212455"/>
          </a:xfrm>
          <a:prstGeom prst="rect">
            <a:avLst/>
          </a:prstGeom>
        </p:spPr>
      </p:pic>
      <p:sp>
        <p:nvSpPr>
          <p:cNvPr id="45" name="s28-forma-44"/>
          <p:cNvSpPr/>
          <p:nvPr/>
        </p:nvSpPr>
        <p:spPr>
          <a:xfrm>
            <a:off x="1659380" y="6519865"/>
            <a:ext cx="3057208" cy="102835"/>
          </a:xfrm>
          <a:prstGeom prst="rect">
            <a:avLst/>
          </a:prstGeom>
          <a:ln/>
        </p:spPr>
        <p:txBody>
          <a:bodyPr/>
          <a:lstStyle/>
          <a:p>
            <a:endParaRPr lang="es-MX"/>
          </a:p>
        </p:txBody>
      </p:sp>
      <p:sp>
        <p:nvSpPr>
          <p:cNvPr id="46" name="s28-forma-45"/>
          <p:cNvSpPr/>
          <p:nvPr/>
        </p:nvSpPr>
        <p:spPr>
          <a:xfrm>
            <a:off x="1659380" y="6519865"/>
            <a:ext cx="5713" cy="102835"/>
          </a:xfrm>
          <a:prstGeom prst="rect">
            <a:avLst/>
          </a:prstGeom>
          <a:solidFill>
            <a:srgbClr val="C6BFAE"/>
          </a:solidFill>
          <a:ln/>
        </p:spPr>
        <p:txBody>
          <a:bodyPr/>
          <a:lstStyle/>
          <a:p>
            <a:endParaRPr lang="es-MX"/>
          </a:p>
        </p:txBody>
      </p:sp>
      <p:sp>
        <p:nvSpPr>
          <p:cNvPr id="47" name="s28-texto-46"/>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48" name="s28-texto-47"/>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28 / 35</a:t>
            </a:r>
            <a:endParaRPr lang="en-US" sz="745" dirty="0"/>
          </a:p>
        </p:txBody>
      </p:sp>
      <p:sp>
        <p:nvSpPr>
          <p:cNvPr id="49" name="s28-forma-48"/>
          <p:cNvSpPr/>
          <p:nvPr/>
        </p:nvSpPr>
        <p:spPr>
          <a:xfrm>
            <a:off x="0" y="0"/>
            <a:ext cx="9753285" cy="17139"/>
          </a:xfrm>
          <a:prstGeom prst="rect">
            <a:avLst/>
          </a:prstGeom>
          <a:solidFill>
            <a:srgbClr val="0033A0"/>
          </a:solidFill>
          <a:ln/>
        </p:spPr>
        <p:txBody>
          <a:bodyPr/>
          <a:lstStyle/>
          <a:p>
            <a:endParaRPr lang="es-MX"/>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EDE8DC"/>
        </a:solidFill>
        <a:effectLst/>
      </p:bgPr>
    </p:bg>
    <p:spTree>
      <p:nvGrpSpPr>
        <p:cNvPr id="1" name=""/>
        <p:cNvGrpSpPr/>
        <p:nvPr/>
      </p:nvGrpSpPr>
      <p:grpSpPr>
        <a:xfrm>
          <a:off x="0" y="0"/>
          <a:ext cx="0" cy="0"/>
          <a:chOff x="0" y="0"/>
          <a:chExt cx="0" cy="0"/>
        </a:xfrm>
      </p:grpSpPr>
      <p:sp>
        <p:nvSpPr>
          <p:cNvPr id="2" name="s29-forma-1"/>
          <p:cNvSpPr/>
          <p:nvPr/>
        </p:nvSpPr>
        <p:spPr>
          <a:xfrm>
            <a:off x="853390" y="520961"/>
            <a:ext cx="10484915" cy="5713"/>
          </a:xfrm>
          <a:prstGeom prst="rect">
            <a:avLst/>
          </a:prstGeom>
          <a:solidFill>
            <a:srgbClr val="C6BFAE"/>
          </a:solidFill>
          <a:ln/>
        </p:spPr>
        <p:txBody>
          <a:bodyPr/>
          <a:lstStyle/>
          <a:p>
            <a:endParaRPr lang="es-MX"/>
          </a:p>
        </p:txBody>
      </p:sp>
      <p:sp>
        <p:nvSpPr>
          <p:cNvPr id="3" name="s29-forma-2"/>
          <p:cNvSpPr/>
          <p:nvPr/>
        </p:nvSpPr>
        <p:spPr>
          <a:xfrm>
            <a:off x="853390" y="331715"/>
            <a:ext cx="81411" cy="81411"/>
          </a:xfrm>
          <a:prstGeom prst="ellipse">
            <a:avLst/>
          </a:prstGeom>
          <a:solidFill>
            <a:srgbClr val="0E6871"/>
          </a:solidFill>
          <a:ln/>
        </p:spPr>
        <p:txBody>
          <a:bodyPr/>
          <a:lstStyle/>
          <a:p>
            <a:endParaRPr lang="es-MX"/>
          </a:p>
        </p:txBody>
      </p:sp>
      <p:sp>
        <p:nvSpPr>
          <p:cNvPr id="4" name="s29-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E6871"/>
                </a:solidFill>
                <a:latin typeface="Courier New" pitchFamily="34" charset="0"/>
                <a:ea typeface="Courier New" pitchFamily="34" charset="-122"/>
                <a:cs typeface="Courier New" pitchFamily="34" charset="-120"/>
              </a:rPr>
              <a:t>ACOMPAÑA</a:t>
            </a:r>
            <a:endParaRPr lang="en-US" sz="807" dirty="0"/>
          </a:p>
        </p:txBody>
      </p:sp>
      <p:sp>
        <p:nvSpPr>
          <p:cNvPr id="5" name="s2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1:10 · 10 min</a:t>
            </a:r>
            <a:endParaRPr lang="en-US" sz="807" dirty="0"/>
          </a:p>
        </p:txBody>
      </p:sp>
      <p:sp>
        <p:nvSpPr>
          <p:cNvPr id="6" name="s29-forma-5"/>
          <p:cNvSpPr/>
          <p:nvPr/>
        </p:nvSpPr>
        <p:spPr>
          <a:xfrm>
            <a:off x="5885535" y="2400561"/>
            <a:ext cx="420446" cy="17139"/>
          </a:xfrm>
          <a:prstGeom prst="rect">
            <a:avLst/>
          </a:prstGeom>
          <a:solidFill>
            <a:srgbClr val="0033A0"/>
          </a:solidFill>
          <a:ln/>
        </p:spPr>
        <p:txBody>
          <a:bodyPr/>
          <a:lstStyle/>
          <a:p>
            <a:endParaRPr lang="es-MX"/>
          </a:p>
        </p:txBody>
      </p:sp>
      <p:sp>
        <p:nvSpPr>
          <p:cNvPr id="7" name="s29-texto-6"/>
          <p:cNvSpPr txBox="1"/>
          <p:nvPr/>
        </p:nvSpPr>
        <p:spPr>
          <a:xfrm>
            <a:off x="538843" y="2543388"/>
            <a:ext cx="11114010" cy="377063"/>
          </a:xfrm>
          <a:prstGeom prst="rect">
            <a:avLst/>
          </a:prstGeom>
          <a:noFill/>
          <a:ln/>
        </p:spPr>
        <p:txBody>
          <a:bodyPr wrap="none" lIns="0" tIns="0" rIns="0" bIns="0" rtlCol="0" anchor="t"/>
          <a:lstStyle/>
          <a:p>
            <a:pPr marL="0" indent="0" algn="ctr">
              <a:lnSpc>
                <a:spcPts val="2890"/>
              </a:lnSpc>
              <a:buNone/>
            </a:pPr>
            <a:r>
              <a:rPr lang="en-US" sz="2535" b="1" kern="0" spc="-38" dirty="0">
                <a:solidFill>
                  <a:srgbClr val="16181D"/>
                </a:solidFill>
                <a:latin typeface="Georgia" pitchFamily="34" charset="0"/>
                <a:ea typeface="Georgia" pitchFamily="34" charset="-122"/>
                <a:cs typeface="Georgia" pitchFamily="34" charset="-120"/>
              </a:rPr>
              <a:t>DESCANSO</a:t>
            </a:r>
            <a:endParaRPr lang="en-US" sz="2535" dirty="0"/>
          </a:p>
        </p:txBody>
      </p:sp>
      <p:sp>
        <p:nvSpPr>
          <p:cNvPr id="8" name="s29-texto-7"/>
          <p:cNvSpPr txBox="1"/>
          <p:nvPr/>
        </p:nvSpPr>
        <p:spPr>
          <a:xfrm>
            <a:off x="538843" y="3270644"/>
            <a:ext cx="11114010" cy="816969"/>
          </a:xfrm>
          <a:prstGeom prst="rect">
            <a:avLst/>
          </a:prstGeom>
          <a:noFill/>
          <a:ln/>
        </p:spPr>
        <p:txBody>
          <a:bodyPr wrap="none" lIns="0" tIns="0" rIns="0" bIns="0" rtlCol="0" anchor="t"/>
          <a:lstStyle/>
          <a:p>
            <a:pPr marL="0" indent="0" algn="ctr">
              <a:lnSpc>
                <a:spcPts val="6829"/>
              </a:lnSpc>
              <a:buNone/>
            </a:pPr>
            <a:r>
              <a:rPr lang="en-US" sz="5691" b="1" dirty="0">
                <a:solidFill>
                  <a:srgbClr val="0E6871"/>
                </a:solidFill>
                <a:latin typeface="Courier New" pitchFamily="34" charset="0"/>
                <a:ea typeface="Courier New" pitchFamily="34" charset="-122"/>
                <a:cs typeface="Courier New" pitchFamily="34" charset="-120"/>
              </a:rPr>
              <a:t>10:00</a:t>
            </a:r>
            <a:endParaRPr lang="en-US" sz="5691" dirty="0"/>
          </a:p>
        </p:txBody>
      </p:sp>
      <p:sp>
        <p:nvSpPr>
          <p:cNvPr id="9" name="s29-texto-8"/>
          <p:cNvSpPr txBox="1"/>
          <p:nvPr/>
        </p:nvSpPr>
        <p:spPr>
          <a:xfrm>
            <a:off x="538843" y="4305782"/>
            <a:ext cx="11114010" cy="177105"/>
          </a:xfrm>
          <a:prstGeom prst="rect">
            <a:avLst/>
          </a:prstGeom>
          <a:noFill/>
          <a:ln/>
        </p:spPr>
        <p:txBody>
          <a:bodyPr wrap="none" lIns="0" tIns="0" rIns="0" bIns="0" rtlCol="0" anchor="t"/>
          <a:lstStyle/>
          <a:p>
            <a:pPr marL="0" indent="0" algn="ctr">
              <a:lnSpc>
                <a:spcPts val="1987"/>
              </a:lnSpc>
              <a:buNone/>
            </a:pPr>
            <a:r>
              <a:rPr lang="en-US" sz="1242" dirty="0">
                <a:solidFill>
                  <a:srgbClr val="585E6F"/>
                </a:solidFill>
                <a:latin typeface="Arial" pitchFamily="34" charset="0"/>
                <a:ea typeface="Arial" pitchFamily="34" charset="-122"/>
                <a:cs typeface="Arial" pitchFamily="34" charset="-120"/>
              </a:rPr>
              <a:t>Volvemos con el Lab 1: tus dos primeros agentes.</a:t>
            </a:r>
            <a:endParaRPr lang="en-US" sz="1242" dirty="0"/>
          </a:p>
        </p:txBody>
      </p:sp>
      <p:sp>
        <p:nvSpPr>
          <p:cNvPr id="10" name="s29-forma-9"/>
          <p:cNvSpPr/>
          <p:nvPr/>
        </p:nvSpPr>
        <p:spPr>
          <a:xfrm>
            <a:off x="853390" y="6411138"/>
            <a:ext cx="10484915" cy="5713"/>
          </a:xfrm>
          <a:prstGeom prst="rect">
            <a:avLst/>
          </a:prstGeom>
          <a:solidFill>
            <a:srgbClr val="DBD4C4"/>
          </a:solidFill>
          <a:ln/>
        </p:spPr>
        <p:txBody>
          <a:bodyPr/>
          <a:lstStyle/>
          <a:p>
            <a:endParaRPr lang="es-MX"/>
          </a:p>
        </p:txBody>
      </p:sp>
      <p:pic>
        <p:nvPicPr>
          <p:cNvPr id="11" name="s29-logo-10" descr="preencoded.png"/>
          <p:cNvPicPr>
            <a:picLocks noChangeAspect="1"/>
          </p:cNvPicPr>
          <p:nvPr/>
        </p:nvPicPr>
        <p:blipFill>
          <a:blip r:embed="rId3"/>
          <a:stretch>
            <a:fillRect/>
          </a:stretch>
        </p:blipFill>
        <p:spPr>
          <a:xfrm>
            <a:off x="853390" y="6465055"/>
            <a:ext cx="687800" cy="212455"/>
          </a:xfrm>
          <a:prstGeom prst="rect">
            <a:avLst/>
          </a:prstGeom>
        </p:spPr>
      </p:pic>
      <p:sp>
        <p:nvSpPr>
          <p:cNvPr id="12" name="s29-forma-11"/>
          <p:cNvSpPr/>
          <p:nvPr/>
        </p:nvSpPr>
        <p:spPr>
          <a:xfrm>
            <a:off x="1659380" y="6519865"/>
            <a:ext cx="3057208" cy="102835"/>
          </a:xfrm>
          <a:prstGeom prst="rect">
            <a:avLst/>
          </a:prstGeom>
          <a:ln/>
        </p:spPr>
        <p:txBody>
          <a:bodyPr/>
          <a:lstStyle/>
          <a:p>
            <a:endParaRPr lang="es-MX"/>
          </a:p>
        </p:txBody>
      </p:sp>
      <p:sp>
        <p:nvSpPr>
          <p:cNvPr id="13" name="s29-forma-12"/>
          <p:cNvSpPr/>
          <p:nvPr/>
        </p:nvSpPr>
        <p:spPr>
          <a:xfrm>
            <a:off x="1659380" y="6519865"/>
            <a:ext cx="5713" cy="102835"/>
          </a:xfrm>
          <a:prstGeom prst="rect">
            <a:avLst/>
          </a:prstGeom>
          <a:solidFill>
            <a:srgbClr val="C6BFAE"/>
          </a:solidFill>
          <a:ln/>
        </p:spPr>
        <p:txBody>
          <a:bodyPr/>
          <a:lstStyle/>
          <a:p>
            <a:endParaRPr lang="es-MX"/>
          </a:p>
        </p:txBody>
      </p:sp>
      <p:sp>
        <p:nvSpPr>
          <p:cNvPr id="14" name="s29-texto-13"/>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5" name="s29-texto-1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29 / 35</a:t>
            </a:r>
            <a:endParaRPr lang="en-US" sz="745" dirty="0"/>
          </a:p>
        </p:txBody>
      </p:sp>
      <p:sp>
        <p:nvSpPr>
          <p:cNvPr id="16" name="s29-forma-15"/>
          <p:cNvSpPr/>
          <p:nvPr/>
        </p:nvSpPr>
        <p:spPr>
          <a:xfrm>
            <a:off x="0" y="0"/>
            <a:ext cx="10101604" cy="17139"/>
          </a:xfrm>
          <a:prstGeom prst="rect">
            <a:avLst/>
          </a:prstGeom>
          <a:solidFill>
            <a:srgbClr val="0033A0"/>
          </a:solidFill>
          <a:ln/>
        </p:spPr>
        <p:txBody>
          <a:bodyPr/>
          <a:lstStyle/>
          <a:p>
            <a:endParaRPr lang="es-MX"/>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EDE8DC"/>
        </a:solidFill>
        <a:effectLst/>
      </p:bgPr>
    </p:bg>
    <p:spTree>
      <p:nvGrpSpPr>
        <p:cNvPr id="1" name=""/>
        <p:cNvGrpSpPr/>
        <p:nvPr/>
      </p:nvGrpSpPr>
      <p:grpSpPr>
        <a:xfrm>
          <a:off x="0" y="0"/>
          <a:ext cx="0" cy="0"/>
          <a:chOff x="0" y="0"/>
          <a:chExt cx="0" cy="0"/>
        </a:xfrm>
      </p:grpSpPr>
      <p:sp>
        <p:nvSpPr>
          <p:cNvPr id="2" name="s31-forma-1"/>
          <p:cNvSpPr/>
          <p:nvPr/>
        </p:nvSpPr>
        <p:spPr>
          <a:xfrm>
            <a:off x="853390" y="520961"/>
            <a:ext cx="10484915" cy="5713"/>
          </a:xfrm>
          <a:prstGeom prst="rect">
            <a:avLst/>
          </a:prstGeom>
          <a:solidFill>
            <a:srgbClr val="C6BFAE"/>
          </a:solidFill>
          <a:ln/>
        </p:spPr>
        <p:txBody>
          <a:bodyPr/>
          <a:lstStyle/>
          <a:p>
            <a:endParaRPr lang="es-MX"/>
          </a:p>
        </p:txBody>
      </p:sp>
      <p:sp>
        <p:nvSpPr>
          <p:cNvPr id="3" name="s31-forma-2"/>
          <p:cNvSpPr/>
          <p:nvPr/>
        </p:nvSpPr>
        <p:spPr>
          <a:xfrm>
            <a:off x="853390" y="331715"/>
            <a:ext cx="81411" cy="81411"/>
          </a:xfrm>
          <a:prstGeom prst="ellipse">
            <a:avLst/>
          </a:prstGeom>
          <a:solidFill>
            <a:srgbClr val="1B6A43"/>
          </a:solidFill>
          <a:ln/>
        </p:spPr>
        <p:txBody>
          <a:bodyPr/>
          <a:lstStyle/>
          <a:p>
            <a:endParaRPr lang="es-MX"/>
          </a:p>
        </p:txBody>
      </p:sp>
      <p:sp>
        <p:nvSpPr>
          <p:cNvPr id="4" name="s31-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5" name="s31-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1:20 · 20 min</a:t>
            </a:r>
            <a:endParaRPr lang="en-US" sz="807" dirty="0"/>
          </a:p>
        </p:txBody>
      </p:sp>
      <p:sp>
        <p:nvSpPr>
          <p:cNvPr id="6" name="s31-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LAB 1 · 55 MIN · INDIVIDUAL</a:t>
            </a:r>
            <a:endParaRPr lang="en-US" sz="900" dirty="0"/>
          </a:p>
        </p:txBody>
      </p:sp>
      <p:sp>
        <p:nvSpPr>
          <p:cNvPr id="7" name="s31-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Tus dos primeros agentes</a:t>
            </a:r>
            <a:endParaRPr lang="en-US" sz="2879" dirty="0"/>
          </a:p>
        </p:txBody>
      </p:sp>
      <p:sp>
        <p:nvSpPr>
          <p:cNvPr id="8" name="s31-forma-7"/>
          <p:cNvSpPr/>
          <p:nvPr/>
        </p:nvSpPr>
        <p:spPr>
          <a:xfrm>
            <a:off x="1342572" y="2144634"/>
            <a:ext cx="3046942" cy="2011894"/>
          </a:xfrm>
          <a:prstGeom prst="rect">
            <a:avLst/>
          </a:prstGeom>
          <a:solidFill>
            <a:srgbClr val="EDE8DC"/>
          </a:solidFill>
          <a:ln w="5713">
            <a:solidFill>
              <a:srgbClr val="C6BFAE"/>
            </a:solidFill>
            <a:prstDash val="solid"/>
          </a:ln>
        </p:spPr>
        <p:txBody>
          <a:bodyPr/>
          <a:lstStyle/>
          <a:p>
            <a:endParaRPr lang="es-MX"/>
          </a:p>
        </p:txBody>
      </p:sp>
      <p:sp>
        <p:nvSpPr>
          <p:cNvPr id="9" name="s31-texto-8"/>
          <p:cNvSpPr txBox="1"/>
          <p:nvPr/>
        </p:nvSpPr>
        <p:spPr>
          <a:xfrm>
            <a:off x="155395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1A · 20 MIN</a:t>
            </a:r>
            <a:endParaRPr lang="en-US" sz="900" dirty="0"/>
          </a:p>
        </p:txBody>
      </p:sp>
      <p:sp>
        <p:nvSpPr>
          <p:cNvPr id="10" name="s31-texto-9"/>
          <p:cNvSpPr txBox="1"/>
          <p:nvPr/>
        </p:nvSpPr>
        <p:spPr>
          <a:xfrm>
            <a:off x="155395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EL CICLO</a:t>
            </a:r>
            <a:endParaRPr lang="en-US" sz="1619" dirty="0"/>
          </a:p>
        </p:txBody>
      </p:sp>
      <p:sp>
        <p:nvSpPr>
          <p:cNvPr id="11" name="s31-texto-10"/>
          <p:cNvSpPr txBox="1"/>
          <p:nvPr/>
        </p:nvSpPr>
        <p:spPr>
          <a:xfrm>
            <a:off x="155395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Completa ejecutar_agente y prueba que leer secretos_demo.txt falla.</a:t>
            </a:r>
            <a:endParaRPr lang="en-US" sz="1170" dirty="0"/>
          </a:p>
        </p:txBody>
      </p:sp>
      <p:sp>
        <p:nvSpPr>
          <p:cNvPr id="12" name="s31-forma-11"/>
          <p:cNvSpPr/>
          <p:nvPr/>
        </p:nvSpPr>
        <p:spPr>
          <a:xfrm>
            <a:off x="1553956" y="3424183"/>
            <a:ext cx="2624175" cy="520961"/>
          </a:xfrm>
          <a:prstGeom prst="rect">
            <a:avLst/>
          </a:prstGeom>
          <a:solidFill>
            <a:srgbClr val="E3DCCB"/>
          </a:solidFill>
          <a:ln/>
        </p:spPr>
        <p:txBody>
          <a:bodyPr/>
          <a:lstStyle/>
          <a:p>
            <a:endParaRPr lang="es-MX"/>
          </a:p>
        </p:txBody>
      </p:sp>
      <p:sp>
        <p:nvSpPr>
          <p:cNvPr id="13" name="s31-texto-12"/>
          <p:cNvSpPr txBox="1"/>
          <p:nvPr/>
        </p:nvSpPr>
        <p:spPr>
          <a:xfrm>
            <a:off x="1668217" y="3509879"/>
            <a:ext cx="2539391" cy="346176"/>
          </a:xfrm>
          <a:prstGeom prst="rect">
            <a:avLst/>
          </a:prstGeom>
          <a:noFill/>
          <a:ln/>
        </p:spPr>
        <p:txBody>
          <a:bodyPr wrap="squar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Control:</a:t>
            </a:r>
            <a:r>
              <a:rPr lang="en-US" sz="1080" dirty="0">
                <a:solidFill>
                  <a:srgbClr val="16181D"/>
                </a:solidFill>
                <a:latin typeface="Arial" pitchFamily="34" charset="0"/>
                <a:ea typeface="Arial" pitchFamily="34" charset="-122"/>
                <a:cs typeface="Arial" pitchFamily="34" charset="-120"/>
              </a:rPr>
              <a:t> explicas qué pasa con un PermissionError</a:t>
            </a:r>
            <a:endParaRPr lang="en-US" sz="1080" dirty="0"/>
          </a:p>
        </p:txBody>
      </p:sp>
      <p:sp>
        <p:nvSpPr>
          <p:cNvPr id="14" name="s31-forma-13"/>
          <p:cNvSpPr/>
          <p:nvPr/>
        </p:nvSpPr>
        <p:spPr>
          <a:xfrm>
            <a:off x="4572332" y="2144634"/>
            <a:ext cx="3046942" cy="2011894"/>
          </a:xfrm>
          <a:prstGeom prst="rect">
            <a:avLst/>
          </a:prstGeom>
          <a:solidFill>
            <a:srgbClr val="EDE8DC"/>
          </a:solidFill>
          <a:ln w="5713">
            <a:solidFill>
              <a:srgbClr val="C6BFAE"/>
            </a:solidFill>
            <a:prstDash val="solid"/>
          </a:ln>
        </p:spPr>
        <p:txBody>
          <a:bodyPr/>
          <a:lstStyle/>
          <a:p>
            <a:endParaRPr lang="es-MX"/>
          </a:p>
        </p:txBody>
      </p:sp>
      <p:sp>
        <p:nvSpPr>
          <p:cNvPr id="15" name="s31-texto-14"/>
          <p:cNvSpPr txBox="1"/>
          <p:nvPr/>
        </p:nvSpPr>
        <p:spPr>
          <a:xfrm>
            <a:off x="478371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1B · 20 MIN</a:t>
            </a:r>
            <a:endParaRPr lang="en-US" sz="900" dirty="0"/>
          </a:p>
        </p:txBody>
      </p:sp>
      <p:sp>
        <p:nvSpPr>
          <p:cNvPr id="16" name="s31-texto-15"/>
          <p:cNvSpPr txBox="1"/>
          <p:nvPr/>
        </p:nvSpPr>
        <p:spPr>
          <a:xfrm>
            <a:off x="478371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AGENTE 1 · ANALISTA</a:t>
            </a:r>
            <a:endParaRPr lang="en-US" sz="1619" dirty="0"/>
          </a:p>
        </p:txBody>
      </p:sp>
      <p:sp>
        <p:nvSpPr>
          <p:cNvPr id="17" name="s31-texto-16"/>
          <p:cNvSpPr txBox="1"/>
          <p:nvPr/>
        </p:nvSpPr>
        <p:spPr>
          <a:xfrm>
            <a:off x="478371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HU-01 → criterios.feature, con reflexión si el validador falla.</a:t>
            </a:r>
            <a:endParaRPr lang="en-US" sz="1170" dirty="0"/>
          </a:p>
        </p:txBody>
      </p:sp>
      <p:sp>
        <p:nvSpPr>
          <p:cNvPr id="18" name="s31-forma-17"/>
          <p:cNvSpPr/>
          <p:nvPr/>
        </p:nvSpPr>
        <p:spPr>
          <a:xfrm>
            <a:off x="4783716" y="3424183"/>
            <a:ext cx="2624175" cy="520961"/>
          </a:xfrm>
          <a:prstGeom prst="rect">
            <a:avLst/>
          </a:prstGeom>
          <a:solidFill>
            <a:srgbClr val="E3DCCB"/>
          </a:solidFill>
          <a:ln/>
        </p:spPr>
        <p:txBody>
          <a:bodyPr/>
          <a:lstStyle/>
          <a:p>
            <a:endParaRPr lang="es-MX"/>
          </a:p>
        </p:txBody>
      </p:sp>
      <p:sp>
        <p:nvSpPr>
          <p:cNvPr id="19" name="s31-texto-18"/>
          <p:cNvSpPr txBox="1"/>
          <p:nvPr/>
        </p:nvSpPr>
        <p:spPr>
          <a:xfrm>
            <a:off x="4897977" y="3509879"/>
            <a:ext cx="2539391" cy="346176"/>
          </a:xfrm>
          <a:prstGeom prst="rect">
            <a:avLst/>
          </a:prstGeom>
          <a:noFill/>
          <a:ln/>
        </p:spPr>
        <p:txBody>
          <a:bodyPr wrap="squar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Control:</a:t>
            </a:r>
            <a:r>
              <a:rPr lang="en-US" sz="1080" dirty="0">
                <a:solidFill>
                  <a:srgbClr val="16181D"/>
                </a:solidFill>
                <a:latin typeface="Arial" pitchFamily="34" charset="0"/>
                <a:ea typeface="Arial" pitchFamily="34" charset="-122"/>
                <a:cs typeface="Arial" pitchFamily="34" charset="-120"/>
              </a:rPr>
              <a:t> un escenario de error por regla</a:t>
            </a:r>
            <a:endParaRPr lang="en-US" sz="1080" dirty="0"/>
          </a:p>
        </p:txBody>
      </p:sp>
      <p:sp>
        <p:nvSpPr>
          <p:cNvPr id="20" name="s31-forma-19"/>
          <p:cNvSpPr/>
          <p:nvPr/>
        </p:nvSpPr>
        <p:spPr>
          <a:xfrm>
            <a:off x="7802092" y="2144634"/>
            <a:ext cx="3046942" cy="2011894"/>
          </a:xfrm>
          <a:prstGeom prst="rect">
            <a:avLst/>
          </a:prstGeom>
          <a:solidFill>
            <a:srgbClr val="EDE8DC"/>
          </a:solidFill>
          <a:ln w="5713">
            <a:solidFill>
              <a:srgbClr val="C6BFAE"/>
            </a:solidFill>
            <a:prstDash val="solid"/>
          </a:ln>
        </p:spPr>
        <p:txBody>
          <a:bodyPr/>
          <a:lstStyle/>
          <a:p>
            <a:endParaRPr lang="es-MX"/>
          </a:p>
        </p:txBody>
      </p:sp>
      <p:sp>
        <p:nvSpPr>
          <p:cNvPr id="21" name="s31-texto-20"/>
          <p:cNvSpPr txBox="1"/>
          <p:nvPr/>
        </p:nvSpPr>
        <p:spPr>
          <a:xfrm>
            <a:off x="801347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1C · 15 MIN</a:t>
            </a:r>
            <a:endParaRPr lang="en-US" sz="900" dirty="0"/>
          </a:p>
        </p:txBody>
      </p:sp>
      <p:sp>
        <p:nvSpPr>
          <p:cNvPr id="22" name="s31-texto-21"/>
          <p:cNvSpPr txBox="1"/>
          <p:nvPr/>
        </p:nvSpPr>
        <p:spPr>
          <a:xfrm>
            <a:off x="801347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AGENTE 2 · DISEÑADOR</a:t>
            </a:r>
            <a:endParaRPr lang="en-US" sz="1619" dirty="0"/>
          </a:p>
        </p:txBody>
      </p:sp>
      <p:sp>
        <p:nvSpPr>
          <p:cNvPr id="23" name="s31-texto-22"/>
          <p:cNvSpPr txBox="1"/>
          <p:nvPr/>
        </p:nvSpPr>
        <p:spPr>
          <a:xfrm>
            <a:off x="801347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Criterios → casos_prueba.json con niveles api y e2e.</a:t>
            </a:r>
            <a:endParaRPr lang="en-US" sz="1170" dirty="0"/>
          </a:p>
        </p:txBody>
      </p:sp>
      <p:sp>
        <p:nvSpPr>
          <p:cNvPr id="24" name="s31-forma-23"/>
          <p:cNvSpPr/>
          <p:nvPr/>
        </p:nvSpPr>
        <p:spPr>
          <a:xfrm>
            <a:off x="8013476" y="3424183"/>
            <a:ext cx="2624175" cy="329037"/>
          </a:xfrm>
          <a:prstGeom prst="rect">
            <a:avLst/>
          </a:prstGeom>
          <a:solidFill>
            <a:srgbClr val="E3DCCB"/>
          </a:solidFill>
          <a:ln/>
        </p:spPr>
        <p:txBody>
          <a:bodyPr/>
          <a:lstStyle/>
          <a:p>
            <a:endParaRPr lang="es-MX"/>
          </a:p>
        </p:txBody>
      </p:sp>
      <p:sp>
        <p:nvSpPr>
          <p:cNvPr id="25" name="s31-texto-24"/>
          <p:cNvSpPr txBox="1"/>
          <p:nvPr/>
        </p:nvSpPr>
        <p:spPr>
          <a:xfrm>
            <a:off x="8127737" y="3509879"/>
            <a:ext cx="2539391" cy="154253"/>
          </a:xfrm>
          <a:prstGeom prst="rect">
            <a:avLst/>
          </a:prstGeom>
          <a:noFill/>
          <a:ln/>
        </p:spPr>
        <p:txBody>
          <a:bodyPr wrap="none" lIns="0" tIns="0" rIns="0" bIns="0" rtlCol="0" anchor="t"/>
          <a:lstStyle/>
          <a:p>
            <a:pPr marL="0" indent="0" algn="l">
              <a:lnSpc>
                <a:spcPts val="1512"/>
              </a:lnSpc>
              <a:buNone/>
            </a:pPr>
            <a:r>
              <a:rPr lang="en-US" sz="1080" b="1" dirty="0">
                <a:solidFill>
                  <a:srgbClr val="0033A0"/>
                </a:solidFill>
                <a:latin typeface="Arial" pitchFamily="34" charset="0"/>
                <a:ea typeface="Arial" pitchFamily="34" charset="-122"/>
                <a:cs typeface="Arial" pitchFamily="34" charset="-120"/>
              </a:rPr>
              <a:t>Control:</a:t>
            </a:r>
            <a:r>
              <a:rPr lang="en-US" sz="1080" dirty="0">
                <a:solidFill>
                  <a:srgbClr val="16181D"/>
                </a:solidFill>
                <a:latin typeface="Arial" pitchFamily="34" charset="0"/>
                <a:ea typeface="Arial" pitchFamily="34" charset="-122"/>
                <a:cs typeface="Arial" pitchFamily="34" charset="-120"/>
              </a:rPr>
              <a:t> cada escenario tiene un caso</a:t>
            </a:r>
            <a:endParaRPr lang="en-US" sz="1080" dirty="0"/>
          </a:p>
        </p:txBody>
      </p:sp>
      <p:sp>
        <p:nvSpPr>
          <p:cNvPr id="26" name="s31-forma-25"/>
          <p:cNvSpPr/>
          <p:nvPr/>
        </p:nvSpPr>
        <p:spPr>
          <a:xfrm>
            <a:off x="1342572" y="4430755"/>
            <a:ext cx="9506551" cy="742699"/>
          </a:xfrm>
          <a:prstGeom prst="rect">
            <a:avLst/>
          </a:prstGeom>
          <a:solidFill>
            <a:srgbClr val="E8E2D5"/>
          </a:solidFill>
          <a:ln/>
        </p:spPr>
        <p:txBody>
          <a:bodyPr/>
          <a:lstStyle/>
          <a:p>
            <a:endParaRPr lang="es-MX"/>
          </a:p>
        </p:txBody>
      </p:sp>
      <p:sp>
        <p:nvSpPr>
          <p:cNvPr id="27" name="s31-forma-26"/>
          <p:cNvSpPr/>
          <p:nvPr/>
        </p:nvSpPr>
        <p:spPr>
          <a:xfrm>
            <a:off x="1342572" y="4430755"/>
            <a:ext cx="9506551" cy="5713"/>
          </a:xfrm>
          <a:prstGeom prst="rect">
            <a:avLst/>
          </a:prstGeom>
          <a:solidFill>
            <a:srgbClr val="DBD4C4"/>
          </a:solidFill>
          <a:ln/>
        </p:spPr>
        <p:txBody>
          <a:bodyPr/>
          <a:lstStyle/>
          <a:p>
            <a:endParaRPr lang="es-MX"/>
          </a:p>
        </p:txBody>
      </p:sp>
      <p:sp>
        <p:nvSpPr>
          <p:cNvPr id="28" name="s31-forma-27"/>
          <p:cNvSpPr/>
          <p:nvPr/>
        </p:nvSpPr>
        <p:spPr>
          <a:xfrm>
            <a:off x="1342572" y="5167741"/>
            <a:ext cx="9506551" cy="5713"/>
          </a:xfrm>
          <a:prstGeom prst="rect">
            <a:avLst/>
          </a:prstGeom>
          <a:solidFill>
            <a:srgbClr val="DBD4C4"/>
          </a:solidFill>
          <a:ln/>
        </p:spPr>
        <p:txBody>
          <a:bodyPr/>
          <a:lstStyle/>
          <a:p>
            <a:endParaRPr lang="es-MX"/>
          </a:p>
        </p:txBody>
      </p:sp>
      <p:sp>
        <p:nvSpPr>
          <p:cNvPr id="29" name="s31-forma-28"/>
          <p:cNvSpPr/>
          <p:nvPr/>
        </p:nvSpPr>
        <p:spPr>
          <a:xfrm>
            <a:off x="1342572" y="4430755"/>
            <a:ext cx="17139" cy="742699"/>
          </a:xfrm>
          <a:prstGeom prst="rect">
            <a:avLst/>
          </a:prstGeom>
          <a:solidFill>
            <a:srgbClr val="C6BFAE"/>
          </a:solidFill>
          <a:ln/>
        </p:spPr>
        <p:txBody>
          <a:bodyPr/>
          <a:lstStyle/>
          <a:p>
            <a:endParaRPr lang="es-MX"/>
          </a:p>
        </p:txBody>
      </p:sp>
      <p:sp>
        <p:nvSpPr>
          <p:cNvPr id="30" name="s31-forma-29"/>
          <p:cNvSpPr/>
          <p:nvPr/>
        </p:nvSpPr>
        <p:spPr>
          <a:xfrm>
            <a:off x="10843410" y="4430755"/>
            <a:ext cx="5713" cy="742699"/>
          </a:xfrm>
          <a:prstGeom prst="rect">
            <a:avLst/>
          </a:prstGeom>
          <a:solidFill>
            <a:srgbClr val="DBD4C4"/>
          </a:solidFill>
          <a:ln/>
        </p:spPr>
        <p:txBody>
          <a:bodyPr/>
          <a:lstStyle/>
          <a:p>
            <a:endParaRPr lang="es-MX"/>
          </a:p>
        </p:txBody>
      </p:sp>
      <p:sp>
        <p:nvSpPr>
          <p:cNvPr id="31" name="s31-texto-30"/>
          <p:cNvSpPr txBox="1"/>
          <p:nvPr/>
        </p:nvSpPr>
        <p:spPr>
          <a:xfrm>
            <a:off x="1588234" y="4619286"/>
            <a:ext cx="9568253" cy="359924"/>
          </a:xfrm>
          <a:prstGeom prst="rect">
            <a:avLst/>
          </a:prstGeom>
          <a:noFill/>
          <a:ln/>
        </p:spPr>
        <p:txBody>
          <a:bodyPr wrap="square" lIns="0" tIns="0" rIns="0" bIns="0" rtlCol="0" anchor="t"/>
          <a:lstStyle/>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agentes.analista historias/HU-01-registrar-empleado.md</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agentes.disenador_pruebas salida/HU-01/criterios.feature</a:t>
            </a:r>
            <a:endParaRPr lang="en-US" sz="1080" dirty="0"/>
          </a:p>
        </p:txBody>
      </p:sp>
      <p:sp>
        <p:nvSpPr>
          <p:cNvPr id="32" name="s31-texto-31"/>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Cierre 15 min: dos estudiantes muestran su salida · quiz de 5 preguntas · commit del entregable</a:t>
            </a:r>
            <a:endParaRPr lang="en-US" sz="1080" dirty="0"/>
          </a:p>
        </p:txBody>
      </p:sp>
      <p:sp>
        <p:nvSpPr>
          <p:cNvPr id="33" name="s31-forma-32"/>
          <p:cNvSpPr/>
          <p:nvPr/>
        </p:nvSpPr>
        <p:spPr>
          <a:xfrm>
            <a:off x="853390" y="6411138"/>
            <a:ext cx="10484915" cy="5713"/>
          </a:xfrm>
          <a:prstGeom prst="rect">
            <a:avLst/>
          </a:prstGeom>
          <a:solidFill>
            <a:srgbClr val="DBD4C4"/>
          </a:solidFill>
          <a:ln/>
        </p:spPr>
        <p:txBody>
          <a:bodyPr/>
          <a:lstStyle/>
          <a:p>
            <a:endParaRPr lang="es-MX"/>
          </a:p>
        </p:txBody>
      </p:sp>
      <p:pic>
        <p:nvPicPr>
          <p:cNvPr id="34" name="s31-logo-33" descr="preencoded.png"/>
          <p:cNvPicPr>
            <a:picLocks noChangeAspect="1"/>
          </p:cNvPicPr>
          <p:nvPr/>
        </p:nvPicPr>
        <p:blipFill>
          <a:blip r:embed="rId3"/>
          <a:stretch>
            <a:fillRect/>
          </a:stretch>
        </p:blipFill>
        <p:spPr>
          <a:xfrm>
            <a:off x="853390" y="6465055"/>
            <a:ext cx="687800" cy="212455"/>
          </a:xfrm>
          <a:prstGeom prst="rect">
            <a:avLst/>
          </a:prstGeom>
        </p:spPr>
      </p:pic>
      <p:sp>
        <p:nvSpPr>
          <p:cNvPr id="35" name="s31-forma-34"/>
          <p:cNvSpPr/>
          <p:nvPr/>
        </p:nvSpPr>
        <p:spPr>
          <a:xfrm>
            <a:off x="1659380" y="6519865"/>
            <a:ext cx="3057208" cy="102835"/>
          </a:xfrm>
          <a:prstGeom prst="rect">
            <a:avLst/>
          </a:prstGeom>
          <a:ln/>
        </p:spPr>
        <p:txBody>
          <a:bodyPr/>
          <a:lstStyle/>
          <a:p>
            <a:endParaRPr lang="es-MX"/>
          </a:p>
        </p:txBody>
      </p:sp>
      <p:sp>
        <p:nvSpPr>
          <p:cNvPr id="36" name="s31-forma-35"/>
          <p:cNvSpPr/>
          <p:nvPr/>
        </p:nvSpPr>
        <p:spPr>
          <a:xfrm>
            <a:off x="1659380" y="6519865"/>
            <a:ext cx="5713" cy="102835"/>
          </a:xfrm>
          <a:prstGeom prst="rect">
            <a:avLst/>
          </a:prstGeom>
          <a:solidFill>
            <a:srgbClr val="C6BFAE"/>
          </a:solidFill>
          <a:ln/>
        </p:spPr>
        <p:txBody>
          <a:bodyPr/>
          <a:lstStyle/>
          <a:p>
            <a:endParaRPr lang="es-MX"/>
          </a:p>
        </p:txBody>
      </p:sp>
      <p:sp>
        <p:nvSpPr>
          <p:cNvPr id="37" name="s31-texto-36"/>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38" name="s31-texto-37"/>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31 / 35</a:t>
            </a:r>
            <a:endParaRPr lang="en-US" sz="745" dirty="0"/>
          </a:p>
        </p:txBody>
      </p:sp>
      <p:sp>
        <p:nvSpPr>
          <p:cNvPr id="39" name="s31-forma-38"/>
          <p:cNvSpPr/>
          <p:nvPr/>
        </p:nvSpPr>
        <p:spPr>
          <a:xfrm>
            <a:off x="0" y="0"/>
            <a:ext cx="10798331" cy="17139"/>
          </a:xfrm>
          <a:prstGeom prst="rect">
            <a:avLst/>
          </a:prstGeom>
          <a:solidFill>
            <a:srgbClr val="0033A0"/>
          </a:solidFill>
          <a:ln/>
        </p:spPr>
        <p:txBody>
          <a:bodyPr/>
          <a:lstStyle/>
          <a:p>
            <a:endParaRPr lang="es-MX"/>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30-forma-1"/>
          <p:cNvSpPr/>
          <p:nvPr/>
        </p:nvSpPr>
        <p:spPr>
          <a:xfrm>
            <a:off x="853390" y="331715"/>
            <a:ext cx="81411" cy="81411"/>
          </a:xfrm>
          <a:prstGeom prst="ellipse">
            <a:avLst/>
          </a:prstGeom>
          <a:solidFill>
            <a:srgbClr val="1B6A43"/>
          </a:solidFill>
          <a:ln/>
        </p:spPr>
        <p:txBody>
          <a:bodyPr/>
          <a:lstStyle/>
          <a:p>
            <a:endParaRPr lang="es-MX"/>
          </a:p>
        </p:txBody>
      </p:sp>
      <p:sp>
        <p:nvSpPr>
          <p:cNvPr id="3" name="s30-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0-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1:20 · 20 min</a:t>
            </a:r>
            <a:endParaRPr lang="en-US" sz="807" dirty="0"/>
          </a:p>
        </p:txBody>
      </p:sp>
      <p:sp>
        <p:nvSpPr>
          <p:cNvPr id="5" name="s30-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1A</a:t>
            </a:r>
            <a:endParaRPr lang="en-US" sz="869" dirty="0"/>
          </a:p>
        </p:txBody>
      </p:sp>
      <p:sp>
        <p:nvSpPr>
          <p:cNvPr id="6" name="s30-forma-5"/>
          <p:cNvSpPr/>
          <p:nvPr/>
        </p:nvSpPr>
        <p:spPr>
          <a:xfrm>
            <a:off x="853390" y="3768306"/>
            <a:ext cx="722704" cy="22852"/>
          </a:xfrm>
          <a:prstGeom prst="rect">
            <a:avLst/>
          </a:prstGeom>
          <a:solidFill>
            <a:srgbClr val="0033A0"/>
          </a:solidFill>
          <a:ln/>
        </p:spPr>
        <p:txBody>
          <a:bodyPr/>
          <a:lstStyle/>
          <a:p>
            <a:endParaRPr lang="es-MX"/>
          </a:p>
        </p:txBody>
      </p:sp>
      <p:sp>
        <p:nvSpPr>
          <p:cNvPr id="7" name="s30-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El bucle</a:t>
            </a:r>
            <a:endParaRPr lang="en-US" sz="4242" dirty="0"/>
          </a:p>
        </p:txBody>
      </p:sp>
      <p:sp>
        <p:nvSpPr>
          <p:cNvPr id="8" name="s30-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Completa ejecutar_agente y prueba los permisos de las herramientas.</a:t>
            </a:r>
            <a:endParaRPr lang="en-US" sz="1676" dirty="0"/>
          </a:p>
        </p:txBody>
      </p:sp>
      <p:pic>
        <p:nvPicPr>
          <p:cNvPr id="9" name="s30-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0-forma-9"/>
          <p:cNvSpPr/>
          <p:nvPr/>
        </p:nvSpPr>
        <p:spPr>
          <a:xfrm>
            <a:off x="1659380" y="6519865"/>
            <a:ext cx="3057208" cy="102835"/>
          </a:xfrm>
          <a:prstGeom prst="rect">
            <a:avLst/>
          </a:prstGeom>
          <a:ln/>
        </p:spPr>
        <p:txBody>
          <a:bodyPr/>
          <a:lstStyle/>
          <a:p>
            <a:endParaRPr lang="es-MX"/>
          </a:p>
        </p:txBody>
      </p:sp>
      <p:sp>
        <p:nvSpPr>
          <p:cNvPr id="11" name="s30-forma-10"/>
          <p:cNvSpPr/>
          <p:nvPr/>
        </p:nvSpPr>
        <p:spPr>
          <a:xfrm>
            <a:off x="1659380" y="6519865"/>
            <a:ext cx="5713" cy="102835"/>
          </a:xfrm>
          <a:prstGeom prst="rect">
            <a:avLst/>
          </a:prstGeom>
          <a:solidFill>
            <a:srgbClr val="C6BFAE"/>
          </a:solidFill>
          <a:ln/>
        </p:spPr>
        <p:txBody>
          <a:bodyPr/>
          <a:lstStyle/>
          <a:p>
            <a:endParaRPr lang="es-MX"/>
          </a:p>
        </p:txBody>
      </p:sp>
      <p:sp>
        <p:nvSpPr>
          <p:cNvPr id="12" name="s30-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0-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30 / 35</a:t>
            </a:r>
            <a:endParaRPr lang="en-US" sz="745" dirty="0"/>
          </a:p>
        </p:txBody>
      </p:sp>
      <p:sp>
        <p:nvSpPr>
          <p:cNvPr id="14" name="s30-forma-13"/>
          <p:cNvSpPr/>
          <p:nvPr/>
        </p:nvSpPr>
        <p:spPr>
          <a:xfrm>
            <a:off x="0" y="0"/>
            <a:ext cx="10450012" cy="17139"/>
          </a:xfrm>
          <a:prstGeom prst="rect">
            <a:avLst/>
          </a:prstGeom>
          <a:solidFill>
            <a:srgbClr val="0033A0"/>
          </a:solidFill>
          <a:ln/>
        </p:spPr>
        <p:txBody>
          <a:bodyPr/>
          <a:lstStyle/>
          <a:p>
            <a:endParaRPr lang="es-MX"/>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bg>
      <p:bgPr>
        <a:solidFill>
          <a:srgbClr val="EDE8DC"/>
        </a:solidFill>
        <a:effectLst/>
      </p:bgPr>
    </p:bg>
    <p:spTree>
      <p:nvGrpSpPr>
        <p:cNvPr id="1" name=""/>
        <p:cNvGrpSpPr/>
        <p:nvPr/>
      </p:nvGrpSpPr>
      <p:grpSpPr>
        <a:xfrm>
          <a:off x="0" y="0"/>
          <a:ext cx="0" cy="0"/>
          <a:chOff x="0" y="0"/>
          <a:chExt cx="0" cy="0"/>
        </a:xfrm>
      </p:grpSpPr>
      <p:sp>
        <p:nvSpPr>
          <p:cNvPr id="2" name="s32-forma-1"/>
          <p:cNvSpPr/>
          <p:nvPr/>
        </p:nvSpPr>
        <p:spPr>
          <a:xfrm>
            <a:off x="853390" y="331715"/>
            <a:ext cx="81411" cy="81411"/>
          </a:xfrm>
          <a:prstGeom prst="ellipse">
            <a:avLst/>
          </a:prstGeom>
          <a:solidFill>
            <a:srgbClr val="1B6A43"/>
          </a:solidFill>
          <a:ln/>
        </p:spPr>
        <p:txBody>
          <a:bodyPr/>
          <a:lstStyle/>
          <a:p>
            <a:endParaRPr lang="es-MX"/>
          </a:p>
        </p:txBody>
      </p:sp>
      <p:sp>
        <p:nvSpPr>
          <p:cNvPr id="3" name="s32-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2-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1:40 · 20 min</a:t>
            </a:r>
            <a:endParaRPr lang="en-US" sz="807" dirty="0"/>
          </a:p>
        </p:txBody>
      </p:sp>
      <p:sp>
        <p:nvSpPr>
          <p:cNvPr id="5" name="s32-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1B</a:t>
            </a:r>
            <a:endParaRPr lang="en-US" sz="869" dirty="0"/>
          </a:p>
        </p:txBody>
      </p:sp>
      <p:sp>
        <p:nvSpPr>
          <p:cNvPr id="6" name="s32-forma-5"/>
          <p:cNvSpPr/>
          <p:nvPr/>
        </p:nvSpPr>
        <p:spPr>
          <a:xfrm>
            <a:off x="853390" y="3768306"/>
            <a:ext cx="722704" cy="22852"/>
          </a:xfrm>
          <a:prstGeom prst="rect">
            <a:avLst/>
          </a:prstGeom>
          <a:solidFill>
            <a:srgbClr val="0033A0"/>
          </a:solidFill>
          <a:ln/>
        </p:spPr>
        <p:txBody>
          <a:bodyPr/>
          <a:lstStyle/>
          <a:p>
            <a:endParaRPr lang="es-MX"/>
          </a:p>
        </p:txBody>
      </p:sp>
      <p:sp>
        <p:nvSpPr>
          <p:cNvPr id="7" name="s32-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Agente analista</a:t>
            </a:r>
            <a:endParaRPr lang="en-US" sz="4242" dirty="0"/>
          </a:p>
        </p:txBody>
      </p:sp>
      <p:sp>
        <p:nvSpPr>
          <p:cNvPr id="8" name="s32-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HU-01 → criterios.feature, validado.</a:t>
            </a:r>
            <a:endParaRPr lang="en-US" sz="1676" dirty="0"/>
          </a:p>
        </p:txBody>
      </p:sp>
      <p:pic>
        <p:nvPicPr>
          <p:cNvPr id="9" name="s3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2-forma-9"/>
          <p:cNvSpPr/>
          <p:nvPr/>
        </p:nvSpPr>
        <p:spPr>
          <a:xfrm>
            <a:off x="1659380" y="6519865"/>
            <a:ext cx="3057208" cy="102835"/>
          </a:xfrm>
          <a:prstGeom prst="rect">
            <a:avLst/>
          </a:prstGeom>
          <a:ln/>
        </p:spPr>
        <p:txBody>
          <a:bodyPr/>
          <a:lstStyle/>
          <a:p>
            <a:endParaRPr lang="es-MX"/>
          </a:p>
        </p:txBody>
      </p:sp>
      <p:sp>
        <p:nvSpPr>
          <p:cNvPr id="11" name="s32-forma-10"/>
          <p:cNvSpPr/>
          <p:nvPr/>
        </p:nvSpPr>
        <p:spPr>
          <a:xfrm>
            <a:off x="1659380" y="6519865"/>
            <a:ext cx="5713" cy="102835"/>
          </a:xfrm>
          <a:prstGeom prst="rect">
            <a:avLst/>
          </a:prstGeom>
          <a:solidFill>
            <a:srgbClr val="C6BFAE"/>
          </a:solidFill>
          <a:ln/>
        </p:spPr>
        <p:txBody>
          <a:bodyPr/>
          <a:lstStyle/>
          <a:p>
            <a:endParaRPr lang="es-MX"/>
          </a:p>
        </p:txBody>
      </p:sp>
      <p:sp>
        <p:nvSpPr>
          <p:cNvPr id="12" name="s32-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2-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32 / 35</a:t>
            </a:r>
            <a:endParaRPr lang="en-US" sz="745" dirty="0"/>
          </a:p>
        </p:txBody>
      </p:sp>
      <p:sp>
        <p:nvSpPr>
          <p:cNvPr id="14" name="s32-forma-13"/>
          <p:cNvSpPr/>
          <p:nvPr/>
        </p:nvSpPr>
        <p:spPr>
          <a:xfrm>
            <a:off x="0" y="0"/>
            <a:ext cx="11146649" cy="17139"/>
          </a:xfrm>
          <a:prstGeom prst="rect">
            <a:avLst/>
          </a:prstGeom>
          <a:solidFill>
            <a:srgbClr val="0033A0"/>
          </a:solidFill>
          <a:ln/>
        </p:spPr>
        <p:txBody>
          <a:bodyPr/>
          <a:lstStyle/>
          <a:p>
            <a:endParaRPr lang="es-MX"/>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bg>
      <p:bgPr>
        <a:solidFill>
          <a:srgbClr val="EDE8DC"/>
        </a:solidFill>
        <a:effectLst/>
      </p:bgPr>
    </p:bg>
    <p:spTree>
      <p:nvGrpSpPr>
        <p:cNvPr id="1" name=""/>
        <p:cNvGrpSpPr/>
        <p:nvPr/>
      </p:nvGrpSpPr>
      <p:grpSpPr>
        <a:xfrm>
          <a:off x="0" y="0"/>
          <a:ext cx="0" cy="0"/>
          <a:chOff x="0" y="0"/>
          <a:chExt cx="0" cy="0"/>
        </a:xfrm>
      </p:grpSpPr>
      <p:sp>
        <p:nvSpPr>
          <p:cNvPr id="2" name="s33-forma-1"/>
          <p:cNvSpPr/>
          <p:nvPr/>
        </p:nvSpPr>
        <p:spPr>
          <a:xfrm>
            <a:off x="853390" y="520961"/>
            <a:ext cx="10484915" cy="5713"/>
          </a:xfrm>
          <a:prstGeom prst="rect">
            <a:avLst/>
          </a:prstGeom>
          <a:solidFill>
            <a:srgbClr val="C6BFAE"/>
          </a:solidFill>
          <a:ln/>
        </p:spPr>
        <p:txBody>
          <a:bodyPr/>
          <a:lstStyle/>
          <a:p>
            <a:endParaRPr lang="es-MX"/>
          </a:p>
        </p:txBody>
      </p:sp>
      <p:sp>
        <p:nvSpPr>
          <p:cNvPr id="3" name="s33-forma-2"/>
          <p:cNvSpPr/>
          <p:nvPr/>
        </p:nvSpPr>
        <p:spPr>
          <a:xfrm>
            <a:off x="853390" y="331715"/>
            <a:ext cx="81411" cy="81411"/>
          </a:xfrm>
          <a:prstGeom prst="ellipse">
            <a:avLst/>
          </a:prstGeom>
          <a:solidFill>
            <a:srgbClr val="1B6A43"/>
          </a:solidFill>
          <a:ln/>
        </p:spPr>
        <p:txBody>
          <a:bodyPr/>
          <a:lstStyle/>
          <a:p>
            <a:endParaRPr lang="es-MX"/>
          </a:p>
        </p:txBody>
      </p:sp>
      <p:sp>
        <p:nvSpPr>
          <p:cNvPr id="4" name="s33-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5" name="s33-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1:40 · 20 min</a:t>
            </a:r>
            <a:endParaRPr lang="en-US" sz="807" dirty="0"/>
          </a:p>
        </p:txBody>
      </p:sp>
      <p:sp>
        <p:nvSpPr>
          <p:cNvPr id="6" name="s3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LAB 1B · LO QUE DEBE SALIR</a:t>
            </a:r>
            <a:endParaRPr lang="en-US" sz="900" dirty="0"/>
          </a:p>
        </p:txBody>
      </p:sp>
      <p:sp>
        <p:nvSpPr>
          <p:cNvPr id="7" name="s33-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De la historia a criterios verificables</a:t>
            </a:r>
            <a:endParaRPr lang="en-US" sz="2879" dirty="0"/>
          </a:p>
        </p:txBody>
      </p:sp>
      <p:sp>
        <p:nvSpPr>
          <p:cNvPr id="8" name="s33-forma-7"/>
          <p:cNvSpPr/>
          <p:nvPr/>
        </p:nvSpPr>
        <p:spPr>
          <a:xfrm>
            <a:off x="1342572" y="2462959"/>
            <a:ext cx="2970797" cy="2048493"/>
          </a:xfrm>
          <a:prstGeom prst="rect">
            <a:avLst/>
          </a:prstGeom>
          <a:solidFill>
            <a:srgbClr val="EDE8DC"/>
          </a:solidFill>
          <a:ln w="5713">
            <a:solidFill>
              <a:srgbClr val="C6BFAE"/>
            </a:solidFill>
            <a:prstDash val="solid"/>
          </a:ln>
        </p:spPr>
        <p:txBody>
          <a:bodyPr/>
          <a:lstStyle/>
          <a:p>
            <a:endParaRPr lang="es-MX"/>
          </a:p>
        </p:txBody>
      </p:sp>
      <p:sp>
        <p:nvSpPr>
          <p:cNvPr id="9" name="s33-texto-8"/>
          <p:cNvSpPr txBox="1"/>
          <p:nvPr/>
        </p:nvSpPr>
        <p:spPr>
          <a:xfrm>
            <a:off x="1553956" y="2674342"/>
            <a:ext cx="2700912"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HU-01</a:t>
            </a:r>
            <a:endParaRPr lang="en-US" sz="900" dirty="0"/>
          </a:p>
        </p:txBody>
      </p:sp>
      <p:sp>
        <p:nvSpPr>
          <p:cNvPr id="10" name="s33-texto-9"/>
          <p:cNvSpPr txBox="1"/>
          <p:nvPr/>
        </p:nvSpPr>
        <p:spPr>
          <a:xfrm>
            <a:off x="1553956" y="2920005"/>
            <a:ext cx="2700912" cy="872850"/>
          </a:xfrm>
          <a:prstGeom prst="rect">
            <a:avLst/>
          </a:prstGeom>
          <a:noFill/>
          <a:ln/>
        </p:spPr>
        <p:txBody>
          <a:bodyPr wrap="square" lIns="0" tIns="0" rIns="0" bIns="0" rtlCol="0" anchor="t"/>
          <a:lstStyle/>
          <a:p>
            <a:pPr marL="0" indent="0" algn="l">
              <a:lnSpc>
                <a:spcPts val="1826"/>
              </a:lnSpc>
              <a:buNone/>
            </a:pPr>
            <a:r>
              <a:rPr lang="en-US" sz="1260" dirty="0">
                <a:solidFill>
                  <a:srgbClr val="16181D"/>
                </a:solidFill>
                <a:latin typeface="Arial" pitchFamily="34" charset="0"/>
                <a:ea typeface="Arial" pitchFamily="34" charset="-122"/>
                <a:cs typeface="Arial" pitchFamily="34" charset="-120"/>
              </a:rPr>
              <a:t>Como Recursos Humanos, quiero registrar a un empleado con nombre, correo, puesto, departamento y fecha de ingreso.</a:t>
            </a:r>
            <a:endParaRPr lang="en-US" sz="1260" dirty="0"/>
          </a:p>
        </p:txBody>
      </p:sp>
      <p:sp>
        <p:nvSpPr>
          <p:cNvPr id="11" name="s33-texto-10"/>
          <p:cNvSpPr txBox="1"/>
          <p:nvPr/>
        </p:nvSpPr>
        <p:spPr>
          <a:xfrm>
            <a:off x="1553956" y="3933361"/>
            <a:ext cx="2700912" cy="346176"/>
          </a:xfrm>
          <a:prstGeom prst="rect">
            <a:avLst/>
          </a:prstGeom>
          <a:noFill/>
          <a:ln/>
        </p:spPr>
        <p:txBody>
          <a:bodyPr wrap="square" lIns="0" tIns="0" rIns="0" bIns="0" rtlCol="0" anchor="t"/>
          <a:lstStyle/>
          <a:p>
            <a:pPr marL="0" indent="0" algn="l">
              <a:lnSpc>
                <a:spcPts val="1512"/>
              </a:lnSpc>
              <a:buNone/>
            </a:pPr>
            <a:r>
              <a:rPr lang="en-US" sz="1080" dirty="0">
                <a:solidFill>
                  <a:srgbClr val="585E6F"/>
                </a:solidFill>
                <a:latin typeface="Arial" pitchFamily="34" charset="0"/>
                <a:ea typeface="Arial" pitchFamily="34" charset="-122"/>
                <a:cs typeface="Arial" pitchFamily="34" charset="-120"/>
              </a:rPr>
              <a:t>Notas: el número de empleado lo asigna el sistema y se muestra al guardar.</a:t>
            </a:r>
            <a:endParaRPr lang="en-US" sz="1080" dirty="0"/>
          </a:p>
        </p:txBody>
      </p:sp>
      <p:sp>
        <p:nvSpPr>
          <p:cNvPr id="12" name="s33-forma-11"/>
          <p:cNvSpPr/>
          <p:nvPr/>
        </p:nvSpPr>
        <p:spPr>
          <a:xfrm>
            <a:off x="4587597" y="2144634"/>
            <a:ext cx="6261527" cy="2685144"/>
          </a:xfrm>
          <a:prstGeom prst="rect">
            <a:avLst/>
          </a:prstGeom>
          <a:solidFill>
            <a:srgbClr val="E8E2D5"/>
          </a:solidFill>
          <a:ln/>
        </p:spPr>
        <p:txBody>
          <a:bodyPr/>
          <a:lstStyle/>
          <a:p>
            <a:endParaRPr lang="es-MX"/>
          </a:p>
        </p:txBody>
      </p:sp>
      <p:sp>
        <p:nvSpPr>
          <p:cNvPr id="13" name="s33-forma-12"/>
          <p:cNvSpPr/>
          <p:nvPr/>
        </p:nvSpPr>
        <p:spPr>
          <a:xfrm>
            <a:off x="4587597" y="2144634"/>
            <a:ext cx="6261527" cy="5713"/>
          </a:xfrm>
          <a:prstGeom prst="rect">
            <a:avLst/>
          </a:prstGeom>
          <a:solidFill>
            <a:srgbClr val="DBD4C4"/>
          </a:solidFill>
          <a:ln/>
        </p:spPr>
        <p:txBody>
          <a:bodyPr/>
          <a:lstStyle/>
          <a:p>
            <a:endParaRPr lang="es-MX"/>
          </a:p>
        </p:txBody>
      </p:sp>
      <p:sp>
        <p:nvSpPr>
          <p:cNvPr id="14" name="s33-forma-13"/>
          <p:cNvSpPr/>
          <p:nvPr/>
        </p:nvSpPr>
        <p:spPr>
          <a:xfrm>
            <a:off x="4587597" y="4824064"/>
            <a:ext cx="6261527" cy="5713"/>
          </a:xfrm>
          <a:prstGeom prst="rect">
            <a:avLst/>
          </a:prstGeom>
          <a:solidFill>
            <a:srgbClr val="DBD4C4"/>
          </a:solidFill>
          <a:ln/>
        </p:spPr>
        <p:txBody>
          <a:bodyPr/>
          <a:lstStyle/>
          <a:p>
            <a:endParaRPr lang="es-MX"/>
          </a:p>
        </p:txBody>
      </p:sp>
      <p:sp>
        <p:nvSpPr>
          <p:cNvPr id="15" name="s33-forma-14"/>
          <p:cNvSpPr/>
          <p:nvPr/>
        </p:nvSpPr>
        <p:spPr>
          <a:xfrm>
            <a:off x="4587597" y="2144634"/>
            <a:ext cx="17139" cy="2685144"/>
          </a:xfrm>
          <a:prstGeom prst="rect">
            <a:avLst/>
          </a:prstGeom>
          <a:solidFill>
            <a:srgbClr val="C6BFAE"/>
          </a:solidFill>
          <a:ln/>
        </p:spPr>
        <p:txBody>
          <a:bodyPr/>
          <a:lstStyle/>
          <a:p>
            <a:endParaRPr lang="es-MX"/>
          </a:p>
        </p:txBody>
      </p:sp>
      <p:sp>
        <p:nvSpPr>
          <p:cNvPr id="16" name="s33-forma-15"/>
          <p:cNvSpPr/>
          <p:nvPr/>
        </p:nvSpPr>
        <p:spPr>
          <a:xfrm>
            <a:off x="10843410" y="2144634"/>
            <a:ext cx="5713" cy="2685144"/>
          </a:xfrm>
          <a:prstGeom prst="rect">
            <a:avLst/>
          </a:prstGeom>
          <a:solidFill>
            <a:srgbClr val="DBD4C4"/>
          </a:solidFill>
          <a:ln/>
        </p:spPr>
        <p:txBody>
          <a:bodyPr/>
          <a:lstStyle/>
          <a:p>
            <a:endParaRPr lang="es-MX"/>
          </a:p>
        </p:txBody>
      </p:sp>
      <p:sp>
        <p:nvSpPr>
          <p:cNvPr id="17" name="s33-texto-16"/>
          <p:cNvSpPr txBox="1"/>
          <p:nvPr/>
        </p:nvSpPr>
        <p:spPr>
          <a:xfrm>
            <a:off x="4833259" y="2378870"/>
            <a:ext cx="6128526" cy="2210959"/>
          </a:xfrm>
          <a:prstGeom prst="rect">
            <a:avLst/>
          </a:prstGeom>
          <a:noFill/>
          <a:ln/>
        </p:spPr>
        <p:txBody>
          <a:bodyPr wrap="square" lIns="0" tIns="0" rIns="0" bIns="0" rtlCol="0" anchor="t"/>
          <a:lstStyle/>
          <a:p>
            <a:pPr marL="0" indent="0" algn="l">
              <a:lnSpc>
                <a:spcPts val="1619"/>
              </a:lnSpc>
              <a:buNone/>
            </a:pPr>
            <a:r>
              <a:rPr lang="en-US" sz="1080" dirty="0">
                <a:solidFill>
                  <a:srgbClr val="585E6F"/>
                </a:solidFill>
                <a:latin typeface="Courier New" pitchFamily="34" charset="0"/>
                <a:ea typeface="Courier New" pitchFamily="34" charset="-122"/>
                <a:cs typeface="Courier New" pitchFamily="34" charset="-120"/>
              </a:rPr>
              <a:t># language: es</a:t>
            </a:r>
            <a:endParaRPr lang="en-US" sz="1080" dirty="0"/>
          </a:p>
          <a:p>
            <a:pPr marL="0" indent="0" algn="l">
              <a:lnSpc>
                <a:spcPts val="1619"/>
              </a:lnSpc>
              <a:buNone/>
            </a:pPr>
            <a:r>
              <a:rPr lang="en-US" sz="1080" dirty="0">
                <a:solidFill>
                  <a:srgbClr val="AC321E"/>
                </a:solidFill>
                <a:latin typeface="Courier New" pitchFamily="34" charset="0"/>
                <a:ea typeface="Courier New" pitchFamily="34" charset="-122"/>
                <a:cs typeface="Courier New" pitchFamily="34" charset="-120"/>
              </a:rPr>
              <a:t>Característica:</a:t>
            </a:r>
            <a:r>
              <a:rPr lang="en-US" sz="1080" dirty="0">
                <a:solidFill>
                  <a:srgbClr val="16181D"/>
                </a:solidFill>
                <a:latin typeface="Courier New" pitchFamily="34" charset="0"/>
                <a:ea typeface="Courier New" pitchFamily="34" charset="-122"/>
                <a:cs typeface="Courier New" pitchFamily="34" charset="-120"/>
              </a:rPr>
              <a:t> Registrar empleado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a:t>
            </a:r>
            <a:r>
              <a:rPr lang="en-US" sz="1080" dirty="0">
                <a:solidFill>
                  <a:srgbClr val="AC321E"/>
                </a:solidFill>
                <a:latin typeface="Courier New" pitchFamily="34" charset="0"/>
                <a:ea typeface="Courier New" pitchFamily="34" charset="-122"/>
                <a:cs typeface="Courier New" pitchFamily="34" charset="-120"/>
              </a:rPr>
              <a:t>Escenario:</a:t>
            </a:r>
            <a:r>
              <a:rPr lang="en-US" sz="1080" dirty="0">
                <a:solidFill>
                  <a:srgbClr val="16181D"/>
                </a:solidFill>
                <a:latin typeface="Courier New" pitchFamily="34" charset="0"/>
                <a:ea typeface="Courier New" pitchFamily="34" charset="-122"/>
                <a:cs typeface="Courier New" pitchFamily="34" charset="-120"/>
              </a:rPr>
              <a:t> Alta con número asignado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Dado que estoy en el alta de empleados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Cuando registro a "Ana López" en Tecnología</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Entonces veo su número, como "EMP-0001"</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a:t>
            </a:r>
            <a:r>
              <a:rPr lang="en-US" sz="1080" dirty="0">
                <a:solidFill>
                  <a:srgbClr val="AC321E"/>
                </a:solidFill>
                <a:latin typeface="Courier New" pitchFamily="34" charset="0"/>
                <a:ea typeface="Courier New" pitchFamily="34" charset="-122"/>
                <a:cs typeface="Courier New" pitchFamily="34" charset="-120"/>
              </a:rPr>
              <a:t>Escenario:</a:t>
            </a:r>
            <a:r>
              <a:rPr lang="en-US" sz="1080" dirty="0">
                <a:solidFill>
                  <a:srgbClr val="16181D"/>
                </a:solidFill>
                <a:latin typeface="Courier New" pitchFamily="34" charset="0"/>
                <a:ea typeface="Courier New" pitchFamily="34" charset="-122"/>
                <a:cs typeface="Courier New" pitchFamily="34" charset="-120"/>
              </a:rPr>
              <a:t> Correo no corporativo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Dado que estoy en el alta de empleados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Cuando uso el correo "ana@gmail.com"</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Entonces veo "Usa el correo corporativo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@empresa.com"</a:t>
            </a:r>
            <a:endParaRPr lang="en-US" sz="1080" dirty="0"/>
          </a:p>
        </p:txBody>
      </p:sp>
      <p:sp>
        <p:nvSpPr>
          <p:cNvPr id="18" name="s33-texto-17"/>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La regla del correo corporativo viene de contexto/reglas_negocio.md, no de la historia</a:t>
            </a:r>
            <a:endParaRPr lang="en-US" sz="1080" dirty="0"/>
          </a:p>
        </p:txBody>
      </p:sp>
      <p:sp>
        <p:nvSpPr>
          <p:cNvPr id="19" name="s33-forma-18"/>
          <p:cNvSpPr/>
          <p:nvPr/>
        </p:nvSpPr>
        <p:spPr>
          <a:xfrm>
            <a:off x="853390" y="6411138"/>
            <a:ext cx="10484915" cy="5713"/>
          </a:xfrm>
          <a:prstGeom prst="rect">
            <a:avLst/>
          </a:prstGeom>
          <a:solidFill>
            <a:srgbClr val="DBD4C4"/>
          </a:solidFill>
          <a:ln/>
        </p:spPr>
        <p:txBody>
          <a:bodyPr/>
          <a:lstStyle/>
          <a:p>
            <a:endParaRPr lang="es-MX"/>
          </a:p>
        </p:txBody>
      </p:sp>
      <p:pic>
        <p:nvPicPr>
          <p:cNvPr id="20" name="s33-logo-19" descr="preencoded.png"/>
          <p:cNvPicPr>
            <a:picLocks noChangeAspect="1"/>
          </p:cNvPicPr>
          <p:nvPr/>
        </p:nvPicPr>
        <p:blipFill>
          <a:blip r:embed="rId3"/>
          <a:stretch>
            <a:fillRect/>
          </a:stretch>
        </p:blipFill>
        <p:spPr>
          <a:xfrm>
            <a:off x="853390" y="6465055"/>
            <a:ext cx="687800" cy="212455"/>
          </a:xfrm>
          <a:prstGeom prst="rect">
            <a:avLst/>
          </a:prstGeom>
        </p:spPr>
      </p:pic>
      <p:sp>
        <p:nvSpPr>
          <p:cNvPr id="21" name="s33-forma-20"/>
          <p:cNvSpPr/>
          <p:nvPr/>
        </p:nvSpPr>
        <p:spPr>
          <a:xfrm>
            <a:off x="1659380" y="6519865"/>
            <a:ext cx="3057208" cy="102835"/>
          </a:xfrm>
          <a:prstGeom prst="rect">
            <a:avLst/>
          </a:prstGeom>
          <a:ln/>
        </p:spPr>
        <p:txBody>
          <a:bodyPr/>
          <a:lstStyle/>
          <a:p>
            <a:endParaRPr lang="es-MX"/>
          </a:p>
        </p:txBody>
      </p:sp>
      <p:sp>
        <p:nvSpPr>
          <p:cNvPr id="22" name="s33-forma-21"/>
          <p:cNvSpPr/>
          <p:nvPr/>
        </p:nvSpPr>
        <p:spPr>
          <a:xfrm>
            <a:off x="1659380" y="6519865"/>
            <a:ext cx="5713" cy="102835"/>
          </a:xfrm>
          <a:prstGeom prst="rect">
            <a:avLst/>
          </a:prstGeom>
          <a:solidFill>
            <a:srgbClr val="C6BFAE"/>
          </a:solidFill>
          <a:ln/>
        </p:spPr>
        <p:txBody>
          <a:bodyPr/>
          <a:lstStyle/>
          <a:p>
            <a:endParaRPr lang="es-MX"/>
          </a:p>
        </p:txBody>
      </p:sp>
      <p:sp>
        <p:nvSpPr>
          <p:cNvPr id="23" name="s33-texto-22"/>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4" name="s33-texto-23"/>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33 / 35</a:t>
            </a:r>
            <a:endParaRPr lang="en-US" sz="745" dirty="0"/>
          </a:p>
        </p:txBody>
      </p:sp>
      <p:sp>
        <p:nvSpPr>
          <p:cNvPr id="25" name="s33-forma-24"/>
          <p:cNvSpPr/>
          <p:nvPr/>
        </p:nvSpPr>
        <p:spPr>
          <a:xfrm>
            <a:off x="0" y="0"/>
            <a:ext cx="11494968" cy="17139"/>
          </a:xfrm>
          <a:prstGeom prst="rect">
            <a:avLst/>
          </a:prstGeom>
          <a:solidFill>
            <a:srgbClr val="0033A0"/>
          </a:solidFill>
          <a:ln/>
        </p:spPr>
        <p:txBody>
          <a:bodyPr/>
          <a:lstStyle/>
          <a:p>
            <a:endParaRPr lang="es-MX"/>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bg>
      <p:bgPr>
        <a:solidFill>
          <a:srgbClr val="EDE8DC"/>
        </a:solidFill>
        <a:effectLst/>
      </p:bgPr>
    </p:bg>
    <p:spTree>
      <p:nvGrpSpPr>
        <p:cNvPr id="1" name=""/>
        <p:cNvGrpSpPr/>
        <p:nvPr/>
      </p:nvGrpSpPr>
      <p:grpSpPr>
        <a:xfrm>
          <a:off x="0" y="0"/>
          <a:ext cx="0" cy="0"/>
          <a:chOff x="0" y="0"/>
          <a:chExt cx="0" cy="0"/>
        </a:xfrm>
      </p:grpSpPr>
      <p:sp>
        <p:nvSpPr>
          <p:cNvPr id="2" name="s34-forma-1"/>
          <p:cNvSpPr/>
          <p:nvPr/>
        </p:nvSpPr>
        <p:spPr>
          <a:xfrm>
            <a:off x="853390" y="331715"/>
            <a:ext cx="81411" cy="81411"/>
          </a:xfrm>
          <a:prstGeom prst="ellipse">
            <a:avLst/>
          </a:prstGeom>
          <a:solidFill>
            <a:srgbClr val="1B6A43"/>
          </a:solidFill>
          <a:ln/>
        </p:spPr>
        <p:txBody>
          <a:bodyPr/>
          <a:lstStyle/>
          <a:p>
            <a:endParaRPr lang="es-MX"/>
          </a:p>
        </p:txBody>
      </p:sp>
      <p:sp>
        <p:nvSpPr>
          <p:cNvPr id="3" name="s34-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34-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2:00 · 15 min</a:t>
            </a:r>
            <a:endParaRPr lang="en-US" sz="807" dirty="0"/>
          </a:p>
        </p:txBody>
      </p:sp>
      <p:sp>
        <p:nvSpPr>
          <p:cNvPr id="5" name="s34-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1C</a:t>
            </a:r>
            <a:endParaRPr lang="en-US" sz="869" dirty="0"/>
          </a:p>
        </p:txBody>
      </p:sp>
      <p:sp>
        <p:nvSpPr>
          <p:cNvPr id="6" name="s34-forma-5"/>
          <p:cNvSpPr/>
          <p:nvPr/>
        </p:nvSpPr>
        <p:spPr>
          <a:xfrm>
            <a:off x="853390" y="3768306"/>
            <a:ext cx="722704" cy="22852"/>
          </a:xfrm>
          <a:prstGeom prst="rect">
            <a:avLst/>
          </a:prstGeom>
          <a:solidFill>
            <a:srgbClr val="0033A0"/>
          </a:solidFill>
          <a:ln/>
        </p:spPr>
        <p:txBody>
          <a:bodyPr/>
          <a:lstStyle/>
          <a:p>
            <a:endParaRPr lang="es-MX"/>
          </a:p>
        </p:txBody>
      </p:sp>
      <p:sp>
        <p:nvSpPr>
          <p:cNvPr id="7" name="s34-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Agente diseñador</a:t>
            </a:r>
            <a:endParaRPr lang="en-US" sz="4242" dirty="0"/>
          </a:p>
        </p:txBody>
      </p:sp>
      <p:sp>
        <p:nvSpPr>
          <p:cNvPr id="8" name="s34-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Criterios → casos_prueba.json, validado.</a:t>
            </a:r>
            <a:endParaRPr lang="en-US" sz="1676" dirty="0"/>
          </a:p>
        </p:txBody>
      </p:sp>
      <p:pic>
        <p:nvPicPr>
          <p:cNvPr id="9" name="s34-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4-forma-9"/>
          <p:cNvSpPr/>
          <p:nvPr/>
        </p:nvSpPr>
        <p:spPr>
          <a:xfrm>
            <a:off x="1659380" y="6519865"/>
            <a:ext cx="3057208" cy="102835"/>
          </a:xfrm>
          <a:prstGeom prst="rect">
            <a:avLst/>
          </a:prstGeom>
          <a:ln/>
        </p:spPr>
        <p:txBody>
          <a:bodyPr/>
          <a:lstStyle/>
          <a:p>
            <a:endParaRPr lang="es-MX"/>
          </a:p>
        </p:txBody>
      </p:sp>
      <p:sp>
        <p:nvSpPr>
          <p:cNvPr id="11" name="s34-forma-10"/>
          <p:cNvSpPr/>
          <p:nvPr/>
        </p:nvSpPr>
        <p:spPr>
          <a:xfrm>
            <a:off x="1659380" y="6519865"/>
            <a:ext cx="5713" cy="102835"/>
          </a:xfrm>
          <a:prstGeom prst="rect">
            <a:avLst/>
          </a:prstGeom>
          <a:solidFill>
            <a:srgbClr val="C6BFAE"/>
          </a:solidFill>
          <a:ln/>
        </p:spPr>
        <p:txBody>
          <a:bodyPr/>
          <a:lstStyle/>
          <a:p>
            <a:endParaRPr lang="es-MX"/>
          </a:p>
        </p:txBody>
      </p:sp>
      <p:sp>
        <p:nvSpPr>
          <p:cNvPr id="12" name="s34-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4-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34 / 35</a:t>
            </a:r>
            <a:endParaRPr lang="en-US" sz="745" dirty="0"/>
          </a:p>
        </p:txBody>
      </p:sp>
      <p:sp>
        <p:nvSpPr>
          <p:cNvPr id="14" name="s34-forma-13"/>
          <p:cNvSpPr/>
          <p:nvPr/>
        </p:nvSpPr>
        <p:spPr>
          <a:xfrm>
            <a:off x="0" y="0"/>
            <a:ext cx="11843287" cy="17139"/>
          </a:xfrm>
          <a:prstGeom prst="rect">
            <a:avLst/>
          </a:prstGeom>
          <a:solidFill>
            <a:srgbClr val="0033A0"/>
          </a:solidFill>
          <a:ln/>
        </p:spPr>
        <p:txBody>
          <a:bodyPr/>
          <a:lstStyle/>
          <a:p>
            <a:endParaRPr lang="es-MX"/>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30AC6-7905-2091-B480-B9FA27BEDFCB}"/>
            </a:ext>
          </a:extLst>
        </p:cNvPr>
        <p:cNvGrpSpPr/>
        <p:nvPr/>
      </p:nvGrpSpPr>
      <p:grpSpPr>
        <a:xfrm>
          <a:off x="0" y="0"/>
          <a:ext cx="0" cy="0"/>
          <a:chOff x="0" y="0"/>
          <a:chExt cx="0" cy="0"/>
        </a:xfrm>
      </p:grpSpPr>
      <p:sp>
        <p:nvSpPr>
          <p:cNvPr id="2" name="s35-forma-1">
            <a:extLst>
              <a:ext uri="{FF2B5EF4-FFF2-40B4-BE49-F238E27FC236}">
                <a16:creationId xmlns:a16="http://schemas.microsoft.com/office/drawing/2014/main" id="{E2CBFFF5-63DA-1E08-35B5-027F7695A9B3}"/>
              </a:ext>
            </a:extLst>
          </p:cNvPr>
          <p:cNvSpPr/>
          <p:nvPr/>
        </p:nvSpPr>
        <p:spPr>
          <a:xfrm>
            <a:off x="853390" y="331715"/>
            <a:ext cx="81411" cy="81411"/>
          </a:xfrm>
          <a:prstGeom prst="ellipse">
            <a:avLst/>
          </a:prstGeom>
          <a:solidFill>
            <a:srgbClr val="7C560C"/>
          </a:solidFill>
          <a:ln/>
        </p:spPr>
        <p:txBody>
          <a:bodyPr/>
          <a:lstStyle/>
          <a:p>
            <a:endParaRPr lang="es-MX"/>
          </a:p>
        </p:txBody>
      </p:sp>
      <p:sp>
        <p:nvSpPr>
          <p:cNvPr id="3" name="s35-texto-2">
            <a:extLst>
              <a:ext uri="{FF2B5EF4-FFF2-40B4-BE49-F238E27FC236}">
                <a16:creationId xmlns:a16="http://schemas.microsoft.com/office/drawing/2014/main" id="{625307CA-A481-C137-E2CB-0BE5D635A55C}"/>
              </a:ext>
            </a:extLst>
          </p:cNvPr>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35-texto-3">
            <a:extLst>
              <a:ext uri="{FF2B5EF4-FFF2-40B4-BE49-F238E27FC236}">
                <a16:creationId xmlns:a16="http://schemas.microsoft.com/office/drawing/2014/main" id="{A76811A9-6FA6-002A-8532-46716B28E97B}"/>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2:15 · 15 min</a:t>
            </a:r>
            <a:endParaRPr lang="en-US" sz="807" dirty="0"/>
          </a:p>
        </p:txBody>
      </p:sp>
      <p:sp>
        <p:nvSpPr>
          <p:cNvPr id="5" name="s35-texto-4">
            <a:extLst>
              <a:ext uri="{FF2B5EF4-FFF2-40B4-BE49-F238E27FC236}">
                <a16:creationId xmlns:a16="http://schemas.microsoft.com/office/drawing/2014/main" id="{B6F01499-0C55-29CC-3289-950C76B7E2EC}"/>
              </a:ext>
            </a:extLst>
          </p:cNvPr>
          <p:cNvSpPr txBox="1"/>
          <p:nvPr/>
        </p:nvSpPr>
        <p:spPr>
          <a:xfrm>
            <a:off x="853390" y="2234614"/>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CIERRE</a:t>
            </a:r>
            <a:endParaRPr lang="en-US" sz="869" dirty="0"/>
          </a:p>
        </p:txBody>
      </p:sp>
      <p:sp>
        <p:nvSpPr>
          <p:cNvPr id="6" name="s35-forma-5">
            <a:extLst>
              <a:ext uri="{FF2B5EF4-FFF2-40B4-BE49-F238E27FC236}">
                <a16:creationId xmlns:a16="http://schemas.microsoft.com/office/drawing/2014/main" id="{7DB103EA-6EC6-5BA4-CF92-06A51BA6D232}"/>
              </a:ext>
            </a:extLst>
          </p:cNvPr>
          <p:cNvSpPr/>
          <p:nvPr/>
        </p:nvSpPr>
        <p:spPr>
          <a:xfrm>
            <a:off x="853390" y="3904795"/>
            <a:ext cx="722704" cy="22852"/>
          </a:xfrm>
          <a:prstGeom prst="rect">
            <a:avLst/>
          </a:prstGeom>
          <a:solidFill>
            <a:srgbClr val="0033A0"/>
          </a:solidFill>
          <a:ln/>
        </p:spPr>
        <p:txBody>
          <a:bodyPr/>
          <a:lstStyle/>
          <a:p>
            <a:endParaRPr lang="es-MX"/>
          </a:p>
        </p:txBody>
      </p:sp>
      <p:sp>
        <p:nvSpPr>
          <p:cNvPr id="7" name="s35-texto-6">
            <a:extLst>
              <a:ext uri="{FF2B5EF4-FFF2-40B4-BE49-F238E27FC236}">
                <a16:creationId xmlns:a16="http://schemas.microsoft.com/office/drawing/2014/main" id="{B4E373AD-1DD9-6EE3-C29E-BC8FE709783D}"/>
              </a:ext>
            </a:extLst>
          </p:cNvPr>
          <p:cNvSpPr txBox="1"/>
          <p:nvPr/>
        </p:nvSpPr>
        <p:spPr>
          <a:xfrm>
            <a:off x="853390" y="2515626"/>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err="1">
                <a:solidFill>
                  <a:srgbClr val="16181D"/>
                </a:solidFill>
                <a:latin typeface="Georgia" pitchFamily="34" charset="0"/>
                <a:ea typeface="Georgia" pitchFamily="34" charset="-122"/>
                <a:cs typeface="Georgia" pitchFamily="34" charset="-120"/>
              </a:rPr>
              <a:t>Resumen</a:t>
            </a:r>
            <a:endParaRPr lang="en-US" sz="4242" dirty="0"/>
          </a:p>
        </p:txBody>
      </p:sp>
      <p:sp>
        <p:nvSpPr>
          <p:cNvPr id="8" name="s35-texto-7">
            <a:extLst>
              <a:ext uri="{FF2B5EF4-FFF2-40B4-BE49-F238E27FC236}">
                <a16:creationId xmlns:a16="http://schemas.microsoft.com/office/drawing/2014/main" id="{49EAF3F6-912E-15EC-DFB7-893AECA26528}"/>
              </a:ext>
            </a:extLst>
          </p:cNvPr>
          <p:cNvSpPr txBox="1"/>
          <p:nvPr/>
        </p:nvSpPr>
        <p:spPr>
          <a:xfrm>
            <a:off x="853390" y="4120737"/>
            <a:ext cx="7778274" cy="548633"/>
          </a:xfrm>
          <a:prstGeom prst="rect">
            <a:avLst/>
          </a:prstGeom>
          <a:noFill/>
          <a:ln/>
        </p:spPr>
        <p:txBody>
          <a:bodyPr wrap="squar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a:t>
            </a:r>
            <a:r>
              <a:rPr lang="en-US" sz="1676" dirty="0" err="1">
                <a:solidFill>
                  <a:srgbClr val="585E6F"/>
                </a:solidFill>
                <a:latin typeface="Arial" pitchFamily="34" charset="0"/>
                <a:ea typeface="Arial" pitchFamily="34" charset="-122"/>
                <a:cs typeface="Arial" pitchFamily="34" charset="-120"/>
              </a:rPr>
              <a:t>Que</a:t>
            </a:r>
            <a:r>
              <a:rPr lang="en-US" sz="1676" dirty="0">
                <a:solidFill>
                  <a:srgbClr val="585E6F"/>
                </a:solidFill>
                <a:latin typeface="Arial" pitchFamily="34" charset="0"/>
                <a:ea typeface="Arial" pitchFamily="34" charset="-122"/>
                <a:cs typeface="Arial" pitchFamily="34" charset="-120"/>
              </a:rPr>
              <a:t> </a:t>
            </a:r>
            <a:r>
              <a:rPr lang="en-US" sz="1676" dirty="0" err="1">
                <a:solidFill>
                  <a:srgbClr val="585E6F"/>
                </a:solidFill>
                <a:latin typeface="Arial" pitchFamily="34" charset="0"/>
                <a:ea typeface="Arial" pitchFamily="34" charset="-122"/>
                <a:cs typeface="Arial" pitchFamily="34" charset="-120"/>
              </a:rPr>
              <a:t>aprendimos</a:t>
            </a:r>
            <a:r>
              <a:rPr lang="en-US" sz="1676" dirty="0">
                <a:solidFill>
                  <a:srgbClr val="585E6F"/>
                </a:solidFill>
                <a:latin typeface="Arial" pitchFamily="34" charset="0"/>
                <a:ea typeface="Arial" pitchFamily="34" charset="-122"/>
                <a:cs typeface="Arial" pitchFamily="34" charset="-120"/>
              </a:rPr>
              <a:t> </a:t>
            </a:r>
            <a:r>
              <a:rPr lang="en-US" sz="1676" dirty="0" err="1">
                <a:solidFill>
                  <a:srgbClr val="585E6F"/>
                </a:solidFill>
                <a:latin typeface="Arial" pitchFamily="34" charset="0"/>
                <a:ea typeface="Arial" pitchFamily="34" charset="-122"/>
                <a:cs typeface="Arial" pitchFamily="34" charset="-120"/>
              </a:rPr>
              <a:t>el</a:t>
            </a:r>
            <a:r>
              <a:rPr lang="en-US" sz="1676" dirty="0">
                <a:solidFill>
                  <a:srgbClr val="585E6F"/>
                </a:solidFill>
                <a:latin typeface="Arial" pitchFamily="34" charset="0"/>
                <a:ea typeface="Arial" pitchFamily="34" charset="-122"/>
                <a:cs typeface="Arial" pitchFamily="34" charset="-120"/>
              </a:rPr>
              <a:t> día de hoy?</a:t>
            </a:r>
            <a:endParaRPr lang="en-US" sz="1676" dirty="0"/>
          </a:p>
        </p:txBody>
      </p:sp>
      <p:pic>
        <p:nvPicPr>
          <p:cNvPr id="9" name="s35-logo-8" descr="preencoded.png">
            <a:extLst>
              <a:ext uri="{FF2B5EF4-FFF2-40B4-BE49-F238E27FC236}">
                <a16:creationId xmlns:a16="http://schemas.microsoft.com/office/drawing/2014/main" id="{1FE2252B-7C3E-0758-E1E9-CE8A8C92B0A9}"/>
              </a:ext>
            </a:extLst>
          </p:cNvPr>
          <p:cNvPicPr>
            <a:picLocks noChangeAspect="1"/>
          </p:cNvPicPr>
          <p:nvPr/>
        </p:nvPicPr>
        <p:blipFill>
          <a:blip r:embed="rId3"/>
          <a:stretch>
            <a:fillRect/>
          </a:stretch>
        </p:blipFill>
        <p:spPr>
          <a:xfrm>
            <a:off x="853390" y="6465055"/>
            <a:ext cx="687800" cy="212455"/>
          </a:xfrm>
          <a:prstGeom prst="rect">
            <a:avLst/>
          </a:prstGeom>
        </p:spPr>
      </p:pic>
      <p:sp>
        <p:nvSpPr>
          <p:cNvPr id="10" name="s35-forma-9">
            <a:extLst>
              <a:ext uri="{FF2B5EF4-FFF2-40B4-BE49-F238E27FC236}">
                <a16:creationId xmlns:a16="http://schemas.microsoft.com/office/drawing/2014/main" id="{1981ED50-8800-F806-E34F-68EF585A7ECE}"/>
              </a:ext>
            </a:extLst>
          </p:cNvPr>
          <p:cNvSpPr/>
          <p:nvPr/>
        </p:nvSpPr>
        <p:spPr>
          <a:xfrm>
            <a:off x="1659380" y="6519865"/>
            <a:ext cx="3057208" cy="102835"/>
          </a:xfrm>
          <a:prstGeom prst="rect">
            <a:avLst/>
          </a:prstGeom>
          <a:ln/>
        </p:spPr>
        <p:txBody>
          <a:bodyPr/>
          <a:lstStyle/>
          <a:p>
            <a:endParaRPr lang="es-MX"/>
          </a:p>
        </p:txBody>
      </p:sp>
      <p:sp>
        <p:nvSpPr>
          <p:cNvPr id="11" name="s35-forma-10">
            <a:extLst>
              <a:ext uri="{FF2B5EF4-FFF2-40B4-BE49-F238E27FC236}">
                <a16:creationId xmlns:a16="http://schemas.microsoft.com/office/drawing/2014/main" id="{FC9F1E19-0B9B-9FB4-0B8E-2B7E35039FC2}"/>
              </a:ext>
            </a:extLst>
          </p:cNvPr>
          <p:cNvSpPr/>
          <p:nvPr/>
        </p:nvSpPr>
        <p:spPr>
          <a:xfrm>
            <a:off x="1659380" y="6519865"/>
            <a:ext cx="5713" cy="102835"/>
          </a:xfrm>
          <a:prstGeom prst="rect">
            <a:avLst/>
          </a:prstGeom>
          <a:solidFill>
            <a:srgbClr val="C6BFAE"/>
          </a:solidFill>
          <a:ln/>
        </p:spPr>
        <p:txBody>
          <a:bodyPr/>
          <a:lstStyle/>
          <a:p>
            <a:endParaRPr lang="es-MX"/>
          </a:p>
        </p:txBody>
      </p:sp>
      <p:sp>
        <p:nvSpPr>
          <p:cNvPr id="12" name="s35-texto-11">
            <a:extLst>
              <a:ext uri="{FF2B5EF4-FFF2-40B4-BE49-F238E27FC236}">
                <a16:creationId xmlns:a16="http://schemas.microsoft.com/office/drawing/2014/main" id="{82EFFFCC-7A0A-EE3B-A2A9-85850CB77CB6}"/>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5-texto-12">
            <a:extLst>
              <a:ext uri="{FF2B5EF4-FFF2-40B4-BE49-F238E27FC236}">
                <a16:creationId xmlns:a16="http://schemas.microsoft.com/office/drawing/2014/main" id="{36A37F26-6BDD-36EB-84BF-384815814CD9}"/>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35 / 35</a:t>
            </a:r>
            <a:endParaRPr lang="en-US" sz="745" dirty="0"/>
          </a:p>
        </p:txBody>
      </p:sp>
      <p:sp>
        <p:nvSpPr>
          <p:cNvPr id="14" name="s35-forma-13">
            <a:extLst>
              <a:ext uri="{FF2B5EF4-FFF2-40B4-BE49-F238E27FC236}">
                <a16:creationId xmlns:a16="http://schemas.microsoft.com/office/drawing/2014/main" id="{B6934B54-EB41-B707-A969-B58A8D0E938E}"/>
              </a:ext>
            </a:extLst>
          </p:cNvPr>
          <p:cNvSpPr/>
          <p:nvPr/>
        </p:nvSpPr>
        <p:spPr>
          <a:xfrm>
            <a:off x="0" y="0"/>
            <a:ext cx="12191695" cy="17139"/>
          </a:xfrm>
          <a:prstGeom prst="rect">
            <a:avLst/>
          </a:prstGeom>
          <a:solidFill>
            <a:srgbClr val="0033A0"/>
          </a:solidFill>
          <a:ln/>
        </p:spPr>
        <p:txBody>
          <a:bodyPr/>
          <a:lstStyle/>
          <a:p>
            <a:endParaRPr lang="es-MX"/>
          </a:p>
        </p:txBody>
      </p:sp>
    </p:spTree>
    <p:extLst>
      <p:ext uri="{BB962C8B-B14F-4D97-AF65-F5344CB8AC3E}">
        <p14:creationId xmlns:p14="http://schemas.microsoft.com/office/powerpoint/2010/main" val="7361387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66D9F-610C-3773-BF63-521805A1FE54}"/>
            </a:ext>
          </a:extLst>
        </p:cNvPr>
        <p:cNvGrpSpPr/>
        <p:nvPr/>
      </p:nvGrpSpPr>
      <p:grpSpPr>
        <a:xfrm>
          <a:off x="0" y="0"/>
          <a:ext cx="0" cy="0"/>
          <a:chOff x="0" y="0"/>
          <a:chExt cx="0" cy="0"/>
        </a:xfrm>
      </p:grpSpPr>
      <p:sp>
        <p:nvSpPr>
          <p:cNvPr id="2" name="s33-forma-1">
            <a:extLst>
              <a:ext uri="{FF2B5EF4-FFF2-40B4-BE49-F238E27FC236}">
                <a16:creationId xmlns:a16="http://schemas.microsoft.com/office/drawing/2014/main" id="{250460E7-3160-250B-1191-A4D45D6D355F}"/>
              </a:ext>
            </a:extLst>
          </p:cNvPr>
          <p:cNvSpPr/>
          <p:nvPr/>
        </p:nvSpPr>
        <p:spPr>
          <a:xfrm>
            <a:off x="853390" y="520961"/>
            <a:ext cx="10484915" cy="5713"/>
          </a:xfrm>
          <a:prstGeom prst="rect">
            <a:avLst/>
          </a:prstGeom>
          <a:solidFill>
            <a:srgbClr val="C6BFAE"/>
          </a:solidFill>
          <a:ln/>
        </p:spPr>
        <p:txBody>
          <a:bodyPr/>
          <a:lstStyle/>
          <a:p>
            <a:endParaRPr lang="es-MX"/>
          </a:p>
        </p:txBody>
      </p:sp>
      <p:sp>
        <p:nvSpPr>
          <p:cNvPr id="3" name="s33-forma-2">
            <a:extLst>
              <a:ext uri="{FF2B5EF4-FFF2-40B4-BE49-F238E27FC236}">
                <a16:creationId xmlns:a16="http://schemas.microsoft.com/office/drawing/2014/main" id="{6340ABA1-C095-455E-E5CB-21DDB5C92D9F}"/>
              </a:ext>
            </a:extLst>
          </p:cNvPr>
          <p:cNvSpPr/>
          <p:nvPr/>
        </p:nvSpPr>
        <p:spPr>
          <a:xfrm>
            <a:off x="853390" y="331715"/>
            <a:ext cx="81411" cy="81411"/>
          </a:xfrm>
          <a:prstGeom prst="ellipse">
            <a:avLst/>
          </a:prstGeom>
          <a:solidFill>
            <a:srgbClr val="1B6A43"/>
          </a:solidFill>
          <a:ln/>
        </p:spPr>
        <p:txBody>
          <a:bodyPr/>
          <a:lstStyle/>
          <a:p>
            <a:endParaRPr lang="es-MX"/>
          </a:p>
        </p:txBody>
      </p:sp>
      <p:sp>
        <p:nvSpPr>
          <p:cNvPr id="4" name="s33-texto-3">
            <a:extLst>
              <a:ext uri="{FF2B5EF4-FFF2-40B4-BE49-F238E27FC236}">
                <a16:creationId xmlns:a16="http://schemas.microsoft.com/office/drawing/2014/main" id="{27F2A0BC-1A52-0BFC-E6F5-413D79D5FD6F}"/>
              </a:ext>
            </a:extLst>
          </p:cNvPr>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dirty="0" err="1"/>
              <a:t>Recapitulación</a:t>
            </a:r>
            <a:endParaRPr lang="en-US" sz="807" dirty="0"/>
          </a:p>
        </p:txBody>
      </p:sp>
      <p:sp>
        <p:nvSpPr>
          <p:cNvPr id="5" name="s33-texto-4">
            <a:extLst>
              <a:ext uri="{FF2B5EF4-FFF2-40B4-BE49-F238E27FC236}">
                <a16:creationId xmlns:a16="http://schemas.microsoft.com/office/drawing/2014/main" id="{E65ACC08-792C-5175-30A2-B74C82D4E587}"/>
              </a:ext>
            </a:extLst>
          </p:cNvPr>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1:40 · 20 min</a:t>
            </a:r>
            <a:endParaRPr lang="en-US" sz="807" dirty="0"/>
          </a:p>
        </p:txBody>
      </p:sp>
      <p:sp>
        <p:nvSpPr>
          <p:cNvPr id="19" name="s33-forma-18">
            <a:extLst>
              <a:ext uri="{FF2B5EF4-FFF2-40B4-BE49-F238E27FC236}">
                <a16:creationId xmlns:a16="http://schemas.microsoft.com/office/drawing/2014/main" id="{7B6E736A-70D6-F2C5-26EC-5385A8470DB9}"/>
              </a:ext>
            </a:extLst>
          </p:cNvPr>
          <p:cNvSpPr/>
          <p:nvPr/>
        </p:nvSpPr>
        <p:spPr>
          <a:xfrm>
            <a:off x="853390" y="6411138"/>
            <a:ext cx="10484915" cy="5713"/>
          </a:xfrm>
          <a:prstGeom prst="rect">
            <a:avLst/>
          </a:prstGeom>
          <a:solidFill>
            <a:srgbClr val="DBD4C4"/>
          </a:solidFill>
          <a:ln/>
        </p:spPr>
        <p:txBody>
          <a:bodyPr/>
          <a:lstStyle/>
          <a:p>
            <a:endParaRPr lang="es-MX"/>
          </a:p>
        </p:txBody>
      </p:sp>
      <p:pic>
        <p:nvPicPr>
          <p:cNvPr id="20" name="s33-logo-19" descr="preencoded.png">
            <a:extLst>
              <a:ext uri="{FF2B5EF4-FFF2-40B4-BE49-F238E27FC236}">
                <a16:creationId xmlns:a16="http://schemas.microsoft.com/office/drawing/2014/main" id="{0B9A1130-17A2-B858-CF6B-9BB56103C95C}"/>
              </a:ext>
            </a:extLst>
          </p:cNvPr>
          <p:cNvPicPr>
            <a:picLocks noChangeAspect="1"/>
          </p:cNvPicPr>
          <p:nvPr/>
        </p:nvPicPr>
        <p:blipFill>
          <a:blip r:embed="rId3"/>
          <a:stretch>
            <a:fillRect/>
          </a:stretch>
        </p:blipFill>
        <p:spPr>
          <a:xfrm>
            <a:off x="853390" y="6465055"/>
            <a:ext cx="687800" cy="212455"/>
          </a:xfrm>
          <a:prstGeom prst="rect">
            <a:avLst/>
          </a:prstGeom>
        </p:spPr>
      </p:pic>
      <p:sp>
        <p:nvSpPr>
          <p:cNvPr id="21" name="s33-forma-20">
            <a:extLst>
              <a:ext uri="{FF2B5EF4-FFF2-40B4-BE49-F238E27FC236}">
                <a16:creationId xmlns:a16="http://schemas.microsoft.com/office/drawing/2014/main" id="{BE4A5826-1AAB-4E57-E538-387F5B9FD5A3}"/>
              </a:ext>
            </a:extLst>
          </p:cNvPr>
          <p:cNvSpPr/>
          <p:nvPr/>
        </p:nvSpPr>
        <p:spPr>
          <a:xfrm>
            <a:off x="1659380" y="6519865"/>
            <a:ext cx="3057208" cy="102835"/>
          </a:xfrm>
          <a:prstGeom prst="rect">
            <a:avLst/>
          </a:prstGeom>
          <a:ln/>
        </p:spPr>
        <p:txBody>
          <a:bodyPr/>
          <a:lstStyle/>
          <a:p>
            <a:endParaRPr lang="es-MX"/>
          </a:p>
        </p:txBody>
      </p:sp>
      <p:sp>
        <p:nvSpPr>
          <p:cNvPr id="22" name="s33-forma-21">
            <a:extLst>
              <a:ext uri="{FF2B5EF4-FFF2-40B4-BE49-F238E27FC236}">
                <a16:creationId xmlns:a16="http://schemas.microsoft.com/office/drawing/2014/main" id="{1C4E1F7A-00B2-080C-D901-72404DF9F4FA}"/>
              </a:ext>
            </a:extLst>
          </p:cNvPr>
          <p:cNvSpPr/>
          <p:nvPr/>
        </p:nvSpPr>
        <p:spPr>
          <a:xfrm>
            <a:off x="1659380" y="6519865"/>
            <a:ext cx="5713" cy="102835"/>
          </a:xfrm>
          <a:prstGeom prst="rect">
            <a:avLst/>
          </a:prstGeom>
          <a:solidFill>
            <a:srgbClr val="C6BFAE"/>
          </a:solidFill>
          <a:ln/>
        </p:spPr>
        <p:txBody>
          <a:bodyPr/>
          <a:lstStyle/>
          <a:p>
            <a:endParaRPr lang="es-MX"/>
          </a:p>
        </p:txBody>
      </p:sp>
      <p:sp>
        <p:nvSpPr>
          <p:cNvPr id="23" name="s33-texto-22">
            <a:extLst>
              <a:ext uri="{FF2B5EF4-FFF2-40B4-BE49-F238E27FC236}">
                <a16:creationId xmlns:a16="http://schemas.microsoft.com/office/drawing/2014/main" id="{C6C37E7A-ADD9-2C93-873D-22B2BDD7CD87}"/>
              </a:ext>
            </a:extLst>
          </p:cNvPr>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24" name="s33-texto-23">
            <a:extLst>
              <a:ext uri="{FF2B5EF4-FFF2-40B4-BE49-F238E27FC236}">
                <a16:creationId xmlns:a16="http://schemas.microsoft.com/office/drawing/2014/main" id="{98EE5974-A5D1-B856-31D9-5C6C09E3E445}"/>
              </a:ext>
            </a:extLst>
          </p:cNvPr>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33 / 35</a:t>
            </a:r>
            <a:endParaRPr lang="en-US" sz="745" dirty="0"/>
          </a:p>
        </p:txBody>
      </p:sp>
      <p:sp>
        <p:nvSpPr>
          <p:cNvPr id="25" name="s33-forma-24">
            <a:extLst>
              <a:ext uri="{FF2B5EF4-FFF2-40B4-BE49-F238E27FC236}">
                <a16:creationId xmlns:a16="http://schemas.microsoft.com/office/drawing/2014/main" id="{CD1467B0-3168-AE2C-9FB2-6CFC8BEBAE1D}"/>
              </a:ext>
            </a:extLst>
          </p:cNvPr>
          <p:cNvSpPr/>
          <p:nvPr/>
        </p:nvSpPr>
        <p:spPr>
          <a:xfrm>
            <a:off x="0" y="0"/>
            <a:ext cx="11494968" cy="17139"/>
          </a:xfrm>
          <a:prstGeom prst="rect">
            <a:avLst/>
          </a:prstGeom>
          <a:solidFill>
            <a:srgbClr val="0033A0"/>
          </a:solidFill>
          <a:ln/>
        </p:spPr>
        <p:txBody>
          <a:bodyPr/>
          <a:lstStyle/>
          <a:p>
            <a:endParaRPr lang="es-MX"/>
          </a:p>
        </p:txBody>
      </p:sp>
      <p:graphicFrame>
        <p:nvGraphicFramePr>
          <p:cNvPr id="28" name="Table 0">
            <a:extLst>
              <a:ext uri="{FF2B5EF4-FFF2-40B4-BE49-F238E27FC236}">
                <a16:creationId xmlns:a16="http://schemas.microsoft.com/office/drawing/2014/main" id="{45530762-78A6-36F0-CF7C-5D9E208F2DD2}"/>
              </a:ext>
            </a:extLst>
          </p:cNvPr>
          <p:cNvGraphicFramePr>
            <a:graphicFrameLocks noGrp="1"/>
          </p:cNvGraphicFramePr>
          <p:nvPr>
            <p:extLst>
              <p:ext uri="{D42A27DB-BD31-4B8C-83A1-F6EECF244321}">
                <p14:modId xmlns:p14="http://schemas.microsoft.com/office/powerpoint/2010/main" val="4171712855"/>
              </p:ext>
            </p:extLst>
          </p:nvPr>
        </p:nvGraphicFramePr>
        <p:xfrm>
          <a:off x="459674" y="1045841"/>
          <a:ext cx="11494967" cy="4746204"/>
        </p:xfrm>
        <a:graphic>
          <a:graphicData uri="http://schemas.openxmlformats.org/drawingml/2006/table">
            <a:tbl>
              <a:tblPr/>
              <a:tblGrid>
                <a:gridCol w="2439250">
                  <a:extLst>
                    <a:ext uri="{9D8B030D-6E8A-4147-A177-3AD203B41FA5}">
                      <a16:colId xmlns:a16="http://schemas.microsoft.com/office/drawing/2014/main" val="20000"/>
                    </a:ext>
                  </a:extLst>
                </a:gridCol>
                <a:gridCol w="2248684">
                  <a:extLst>
                    <a:ext uri="{9D8B030D-6E8A-4147-A177-3AD203B41FA5}">
                      <a16:colId xmlns:a16="http://schemas.microsoft.com/office/drawing/2014/main" val="377182089"/>
                    </a:ext>
                  </a:extLst>
                </a:gridCol>
                <a:gridCol w="2248684">
                  <a:extLst>
                    <a:ext uri="{9D8B030D-6E8A-4147-A177-3AD203B41FA5}">
                      <a16:colId xmlns:a16="http://schemas.microsoft.com/office/drawing/2014/main" val="20001"/>
                    </a:ext>
                  </a:extLst>
                </a:gridCol>
                <a:gridCol w="3643630">
                  <a:extLst>
                    <a:ext uri="{9D8B030D-6E8A-4147-A177-3AD203B41FA5}">
                      <a16:colId xmlns:a16="http://schemas.microsoft.com/office/drawing/2014/main" val="20002"/>
                    </a:ext>
                  </a:extLst>
                </a:gridCol>
                <a:gridCol w="914719">
                  <a:extLst>
                    <a:ext uri="{9D8B030D-6E8A-4147-A177-3AD203B41FA5}">
                      <a16:colId xmlns:a16="http://schemas.microsoft.com/office/drawing/2014/main" val="20003"/>
                    </a:ext>
                  </a:extLst>
                </a:gridCol>
              </a:tblGrid>
              <a:tr h="629309">
                <a:tc>
                  <a:txBody>
                    <a:bodyPr/>
                    <a:lstStyle/>
                    <a:p>
                      <a:pPr marL="0" indent="0">
                        <a:buNone/>
                      </a:pPr>
                      <a:r>
                        <a:rPr lang="es-ES_tradnl" sz="1600" b="1" noProof="1">
                          <a:solidFill>
                            <a:srgbClr val="FFFFFF"/>
                          </a:solidFill>
                          <a:latin typeface="Arial" pitchFamily="34" charset="0"/>
                          <a:ea typeface="Arial" pitchFamily="34" charset="-122"/>
                          <a:cs typeface="Arial" pitchFamily="34" charset="-120"/>
                        </a:rPr>
                        <a:t>Patrón</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tc>
                  <a:txBody>
                    <a:bodyPr/>
                    <a:lstStyle/>
                    <a:p>
                      <a:pPr marL="0" indent="0">
                        <a:buNone/>
                      </a:pPr>
                      <a:r>
                        <a:rPr lang="es-ES_tradnl" sz="1600" noProof="1">
                          <a:latin typeface="Arial" charset="0"/>
                          <a:ea typeface="Arial" charset="0"/>
                          <a:cs typeface="Arial" charset="0"/>
                        </a:rPr>
                        <a:t>¿</a:t>
                      </a:r>
                      <a:r>
                        <a:rPr lang="es-ES_tradnl" sz="1600" b="1" noProof="1">
                          <a:solidFill>
                            <a:srgbClr val="FFFFFF"/>
                          </a:solidFill>
                          <a:latin typeface="Arial" charset="0"/>
                          <a:ea typeface="Arial" charset="0"/>
                          <a:cs typeface="Arial" charset="0"/>
                        </a:rPr>
                        <a:t>Descripción</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tc>
                  <a:txBody>
                    <a:bodyPr/>
                    <a:lstStyle/>
                    <a:p>
                      <a:pPr marL="0" indent="0">
                        <a:buNone/>
                      </a:pPr>
                      <a:r>
                        <a:rPr lang="es-ES_tradnl" sz="1600" b="1" noProof="1">
                          <a:solidFill>
                            <a:srgbClr val="FFFFFF"/>
                          </a:solidFill>
                          <a:latin typeface="Arial" pitchFamily="34" charset="0"/>
                          <a:ea typeface="Arial" pitchFamily="34" charset="-122"/>
                          <a:cs typeface="Arial" pitchFamily="34" charset="-120"/>
                        </a:rPr>
                        <a:t>Ejemplo visto en clase</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tc>
                  <a:txBody>
                    <a:bodyPr/>
                    <a:lstStyle/>
                    <a:p>
                      <a:pPr marL="0" indent="0">
                        <a:buNone/>
                      </a:pPr>
                      <a:r>
                        <a:rPr lang="es-ES_tradnl" sz="1600" b="1" noProof="1">
                          <a:solidFill>
                            <a:srgbClr val="FFFFFF"/>
                          </a:solidFill>
                          <a:latin typeface="Arial" pitchFamily="34" charset="0"/>
                          <a:ea typeface="Arial" pitchFamily="34" charset="-122"/>
                          <a:cs typeface="Arial" pitchFamily="34" charset="-120"/>
                        </a:rPr>
                        <a:t>Dónde vive en la fábrica</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tc>
                  <a:txBody>
                    <a:bodyPr/>
                    <a:lstStyle/>
                    <a:p>
                      <a:pPr marL="0" indent="0">
                        <a:buNone/>
                      </a:pPr>
                      <a:r>
                        <a:rPr lang="es-ES_tradnl" sz="1600" b="1" noProof="1">
                          <a:solidFill>
                            <a:srgbClr val="FFFFFF"/>
                          </a:solidFill>
                          <a:latin typeface="Arial" pitchFamily="34" charset="0"/>
                          <a:ea typeface="Arial" pitchFamily="34" charset="-122"/>
                          <a:cs typeface="Arial" pitchFamily="34" charset="-120"/>
                        </a:rPr>
                        <a:t>Lab</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0C2D5E"/>
                    </a:solidFill>
                  </a:tcPr>
                </a:tc>
                <a:extLst>
                  <a:ext uri="{0D108BD9-81ED-4DB2-BD59-A6C34878D82A}">
                    <a16:rowId xmlns:a16="http://schemas.microsoft.com/office/drawing/2014/main" val="10000"/>
                  </a:ext>
                </a:extLst>
              </a:tr>
              <a:tr h="862763">
                <a:tc>
                  <a:txBody>
                    <a:bodyPr/>
                    <a:lstStyle/>
                    <a:p>
                      <a:pPr marL="0" indent="0">
                        <a:buNone/>
                      </a:pPr>
                      <a:r>
                        <a:rPr lang="es-ES_tradnl" sz="1400" b="1" noProof="1">
                          <a:solidFill>
                            <a:srgbClr val="1F1F1E"/>
                          </a:solidFill>
                          <a:latin typeface="Arial" pitchFamily="34" charset="0"/>
                          <a:ea typeface="Arial" pitchFamily="34" charset="-122"/>
                          <a:cs typeface="Arial" pitchFamily="34" charset="-120"/>
                        </a:rPr>
                        <a:t>ReAct</a:t>
                      </a:r>
                      <a:r>
                        <a:rPr lang="es-ES_tradnl" sz="1400" noProof="1">
                          <a:solidFill>
                            <a:srgbClr val="5F5E5A"/>
                          </a:solidFill>
                          <a:latin typeface="Arial" pitchFamily="34" charset="0"/>
                          <a:ea typeface="Arial" pitchFamily="34" charset="-122"/>
                          <a:cs typeface="Arial" pitchFamily="34" charset="-120"/>
                        </a:rPr>
                        <a:t> (razonar → actuar → observar)</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latin typeface="Arial" charset="0"/>
                          <a:ea typeface="Arial" charset="0"/>
                          <a:cs typeface="Arial" charset="0"/>
                        </a:rPr>
                        <a:t>Resolver alucinación a través de herramientas</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react.py</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ejecutar_agente()</a:t>
                      </a:r>
                      <a:r>
                        <a:rPr lang="es-ES_tradnl" sz="1400" noProof="1">
                          <a:solidFill>
                            <a:srgbClr val="1F1F1E"/>
                          </a:solidFill>
                          <a:latin typeface="Arial" pitchFamily="34" charset="0"/>
                          <a:ea typeface="Arial" pitchFamily="34" charset="-122"/>
                          <a:cs typeface="Arial" pitchFamily="34" charset="-120"/>
                        </a:rPr>
                        <a:t> en </a:t>
                      </a:r>
                      <a:r>
                        <a:rPr lang="es-ES_tradnl" sz="1400" noProof="1">
                          <a:solidFill>
                            <a:srgbClr val="0C447C"/>
                          </a:solidFill>
                          <a:latin typeface="Courier New" pitchFamily="34" charset="0"/>
                          <a:ea typeface="Courier New" pitchFamily="34" charset="-122"/>
                          <a:cs typeface="Courier New" pitchFamily="34" charset="-120"/>
                        </a:rPr>
                        <a:t>agentes/base.py</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lgn="ctr">
                        <a:buNone/>
                      </a:pPr>
                      <a:r>
                        <a:rPr lang="es-ES_tradnl" sz="1600" b="1" noProof="1">
                          <a:solidFill>
                            <a:srgbClr val="0C2D5E"/>
                          </a:solidFill>
                          <a:latin typeface="Arial" pitchFamily="34" charset="0"/>
                          <a:ea typeface="Arial" pitchFamily="34" charset="-122"/>
                          <a:cs typeface="Arial" pitchFamily="34" charset="-120"/>
                        </a:rPr>
                        <a:t>1A</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1481">
                <a:tc>
                  <a:txBody>
                    <a:bodyPr/>
                    <a:lstStyle/>
                    <a:p>
                      <a:pPr marL="0" indent="0">
                        <a:buNone/>
                      </a:pPr>
                      <a:r>
                        <a:rPr lang="es-ES_tradnl" sz="1400" b="1" noProof="1">
                          <a:solidFill>
                            <a:srgbClr val="1F1F1E"/>
                          </a:solidFill>
                          <a:latin typeface="Arial" pitchFamily="34" charset="0"/>
                          <a:ea typeface="Arial" pitchFamily="34" charset="-122"/>
                          <a:cs typeface="Arial" pitchFamily="34" charset="-120"/>
                        </a:rPr>
                        <a:t>Reflexión</a:t>
                      </a:r>
                      <a:r>
                        <a:rPr lang="es-ES_tradnl" sz="1400" noProof="1">
                          <a:solidFill>
                            <a:srgbClr val="5F5E5A"/>
                          </a:solidFill>
                          <a:latin typeface="Arial" pitchFamily="34" charset="0"/>
                          <a:ea typeface="Arial" pitchFamily="34" charset="-122"/>
                          <a:cs typeface="Arial" pitchFamily="34" charset="-120"/>
                        </a:rPr>
                        <a:t> con evaluador determinista</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latin typeface="Arial" charset="0"/>
                          <a:ea typeface="Arial" charset="0"/>
                          <a:cs typeface="Arial" charset="0"/>
                        </a:rPr>
                        <a:t>Evaluar con el apoyo de herramientas si el modela a generado una salida estructurada correcta</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reflexion.py</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1F1F1E"/>
                          </a:solidFill>
                          <a:latin typeface="Arial" pitchFamily="34" charset="0"/>
                          <a:ea typeface="Arial" pitchFamily="34" charset="-122"/>
                          <a:cs typeface="Arial" pitchFamily="34" charset="-120"/>
                        </a:rPr>
                        <a:t>El </a:t>
                      </a:r>
                      <a:r>
                        <a:rPr lang="es-ES_tradnl" sz="1400" noProof="1">
                          <a:solidFill>
                            <a:srgbClr val="0C447C"/>
                          </a:solidFill>
                          <a:latin typeface="Courier New" pitchFamily="34" charset="0"/>
                          <a:ea typeface="Courier New" pitchFamily="34" charset="-122"/>
                          <a:cs typeface="Courier New" pitchFamily="34" charset="-120"/>
                        </a:rPr>
                        <a:t>for intento</a:t>
                      </a:r>
                      <a:r>
                        <a:rPr lang="es-ES_tradnl" sz="1400" noProof="1">
                          <a:solidFill>
                            <a:srgbClr val="1F1F1E"/>
                          </a:solidFill>
                          <a:latin typeface="Arial" pitchFamily="34" charset="0"/>
                          <a:ea typeface="Arial" pitchFamily="34" charset="-122"/>
                          <a:cs typeface="Arial" pitchFamily="34" charset="-120"/>
                        </a:rPr>
                        <a:t> de </a:t>
                      </a:r>
                      <a:r>
                        <a:rPr lang="es-ES_tradnl" sz="1400" noProof="1">
                          <a:solidFill>
                            <a:srgbClr val="0C447C"/>
                          </a:solidFill>
                          <a:latin typeface="Courier New" pitchFamily="34" charset="0"/>
                          <a:ea typeface="Courier New" pitchFamily="34" charset="-122"/>
                          <a:cs typeface="Courier New" pitchFamily="34" charset="-120"/>
                        </a:rPr>
                        <a:t>generar_criterios()</a:t>
                      </a:r>
                      <a:r>
                        <a:rPr lang="es-ES_tradnl" sz="1400" noProof="1">
                          <a:solidFill>
                            <a:srgbClr val="1F1F1E"/>
                          </a:solidFill>
                          <a:latin typeface="Arial" pitchFamily="34" charset="0"/>
                          <a:ea typeface="Arial" pitchFamily="34" charset="-122"/>
                          <a:cs typeface="Arial" pitchFamily="34" charset="-120"/>
                        </a:rPr>
                        <a:t> y </a:t>
                      </a:r>
                      <a:r>
                        <a:rPr lang="es-ES_tradnl" sz="1400" noProof="1">
                          <a:solidFill>
                            <a:srgbClr val="0C447C"/>
                          </a:solidFill>
                          <a:latin typeface="Courier New" pitchFamily="34" charset="0"/>
                          <a:ea typeface="Courier New" pitchFamily="34" charset="-122"/>
                          <a:cs typeface="Courier New" pitchFamily="34" charset="-120"/>
                        </a:rPr>
                        <a:t>disenar_casos()</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lgn="ctr">
                        <a:buNone/>
                      </a:pPr>
                      <a:r>
                        <a:rPr lang="es-ES_tradnl" sz="1600" b="1" noProof="1">
                          <a:solidFill>
                            <a:srgbClr val="0C2D5E"/>
                          </a:solidFill>
                          <a:latin typeface="Arial" pitchFamily="34" charset="0"/>
                          <a:ea typeface="Arial" pitchFamily="34" charset="-122"/>
                          <a:cs typeface="Arial" pitchFamily="34" charset="-120"/>
                        </a:rPr>
                        <a:t>1B, 1C</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2763">
                <a:tc>
                  <a:txBody>
                    <a:bodyPr/>
                    <a:lstStyle/>
                    <a:p>
                      <a:pPr marL="0" indent="0">
                        <a:buNone/>
                      </a:pPr>
                      <a:r>
                        <a:rPr lang="es-ES_tradnl" sz="1400" b="1" noProof="1">
                          <a:solidFill>
                            <a:srgbClr val="1F1F1E"/>
                          </a:solidFill>
                          <a:latin typeface="Arial" pitchFamily="34" charset="0"/>
                          <a:ea typeface="Arial" pitchFamily="34" charset="-122"/>
                          <a:cs typeface="Arial" pitchFamily="34" charset="-120"/>
                        </a:rPr>
                        <a:t>Salidas estructuradas</a:t>
                      </a:r>
                      <a:r>
                        <a:rPr lang="es-ES_tradnl" sz="1400" noProof="1">
                          <a:solidFill>
                            <a:srgbClr val="5F5E5A"/>
                          </a:solidFill>
                          <a:latin typeface="Arial" pitchFamily="34" charset="0"/>
                          <a:ea typeface="Arial" pitchFamily="34" charset="-122"/>
                          <a:cs typeface="Arial" pitchFamily="34" charset="-120"/>
                        </a:rPr>
                        <a:t> (contrato Pydantic)</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tc>
                  <a:txBody>
                    <a:bodyPr/>
                    <a:lstStyle/>
                    <a:p>
                      <a:pPr marL="0" indent="0">
                        <a:buNone/>
                      </a:pPr>
                      <a:r>
                        <a:rPr lang="es-ES_tradnl" sz="1400" noProof="1">
                          <a:latin typeface="Arial" charset="0"/>
                          <a:ea typeface="Arial" charset="0"/>
                          <a:cs typeface="Arial" charset="0"/>
                        </a:rPr>
                        <a:t>Convertir texto libres arrojado en un modelo a datos esttructurados</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salidas_estructuradas.py</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tc>
                  <a:txBody>
                    <a:bodyPr/>
                    <a:lstStyle/>
                    <a:p>
                      <a:pPr marL="0" indent="0">
                        <a:buNone/>
                      </a:pPr>
                      <a:r>
                        <a:rPr lang="es-ES_tradnl" sz="1400" noProof="1">
                          <a:solidFill>
                            <a:srgbClr val="0C447C"/>
                          </a:solidFill>
                          <a:latin typeface="Courier New" pitchFamily="34" charset="0"/>
                          <a:ea typeface="Courier New" pitchFamily="34" charset="-122"/>
                          <a:cs typeface="Courier New" pitchFamily="34" charset="-120"/>
                        </a:rPr>
                        <a:t>CasoPrueba</a:t>
                      </a:r>
                      <a:r>
                        <a:rPr lang="es-ES_tradnl" sz="1400" noProof="1">
                          <a:solidFill>
                            <a:srgbClr val="1F1F1E"/>
                          </a:solidFill>
                          <a:latin typeface="Arial" pitchFamily="34" charset="0"/>
                          <a:ea typeface="Arial" pitchFamily="34" charset="-122"/>
                          <a:cs typeface="Arial" pitchFamily="34" charset="-120"/>
                        </a:rPr>
                        <a:t> / </a:t>
                      </a:r>
                      <a:r>
                        <a:rPr lang="es-ES_tradnl" sz="1400" noProof="1">
                          <a:solidFill>
                            <a:srgbClr val="0C447C"/>
                          </a:solidFill>
                          <a:latin typeface="Courier New" pitchFamily="34" charset="0"/>
                          <a:ea typeface="Courier New" pitchFamily="34" charset="-122"/>
                          <a:cs typeface="Courier New" pitchFamily="34" charset="-120"/>
                        </a:rPr>
                        <a:t>PlanPruebas</a:t>
                      </a:r>
                      <a:r>
                        <a:rPr lang="es-ES_tradnl" sz="1400" noProof="1">
                          <a:solidFill>
                            <a:srgbClr val="1F1F1E"/>
                          </a:solidFill>
                          <a:latin typeface="Arial" pitchFamily="34" charset="0"/>
                          <a:ea typeface="Arial" pitchFamily="34" charset="-122"/>
                          <a:cs typeface="Arial" pitchFamily="34" charset="-120"/>
                        </a:rPr>
                        <a:t> y la herramienta </a:t>
                      </a:r>
                      <a:r>
                        <a:rPr lang="es-ES_tradnl" sz="1400" noProof="1">
                          <a:solidFill>
                            <a:srgbClr val="0C447C"/>
                          </a:solidFill>
                          <a:latin typeface="Courier New" pitchFamily="34" charset="0"/>
                          <a:ea typeface="Courier New" pitchFamily="34" charset="-122"/>
                          <a:cs typeface="Courier New" pitchFamily="34" charset="-120"/>
                        </a:rPr>
                        <a:t>guardar_casos</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tc>
                  <a:txBody>
                    <a:bodyPr/>
                    <a:lstStyle/>
                    <a:p>
                      <a:pPr marL="0" indent="0" algn="ctr">
                        <a:buNone/>
                      </a:pPr>
                      <a:r>
                        <a:rPr lang="es-ES_tradnl" sz="1600" b="1" noProof="1">
                          <a:solidFill>
                            <a:srgbClr val="0C2D5E"/>
                          </a:solidFill>
                          <a:latin typeface="Arial" pitchFamily="34" charset="0"/>
                          <a:ea typeface="Arial" pitchFamily="34" charset="-122"/>
                          <a:cs typeface="Arial" pitchFamily="34" charset="-120"/>
                        </a:rPr>
                        <a:t>1C</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1EFE8"/>
                    </a:solidFill>
                  </a:tcPr>
                </a:tc>
                <a:extLst>
                  <a:ext uri="{0D108BD9-81ED-4DB2-BD59-A6C34878D82A}">
                    <a16:rowId xmlns:a16="http://schemas.microsoft.com/office/drawing/2014/main" val="10004"/>
                  </a:ext>
                </a:extLst>
              </a:tr>
              <a:tr h="1221401">
                <a:tc>
                  <a:txBody>
                    <a:bodyPr/>
                    <a:lstStyle/>
                    <a:p>
                      <a:pPr marL="0" indent="0">
                        <a:buNone/>
                      </a:pPr>
                      <a:r>
                        <a:rPr lang="es-ES_tradnl" sz="1400" b="1" noProof="1">
                          <a:solidFill>
                            <a:srgbClr val="1F1F1E"/>
                          </a:solidFill>
                          <a:latin typeface="Arial" pitchFamily="34" charset="0"/>
                          <a:ea typeface="Arial" pitchFamily="34" charset="-122"/>
                          <a:cs typeface="Arial" pitchFamily="34" charset="-120"/>
                        </a:rPr>
                        <a:t>Workflow vs. agente</a:t>
                      </a:r>
                      <a:r>
                        <a:rPr lang="es-ES_tradnl" sz="1400" noProof="1">
                          <a:solidFill>
                            <a:srgbClr val="5F5E5A"/>
                          </a:solidFill>
                          <a:latin typeface="Arial" pitchFamily="34" charset="0"/>
                          <a:ea typeface="Arial" pitchFamily="34" charset="-122"/>
                          <a:cs typeface="Arial" pitchFamily="34" charset="-120"/>
                        </a:rPr>
                        <a:t> (encadenamiento)</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latin typeface="Arial" charset="0"/>
                          <a:ea typeface="Arial" charset="0"/>
                          <a:cs typeface="Arial" charset="0"/>
                        </a:rPr>
                        <a:t>Un flujo de angentes, uno que genera escenarios de prueba, y otro criterios de aceptación estructurados en un esquema JSON </a:t>
                      </a: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5F5E5A"/>
                          </a:solidFill>
                          <a:latin typeface="Arial" pitchFamily="34" charset="0"/>
                          <a:ea typeface="Arial" pitchFamily="34" charset="-122"/>
                          <a:cs typeface="Arial" pitchFamily="34" charset="-120"/>
                        </a:rPr>
                        <a:t>—</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buNone/>
                      </a:pPr>
                      <a:r>
                        <a:rPr lang="es-ES_tradnl" sz="1400" noProof="1">
                          <a:solidFill>
                            <a:srgbClr val="1F1F1E"/>
                          </a:solidFill>
                          <a:latin typeface="Arial" pitchFamily="34" charset="0"/>
                          <a:ea typeface="Arial" pitchFamily="34" charset="-122"/>
                          <a:cs typeface="Arial" pitchFamily="34" charset="-120"/>
                        </a:rPr>
                        <a:t>Analista → </a:t>
                      </a:r>
                      <a:r>
                        <a:rPr lang="es-ES_tradnl" sz="1400" noProof="1">
                          <a:solidFill>
                            <a:srgbClr val="0C447C"/>
                          </a:solidFill>
                          <a:latin typeface="Courier New" pitchFamily="34" charset="0"/>
                          <a:ea typeface="Courier New" pitchFamily="34" charset="-122"/>
                          <a:cs typeface="Courier New" pitchFamily="34" charset="-120"/>
                        </a:rPr>
                        <a:t>.feature</a:t>
                      </a:r>
                      <a:r>
                        <a:rPr lang="es-ES_tradnl" sz="1400" noProof="1">
                          <a:solidFill>
                            <a:srgbClr val="1F1F1E"/>
                          </a:solidFill>
                          <a:latin typeface="Arial" pitchFamily="34" charset="0"/>
                          <a:ea typeface="Arial" pitchFamily="34" charset="-122"/>
                          <a:cs typeface="Arial" pitchFamily="34" charset="-120"/>
                        </a:rPr>
                        <a:t> → diseñador → </a:t>
                      </a:r>
                      <a:r>
                        <a:rPr lang="es-ES_tradnl" sz="1400" noProof="1">
                          <a:solidFill>
                            <a:srgbClr val="0C447C"/>
                          </a:solidFill>
                          <a:latin typeface="Courier New" pitchFamily="34" charset="0"/>
                          <a:ea typeface="Courier New" pitchFamily="34" charset="-122"/>
                          <a:cs typeface="Courier New" pitchFamily="34" charset="-120"/>
                        </a:rPr>
                        <a:t>.json</a:t>
                      </a:r>
                      <a:endParaRPr lang="es-ES_tradnl" sz="14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tc>
                  <a:txBody>
                    <a:bodyPr/>
                    <a:lstStyle/>
                    <a:p>
                      <a:pPr marL="0" indent="0" algn="ctr">
                        <a:buNone/>
                      </a:pPr>
                      <a:r>
                        <a:rPr lang="es-ES_tradnl" sz="1600" b="1" noProof="1">
                          <a:solidFill>
                            <a:srgbClr val="0C2D5E"/>
                          </a:solidFill>
                          <a:latin typeface="Arial" pitchFamily="34" charset="0"/>
                          <a:ea typeface="Arial" pitchFamily="34" charset="-122"/>
                          <a:cs typeface="Arial" pitchFamily="34" charset="-120"/>
                        </a:rPr>
                        <a:t>1B → 1C</a:t>
                      </a:r>
                      <a:endParaRPr lang="es-ES_tradnl" sz="1600" noProof="1">
                        <a:latin typeface="Arial" charset="0"/>
                        <a:ea typeface="Arial" charset="0"/>
                        <a:cs typeface="Arial" charset="0"/>
                      </a:endParaRPr>
                    </a:p>
                  </a:txBody>
                  <a:tcPr marL="109728" marR="109728" marT="54864" marB="54864" anchor="ctr">
                    <a:lnL w="9525" cap="flat" cmpd="sng" algn="ctr">
                      <a:solidFill>
                        <a:srgbClr val="B4B2A9"/>
                      </a:solidFill>
                      <a:prstDash val="solid"/>
                      <a:round/>
                      <a:headEnd type="none" w="med" len="med"/>
                      <a:tailEnd type="none" w="med" len="med"/>
                    </a:lnL>
                    <a:lnR w="9525" cap="flat" cmpd="sng" algn="ctr">
                      <a:solidFill>
                        <a:srgbClr val="B4B2A9"/>
                      </a:solidFill>
                      <a:prstDash val="solid"/>
                      <a:round/>
                      <a:headEnd type="none" w="med" len="med"/>
                      <a:tailEnd type="none" w="med" len="med"/>
                    </a:lnR>
                    <a:lnT w="9525" cap="flat" cmpd="sng" algn="ctr">
                      <a:solidFill>
                        <a:srgbClr val="B4B2A9"/>
                      </a:solidFill>
                      <a:prstDash val="solid"/>
                      <a:round/>
                      <a:headEnd type="none" w="med" len="med"/>
                      <a:tailEnd type="none" w="med" len="med"/>
                    </a:lnT>
                    <a:lnB w="9525" cap="flat" cmpd="sng" algn="ctr">
                      <a:solidFill>
                        <a:srgbClr val="B4B2A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980271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EDE8DC"/>
        </a:solidFill>
        <a:effectLst/>
      </p:bgPr>
    </p:bg>
    <p:spTree>
      <p:nvGrpSpPr>
        <p:cNvPr id="1" name=""/>
        <p:cNvGrpSpPr/>
        <p:nvPr/>
      </p:nvGrpSpPr>
      <p:grpSpPr>
        <a:xfrm>
          <a:off x="0" y="0"/>
          <a:ext cx="0" cy="0"/>
          <a:chOff x="0" y="0"/>
          <a:chExt cx="0" cy="0"/>
        </a:xfrm>
      </p:grpSpPr>
      <p:sp>
        <p:nvSpPr>
          <p:cNvPr id="2" name="s35-forma-1"/>
          <p:cNvSpPr/>
          <p:nvPr/>
        </p:nvSpPr>
        <p:spPr>
          <a:xfrm>
            <a:off x="853390" y="331715"/>
            <a:ext cx="81411" cy="81411"/>
          </a:xfrm>
          <a:prstGeom prst="ellipse">
            <a:avLst/>
          </a:prstGeom>
          <a:solidFill>
            <a:srgbClr val="7C560C"/>
          </a:solidFill>
          <a:ln/>
        </p:spPr>
        <p:txBody>
          <a:bodyPr/>
          <a:lstStyle/>
          <a:p>
            <a:endParaRPr lang="es-MX"/>
          </a:p>
        </p:txBody>
      </p:sp>
      <p:sp>
        <p:nvSpPr>
          <p:cNvPr id="3" name="s35-texto-2"/>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35-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2:15 · 15 min</a:t>
            </a:r>
            <a:endParaRPr lang="en-US" sz="807" dirty="0"/>
          </a:p>
        </p:txBody>
      </p:sp>
      <p:sp>
        <p:nvSpPr>
          <p:cNvPr id="5" name="s35-texto-4"/>
          <p:cNvSpPr txBox="1"/>
          <p:nvPr/>
        </p:nvSpPr>
        <p:spPr>
          <a:xfrm>
            <a:off x="853390" y="2234614"/>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CIERRE</a:t>
            </a:r>
            <a:endParaRPr lang="en-US" sz="869" dirty="0"/>
          </a:p>
        </p:txBody>
      </p:sp>
      <p:sp>
        <p:nvSpPr>
          <p:cNvPr id="6" name="s35-forma-5"/>
          <p:cNvSpPr/>
          <p:nvPr/>
        </p:nvSpPr>
        <p:spPr>
          <a:xfrm>
            <a:off x="853390" y="3904795"/>
            <a:ext cx="722704" cy="22852"/>
          </a:xfrm>
          <a:prstGeom prst="rect">
            <a:avLst/>
          </a:prstGeom>
          <a:solidFill>
            <a:srgbClr val="0033A0"/>
          </a:solidFill>
          <a:ln/>
        </p:spPr>
        <p:txBody>
          <a:bodyPr/>
          <a:lstStyle/>
          <a:p>
            <a:endParaRPr lang="es-MX"/>
          </a:p>
        </p:txBody>
      </p:sp>
      <p:sp>
        <p:nvSpPr>
          <p:cNvPr id="7" name="s35-texto-6"/>
          <p:cNvSpPr txBox="1"/>
          <p:nvPr/>
        </p:nvSpPr>
        <p:spPr>
          <a:xfrm>
            <a:off x="853390" y="2515626"/>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Preguntas, quiz</a:t>
            </a:r>
            <a:endParaRPr lang="en-US" sz="4242" dirty="0"/>
          </a:p>
        </p:txBody>
      </p:sp>
      <p:sp>
        <p:nvSpPr>
          <p:cNvPr id="8" name="s35-texto-7"/>
          <p:cNvSpPr txBox="1"/>
          <p:nvPr/>
        </p:nvSpPr>
        <p:spPr>
          <a:xfrm>
            <a:off x="853390" y="4106449"/>
            <a:ext cx="7778274" cy="548633"/>
          </a:xfrm>
          <a:prstGeom prst="rect">
            <a:avLst/>
          </a:prstGeom>
          <a:noFill/>
          <a:ln/>
        </p:spPr>
        <p:txBody>
          <a:bodyPr wrap="squar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Dos estudiantes muestran su salida; quiz de 5 preguntas; commit del entregable.</a:t>
            </a:r>
            <a:endParaRPr lang="en-US" sz="1676" dirty="0"/>
          </a:p>
        </p:txBody>
      </p:sp>
      <p:pic>
        <p:nvPicPr>
          <p:cNvPr id="9" name="s35-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35-forma-9"/>
          <p:cNvSpPr/>
          <p:nvPr/>
        </p:nvSpPr>
        <p:spPr>
          <a:xfrm>
            <a:off x="1659380" y="6519865"/>
            <a:ext cx="3057208" cy="102835"/>
          </a:xfrm>
          <a:prstGeom prst="rect">
            <a:avLst/>
          </a:prstGeom>
          <a:ln/>
        </p:spPr>
        <p:txBody>
          <a:bodyPr/>
          <a:lstStyle/>
          <a:p>
            <a:endParaRPr lang="es-MX"/>
          </a:p>
        </p:txBody>
      </p:sp>
      <p:sp>
        <p:nvSpPr>
          <p:cNvPr id="11" name="s35-forma-10"/>
          <p:cNvSpPr/>
          <p:nvPr/>
        </p:nvSpPr>
        <p:spPr>
          <a:xfrm>
            <a:off x="1659380" y="6519865"/>
            <a:ext cx="5713" cy="102835"/>
          </a:xfrm>
          <a:prstGeom prst="rect">
            <a:avLst/>
          </a:prstGeom>
          <a:solidFill>
            <a:srgbClr val="C6BFAE"/>
          </a:solidFill>
          <a:ln/>
        </p:spPr>
        <p:txBody>
          <a:bodyPr/>
          <a:lstStyle/>
          <a:p>
            <a:endParaRPr lang="es-MX"/>
          </a:p>
        </p:txBody>
      </p:sp>
      <p:sp>
        <p:nvSpPr>
          <p:cNvPr id="12" name="s35-texto-11"/>
          <p:cNvSpPr txBox="1"/>
          <p:nvPr/>
        </p:nvSpPr>
        <p:spPr>
          <a:xfrm>
            <a:off x="1783282" y="6519865"/>
            <a:ext cx="3109304"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1 — ARQUITECTURA DE AGENTES</a:t>
            </a:r>
            <a:endParaRPr lang="en-US" sz="704" dirty="0"/>
          </a:p>
        </p:txBody>
      </p:sp>
      <p:sp>
        <p:nvSpPr>
          <p:cNvPr id="13" name="s35-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35 / 35</a:t>
            </a:r>
            <a:endParaRPr lang="en-US" sz="745" dirty="0"/>
          </a:p>
        </p:txBody>
      </p:sp>
      <p:sp>
        <p:nvSpPr>
          <p:cNvPr id="14" name="s35-forma-13"/>
          <p:cNvSpPr/>
          <p:nvPr/>
        </p:nvSpPr>
        <p:spPr>
          <a:xfrm>
            <a:off x="0" y="0"/>
            <a:ext cx="12191695" cy="17139"/>
          </a:xfrm>
          <a:prstGeom prst="rect">
            <a:avLst/>
          </a:prstGeom>
          <a:solidFill>
            <a:srgbClr val="0033A0"/>
          </a:solidFill>
          <a:ln/>
        </p:spPr>
        <p:txBody>
          <a:bodyPr/>
          <a:lstStyle/>
          <a:p>
            <a:endParaRPr lang="es-MX"/>
          </a:p>
        </p:txBody>
      </p:sp>
    </p:spTree>
  </p:cSld>
  <p:clrMapOvr>
    <a:masterClrMapping/>
  </p:clrMapOvr>
</p:sld>
</file>

<file path=ppt/theme/theme1.xml><?xml version="1.0" encoding="utf-8"?>
<a:theme xmlns:a="http://schemas.openxmlformats.org/drawingml/2006/main" name="Tec Editorial · INSPIRA">
  <a:themeElements>
    <a:clrScheme name="Tec Editorial · INSPIRA">
      <a:dk1>
        <a:srgbClr val="16181D"/>
      </a:dk1>
      <a:lt1>
        <a:srgbClr val="EDE8DC"/>
      </a:lt1>
      <a:dk2>
        <a:srgbClr val="585E6F"/>
      </a:dk2>
      <a:lt2>
        <a:srgbClr val="E3DCCB"/>
      </a:lt2>
      <a:accent1>
        <a:srgbClr val="0033A0"/>
      </a:accent1>
      <a:accent2>
        <a:srgbClr val="AC321E"/>
      </a:accent2>
      <a:accent3>
        <a:srgbClr val="6B3FA0"/>
      </a:accent3>
      <a:accent4>
        <a:srgbClr val="1B6A43"/>
      </a:accent4>
      <a:accent5>
        <a:srgbClr val="7C560C"/>
      </a:accent5>
      <a:accent6>
        <a:srgbClr val="0E6871"/>
      </a:accent6>
      <a:hlink>
        <a:srgbClr val="0033A0"/>
      </a:hlink>
      <a:folHlink>
        <a:srgbClr val="984514"/>
      </a:folHlink>
    </a:clrScheme>
    <a:fontScheme name="Tec Editorial · INSPIR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3981</TotalTime>
  <Words>8992</Words>
  <Application>Microsoft Macintosh PowerPoint</Application>
  <PresentationFormat>Panorámica</PresentationFormat>
  <Paragraphs>813</Paragraphs>
  <Slides>41</Slides>
  <Notes>40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41</vt:i4>
      </vt:variant>
    </vt:vector>
  </HeadingPairs>
  <TitlesOfParts>
    <vt:vector size="46" baseType="lpstr">
      <vt:lpstr>Arial</vt:lpstr>
      <vt:lpstr>Courier New</vt:lpstr>
      <vt:lpstr>Georgia</vt:lpstr>
      <vt:lpstr>Wingdings</vt:lpstr>
      <vt:lpstr>Tec Editorial · INSPIRA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 · Sesión 1 · Arquitectura de agentes</dc:title>
  <dc:subject>PptxGenJS Presentation</dc:subject>
  <dc:creator>Tecnológico de Monterrey · Next-Gen Coding</dc:creator>
  <cp:lastModifiedBy>Ricardo Carlos Ivison Mata</cp:lastModifiedBy>
  <cp:revision>23</cp:revision>
  <dcterms:created xsi:type="dcterms:W3CDTF">2026-10-15T02:23:02Z</dcterms:created>
  <dcterms:modified xsi:type="dcterms:W3CDTF">2026-10-18T01:36:28Z</dcterms:modified>
</cp:coreProperties>
</file>