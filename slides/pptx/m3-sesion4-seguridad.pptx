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Idea central: un agente convierte texto en acciones con credenciales reales, así que cualquier texto que lea es una posible orden. Antes de la sesión, ejecuta el ataque con y sin defensas.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denegaciones encontradas son la mejor entrada al tema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3; 0:10 OWASP Agentic Top 10 en la fábrica; 0:30 tríada letal y defensas por capas; 0:45 el flujo end to end con triage; 0:55 descanso; 1:05 Lab 4A flujo completo con HU-03; 1:30 Lab 4B atacar y defender; 1:55 Lab 4C reporte de seguridad; 2:15 cierre del módulo con demostraciones y retrospectiva. Antes de la sesión, ejecuten el ataque con y sin defensas: el resultado sin defensas varía y eso también se discute.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cada riesgo, pide a la clase el archivo de su fábrica donde aparece y el que lo mitiga.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Pausa dramática. Una página web, un correo, un PDF o el resultado de una herramienta pueden contener instrucciones. El modelo no distingue con certeza entre "datos" e "instrucciones". Por eso las defensas que funcionan limitan el daño posible en lugar de confiar en que el modelo resista.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Publicado en diciembre de 2025: complementa al Top 10 para aplicaciones LLM; aquel cubre lo que el modelo dice, este lo que el agente hace. Para cada riesgo, pedir a la clase que señale el archivo de su fábrica donde aparece y el que lo mitiga. ASI07 (comunicación entre agentes) y ASI10 (agentes deshonestos) aplican menos porque los agentes de la fábrica no se hablan directamente: se comunican por archivos y por el estado del grafo. En el laboratorio atacaremos ASI01 y ASI06.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un hook es más confiable que una frase en el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Inyección directa: el usuario intenta manipular al agente. Indirecta: la orden llega escondida en contenido que el agente lee. Hoy no existe un filtro que detecte el 100% de las inyecciones; por eso la defensa principal es arquitectónica. Si un agente lee contenido no confiable, que no tenga acceso a datos privados o que no pueda comunicarse hacia fuera sin aprobación. Nuestra fábrica de código la reúne por diseño: lee una historia no confiable, accede a archivos y ejecuta el código que genera. El Lab 4 la ataca y luego la rompe.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Defensa en profundidad: cada capa asume que la anterior puede fallar. Recorrer cada una mostrando el archivo donde vive. Los hooks de rol siempre están activos; los de seguridad (lectura confinada, comandos permitidos, auditoría) se apagan con DEFENSAS=0 únicamente para demostrar el ataque en el laboratorio. Pregunta para la clase: ¿por qué un hook es más confiable que escribir "no leas .env" en el prompt? Porque el prompt es una sugerencia que una inyección puede anular; el hook es código que el modelo no puede saltarse.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registra con HookMatcher(matcher="Bash", hooks=[comandos_permitidos(app, PROGRAMAS)]). Este hook corre antes de cada comando de terminal que Claude Code quiera ejecutar. Rechaza sustituciones de comandos, cualquier mención de secretos o variables de entorno, y cualquier programa que no esté en la lista del rol: el despliegue solo puede usar docker y curl; el automatizador, python y pytest. Si devuelve deny, el comando no se ejecuta y el motivo regresa al modelo, que ajusta su plan. Respuesta esperada a la pregunta: el prompt es una sugerencia que una inyección puede anular; el hook es código determinista que el modelo no puede saltarse.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triage enruta, no corrige; gana quien siga el criterio de aceptación.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Después del despliegue y de escribir las pruebas, el flujo las ejecuta todas: API y end to end. Si pasan, se escribe el reporte. Si fallan, el triage, que es el único supervisor de la fábrica, lee los fallos y los criterios de aceptación y devuelve un diagnóstico estructurado: responsable, causa, criterio de referencia e instrucción. El flujo enruta la corrección al agente responsable y vuelve a probar, con un máximo de dos ciclos; después, el reporte escala a una persona. Regla: si la prueba y la app no coinciden, gana quien siga el criterio de aceptación.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Aprobar el plan solo si respeta «no se puede editar a un empleado dado de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 aprobar el plan solo si respeta "no se puede editar a un empleado dado de baja"; si hay fallos, ¿están de acuerdo con el responsable que eligió el triage? Control: salida/HU-03/reporte.md. 4B: cada ataque se prueba sobre un solo agente para que quepa en el tiempo. Historia envenenada sin defensas: correr solo el analista y buscar "diagnostico" en los criterios. Con defensas: flujo_s4 debe bloquearla en el primer nodo. Contexto envenenado: agregar a convenciones_app.md una orden de leer secretos_demo.txt y pedir un plan con DEFENSAS=0 y sin él; buscar BANDERA en la salida. Borrar la línea al terminar. El resultado sin defensas varía entre ejecuciones: esa variación es la razón para defender con código. 4C: salida/seguridad.md.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ataques apuntan solo a secretos_demo.txt, nunca al .env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evaluación: examen de conceptos (40 %) y reto en código con HU-10 (60 %).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sigue la lógica del módulo: los conceptos se miden en el examen y su aplicación en el reto. El examen tiene 20 preguntas: cuatro de agentes y componentes, cuatro de salidas estructuradas y validación, cuatro de orquestación y el rol del humano, cinco de arquitecturas y tres de seguridad. El reto usa la fábrica que cada quien construyó en los laboratorios con una historia nueva, solicitar vacaciones, que se entrega al terminar la sesión 4. Los entregables y quizzes de sesión no suman a la nota: son la práctica para llegar bien a las dos partes.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reto toma todo lo que hicieron en los laboratorios como base. Reciben la historia HU-10, sus reglas con la tabla de festivos de 2026 y 2027, y las convenciones de la API y la pantalla. Las agregan a historias y a contexto, y ejecutan la fábrica completa sobre su app de empleados: criterios de aceptación, casos de prueba, código con aprobación del plan, despliegue con Docker Compose, pruebas de API y E2E, y el reporte de punta a punta. Las tres reglas tienen mensajes de error exactos, porque el docente califica la API con pruebas propias que los estudiantes no ven. Además escriben una página de decisiones: qué es workflow y qué es agente, cómo se validó cada salida, dónde intervinieron, qué arquitectura usa su fábrica y qué corrigieron.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40 por ciento depende de que la app cumpla la historia: el docente levanta la app de cada estudiante y corre una suite de 12 pruebas de API que cubre las tres reglas, los casos límite y los datos inválidos. El 35 por ciento es el recorrido: que cada etapa de la fábrica haya dejado su evidencia y sus validaciones, incluida la aprobación del plan. El 10 por ciento es integridad: hooks intactos y nada editado a mano, verificable en la auditoría. El 15 por ciento son las decisiones, donde el estudiante demuestra que entiende los conceptos usando su propia ejecución como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Abre espacio para preguntas sobre el reto y recuerda la fecha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módulo. Este checklist es el mismo que se exige en el reporte de seguridad del proyecto integrador. Abrir espacio para preguntas y recordar la fecha de entrega: una semana después de la sesión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sp>
      <p:sp>
        <p:nvSpPr>
          <p:cNvPr id="3" name="s1-texto-2"/>
          <p:cNvSpPr txBox="1"/>
          <p:nvPr/>
        </p:nvSpPr>
        <p:spPr>
          <a:xfrm>
            <a:off x="1007018" y="315290"/>
            <a:ext cx="774478"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algn="l" indent="0" marL="0">
              <a:lnSpc>
                <a:spcPts val="2483"/>
              </a:lnSpc>
              <a:buNone/>
            </a:pPr>
            <a:r>
              <a:rPr lang="en-US" sz="1552" spc="16" kern="0"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sp>
      <p:sp>
        <p:nvSpPr>
          <p:cNvPr id="7" name="s1-texto-6"/>
          <p:cNvSpPr txBox="1"/>
          <p:nvPr/>
        </p:nvSpPr>
        <p:spPr>
          <a:xfrm>
            <a:off x="853390" y="2463584"/>
            <a:ext cx="6197033" cy="743413"/>
          </a:xfrm>
          <a:prstGeom prst="rect">
            <a:avLst/>
          </a:prstGeom>
          <a:noFill/>
          <a:ln/>
        </p:spPr>
        <p:txBody>
          <a:bodyPr wrap="square" lIns="0" tIns="0" rIns="0" bIns="0" rtlCol="0" anchor="t"/>
          <a:lstStyle/>
          <a:p>
            <a:pPr algn="l" indent="0" marL="0">
              <a:lnSpc>
                <a:spcPts val="2975"/>
              </a:lnSpc>
              <a:buNone/>
            </a:pPr>
            <a:r>
              <a:rPr lang="en-US" sz="2587" b="1" spc="-52" kern="0"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algn="l" indent="0" marL="0">
              <a:lnSpc>
                <a:spcPts val="2669"/>
              </a:lnSpc>
              <a:buNone/>
            </a:pPr>
            <a:r>
              <a:rPr lang="en-US" sz="2225" b="1" spc="-33" kern="0" dirty="0">
                <a:solidFill>
                  <a:srgbClr val="FFFFFF"/>
                </a:solidFill>
                <a:latin typeface="Georgia" pitchFamily="34" charset="0"/>
                <a:ea typeface="Georgia" pitchFamily="34" charset="-122"/>
                <a:cs typeface="Georgia" pitchFamily="34" charset="-120"/>
              </a:rPr>
              <a:t>Seguridad en sistemas agénticos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96A2B8"/>
                </a:solidFill>
                <a:latin typeface="Arial" pitchFamily="34" charset="0"/>
                <a:ea typeface="Arial" pitchFamily="34" charset="-122"/>
                <a:cs typeface="Arial" pitchFamily="34" charset="-120"/>
              </a:rPr>
              <a:t>Sesión 4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algn="l" indent="0" marL="0">
              <a:lnSpc>
                <a:spcPts val="1987"/>
              </a:lnSpc>
              <a:buNone/>
            </a:pPr>
            <a:r>
              <a:rPr lang="en-US" sz="1242" dirty="0">
                <a:solidFill>
                  <a:srgbClr val="96A2B8"/>
                </a:solidFill>
                <a:latin typeface="Arial" pitchFamily="34" charset="0"/>
                <a:ea typeface="Arial" pitchFamily="34" charset="-122"/>
                <a:cs typeface="Arial" pitchFamily="34" charset="-120"/>
              </a:rPr>
              <a:t>Limitar lo que el agente puede hacer, aunque lo engañen.</a:t>
            </a:r>
            <a:endParaRPr lang="en-US" sz="1242" dirty="0"/>
          </a:p>
        </p:txBody>
      </p:sp>
      <p:pic>
        <p:nvPicPr>
          <p:cNvPr id="12" name="s1-logo-11" descr="preencoded.png">    </p:cNvPr>
          <p:cNvPicPr>
            <a:picLocks noChangeAspect="1"/>
          </p:cNvPicPr>
          <p:nvPr/>
        </p:nvPicPr>
        <p:blipFill>
          <a:blip r:embed="rId2"/>
          <a:stretch>
            <a:fillRect/>
          </a:stretch>
        </p:blipFill>
        <p:spPr>
          <a:xfrm>
            <a:off x="853390" y="6465055"/>
            <a:ext cx="687800" cy="212455"/>
          </a:xfrm>
          <a:prstGeom prst="rect">
            <a:avLst/>
          </a:prstGeom>
        </p:spPr>
      </p:pic>
      <p:sp>
        <p:nvSpPr>
          <p:cNvPr id="13" name="s1-forma-12"/>
          <p:cNvSpPr/>
          <p:nvPr/>
        </p:nvSpPr>
        <p:spPr>
          <a:xfrm>
            <a:off x="1659380" y="6519865"/>
            <a:ext cx="3578704" cy="102835"/>
          </a:xfrm>
          <a:prstGeom prst="rect">
            <a:avLst/>
          </a:prstGeom>
          <a:ln/>
        </p:spPr>
      </p:sp>
      <p:sp>
        <p:nvSpPr>
          <p:cNvPr id="14" name="s1-forma-13"/>
          <p:cNvSpPr/>
          <p:nvPr/>
        </p:nvSpPr>
        <p:spPr>
          <a:xfrm>
            <a:off x="1659380" y="6519865"/>
            <a:ext cx="5713" cy="102835"/>
          </a:xfrm>
          <a:prstGeom prst="rect">
            <a:avLst/>
          </a:prstGeom>
          <a:solidFill>
            <a:srgbClr val="2A3550"/>
          </a:solidFill>
          <a:ln/>
        </p:spPr>
      </p:sp>
      <p:sp>
        <p:nvSpPr>
          <p:cNvPr id="15" name="s1-texto-14"/>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96A2B8"/>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96A2B8"/>
                </a:solidFill>
                <a:latin typeface="Courier New" pitchFamily="34" charset="0"/>
                <a:ea typeface="Courier New" pitchFamily="34" charset="-122"/>
                <a:cs typeface="Courier New" pitchFamily="34" charset="-120"/>
              </a:rPr>
              <a:t>1 / 22</a:t>
            </a:r>
            <a:endParaRPr lang="en-US" sz="745" dirty="0"/>
          </a:p>
        </p:txBody>
      </p:sp>
      <p:sp>
        <p:nvSpPr>
          <p:cNvPr id="17" name="s1-forma-16"/>
          <p:cNvSpPr/>
          <p:nvPr/>
        </p:nvSpPr>
        <p:spPr>
          <a:xfrm>
            <a:off x="0" y="0"/>
            <a:ext cx="554168" cy="17139"/>
          </a:xfrm>
          <a:prstGeom prst="rect">
            <a:avLst/>
          </a:prstGeom>
          <a:solidFill>
            <a:srgbClr val="7FA8F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sp>
      <p:sp>
        <p:nvSpPr>
          <p:cNvPr id="3" name="s2-texto-2"/>
          <p:cNvSpPr txBox="1"/>
          <p:nvPr/>
        </p:nvSpPr>
        <p:spPr>
          <a:xfrm>
            <a:off x="1007018" y="315290"/>
            <a:ext cx="612548"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BLOQUE 4.0</a:t>
            </a:r>
            <a:endParaRPr lang="en-US" sz="869" dirty="0"/>
          </a:p>
        </p:txBody>
      </p:sp>
      <p:sp>
        <p:nvSpPr>
          <p:cNvPr id="6" name="s2-forma-5"/>
          <p:cNvSpPr/>
          <p:nvPr/>
        </p:nvSpPr>
        <p:spPr>
          <a:xfrm>
            <a:off x="853390" y="3768306"/>
            <a:ext cx="722704" cy="22852"/>
          </a:xfrm>
          <a:prstGeom prst="rect">
            <a:avLst/>
          </a:prstGeom>
          <a:solidFill>
            <a:srgbClr val="0033A0"/>
          </a:solidFill>
          <a:ln/>
        </p:spPr>
      </p:sp>
      <p:sp>
        <p:nvSpPr>
          <p:cNvPr id="7" name="s2-texto-6"/>
          <p:cNvSpPr txBox="1"/>
          <p:nvPr/>
        </p:nvSpPr>
        <p:spPr>
          <a:xfrm>
            <a:off x="853390" y="2960889"/>
            <a:ext cx="7149222" cy="634151"/>
          </a:xfrm>
          <a:prstGeom prst="rect">
            <a:avLst/>
          </a:prstGeom>
          <a:noFill/>
          <a:ln/>
        </p:spPr>
        <p:txBody>
          <a:bodyPr wrap="non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Revisión del entregable 3</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Resultados de pytest y denegaciones de la auditoría.</a:t>
            </a:r>
            <a:endParaRPr lang="en-US" sz="1676" dirty="0"/>
          </a:p>
        </p:txBody>
      </p:sp>
      <p:pic>
        <p:nvPicPr>
          <p:cNvPr id="9" name="s2-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2-forma-9"/>
          <p:cNvSpPr/>
          <p:nvPr/>
        </p:nvSpPr>
        <p:spPr>
          <a:xfrm>
            <a:off x="1659380" y="6519865"/>
            <a:ext cx="3578704" cy="102835"/>
          </a:xfrm>
          <a:prstGeom prst="rect">
            <a:avLst/>
          </a:prstGeom>
          <a:ln/>
        </p:spPr>
      </p:sp>
      <p:sp>
        <p:nvSpPr>
          <p:cNvPr id="11" name="s2-forma-10"/>
          <p:cNvSpPr/>
          <p:nvPr/>
        </p:nvSpPr>
        <p:spPr>
          <a:xfrm>
            <a:off x="1659380" y="6519865"/>
            <a:ext cx="5713" cy="102835"/>
          </a:xfrm>
          <a:prstGeom prst="rect">
            <a:avLst/>
          </a:prstGeom>
          <a:solidFill>
            <a:srgbClr val="C6BFAE"/>
          </a:solidFill>
          <a:ln/>
        </p:spPr>
      </p:sp>
      <p:sp>
        <p:nvSpPr>
          <p:cNvPr id="12" name="s2-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2 / 22</a:t>
            </a:r>
            <a:endParaRPr lang="en-US" sz="745" dirty="0"/>
          </a:p>
        </p:txBody>
      </p:sp>
      <p:sp>
        <p:nvSpPr>
          <p:cNvPr id="14" name="s2-forma-13"/>
          <p:cNvSpPr/>
          <p:nvPr/>
        </p:nvSpPr>
        <p:spPr>
          <a:xfrm>
            <a:off x="0" y="0"/>
            <a:ext cx="1108336" cy="17139"/>
          </a:xfrm>
          <a:prstGeom prst="rect">
            <a:avLst/>
          </a:prstGeom>
          <a:solidFill>
            <a:srgbClr val="0033A0"/>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sp>
      <p:sp>
        <p:nvSpPr>
          <p:cNvPr id="3" name="s3-forma-2"/>
          <p:cNvSpPr/>
          <p:nvPr/>
        </p:nvSpPr>
        <p:spPr>
          <a:xfrm>
            <a:off x="853390" y="331715"/>
            <a:ext cx="81411" cy="81411"/>
          </a:xfrm>
          <a:prstGeom prst="ellipse">
            <a:avLst/>
          </a:prstGeom>
          <a:solidFill>
            <a:srgbClr val="7C560C"/>
          </a:solidFill>
          <a:ln/>
        </p:spPr>
      </p:sp>
      <p:sp>
        <p:nvSpPr>
          <p:cNvPr id="4" name="s3-texto-3"/>
          <p:cNvSpPr txBox="1"/>
          <p:nvPr/>
        </p:nvSpPr>
        <p:spPr>
          <a:xfrm>
            <a:off x="1007018" y="315290"/>
            <a:ext cx="612548"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SESIÓN 4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algn="l" indent="0" marL="0">
              <a:lnSpc>
                <a:spcPts val="2173"/>
              </a:lnSpc>
              <a:buNone/>
            </a:pPr>
            <a:r>
              <a:rPr lang="en-US" sz="1889" b="1" spc="-19" kern="0" dirty="0">
                <a:solidFill>
                  <a:srgbClr val="16181D"/>
                </a:solidFill>
                <a:latin typeface="Georgia" pitchFamily="34" charset="0"/>
                <a:ea typeface="Georgia" pitchFamily="34" charset="-122"/>
                <a:cs typeface="Georgia" pitchFamily="34" charset="-120"/>
              </a:rPr>
              <a:t>Entender los riesgos de un sistema agéntico y defenderlo por capas</a:t>
            </a:r>
            <a:endParaRPr lang="en-US" sz="1889" dirty="0"/>
          </a:p>
        </p:txBody>
      </p:sp>
      <p:sp>
        <p:nvSpPr>
          <p:cNvPr id="8" name="s3-forma-7"/>
          <p:cNvSpPr/>
          <p:nvPr/>
        </p:nvSpPr>
        <p:spPr>
          <a:xfrm>
            <a:off x="1342572" y="2018410"/>
            <a:ext cx="3035516" cy="2205960"/>
          </a:xfrm>
          <a:prstGeom prst="rect">
            <a:avLst/>
          </a:prstGeom>
          <a:solidFill>
            <a:srgbClr val="E2D3C2"/>
          </a:solidFill>
          <a:ln/>
        </p:spPr>
      </p:sp>
      <p:sp>
        <p:nvSpPr>
          <p:cNvPr id="9" name="s3-texto-8"/>
          <p:cNvSpPr txBox="1"/>
          <p:nvPr/>
        </p:nvSpPr>
        <p:spPr>
          <a:xfrm>
            <a:off x="1571095" y="2246933"/>
            <a:ext cx="2733178"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400986"/>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OWASP Top 10 agéntico y la tríada letal</a:t>
            </a:r>
            <a:endParaRPr lang="en-US" sz="1260" dirty="0"/>
          </a:p>
        </p:txBody>
      </p:sp>
      <p:sp>
        <p:nvSpPr>
          <p:cNvPr id="11" name="s3-texto-10"/>
          <p:cNvSpPr txBox="1"/>
          <p:nvPr/>
        </p:nvSpPr>
        <p:spPr>
          <a:xfrm>
            <a:off x="1571095" y="3031767"/>
            <a:ext cx="2733178" cy="400986"/>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Defensas en código, no en el prompt</a:t>
            </a:r>
            <a:endParaRPr lang="en-US" sz="1260" dirty="0"/>
          </a:p>
        </p:txBody>
      </p:sp>
      <p:sp>
        <p:nvSpPr>
          <p:cNvPr id="12" name="s3-texto-11"/>
          <p:cNvSpPr txBox="1"/>
          <p:nvPr/>
        </p:nvSpPr>
        <p:spPr>
          <a:xfrm>
            <a:off x="1571095" y="3570938"/>
            <a:ext cx="2733178" cy="400986"/>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Flujo de punta a punta con triage y escalamiento</a:t>
            </a:r>
            <a:endParaRPr lang="en-US" sz="1260" dirty="0"/>
          </a:p>
        </p:txBody>
      </p:sp>
      <p:sp>
        <p:nvSpPr>
          <p:cNvPr id="13" name="s3-forma-12"/>
          <p:cNvSpPr/>
          <p:nvPr/>
        </p:nvSpPr>
        <p:spPr>
          <a:xfrm>
            <a:off x="4560906" y="2018410"/>
            <a:ext cx="3046942" cy="2205960"/>
          </a:xfrm>
          <a:prstGeom prst="rect">
            <a:avLst/>
          </a:prstGeom>
          <a:solidFill>
            <a:srgbClr val="E3DCCB"/>
          </a:solidFill>
          <a:ln w="5713">
            <a:solidFill>
              <a:srgbClr val="C6BFAE"/>
            </a:solidFill>
            <a:prstDash val="solid"/>
          </a:ln>
        </p:spPr>
      </p:sp>
      <p:sp>
        <p:nvSpPr>
          <p:cNvPr id="14" name="s3-texto-13"/>
          <p:cNvSpPr txBox="1"/>
          <p:nvPr/>
        </p:nvSpPr>
        <p:spPr>
          <a:xfrm>
            <a:off x="4795142" y="2252646"/>
            <a:ext cx="2733178"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algn="l" indent="0" marL="0">
              <a:lnSpc>
                <a:spcPts val="1763"/>
              </a:lnSpc>
              <a:buNone/>
            </a:pPr>
            <a:r>
              <a:rPr lang="en-US" sz="1260" b="1" dirty="0">
                <a:solidFill>
                  <a:srgbClr val="0033A0"/>
                </a:solidFill>
                <a:latin typeface="Arial" pitchFamily="34" charset="0"/>
                <a:ea typeface="Arial" pitchFamily="34" charset="-122"/>
                <a:cs typeface="Arial" pitchFamily="34" charset="-120"/>
              </a:rPr>
              <a:t>6 · Flujo E2E</a:t>
            </a:r>
            <a:pPr algn="l" indent="0" marL="0">
              <a:lnSpc>
                <a:spcPts val="1763"/>
              </a:lnSpc>
              <a:buNone/>
            </a:pPr>
            <a:r>
              <a:rPr lang="en-US" sz="1260" dirty="0">
                <a:solidFill>
                  <a:srgbClr val="16181D"/>
                </a:solidFill>
                <a:latin typeface="Arial" pitchFamily="34" charset="0"/>
                <a:ea typeface="Arial" pitchFamily="34" charset="-122"/>
                <a:cs typeface="Arial" pitchFamily="34" charset="-120"/>
              </a:rPr>
              <a:t> con un agente de triage</a:t>
            </a:r>
            <a:endParaRPr lang="en-US" sz="1260" dirty="0"/>
          </a:p>
        </p:txBody>
      </p:sp>
      <p:sp>
        <p:nvSpPr>
          <p:cNvPr id="16" name="s3-texto-15"/>
          <p:cNvSpPr txBox="1"/>
          <p:nvPr/>
        </p:nvSpPr>
        <p:spPr>
          <a:xfrm>
            <a:off x="4795142" y="3037480"/>
            <a:ext cx="2733178" cy="177105"/>
          </a:xfrm>
          <a:prstGeom prst="rect">
            <a:avLst/>
          </a:prstGeom>
          <a:noFill/>
          <a:ln/>
        </p:spPr>
        <p:txBody>
          <a:bodyPr wrap="non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Un filtro para historias no confiables</a:t>
            </a:r>
            <a:endParaRPr lang="en-US" sz="1260" dirty="0"/>
          </a:p>
        </p:txBody>
      </p:sp>
      <p:sp>
        <p:nvSpPr>
          <p:cNvPr id="17" name="s3-texto-16"/>
          <p:cNvSpPr txBox="1"/>
          <p:nvPr/>
        </p:nvSpPr>
        <p:spPr>
          <a:xfrm>
            <a:off x="4795142" y="3352770"/>
            <a:ext cx="2733178" cy="400986"/>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Pruebas de ataque con y sin defensas</a:t>
            </a:r>
            <a:endParaRPr lang="en-US" sz="1260" dirty="0"/>
          </a:p>
        </p:txBody>
      </p:sp>
      <p:sp>
        <p:nvSpPr>
          <p:cNvPr id="18" name="s3-forma-17"/>
          <p:cNvSpPr/>
          <p:nvPr/>
        </p:nvSpPr>
        <p:spPr>
          <a:xfrm>
            <a:off x="7790666" y="2018410"/>
            <a:ext cx="3058368" cy="2205960"/>
          </a:xfrm>
          <a:prstGeom prst="rect">
            <a:avLst/>
          </a:prstGeom>
          <a:solidFill>
            <a:srgbClr val="E8E2D5"/>
          </a:solidFill>
          <a:ln/>
        </p:spPr>
      </p:sp>
      <p:sp>
        <p:nvSpPr>
          <p:cNvPr id="19" name="s3-forma-18"/>
          <p:cNvSpPr/>
          <p:nvPr/>
        </p:nvSpPr>
        <p:spPr>
          <a:xfrm>
            <a:off x="7790666" y="2018410"/>
            <a:ext cx="3058368" cy="5713"/>
          </a:xfrm>
          <a:prstGeom prst="rect">
            <a:avLst/>
          </a:prstGeom>
          <a:solidFill>
            <a:srgbClr val="DBD4C4"/>
          </a:solidFill>
          <a:ln/>
        </p:spPr>
      </p:sp>
      <p:sp>
        <p:nvSpPr>
          <p:cNvPr id="20" name="s3-forma-19"/>
          <p:cNvSpPr/>
          <p:nvPr/>
        </p:nvSpPr>
        <p:spPr>
          <a:xfrm>
            <a:off x="7790666" y="4218657"/>
            <a:ext cx="3058368" cy="5713"/>
          </a:xfrm>
          <a:prstGeom prst="rect">
            <a:avLst/>
          </a:prstGeom>
          <a:solidFill>
            <a:srgbClr val="DBD4C4"/>
          </a:solidFill>
          <a:ln/>
        </p:spPr>
      </p:sp>
      <p:sp>
        <p:nvSpPr>
          <p:cNvPr id="21" name="s3-forma-20"/>
          <p:cNvSpPr/>
          <p:nvPr/>
        </p:nvSpPr>
        <p:spPr>
          <a:xfrm>
            <a:off x="7790666" y="2018410"/>
            <a:ext cx="17139" cy="2205960"/>
          </a:xfrm>
          <a:prstGeom prst="rect">
            <a:avLst/>
          </a:prstGeom>
          <a:solidFill>
            <a:srgbClr val="C6BFAE"/>
          </a:solidFill>
          <a:ln/>
        </p:spPr>
      </p:sp>
      <p:sp>
        <p:nvSpPr>
          <p:cNvPr id="22" name="s3-forma-21"/>
          <p:cNvSpPr/>
          <p:nvPr/>
        </p:nvSpPr>
        <p:spPr>
          <a:xfrm>
            <a:off x="10843321" y="2018410"/>
            <a:ext cx="5713" cy="2205960"/>
          </a:xfrm>
          <a:prstGeom prst="rect">
            <a:avLst/>
          </a:prstGeom>
          <a:solidFill>
            <a:srgbClr val="DBD4C4"/>
          </a:solidFill>
          <a:ln/>
        </p:spPr>
      </p:sp>
      <p:sp>
        <p:nvSpPr>
          <p:cNvPr id="23" name="s3-texto-22"/>
          <p:cNvSpPr txBox="1"/>
          <p:nvPr/>
        </p:nvSpPr>
        <p:spPr>
          <a:xfrm>
            <a:off x="8036328" y="2252646"/>
            <a:ext cx="2733178"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algn="l" indent="0" marL="0">
              <a:lnSpc>
                <a:spcPts val="1485"/>
              </a:lnSpc>
              <a:buNone/>
            </a:pPr>
            <a:r>
              <a:rPr lang="en-US" sz="990" dirty="0">
                <a:solidFill>
                  <a:srgbClr val="16181D"/>
                </a:solidFill>
                <a:latin typeface="Courier New" pitchFamily="34" charset="0"/>
                <a:ea typeface="Courier New" pitchFamily="34" charset="-122"/>
                <a:cs typeface="Courier New" pitchFamily="34" charset="-120"/>
              </a:rPr>
              <a:t>salida/HU-03/reporte.md</a:t>
            </a:r>
            <a:endParaRPr lang="en-US" sz="990" dirty="0"/>
          </a:p>
          <a:p>
            <a:pPr algn="l" indent="0" marL="0">
              <a:lnSpc>
                <a:spcPts val="1485"/>
              </a:lnSpc>
              <a:buNone/>
            </a:pPr>
            <a:r>
              <a:rPr lang="en-US" sz="990" dirty="0">
                <a:solidFill>
                  <a:srgbClr val="16181D"/>
                </a:solidFill>
                <a:latin typeface="Courier New" pitchFamily="34" charset="0"/>
                <a:ea typeface="Courier New" pitchFamily="34" charset="-122"/>
                <a:cs typeface="Courier New" pitchFamily="34" charset="-120"/>
              </a:rPr>
              <a:t>salida/seguridad.md</a:t>
            </a:r>
            <a:endParaRPr lang="en-US" sz="990" dirty="0"/>
          </a:p>
          <a:p>
            <a:pPr algn="l" indent="0" marL="0">
              <a:lnSpc>
                <a:spcPts val="1485"/>
              </a:lnSpc>
              <a:buNone/>
            </a:pPr>
            <a:r>
              <a:rPr lang="en-US" sz="990" dirty="0">
                <a:solidFill>
                  <a:srgbClr val="16181D"/>
                </a:solidFill>
                <a:latin typeface="Courier New" pitchFamily="34" charset="0"/>
                <a:ea typeface="Courier New" pitchFamily="34" charset="-122"/>
                <a:cs typeface="Courier New" pitchFamily="34" charset="-120"/>
              </a:rPr>
              <a:t>+ reto HU-10 en una semana</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Sesión 4 · Seguridad en sistemas agénticos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sp>
      <p:pic>
        <p:nvPicPr>
          <p:cNvPr id="27" name="s3-logo-26"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28" name="s3-forma-27"/>
          <p:cNvSpPr/>
          <p:nvPr/>
        </p:nvSpPr>
        <p:spPr>
          <a:xfrm>
            <a:off x="1659380" y="6519865"/>
            <a:ext cx="3578704" cy="102835"/>
          </a:xfrm>
          <a:prstGeom prst="rect">
            <a:avLst/>
          </a:prstGeom>
          <a:ln/>
        </p:spPr>
      </p:sp>
      <p:sp>
        <p:nvSpPr>
          <p:cNvPr id="29" name="s3-forma-28"/>
          <p:cNvSpPr/>
          <p:nvPr/>
        </p:nvSpPr>
        <p:spPr>
          <a:xfrm>
            <a:off x="1659380" y="6519865"/>
            <a:ext cx="5713" cy="102835"/>
          </a:xfrm>
          <a:prstGeom prst="rect">
            <a:avLst/>
          </a:prstGeom>
          <a:solidFill>
            <a:srgbClr val="C6BFAE"/>
          </a:solidFill>
          <a:ln/>
        </p:spPr>
      </p:sp>
      <p:sp>
        <p:nvSpPr>
          <p:cNvPr id="30" name="s3-texto-29"/>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3 / 22</a:t>
            </a:r>
            <a:endParaRPr lang="en-US" sz="745" dirty="0"/>
          </a:p>
        </p:txBody>
      </p:sp>
      <p:sp>
        <p:nvSpPr>
          <p:cNvPr id="32" name="s3-forma-31"/>
          <p:cNvSpPr/>
          <p:nvPr/>
        </p:nvSpPr>
        <p:spPr>
          <a:xfrm>
            <a:off x="0" y="0"/>
            <a:ext cx="1662504" cy="17139"/>
          </a:xfrm>
          <a:prstGeom prst="rect">
            <a:avLst/>
          </a:prstGeom>
          <a:solidFill>
            <a:srgbClr val="0033A0"/>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sp>
      <p:sp>
        <p:nvSpPr>
          <p:cNvPr id="3" name="s4-texto-2"/>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0:10 · 20 min</a:t>
            </a:r>
            <a:endParaRPr lang="en-US" sz="807" dirty="0"/>
          </a:p>
        </p:txBody>
      </p:sp>
      <p:sp>
        <p:nvSpPr>
          <p:cNvPr id="5" name="s4-texto-4"/>
          <p:cNvSpPr txBox="1"/>
          <p:nvPr/>
        </p:nvSpPr>
        <p:spPr>
          <a:xfrm>
            <a:off x="853390" y="238895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BLOQUE 4.1</a:t>
            </a:r>
            <a:endParaRPr lang="en-US" sz="869" dirty="0"/>
          </a:p>
        </p:txBody>
      </p:sp>
      <p:sp>
        <p:nvSpPr>
          <p:cNvPr id="6" name="s4-forma-5"/>
          <p:cNvSpPr/>
          <p:nvPr/>
        </p:nvSpPr>
        <p:spPr>
          <a:xfrm>
            <a:off x="853390" y="4059138"/>
            <a:ext cx="722704" cy="22852"/>
          </a:xfrm>
          <a:prstGeom prst="rect">
            <a:avLst/>
          </a:prstGeom>
          <a:solidFill>
            <a:srgbClr val="0033A0"/>
          </a:solidFill>
          <a:ln/>
        </p:spPr>
      </p:sp>
      <p:sp>
        <p:nvSpPr>
          <p:cNvPr id="7" name="s4-texto-6"/>
          <p:cNvSpPr txBox="1"/>
          <p:nvPr/>
        </p:nvSpPr>
        <p:spPr>
          <a:xfrm>
            <a:off x="853390" y="2669968"/>
            <a:ext cx="7149222" cy="1215902"/>
          </a:xfrm>
          <a:prstGeom prst="rect">
            <a:avLst/>
          </a:prstGeom>
          <a:noFill/>
          <a:ln/>
        </p:spPr>
        <p:txBody>
          <a:bodyPr wrap="squar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Riesgos de un sistema agéntico</a:t>
            </a:r>
            <a:endParaRPr lang="en-US" sz="4242" dirty="0"/>
          </a:p>
        </p:txBody>
      </p:sp>
      <p:sp>
        <p:nvSpPr>
          <p:cNvPr id="8" name="s4-texto-7"/>
          <p:cNvSpPr txBox="1"/>
          <p:nvPr/>
        </p:nvSpPr>
        <p:spPr>
          <a:xfrm>
            <a:off x="853390" y="426079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OWASP Top 10 agéntico, dentro de tu fábrica.</a:t>
            </a:r>
            <a:endParaRPr lang="en-US" sz="1676" dirty="0"/>
          </a:p>
        </p:txBody>
      </p:sp>
      <p:pic>
        <p:nvPicPr>
          <p:cNvPr id="9" name="s4-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4-forma-9"/>
          <p:cNvSpPr/>
          <p:nvPr/>
        </p:nvSpPr>
        <p:spPr>
          <a:xfrm>
            <a:off x="1659380" y="6519865"/>
            <a:ext cx="3578704" cy="102835"/>
          </a:xfrm>
          <a:prstGeom prst="rect">
            <a:avLst/>
          </a:prstGeom>
          <a:ln/>
        </p:spPr>
      </p:sp>
      <p:sp>
        <p:nvSpPr>
          <p:cNvPr id="11" name="s4-forma-10"/>
          <p:cNvSpPr/>
          <p:nvPr/>
        </p:nvSpPr>
        <p:spPr>
          <a:xfrm>
            <a:off x="1659380" y="6519865"/>
            <a:ext cx="5713" cy="102835"/>
          </a:xfrm>
          <a:prstGeom prst="rect">
            <a:avLst/>
          </a:prstGeom>
          <a:solidFill>
            <a:srgbClr val="C6BFAE"/>
          </a:solidFill>
          <a:ln/>
        </p:spPr>
      </p:sp>
      <p:sp>
        <p:nvSpPr>
          <p:cNvPr id="12" name="s4-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4 / 22</a:t>
            </a:r>
            <a:endParaRPr lang="en-US" sz="745" dirty="0"/>
          </a:p>
        </p:txBody>
      </p:sp>
      <p:sp>
        <p:nvSpPr>
          <p:cNvPr id="14" name="s4-forma-13"/>
          <p:cNvSpPr/>
          <p:nvPr/>
        </p:nvSpPr>
        <p:spPr>
          <a:xfrm>
            <a:off x="0" y="0"/>
            <a:ext cx="2216672" cy="17139"/>
          </a:xfrm>
          <a:prstGeom prst="rect">
            <a:avLst/>
          </a:prstGeom>
          <a:solidFill>
            <a:srgbClr val="0033A0"/>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sp>
      <p:sp>
        <p:nvSpPr>
          <p:cNvPr id="3" name="s5-forma-2"/>
          <p:cNvSpPr/>
          <p:nvPr/>
        </p:nvSpPr>
        <p:spPr>
          <a:xfrm>
            <a:off x="853390" y="331715"/>
            <a:ext cx="81411" cy="81411"/>
          </a:xfrm>
          <a:prstGeom prst="ellipse">
            <a:avLst/>
          </a:prstGeom>
          <a:solidFill>
            <a:srgbClr val="0033A0"/>
          </a:solidFill>
          <a:ln/>
        </p:spPr>
      </p:sp>
      <p:sp>
        <p:nvSpPr>
          <p:cNvPr id="4" name="s5-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0:10 · 20 min</a:t>
            </a:r>
            <a:endParaRPr lang="en-US" sz="807" dirty="0"/>
          </a:p>
        </p:txBody>
      </p:sp>
      <p:sp>
        <p:nvSpPr>
          <p:cNvPr id="6" name="s5-texto-5"/>
          <p:cNvSpPr txBox="1"/>
          <p:nvPr/>
        </p:nvSpPr>
        <p:spPr>
          <a:xfrm>
            <a:off x="1342572" y="2527499"/>
            <a:ext cx="10076945" cy="1248842"/>
          </a:xfrm>
          <a:prstGeom prst="rect">
            <a:avLst/>
          </a:prstGeom>
          <a:noFill/>
          <a:ln/>
        </p:spPr>
        <p:txBody>
          <a:bodyPr wrap="square" lIns="0" tIns="0" rIns="0" bIns="0" rtlCol="0" anchor="t"/>
          <a:lstStyle/>
          <a:p>
            <a:pPr algn="l" indent="0" marL="0">
              <a:lnSpc>
                <a:spcPts val="4751"/>
              </a:lnSpc>
              <a:buNone/>
            </a:pPr>
            <a:r>
              <a:rPr lang="en-US" sz="4319" b="1" spc="-65" kern="0" dirty="0">
                <a:solidFill>
                  <a:srgbClr val="16181D"/>
                </a:solidFill>
                <a:latin typeface="Georgia" pitchFamily="34" charset="0"/>
                <a:ea typeface="Georgia" pitchFamily="34" charset="-122"/>
                <a:cs typeface="Georgia" pitchFamily="34" charset="-120"/>
              </a:rPr>
              <a:t>Todo texto que lee un agente es una posible orden.</a:t>
            </a:r>
            <a:endParaRPr lang="en-US" sz="4319" dirty="0"/>
          </a:p>
        </p:txBody>
      </p:sp>
      <p:sp>
        <p:nvSpPr>
          <p:cNvPr id="7" name="s5-texto-6"/>
          <p:cNvSpPr txBox="1"/>
          <p:nvPr/>
        </p:nvSpPr>
        <p:spPr>
          <a:xfrm>
            <a:off x="1342572" y="4059673"/>
            <a:ext cx="8478199" cy="559881"/>
          </a:xfrm>
          <a:prstGeom prst="rect">
            <a:avLst/>
          </a:prstGeom>
          <a:noFill/>
          <a:ln/>
        </p:spPr>
        <p:txBody>
          <a:bodyPr wrap="square" lIns="0" tIns="0" rIns="0" bIns="0" rtlCol="0" anchor="t"/>
          <a:lstStyle/>
          <a:p>
            <a:pPr algn="l" indent="0" marL="0">
              <a:lnSpc>
                <a:spcPts val="2429"/>
              </a:lnSpc>
              <a:buNone/>
            </a:pPr>
            <a:r>
              <a:rPr lang="en-US" sz="1799" dirty="0">
                <a:solidFill>
                  <a:srgbClr val="16181D"/>
                </a:solidFill>
                <a:latin typeface="Arial" pitchFamily="34" charset="0"/>
                <a:ea typeface="Arial" pitchFamily="34" charset="-122"/>
                <a:cs typeface="Arial" pitchFamily="34" charset="-120"/>
              </a:rPr>
              <a:t>La seguridad no depende de que el modelo obedezca, sino de lo que el sistema le permite hacer.</a:t>
            </a:r>
            <a:endParaRPr lang="en-US" sz="1799" dirty="0"/>
          </a:p>
        </p:txBody>
      </p:sp>
      <p:sp>
        <p:nvSpPr>
          <p:cNvPr id="8" name="s5-forma-7"/>
          <p:cNvSpPr/>
          <p:nvPr/>
        </p:nvSpPr>
        <p:spPr>
          <a:xfrm>
            <a:off x="853390" y="6411138"/>
            <a:ext cx="10484915" cy="5713"/>
          </a:xfrm>
          <a:prstGeom prst="rect">
            <a:avLst/>
          </a:prstGeom>
          <a:solidFill>
            <a:srgbClr val="DBD4C4"/>
          </a:solidFill>
          <a:ln/>
        </p:spPr>
      </p:sp>
      <p:pic>
        <p:nvPicPr>
          <p:cNvPr id="9" name="s5-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5-forma-9"/>
          <p:cNvSpPr/>
          <p:nvPr/>
        </p:nvSpPr>
        <p:spPr>
          <a:xfrm>
            <a:off x="1659380" y="6519865"/>
            <a:ext cx="3578704" cy="102835"/>
          </a:xfrm>
          <a:prstGeom prst="rect">
            <a:avLst/>
          </a:prstGeom>
          <a:ln/>
        </p:spPr>
      </p:sp>
      <p:sp>
        <p:nvSpPr>
          <p:cNvPr id="11" name="s5-forma-10"/>
          <p:cNvSpPr/>
          <p:nvPr/>
        </p:nvSpPr>
        <p:spPr>
          <a:xfrm>
            <a:off x="1659380" y="6519865"/>
            <a:ext cx="5713" cy="102835"/>
          </a:xfrm>
          <a:prstGeom prst="rect">
            <a:avLst/>
          </a:prstGeom>
          <a:solidFill>
            <a:srgbClr val="C6BFAE"/>
          </a:solidFill>
          <a:ln/>
        </p:spPr>
      </p:sp>
      <p:sp>
        <p:nvSpPr>
          <p:cNvPr id="12" name="s5-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5-texto-12"/>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5 / 22</a:t>
            </a:r>
            <a:endParaRPr lang="en-US" sz="745" dirty="0"/>
          </a:p>
        </p:txBody>
      </p:sp>
      <p:sp>
        <p:nvSpPr>
          <p:cNvPr id="14" name="s5-forma-13"/>
          <p:cNvSpPr/>
          <p:nvPr/>
        </p:nvSpPr>
        <p:spPr>
          <a:xfrm>
            <a:off x="0" y="0"/>
            <a:ext cx="2770840" cy="17139"/>
          </a:xfrm>
          <a:prstGeom prst="rect">
            <a:avLst/>
          </a:prstGeom>
          <a:solidFill>
            <a:srgbClr val="0033A0"/>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8DC"/>
        </a:solidFill>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sp>
      <p:sp>
        <p:nvSpPr>
          <p:cNvPr id="3" name="s6-forma-2"/>
          <p:cNvSpPr/>
          <p:nvPr/>
        </p:nvSpPr>
        <p:spPr>
          <a:xfrm>
            <a:off x="853390" y="331715"/>
            <a:ext cx="81411" cy="81411"/>
          </a:xfrm>
          <a:prstGeom prst="ellipse">
            <a:avLst/>
          </a:prstGeom>
          <a:solidFill>
            <a:srgbClr val="0033A0"/>
          </a:solidFill>
          <a:ln/>
        </p:spPr>
      </p:sp>
      <p:sp>
        <p:nvSpPr>
          <p:cNvPr id="4" name="s6-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0:10 · 20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4.1 · OWASP TOP 10 FOR AGENTIC APPLICATIONS 2026</a:t>
            </a:r>
            <a:endParaRPr lang="en-US" sz="900" dirty="0"/>
          </a:p>
        </p:txBody>
      </p:sp>
      <p:sp>
        <p:nvSpPr>
          <p:cNvPr id="7" name="s6-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Los riesgos, dentro de tu fábrica</a:t>
            </a:r>
            <a:endParaRPr lang="en-US" sz="2879" dirty="0"/>
          </a:p>
        </p:txBody>
      </p:sp>
      <p:sp>
        <p:nvSpPr>
          <p:cNvPr id="8" name="s6-forma-7"/>
          <p:cNvSpPr/>
          <p:nvPr/>
        </p:nvSpPr>
        <p:spPr>
          <a:xfrm>
            <a:off x="1342572" y="2098929"/>
            <a:ext cx="2851894" cy="226202"/>
          </a:xfrm>
          <a:prstGeom prst="rect">
            <a:avLst/>
          </a:prstGeom>
          <a:ln/>
        </p:spPr>
      </p:sp>
      <p:sp>
        <p:nvSpPr>
          <p:cNvPr id="9" name="s6-forma-8"/>
          <p:cNvSpPr/>
          <p:nvPr/>
        </p:nvSpPr>
        <p:spPr>
          <a:xfrm>
            <a:off x="1342572" y="2319418"/>
            <a:ext cx="2851894" cy="5713"/>
          </a:xfrm>
          <a:prstGeom prst="rect">
            <a:avLst/>
          </a:prstGeom>
          <a:solidFill>
            <a:srgbClr val="0033A0"/>
          </a:solidFill>
          <a:ln/>
        </p:spPr>
      </p:sp>
      <p:sp>
        <p:nvSpPr>
          <p:cNvPr id="10" name="s6-texto-9"/>
          <p:cNvSpPr txBox="1"/>
          <p:nvPr/>
        </p:nvSpPr>
        <p:spPr>
          <a:xfrm>
            <a:off x="1418538" y="2147758"/>
            <a:ext cx="2861941" cy="125688"/>
          </a:xfrm>
          <a:prstGeom prst="rect">
            <a:avLst/>
          </a:prstGeom>
          <a:noFill/>
          <a:ln/>
        </p:spPr>
        <p:txBody>
          <a:bodyPr wrap="none" lIns="0" tIns="0" rIns="0" bIns="0" rtlCol="0" anchor="t"/>
          <a:lstStyle/>
          <a:p>
            <a:pPr algn="l"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RIESGO</a:t>
            </a:r>
            <a:endParaRPr lang="en-US" sz="855" dirty="0"/>
          </a:p>
        </p:txBody>
      </p:sp>
      <p:sp>
        <p:nvSpPr>
          <p:cNvPr id="11" name="s6-forma-10"/>
          <p:cNvSpPr/>
          <p:nvPr/>
        </p:nvSpPr>
        <p:spPr>
          <a:xfrm>
            <a:off x="4194466" y="2098929"/>
            <a:ext cx="3422309" cy="226202"/>
          </a:xfrm>
          <a:prstGeom prst="rect">
            <a:avLst/>
          </a:prstGeom>
          <a:ln/>
        </p:spPr>
      </p:sp>
      <p:sp>
        <p:nvSpPr>
          <p:cNvPr id="12" name="s6-forma-11"/>
          <p:cNvSpPr/>
          <p:nvPr/>
        </p:nvSpPr>
        <p:spPr>
          <a:xfrm>
            <a:off x="4194466" y="2319418"/>
            <a:ext cx="3422309" cy="5713"/>
          </a:xfrm>
          <a:prstGeom prst="rect">
            <a:avLst/>
          </a:prstGeom>
          <a:solidFill>
            <a:srgbClr val="0033A0"/>
          </a:solidFill>
          <a:ln/>
        </p:spPr>
      </p:sp>
      <p:sp>
        <p:nvSpPr>
          <p:cNvPr id="13" name="s6-texto-12"/>
          <p:cNvSpPr txBox="1"/>
          <p:nvPr/>
        </p:nvSpPr>
        <p:spPr>
          <a:xfrm>
            <a:off x="4270432" y="2147758"/>
            <a:ext cx="3466580" cy="125688"/>
          </a:xfrm>
          <a:prstGeom prst="rect">
            <a:avLst/>
          </a:prstGeom>
          <a:noFill/>
          <a:ln/>
        </p:spPr>
        <p:txBody>
          <a:bodyPr wrap="none" lIns="0" tIns="0" rIns="0" bIns="0" rtlCol="0" anchor="t"/>
          <a:lstStyle/>
          <a:p>
            <a:pPr algn="l"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DÓNDE APARECE</a:t>
            </a:r>
            <a:endParaRPr lang="en-US" sz="855" dirty="0"/>
          </a:p>
        </p:txBody>
      </p:sp>
      <p:sp>
        <p:nvSpPr>
          <p:cNvPr id="14" name="s6-forma-13"/>
          <p:cNvSpPr/>
          <p:nvPr/>
        </p:nvSpPr>
        <p:spPr>
          <a:xfrm>
            <a:off x="7616774" y="2098929"/>
            <a:ext cx="3232349" cy="226202"/>
          </a:xfrm>
          <a:prstGeom prst="rect">
            <a:avLst/>
          </a:prstGeom>
          <a:ln/>
        </p:spPr>
      </p:sp>
      <p:sp>
        <p:nvSpPr>
          <p:cNvPr id="15" name="s6-forma-14"/>
          <p:cNvSpPr/>
          <p:nvPr/>
        </p:nvSpPr>
        <p:spPr>
          <a:xfrm>
            <a:off x="7616774" y="2319418"/>
            <a:ext cx="3232349" cy="5713"/>
          </a:xfrm>
          <a:prstGeom prst="rect">
            <a:avLst/>
          </a:prstGeom>
          <a:solidFill>
            <a:srgbClr val="0033A0"/>
          </a:solidFill>
          <a:ln/>
        </p:spPr>
      </p:sp>
      <p:sp>
        <p:nvSpPr>
          <p:cNvPr id="16" name="s6-texto-15"/>
          <p:cNvSpPr txBox="1"/>
          <p:nvPr/>
        </p:nvSpPr>
        <p:spPr>
          <a:xfrm>
            <a:off x="7692740" y="2147758"/>
            <a:ext cx="3265223" cy="125688"/>
          </a:xfrm>
          <a:prstGeom prst="rect">
            <a:avLst/>
          </a:prstGeom>
          <a:noFill/>
          <a:ln/>
        </p:spPr>
        <p:txBody>
          <a:bodyPr wrap="none" lIns="0" tIns="0" rIns="0" bIns="0" rtlCol="0" anchor="t"/>
          <a:lstStyle/>
          <a:p>
            <a:pPr algn="l"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QUÉ LO MITIGA</a:t>
            </a:r>
            <a:endParaRPr lang="en-US" sz="855" dirty="0"/>
          </a:p>
        </p:txBody>
      </p:sp>
      <p:sp>
        <p:nvSpPr>
          <p:cNvPr id="17" name="s6-forma-16"/>
          <p:cNvSpPr/>
          <p:nvPr/>
        </p:nvSpPr>
        <p:spPr>
          <a:xfrm>
            <a:off x="1342572" y="2325131"/>
            <a:ext cx="2851894" cy="289046"/>
          </a:xfrm>
          <a:prstGeom prst="rect">
            <a:avLst/>
          </a:prstGeom>
          <a:ln/>
        </p:spPr>
      </p:sp>
      <p:sp>
        <p:nvSpPr>
          <p:cNvPr id="18" name="s6-forma-17"/>
          <p:cNvSpPr/>
          <p:nvPr/>
        </p:nvSpPr>
        <p:spPr>
          <a:xfrm>
            <a:off x="1342572" y="2608464"/>
            <a:ext cx="2851894" cy="5713"/>
          </a:xfrm>
          <a:prstGeom prst="rect">
            <a:avLst/>
          </a:prstGeom>
          <a:solidFill>
            <a:srgbClr val="DBD4C4"/>
          </a:solidFill>
          <a:ln/>
        </p:spPr>
      </p:sp>
      <p:sp>
        <p:nvSpPr>
          <p:cNvPr id="19" name="s6-texto-18"/>
          <p:cNvSpPr txBox="1"/>
          <p:nvPr/>
        </p:nvSpPr>
        <p:spPr>
          <a:xfrm>
            <a:off x="1438534" y="2389671"/>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ASI01</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Secuestro del objetivo</a:t>
            </a:r>
            <a:endParaRPr lang="en-US" sz="1080" dirty="0"/>
          </a:p>
        </p:txBody>
      </p:sp>
      <p:sp>
        <p:nvSpPr>
          <p:cNvPr id="20" name="s6-forma-19"/>
          <p:cNvSpPr/>
          <p:nvPr/>
        </p:nvSpPr>
        <p:spPr>
          <a:xfrm>
            <a:off x="4194466" y="2325131"/>
            <a:ext cx="3422309" cy="289046"/>
          </a:xfrm>
          <a:prstGeom prst="rect">
            <a:avLst/>
          </a:prstGeom>
          <a:ln/>
        </p:spPr>
      </p:sp>
      <p:sp>
        <p:nvSpPr>
          <p:cNvPr id="21" name="s6-forma-20"/>
          <p:cNvSpPr/>
          <p:nvPr/>
        </p:nvSpPr>
        <p:spPr>
          <a:xfrm>
            <a:off x="4194466" y="2608464"/>
            <a:ext cx="3422309" cy="5713"/>
          </a:xfrm>
          <a:prstGeom prst="rect">
            <a:avLst/>
          </a:prstGeom>
          <a:solidFill>
            <a:srgbClr val="DBD4C4"/>
          </a:solidFill>
          <a:ln/>
        </p:spPr>
      </p:sp>
      <p:sp>
        <p:nvSpPr>
          <p:cNvPr id="22" name="s6-texto-21"/>
          <p:cNvSpPr txBox="1"/>
          <p:nvPr/>
        </p:nvSpPr>
        <p:spPr>
          <a:xfrm>
            <a:off x="4290428" y="2389671"/>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Historia con órdenes ocultas</a:t>
            </a:r>
            <a:endParaRPr lang="en-US" sz="1080" dirty="0"/>
          </a:p>
        </p:txBody>
      </p:sp>
      <p:sp>
        <p:nvSpPr>
          <p:cNvPr id="23" name="s6-forma-22"/>
          <p:cNvSpPr/>
          <p:nvPr/>
        </p:nvSpPr>
        <p:spPr>
          <a:xfrm>
            <a:off x="7616774" y="2325131"/>
            <a:ext cx="3232349" cy="289046"/>
          </a:xfrm>
          <a:prstGeom prst="rect">
            <a:avLst/>
          </a:prstGeom>
          <a:ln/>
        </p:spPr>
      </p:sp>
      <p:sp>
        <p:nvSpPr>
          <p:cNvPr id="24" name="s6-forma-23"/>
          <p:cNvSpPr/>
          <p:nvPr/>
        </p:nvSpPr>
        <p:spPr>
          <a:xfrm>
            <a:off x="7616774" y="2608464"/>
            <a:ext cx="3232349" cy="5713"/>
          </a:xfrm>
          <a:prstGeom prst="rect">
            <a:avLst/>
          </a:prstGeom>
          <a:solidFill>
            <a:srgbClr val="DBD4C4"/>
          </a:solidFill>
          <a:ln/>
        </p:spPr>
      </p:sp>
      <p:sp>
        <p:nvSpPr>
          <p:cNvPr id="25" name="s6-texto-24"/>
          <p:cNvSpPr txBox="1"/>
          <p:nvPr/>
        </p:nvSpPr>
        <p:spPr>
          <a:xfrm>
            <a:off x="7712736" y="2389671"/>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filtrar_historia</a:t>
            </a:r>
            <a:endParaRPr lang="en-US" sz="1080" dirty="0"/>
          </a:p>
        </p:txBody>
      </p:sp>
      <p:sp>
        <p:nvSpPr>
          <p:cNvPr id="26" name="s6-forma-25"/>
          <p:cNvSpPr/>
          <p:nvPr/>
        </p:nvSpPr>
        <p:spPr>
          <a:xfrm>
            <a:off x="1342572" y="2614177"/>
            <a:ext cx="2851894" cy="289046"/>
          </a:xfrm>
          <a:prstGeom prst="rect">
            <a:avLst/>
          </a:prstGeom>
          <a:ln/>
        </p:spPr>
      </p:sp>
      <p:sp>
        <p:nvSpPr>
          <p:cNvPr id="27" name="s6-forma-26"/>
          <p:cNvSpPr/>
          <p:nvPr/>
        </p:nvSpPr>
        <p:spPr>
          <a:xfrm>
            <a:off x="1342572" y="2897509"/>
            <a:ext cx="2851894" cy="5713"/>
          </a:xfrm>
          <a:prstGeom prst="rect">
            <a:avLst/>
          </a:prstGeom>
          <a:solidFill>
            <a:srgbClr val="DBD4C4"/>
          </a:solidFill>
          <a:ln/>
        </p:spPr>
      </p:sp>
      <p:sp>
        <p:nvSpPr>
          <p:cNvPr id="28" name="s6-texto-27"/>
          <p:cNvSpPr txBox="1"/>
          <p:nvPr/>
        </p:nvSpPr>
        <p:spPr>
          <a:xfrm>
            <a:off x="1438534" y="2678717"/>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ASI02</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Mal uso de herramientas</a:t>
            </a:r>
            <a:endParaRPr lang="en-US" sz="1080" dirty="0"/>
          </a:p>
        </p:txBody>
      </p:sp>
      <p:sp>
        <p:nvSpPr>
          <p:cNvPr id="29" name="s6-forma-28"/>
          <p:cNvSpPr/>
          <p:nvPr/>
        </p:nvSpPr>
        <p:spPr>
          <a:xfrm>
            <a:off x="4194466" y="2614177"/>
            <a:ext cx="3422309" cy="289046"/>
          </a:xfrm>
          <a:prstGeom prst="rect">
            <a:avLst/>
          </a:prstGeom>
          <a:ln/>
        </p:spPr>
      </p:sp>
      <p:sp>
        <p:nvSpPr>
          <p:cNvPr id="30" name="s6-forma-29"/>
          <p:cNvSpPr/>
          <p:nvPr/>
        </p:nvSpPr>
        <p:spPr>
          <a:xfrm>
            <a:off x="4194466" y="2897509"/>
            <a:ext cx="3422309" cy="5713"/>
          </a:xfrm>
          <a:prstGeom prst="rect">
            <a:avLst/>
          </a:prstGeom>
          <a:solidFill>
            <a:srgbClr val="DBD4C4"/>
          </a:solidFill>
          <a:ln/>
        </p:spPr>
      </p:sp>
      <p:sp>
        <p:nvSpPr>
          <p:cNvPr id="31" name="s6-texto-30"/>
          <p:cNvSpPr txBox="1"/>
          <p:nvPr/>
        </p:nvSpPr>
        <p:spPr>
          <a:xfrm>
            <a:off x="4290428" y="2678717"/>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El desarrollador reescribe pruebas</a:t>
            </a:r>
            <a:endParaRPr lang="en-US" sz="1080" dirty="0"/>
          </a:p>
        </p:txBody>
      </p:sp>
      <p:sp>
        <p:nvSpPr>
          <p:cNvPr id="32" name="s6-forma-31"/>
          <p:cNvSpPr/>
          <p:nvPr/>
        </p:nvSpPr>
        <p:spPr>
          <a:xfrm>
            <a:off x="7616774" y="2614177"/>
            <a:ext cx="3232349" cy="289046"/>
          </a:xfrm>
          <a:prstGeom prst="rect">
            <a:avLst/>
          </a:prstGeom>
          <a:ln/>
        </p:spPr>
      </p:sp>
      <p:sp>
        <p:nvSpPr>
          <p:cNvPr id="33" name="s6-forma-32"/>
          <p:cNvSpPr/>
          <p:nvPr/>
        </p:nvSpPr>
        <p:spPr>
          <a:xfrm>
            <a:off x="7616774" y="2897509"/>
            <a:ext cx="3232349" cy="5713"/>
          </a:xfrm>
          <a:prstGeom prst="rect">
            <a:avLst/>
          </a:prstGeom>
          <a:solidFill>
            <a:srgbClr val="DBD4C4"/>
          </a:solidFill>
          <a:ln/>
        </p:spPr>
      </p:sp>
      <p:sp>
        <p:nvSpPr>
          <p:cNvPr id="34" name="s6-texto-33"/>
          <p:cNvSpPr txBox="1"/>
          <p:nvPr/>
        </p:nvSpPr>
        <p:spPr>
          <a:xfrm>
            <a:off x="7712736" y="2678717"/>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Hooks de rol</a:t>
            </a:r>
            <a:endParaRPr lang="en-US" sz="1080" dirty="0"/>
          </a:p>
        </p:txBody>
      </p:sp>
      <p:sp>
        <p:nvSpPr>
          <p:cNvPr id="35" name="s6-forma-34"/>
          <p:cNvSpPr/>
          <p:nvPr/>
        </p:nvSpPr>
        <p:spPr>
          <a:xfrm>
            <a:off x="1342572" y="2903222"/>
            <a:ext cx="2851894" cy="289046"/>
          </a:xfrm>
          <a:prstGeom prst="rect">
            <a:avLst/>
          </a:prstGeom>
          <a:ln/>
        </p:spPr>
      </p:sp>
      <p:sp>
        <p:nvSpPr>
          <p:cNvPr id="36" name="s6-forma-35"/>
          <p:cNvSpPr/>
          <p:nvPr/>
        </p:nvSpPr>
        <p:spPr>
          <a:xfrm>
            <a:off x="1342572" y="3186555"/>
            <a:ext cx="2851894" cy="5713"/>
          </a:xfrm>
          <a:prstGeom prst="rect">
            <a:avLst/>
          </a:prstGeom>
          <a:solidFill>
            <a:srgbClr val="DBD4C4"/>
          </a:solidFill>
          <a:ln/>
        </p:spPr>
      </p:sp>
      <p:sp>
        <p:nvSpPr>
          <p:cNvPr id="37" name="s6-texto-36"/>
          <p:cNvSpPr txBox="1"/>
          <p:nvPr/>
        </p:nvSpPr>
        <p:spPr>
          <a:xfrm>
            <a:off x="1438534" y="2967762"/>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ASI03</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Abuso de privilegios</a:t>
            </a:r>
            <a:endParaRPr lang="en-US" sz="1080" dirty="0"/>
          </a:p>
        </p:txBody>
      </p:sp>
      <p:sp>
        <p:nvSpPr>
          <p:cNvPr id="38" name="s6-forma-37"/>
          <p:cNvSpPr/>
          <p:nvPr/>
        </p:nvSpPr>
        <p:spPr>
          <a:xfrm>
            <a:off x="4194466" y="2903222"/>
            <a:ext cx="3422309" cy="289046"/>
          </a:xfrm>
          <a:prstGeom prst="rect">
            <a:avLst/>
          </a:prstGeom>
          <a:ln/>
        </p:spPr>
      </p:sp>
      <p:sp>
        <p:nvSpPr>
          <p:cNvPr id="39" name="s6-forma-38"/>
          <p:cNvSpPr/>
          <p:nvPr/>
        </p:nvSpPr>
        <p:spPr>
          <a:xfrm>
            <a:off x="4194466" y="3186555"/>
            <a:ext cx="3422309" cy="5713"/>
          </a:xfrm>
          <a:prstGeom prst="rect">
            <a:avLst/>
          </a:prstGeom>
          <a:solidFill>
            <a:srgbClr val="DBD4C4"/>
          </a:solidFill>
          <a:ln/>
        </p:spPr>
      </p:sp>
      <p:sp>
        <p:nvSpPr>
          <p:cNvPr id="40" name="s6-texto-39"/>
          <p:cNvSpPr txBox="1"/>
          <p:nvPr/>
        </p:nvSpPr>
        <p:spPr>
          <a:xfrm>
            <a:off x="4290428" y="2967762"/>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Un agente lee .env</a:t>
            </a:r>
            <a:endParaRPr lang="en-US" sz="1080" dirty="0"/>
          </a:p>
        </p:txBody>
      </p:sp>
      <p:sp>
        <p:nvSpPr>
          <p:cNvPr id="41" name="s6-forma-40"/>
          <p:cNvSpPr/>
          <p:nvPr/>
        </p:nvSpPr>
        <p:spPr>
          <a:xfrm>
            <a:off x="7616774" y="2903222"/>
            <a:ext cx="3232349" cy="289046"/>
          </a:xfrm>
          <a:prstGeom prst="rect">
            <a:avLst/>
          </a:prstGeom>
          <a:ln/>
        </p:spPr>
      </p:sp>
      <p:sp>
        <p:nvSpPr>
          <p:cNvPr id="42" name="s6-forma-41"/>
          <p:cNvSpPr/>
          <p:nvPr/>
        </p:nvSpPr>
        <p:spPr>
          <a:xfrm>
            <a:off x="7616774" y="3186555"/>
            <a:ext cx="3232349" cy="5713"/>
          </a:xfrm>
          <a:prstGeom prst="rect">
            <a:avLst/>
          </a:prstGeom>
          <a:solidFill>
            <a:srgbClr val="DBD4C4"/>
          </a:solidFill>
          <a:ln/>
        </p:spPr>
      </p:sp>
      <p:sp>
        <p:nvSpPr>
          <p:cNvPr id="43" name="s6-texto-42"/>
          <p:cNvSpPr txBox="1"/>
          <p:nvPr/>
        </p:nvSpPr>
        <p:spPr>
          <a:xfrm>
            <a:off x="7712736" y="2967762"/>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confinar_lectura</a:t>
            </a:r>
            <a:endParaRPr lang="en-US" sz="1080" dirty="0"/>
          </a:p>
        </p:txBody>
      </p:sp>
      <p:sp>
        <p:nvSpPr>
          <p:cNvPr id="44" name="s6-forma-43"/>
          <p:cNvSpPr/>
          <p:nvPr/>
        </p:nvSpPr>
        <p:spPr>
          <a:xfrm>
            <a:off x="1342572" y="3192268"/>
            <a:ext cx="2851894" cy="289046"/>
          </a:xfrm>
          <a:prstGeom prst="rect">
            <a:avLst/>
          </a:prstGeom>
          <a:ln/>
        </p:spPr>
      </p:sp>
      <p:sp>
        <p:nvSpPr>
          <p:cNvPr id="45" name="s6-forma-44"/>
          <p:cNvSpPr/>
          <p:nvPr/>
        </p:nvSpPr>
        <p:spPr>
          <a:xfrm>
            <a:off x="1342572" y="3475601"/>
            <a:ext cx="2851894" cy="5713"/>
          </a:xfrm>
          <a:prstGeom prst="rect">
            <a:avLst/>
          </a:prstGeom>
          <a:solidFill>
            <a:srgbClr val="DBD4C4"/>
          </a:solidFill>
          <a:ln/>
        </p:spPr>
      </p:sp>
      <p:sp>
        <p:nvSpPr>
          <p:cNvPr id="46" name="s6-texto-45"/>
          <p:cNvSpPr txBox="1"/>
          <p:nvPr/>
        </p:nvSpPr>
        <p:spPr>
          <a:xfrm>
            <a:off x="1438534" y="3256808"/>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ASI04</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Cadena de suministro</a:t>
            </a:r>
            <a:endParaRPr lang="en-US" sz="1080" dirty="0"/>
          </a:p>
        </p:txBody>
      </p:sp>
      <p:sp>
        <p:nvSpPr>
          <p:cNvPr id="47" name="s6-forma-46"/>
          <p:cNvSpPr/>
          <p:nvPr/>
        </p:nvSpPr>
        <p:spPr>
          <a:xfrm>
            <a:off x="4194466" y="3192268"/>
            <a:ext cx="3422309" cy="289046"/>
          </a:xfrm>
          <a:prstGeom prst="rect">
            <a:avLst/>
          </a:prstGeom>
          <a:ln/>
        </p:spPr>
      </p:sp>
      <p:sp>
        <p:nvSpPr>
          <p:cNvPr id="48" name="s6-forma-47"/>
          <p:cNvSpPr/>
          <p:nvPr/>
        </p:nvSpPr>
        <p:spPr>
          <a:xfrm>
            <a:off x="4194466" y="3475601"/>
            <a:ext cx="3422309" cy="5713"/>
          </a:xfrm>
          <a:prstGeom prst="rect">
            <a:avLst/>
          </a:prstGeom>
          <a:solidFill>
            <a:srgbClr val="DBD4C4"/>
          </a:solidFill>
          <a:ln/>
        </p:spPr>
      </p:sp>
      <p:sp>
        <p:nvSpPr>
          <p:cNvPr id="49" name="s6-texto-48"/>
          <p:cNvSpPr txBox="1"/>
          <p:nvPr/>
        </p:nvSpPr>
        <p:spPr>
          <a:xfrm>
            <a:off x="4290428" y="3256808"/>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Un CLAUDE.md manipulado</a:t>
            </a:r>
            <a:endParaRPr lang="en-US" sz="1080" dirty="0"/>
          </a:p>
        </p:txBody>
      </p:sp>
      <p:sp>
        <p:nvSpPr>
          <p:cNvPr id="50" name="s6-forma-49"/>
          <p:cNvSpPr/>
          <p:nvPr/>
        </p:nvSpPr>
        <p:spPr>
          <a:xfrm>
            <a:off x="7616774" y="3192268"/>
            <a:ext cx="3232349" cy="289046"/>
          </a:xfrm>
          <a:prstGeom prst="rect">
            <a:avLst/>
          </a:prstGeom>
          <a:ln/>
        </p:spPr>
      </p:sp>
      <p:sp>
        <p:nvSpPr>
          <p:cNvPr id="51" name="s6-forma-50"/>
          <p:cNvSpPr/>
          <p:nvPr/>
        </p:nvSpPr>
        <p:spPr>
          <a:xfrm>
            <a:off x="7616774" y="3475601"/>
            <a:ext cx="3232349" cy="5713"/>
          </a:xfrm>
          <a:prstGeom prst="rect">
            <a:avLst/>
          </a:prstGeom>
          <a:solidFill>
            <a:srgbClr val="DBD4C4"/>
          </a:solidFill>
          <a:ln/>
        </p:spPr>
      </p:sp>
      <p:sp>
        <p:nvSpPr>
          <p:cNvPr id="52" name="s6-texto-51"/>
          <p:cNvSpPr txBox="1"/>
          <p:nvPr/>
        </p:nvSpPr>
        <p:spPr>
          <a:xfrm>
            <a:off x="7712736" y="3256808"/>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Plan revisado por una persona</a:t>
            </a:r>
            <a:endParaRPr lang="en-US" sz="1080" dirty="0"/>
          </a:p>
        </p:txBody>
      </p:sp>
      <p:sp>
        <p:nvSpPr>
          <p:cNvPr id="53" name="s6-forma-52"/>
          <p:cNvSpPr/>
          <p:nvPr/>
        </p:nvSpPr>
        <p:spPr>
          <a:xfrm>
            <a:off x="1342572" y="3481314"/>
            <a:ext cx="2851894" cy="289046"/>
          </a:xfrm>
          <a:prstGeom prst="rect">
            <a:avLst/>
          </a:prstGeom>
          <a:ln/>
        </p:spPr>
      </p:sp>
      <p:sp>
        <p:nvSpPr>
          <p:cNvPr id="54" name="s6-forma-53"/>
          <p:cNvSpPr/>
          <p:nvPr/>
        </p:nvSpPr>
        <p:spPr>
          <a:xfrm>
            <a:off x="1342572" y="3764647"/>
            <a:ext cx="2851894" cy="5713"/>
          </a:xfrm>
          <a:prstGeom prst="rect">
            <a:avLst/>
          </a:prstGeom>
          <a:solidFill>
            <a:srgbClr val="DBD4C4"/>
          </a:solidFill>
          <a:ln/>
        </p:spPr>
      </p:sp>
      <p:sp>
        <p:nvSpPr>
          <p:cNvPr id="55" name="s6-texto-54"/>
          <p:cNvSpPr txBox="1"/>
          <p:nvPr/>
        </p:nvSpPr>
        <p:spPr>
          <a:xfrm>
            <a:off x="1438534" y="3545854"/>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ASI05</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Ejecución inesperada</a:t>
            </a:r>
            <a:endParaRPr lang="en-US" sz="1080" dirty="0"/>
          </a:p>
        </p:txBody>
      </p:sp>
      <p:sp>
        <p:nvSpPr>
          <p:cNvPr id="56" name="s6-forma-55"/>
          <p:cNvSpPr/>
          <p:nvPr/>
        </p:nvSpPr>
        <p:spPr>
          <a:xfrm>
            <a:off x="4194466" y="3481314"/>
            <a:ext cx="3422309" cy="289046"/>
          </a:xfrm>
          <a:prstGeom prst="rect">
            <a:avLst/>
          </a:prstGeom>
          <a:ln/>
        </p:spPr>
      </p:sp>
      <p:sp>
        <p:nvSpPr>
          <p:cNvPr id="57" name="s6-forma-56"/>
          <p:cNvSpPr/>
          <p:nvPr/>
        </p:nvSpPr>
        <p:spPr>
          <a:xfrm>
            <a:off x="4194466" y="3764647"/>
            <a:ext cx="3422309" cy="5713"/>
          </a:xfrm>
          <a:prstGeom prst="rect">
            <a:avLst/>
          </a:prstGeom>
          <a:solidFill>
            <a:srgbClr val="DBD4C4"/>
          </a:solidFill>
          <a:ln/>
        </p:spPr>
      </p:sp>
      <p:sp>
        <p:nvSpPr>
          <p:cNvPr id="58" name="s6-texto-57"/>
          <p:cNvSpPr txBox="1"/>
          <p:nvPr/>
        </p:nvSpPr>
        <p:spPr>
          <a:xfrm>
            <a:off x="4290428" y="3545854"/>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La app y las pruebas generadas corren</a:t>
            </a:r>
            <a:endParaRPr lang="en-US" sz="1080" dirty="0"/>
          </a:p>
        </p:txBody>
      </p:sp>
      <p:sp>
        <p:nvSpPr>
          <p:cNvPr id="59" name="s6-forma-58"/>
          <p:cNvSpPr/>
          <p:nvPr/>
        </p:nvSpPr>
        <p:spPr>
          <a:xfrm>
            <a:off x="7616774" y="3481314"/>
            <a:ext cx="3232349" cy="289046"/>
          </a:xfrm>
          <a:prstGeom prst="rect">
            <a:avLst/>
          </a:prstGeom>
          <a:ln/>
        </p:spPr>
      </p:sp>
      <p:sp>
        <p:nvSpPr>
          <p:cNvPr id="60" name="s6-forma-59"/>
          <p:cNvSpPr/>
          <p:nvPr/>
        </p:nvSpPr>
        <p:spPr>
          <a:xfrm>
            <a:off x="7616774" y="3764647"/>
            <a:ext cx="3232349" cy="5713"/>
          </a:xfrm>
          <a:prstGeom prst="rect">
            <a:avLst/>
          </a:prstGeom>
          <a:solidFill>
            <a:srgbClr val="DBD4C4"/>
          </a:solidFill>
          <a:ln/>
        </p:spPr>
      </p:sp>
      <p:sp>
        <p:nvSpPr>
          <p:cNvPr id="61" name="s6-texto-60"/>
          <p:cNvSpPr txBox="1"/>
          <p:nvPr/>
        </p:nvSpPr>
        <p:spPr>
          <a:xfrm>
            <a:off x="7712736" y="3545854"/>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comandos_permitidos, contenedores</a:t>
            </a:r>
            <a:endParaRPr lang="en-US" sz="1080" dirty="0"/>
          </a:p>
        </p:txBody>
      </p:sp>
      <p:sp>
        <p:nvSpPr>
          <p:cNvPr id="62" name="s6-forma-61"/>
          <p:cNvSpPr/>
          <p:nvPr/>
        </p:nvSpPr>
        <p:spPr>
          <a:xfrm>
            <a:off x="1342572" y="3770360"/>
            <a:ext cx="2851894" cy="289046"/>
          </a:xfrm>
          <a:prstGeom prst="rect">
            <a:avLst/>
          </a:prstGeom>
          <a:ln/>
        </p:spPr>
      </p:sp>
      <p:sp>
        <p:nvSpPr>
          <p:cNvPr id="63" name="s6-forma-62"/>
          <p:cNvSpPr/>
          <p:nvPr/>
        </p:nvSpPr>
        <p:spPr>
          <a:xfrm>
            <a:off x="1342572" y="4053692"/>
            <a:ext cx="2851894" cy="5713"/>
          </a:xfrm>
          <a:prstGeom prst="rect">
            <a:avLst/>
          </a:prstGeom>
          <a:solidFill>
            <a:srgbClr val="DBD4C4"/>
          </a:solidFill>
          <a:ln/>
        </p:spPr>
      </p:sp>
      <p:sp>
        <p:nvSpPr>
          <p:cNvPr id="64" name="s6-texto-63"/>
          <p:cNvSpPr txBox="1"/>
          <p:nvPr/>
        </p:nvSpPr>
        <p:spPr>
          <a:xfrm>
            <a:off x="1438534" y="3834899"/>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ASI06</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Contexto envenenado</a:t>
            </a:r>
            <a:endParaRPr lang="en-US" sz="1080" dirty="0"/>
          </a:p>
        </p:txBody>
      </p:sp>
      <p:sp>
        <p:nvSpPr>
          <p:cNvPr id="65" name="s6-forma-64"/>
          <p:cNvSpPr/>
          <p:nvPr/>
        </p:nvSpPr>
        <p:spPr>
          <a:xfrm>
            <a:off x="4194466" y="3770360"/>
            <a:ext cx="3422309" cy="289046"/>
          </a:xfrm>
          <a:prstGeom prst="rect">
            <a:avLst/>
          </a:prstGeom>
          <a:ln/>
        </p:spPr>
      </p:sp>
      <p:sp>
        <p:nvSpPr>
          <p:cNvPr id="66" name="s6-forma-65"/>
          <p:cNvSpPr/>
          <p:nvPr/>
        </p:nvSpPr>
        <p:spPr>
          <a:xfrm>
            <a:off x="4194466" y="4053692"/>
            <a:ext cx="3422309" cy="5713"/>
          </a:xfrm>
          <a:prstGeom prst="rect">
            <a:avLst/>
          </a:prstGeom>
          <a:solidFill>
            <a:srgbClr val="DBD4C4"/>
          </a:solidFill>
          <a:ln/>
        </p:spPr>
      </p:sp>
      <p:sp>
        <p:nvSpPr>
          <p:cNvPr id="67" name="s6-texto-66"/>
          <p:cNvSpPr txBox="1"/>
          <p:nvPr/>
        </p:nvSpPr>
        <p:spPr>
          <a:xfrm>
            <a:off x="4290428" y="3834899"/>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contexto/ con órdenes</a:t>
            </a:r>
            <a:endParaRPr lang="en-US" sz="1080" dirty="0"/>
          </a:p>
        </p:txBody>
      </p:sp>
      <p:sp>
        <p:nvSpPr>
          <p:cNvPr id="68" name="s6-forma-67"/>
          <p:cNvSpPr/>
          <p:nvPr/>
        </p:nvSpPr>
        <p:spPr>
          <a:xfrm>
            <a:off x="7616774" y="3770360"/>
            <a:ext cx="3232349" cy="289046"/>
          </a:xfrm>
          <a:prstGeom prst="rect">
            <a:avLst/>
          </a:prstGeom>
          <a:ln/>
        </p:spPr>
      </p:sp>
      <p:sp>
        <p:nvSpPr>
          <p:cNvPr id="69" name="s6-forma-68"/>
          <p:cNvSpPr/>
          <p:nvPr/>
        </p:nvSpPr>
        <p:spPr>
          <a:xfrm>
            <a:off x="7616774" y="4053692"/>
            <a:ext cx="3232349" cy="5713"/>
          </a:xfrm>
          <a:prstGeom prst="rect">
            <a:avLst/>
          </a:prstGeom>
          <a:solidFill>
            <a:srgbClr val="DBD4C4"/>
          </a:solidFill>
          <a:ln/>
        </p:spPr>
      </p:sp>
      <p:sp>
        <p:nvSpPr>
          <p:cNvPr id="70" name="s6-texto-69"/>
          <p:cNvSpPr txBox="1"/>
          <p:nvPr/>
        </p:nvSpPr>
        <p:spPr>
          <a:xfrm>
            <a:off x="7712736" y="3834899"/>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Revisar cambios en contexto/</a:t>
            </a:r>
            <a:endParaRPr lang="en-US" sz="1080" dirty="0"/>
          </a:p>
        </p:txBody>
      </p:sp>
      <p:sp>
        <p:nvSpPr>
          <p:cNvPr id="71" name="s6-forma-70"/>
          <p:cNvSpPr/>
          <p:nvPr/>
        </p:nvSpPr>
        <p:spPr>
          <a:xfrm>
            <a:off x="1342572" y="4059405"/>
            <a:ext cx="2851894" cy="289046"/>
          </a:xfrm>
          <a:prstGeom prst="rect">
            <a:avLst/>
          </a:prstGeom>
          <a:ln/>
        </p:spPr>
      </p:sp>
      <p:sp>
        <p:nvSpPr>
          <p:cNvPr id="72" name="s6-forma-71"/>
          <p:cNvSpPr/>
          <p:nvPr/>
        </p:nvSpPr>
        <p:spPr>
          <a:xfrm>
            <a:off x="1342572" y="4342738"/>
            <a:ext cx="2851894" cy="5713"/>
          </a:xfrm>
          <a:prstGeom prst="rect">
            <a:avLst/>
          </a:prstGeom>
          <a:solidFill>
            <a:srgbClr val="DBD4C4"/>
          </a:solidFill>
          <a:ln/>
        </p:spPr>
      </p:sp>
      <p:sp>
        <p:nvSpPr>
          <p:cNvPr id="73" name="s6-texto-72"/>
          <p:cNvSpPr txBox="1"/>
          <p:nvPr/>
        </p:nvSpPr>
        <p:spPr>
          <a:xfrm>
            <a:off x="1438534" y="4123945"/>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ASI08</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Fallos en cascada</a:t>
            </a:r>
            <a:endParaRPr lang="en-US" sz="1080" dirty="0"/>
          </a:p>
        </p:txBody>
      </p:sp>
      <p:sp>
        <p:nvSpPr>
          <p:cNvPr id="74" name="s6-forma-73"/>
          <p:cNvSpPr/>
          <p:nvPr/>
        </p:nvSpPr>
        <p:spPr>
          <a:xfrm>
            <a:off x="4194466" y="4059405"/>
            <a:ext cx="3422309" cy="289046"/>
          </a:xfrm>
          <a:prstGeom prst="rect">
            <a:avLst/>
          </a:prstGeom>
          <a:ln/>
        </p:spPr>
      </p:sp>
      <p:sp>
        <p:nvSpPr>
          <p:cNvPr id="75" name="s6-forma-74"/>
          <p:cNvSpPr/>
          <p:nvPr/>
        </p:nvSpPr>
        <p:spPr>
          <a:xfrm>
            <a:off x="4194466" y="4342738"/>
            <a:ext cx="3422309" cy="5713"/>
          </a:xfrm>
          <a:prstGeom prst="rect">
            <a:avLst/>
          </a:prstGeom>
          <a:solidFill>
            <a:srgbClr val="DBD4C4"/>
          </a:solidFill>
          <a:ln/>
        </p:spPr>
      </p:sp>
      <p:sp>
        <p:nvSpPr>
          <p:cNvPr id="76" name="s6-texto-75"/>
          <p:cNvSpPr txBox="1"/>
          <p:nvPr/>
        </p:nvSpPr>
        <p:spPr>
          <a:xfrm>
            <a:off x="4290428" y="4123945"/>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Un criterio mal escrito llega a 3 agentes</a:t>
            </a:r>
            <a:endParaRPr lang="en-US" sz="1080" dirty="0"/>
          </a:p>
        </p:txBody>
      </p:sp>
      <p:sp>
        <p:nvSpPr>
          <p:cNvPr id="77" name="s6-forma-76"/>
          <p:cNvSpPr/>
          <p:nvPr/>
        </p:nvSpPr>
        <p:spPr>
          <a:xfrm>
            <a:off x="7616774" y="4059405"/>
            <a:ext cx="3232349" cy="289046"/>
          </a:xfrm>
          <a:prstGeom prst="rect">
            <a:avLst/>
          </a:prstGeom>
          <a:ln/>
        </p:spPr>
      </p:sp>
      <p:sp>
        <p:nvSpPr>
          <p:cNvPr id="78" name="s6-forma-77"/>
          <p:cNvSpPr/>
          <p:nvPr/>
        </p:nvSpPr>
        <p:spPr>
          <a:xfrm>
            <a:off x="7616774" y="4342738"/>
            <a:ext cx="3232349" cy="5713"/>
          </a:xfrm>
          <a:prstGeom prst="rect">
            <a:avLst/>
          </a:prstGeom>
          <a:solidFill>
            <a:srgbClr val="DBD4C4"/>
          </a:solidFill>
          <a:ln/>
        </p:spPr>
      </p:sp>
      <p:sp>
        <p:nvSpPr>
          <p:cNvPr id="79" name="s6-texto-78"/>
          <p:cNvSpPr txBox="1"/>
          <p:nvPr/>
        </p:nvSpPr>
        <p:spPr>
          <a:xfrm>
            <a:off x="7712736" y="4123945"/>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Validadores y límite de ciclos</a:t>
            </a:r>
            <a:endParaRPr lang="en-US" sz="1080" dirty="0"/>
          </a:p>
        </p:txBody>
      </p:sp>
      <p:sp>
        <p:nvSpPr>
          <p:cNvPr id="80" name="s6-texto-79"/>
          <p:cNvSpPr txBox="1"/>
          <p:nvPr/>
        </p:nvSpPr>
        <p:spPr>
          <a:xfrm>
            <a:off x="1438534" y="4412991"/>
            <a:ext cx="2819550" cy="154253"/>
          </a:xfrm>
          <a:prstGeom prst="rect">
            <a:avLst/>
          </a:prstGeom>
          <a:noFill/>
          <a:ln/>
        </p:spPr>
        <p:txBody>
          <a:bodyPr wrap="none" lIns="0" tIns="0" rIns="0" bIns="0" rtlCol="0" anchor="t"/>
          <a:lstStyle/>
          <a:p>
            <a:pPr algn="l" indent="0" marL="0">
              <a:lnSpc>
                <a:spcPts val="1296"/>
              </a:lnSpc>
              <a:buNone/>
            </a:pPr>
            <a:r>
              <a:rPr lang="en-US" sz="1080" b="1" dirty="0">
                <a:solidFill>
                  <a:srgbClr val="0033A0"/>
                </a:solidFill>
                <a:latin typeface="Arial" pitchFamily="34" charset="0"/>
                <a:ea typeface="Arial" pitchFamily="34" charset="-122"/>
                <a:cs typeface="Arial" pitchFamily="34" charset="-120"/>
              </a:rPr>
              <a:t>ASI09</a:t>
            </a:r>
            <a:pPr algn="l" indent="0" marL="0">
              <a:lnSpc>
                <a:spcPts val="1296"/>
              </a:lnSpc>
              <a:buNone/>
            </a:pPr>
            <a:r>
              <a:rPr lang="en-US" sz="1080" dirty="0">
                <a:solidFill>
                  <a:srgbClr val="16181D"/>
                </a:solidFill>
                <a:latin typeface="Arial" pitchFamily="34" charset="0"/>
                <a:ea typeface="Arial" pitchFamily="34" charset="-122"/>
                <a:cs typeface="Arial" pitchFamily="34" charset="-120"/>
              </a:rPr>
              <a:t> Confianza excesiva</a:t>
            </a:r>
            <a:endParaRPr lang="en-US" sz="1080" dirty="0"/>
          </a:p>
        </p:txBody>
      </p:sp>
      <p:sp>
        <p:nvSpPr>
          <p:cNvPr id="81" name="s6-texto-80"/>
          <p:cNvSpPr txBox="1"/>
          <p:nvPr/>
        </p:nvSpPr>
        <p:spPr>
          <a:xfrm>
            <a:off x="4290428" y="4412991"/>
            <a:ext cx="3424189"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Aprobar el plan sin leerlo</a:t>
            </a:r>
            <a:endParaRPr lang="en-US" sz="1080" dirty="0"/>
          </a:p>
        </p:txBody>
      </p:sp>
      <p:sp>
        <p:nvSpPr>
          <p:cNvPr id="82" name="s6-texto-81"/>
          <p:cNvSpPr txBox="1"/>
          <p:nvPr/>
        </p:nvSpPr>
        <p:spPr>
          <a:xfrm>
            <a:off x="7712736" y="4412991"/>
            <a:ext cx="3222832" cy="154253"/>
          </a:xfrm>
          <a:prstGeom prst="rect">
            <a:avLst/>
          </a:prstGeom>
          <a:noFill/>
          <a:ln/>
        </p:spPr>
        <p:txBody>
          <a:bodyPr wrap="none" lIns="0" tIns="0" rIns="0" bIns="0" rtlCol="0" anchor="t"/>
          <a:lstStyle/>
          <a:p>
            <a:pPr algn="l" indent="0" marL="0">
              <a:lnSpc>
                <a:spcPts val="1296"/>
              </a:lnSpc>
              <a:buNone/>
            </a:pPr>
            <a:r>
              <a:rPr lang="en-US" sz="1080" dirty="0">
                <a:solidFill>
                  <a:srgbClr val="16181D"/>
                </a:solidFill>
                <a:latin typeface="Arial" pitchFamily="34" charset="0"/>
                <a:ea typeface="Arial" pitchFamily="34" charset="-122"/>
                <a:cs typeface="Arial" pitchFamily="34" charset="-120"/>
              </a:rPr>
              <a:t>Plan completo y decisión en bitácora</a:t>
            </a:r>
            <a:endParaRPr lang="en-US" sz="1080" dirty="0"/>
          </a:p>
        </p:txBody>
      </p:sp>
      <p:sp>
        <p:nvSpPr>
          <p:cNvPr id="83" name="s6-texto-82"/>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Fuente: OWASP GenAI Security Project, diciembre de 2025</a:t>
            </a:r>
            <a:endParaRPr lang="en-US" sz="1080" dirty="0"/>
          </a:p>
        </p:txBody>
      </p:sp>
      <p:sp>
        <p:nvSpPr>
          <p:cNvPr id="84" name="s6-forma-83"/>
          <p:cNvSpPr/>
          <p:nvPr/>
        </p:nvSpPr>
        <p:spPr>
          <a:xfrm>
            <a:off x="853390" y="6411138"/>
            <a:ext cx="10484915" cy="5713"/>
          </a:xfrm>
          <a:prstGeom prst="rect">
            <a:avLst/>
          </a:prstGeom>
          <a:solidFill>
            <a:srgbClr val="DBD4C4"/>
          </a:solidFill>
          <a:ln/>
        </p:spPr>
      </p:sp>
      <p:pic>
        <p:nvPicPr>
          <p:cNvPr id="85" name="s6-logo-84"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86" name="s6-forma-85"/>
          <p:cNvSpPr/>
          <p:nvPr/>
        </p:nvSpPr>
        <p:spPr>
          <a:xfrm>
            <a:off x="1659380" y="6519865"/>
            <a:ext cx="3578704" cy="102835"/>
          </a:xfrm>
          <a:prstGeom prst="rect">
            <a:avLst/>
          </a:prstGeom>
          <a:ln/>
        </p:spPr>
      </p:sp>
      <p:sp>
        <p:nvSpPr>
          <p:cNvPr id="87" name="s6-forma-86"/>
          <p:cNvSpPr/>
          <p:nvPr/>
        </p:nvSpPr>
        <p:spPr>
          <a:xfrm>
            <a:off x="1659380" y="6519865"/>
            <a:ext cx="5713" cy="102835"/>
          </a:xfrm>
          <a:prstGeom prst="rect">
            <a:avLst/>
          </a:prstGeom>
          <a:solidFill>
            <a:srgbClr val="C6BFAE"/>
          </a:solidFill>
          <a:ln/>
        </p:spPr>
      </p:sp>
      <p:sp>
        <p:nvSpPr>
          <p:cNvPr id="88" name="s6-texto-87"/>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89" name="s6-texto-88"/>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6 / 22</a:t>
            </a:r>
            <a:endParaRPr lang="en-US" sz="745" dirty="0"/>
          </a:p>
        </p:txBody>
      </p:sp>
      <p:sp>
        <p:nvSpPr>
          <p:cNvPr id="90" name="s6-forma-89"/>
          <p:cNvSpPr/>
          <p:nvPr/>
        </p:nvSpPr>
        <p:spPr>
          <a:xfrm>
            <a:off x="0" y="0"/>
            <a:ext cx="3325008" cy="17139"/>
          </a:xfrm>
          <a:prstGeom prst="rect">
            <a:avLst/>
          </a:prstGeom>
          <a:solidFill>
            <a:srgbClr val="0033A0"/>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8DC"/>
        </a:solidFill>
      </p:bgPr>
    </p:bg>
    <p:spTree>
      <p:nvGrpSpPr>
        <p:cNvPr id="1" name=""/>
        <p:cNvGrpSpPr/>
        <p:nvPr/>
      </p:nvGrpSpPr>
      <p:grpSpPr>
        <a:xfrm>
          <a:off x="0" y="0"/>
          <a:ext cx="0" cy="0"/>
          <a:chOff x="0" y="0"/>
          <a:chExt cx="0" cy="0"/>
        </a:xfrm>
      </p:grpSpPr>
      <p:sp>
        <p:nvSpPr>
          <p:cNvPr id="2" name="s7-forma-1"/>
          <p:cNvSpPr/>
          <p:nvPr/>
        </p:nvSpPr>
        <p:spPr>
          <a:xfrm>
            <a:off x="853390" y="331715"/>
            <a:ext cx="81411" cy="81411"/>
          </a:xfrm>
          <a:prstGeom prst="ellipse">
            <a:avLst/>
          </a:prstGeom>
          <a:solidFill>
            <a:srgbClr val="0033A0"/>
          </a:solidFill>
          <a:ln/>
        </p:spPr>
      </p:sp>
      <p:sp>
        <p:nvSpPr>
          <p:cNvPr id="3" name="s7-texto-2"/>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7-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0:30 · 15 min</a:t>
            </a:r>
            <a:endParaRPr lang="en-US" sz="807" dirty="0"/>
          </a:p>
        </p:txBody>
      </p:sp>
      <p:sp>
        <p:nvSpPr>
          <p:cNvPr id="5" name="s7-texto-4"/>
          <p:cNvSpPr txBox="1"/>
          <p:nvPr/>
        </p:nvSpPr>
        <p:spPr>
          <a:xfrm>
            <a:off x="853390" y="238895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BLOQUE 4.2</a:t>
            </a:r>
            <a:endParaRPr lang="en-US" sz="869" dirty="0"/>
          </a:p>
        </p:txBody>
      </p:sp>
      <p:sp>
        <p:nvSpPr>
          <p:cNvPr id="6" name="s7-forma-5"/>
          <p:cNvSpPr/>
          <p:nvPr/>
        </p:nvSpPr>
        <p:spPr>
          <a:xfrm>
            <a:off x="853390" y="4059138"/>
            <a:ext cx="722704" cy="22852"/>
          </a:xfrm>
          <a:prstGeom prst="rect">
            <a:avLst/>
          </a:prstGeom>
          <a:solidFill>
            <a:srgbClr val="0033A0"/>
          </a:solidFill>
          <a:ln/>
        </p:spPr>
      </p:sp>
      <p:sp>
        <p:nvSpPr>
          <p:cNvPr id="7" name="s7-texto-6"/>
          <p:cNvSpPr txBox="1"/>
          <p:nvPr/>
        </p:nvSpPr>
        <p:spPr>
          <a:xfrm>
            <a:off x="853390" y="2669968"/>
            <a:ext cx="7149222" cy="1215902"/>
          </a:xfrm>
          <a:prstGeom prst="rect">
            <a:avLst/>
          </a:prstGeom>
          <a:noFill/>
          <a:ln/>
        </p:spPr>
        <p:txBody>
          <a:bodyPr wrap="squar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Tríada letal y defensas por capas</a:t>
            </a:r>
            <a:endParaRPr lang="en-US" sz="4242" dirty="0"/>
          </a:p>
        </p:txBody>
      </p:sp>
      <p:sp>
        <p:nvSpPr>
          <p:cNvPr id="8" name="s7-texto-7"/>
          <p:cNvSpPr txBox="1"/>
          <p:nvPr/>
        </p:nvSpPr>
        <p:spPr>
          <a:xfrm>
            <a:off x="853390" y="426079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Diseñar para romper al menos una de las tres piezas.</a:t>
            </a:r>
            <a:endParaRPr lang="en-US" sz="1676" dirty="0"/>
          </a:p>
        </p:txBody>
      </p:sp>
      <p:pic>
        <p:nvPicPr>
          <p:cNvPr id="9" name="s7-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7-forma-9"/>
          <p:cNvSpPr/>
          <p:nvPr/>
        </p:nvSpPr>
        <p:spPr>
          <a:xfrm>
            <a:off x="1659380" y="6519865"/>
            <a:ext cx="3578704" cy="102835"/>
          </a:xfrm>
          <a:prstGeom prst="rect">
            <a:avLst/>
          </a:prstGeom>
          <a:ln/>
        </p:spPr>
      </p:sp>
      <p:sp>
        <p:nvSpPr>
          <p:cNvPr id="11" name="s7-forma-10"/>
          <p:cNvSpPr/>
          <p:nvPr/>
        </p:nvSpPr>
        <p:spPr>
          <a:xfrm>
            <a:off x="1659380" y="6519865"/>
            <a:ext cx="5713" cy="102835"/>
          </a:xfrm>
          <a:prstGeom prst="rect">
            <a:avLst/>
          </a:prstGeom>
          <a:solidFill>
            <a:srgbClr val="C6BFAE"/>
          </a:solidFill>
          <a:ln/>
        </p:spPr>
      </p:sp>
      <p:sp>
        <p:nvSpPr>
          <p:cNvPr id="12" name="s7-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7-texto-12"/>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7 / 22</a:t>
            </a:r>
            <a:endParaRPr lang="en-US" sz="745" dirty="0"/>
          </a:p>
        </p:txBody>
      </p:sp>
      <p:sp>
        <p:nvSpPr>
          <p:cNvPr id="14" name="s7-forma-13"/>
          <p:cNvSpPr/>
          <p:nvPr/>
        </p:nvSpPr>
        <p:spPr>
          <a:xfrm>
            <a:off x="0" y="0"/>
            <a:ext cx="3879176" cy="17139"/>
          </a:xfrm>
          <a:prstGeom prst="rect">
            <a:avLst/>
          </a:prstGeom>
          <a:solidFill>
            <a:srgbClr val="0033A0"/>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8DC"/>
        </a:solidFill>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sp>
      <p:sp>
        <p:nvSpPr>
          <p:cNvPr id="3" name="s8-forma-2"/>
          <p:cNvSpPr/>
          <p:nvPr/>
        </p:nvSpPr>
        <p:spPr>
          <a:xfrm>
            <a:off x="853390" y="331715"/>
            <a:ext cx="81411" cy="81411"/>
          </a:xfrm>
          <a:prstGeom prst="ellipse">
            <a:avLst/>
          </a:prstGeom>
          <a:solidFill>
            <a:srgbClr val="0033A0"/>
          </a:solidFill>
          <a:ln/>
        </p:spPr>
      </p:sp>
      <p:sp>
        <p:nvSpPr>
          <p:cNvPr id="4" name="s8-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0:30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4.2 · INYECCIÓN INDIRECTA</a:t>
            </a:r>
            <a:endParaRPr lang="en-US" sz="900" dirty="0"/>
          </a:p>
        </p:txBody>
      </p:sp>
      <p:sp>
        <p:nvSpPr>
          <p:cNvPr id="7" name="s8-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La tríada letal</a:t>
            </a:r>
            <a:endParaRPr lang="en-US" sz="2879" dirty="0"/>
          </a:p>
        </p:txBody>
      </p:sp>
      <p:sp>
        <p:nvSpPr>
          <p:cNvPr id="8" name="s8-forma-7"/>
          <p:cNvSpPr/>
          <p:nvPr/>
        </p:nvSpPr>
        <p:spPr>
          <a:xfrm>
            <a:off x="1342572" y="2281747"/>
            <a:ext cx="2802262" cy="1661254"/>
          </a:xfrm>
          <a:prstGeom prst="rect">
            <a:avLst/>
          </a:prstGeom>
          <a:solidFill>
            <a:srgbClr val="C6BFAE"/>
          </a:solidFill>
          <a:ln w="5713">
            <a:solidFill>
              <a:srgbClr val="C6BFAE"/>
            </a:solidFill>
            <a:prstDash val="solid"/>
          </a:ln>
        </p:spPr>
      </p:sp>
      <p:pic>
        <p:nvPicPr>
          <p:cNvPr id="9" name="s8-icono-8" descr="preencoded.png">    </p:cNvPr>
          <p:cNvPicPr>
            <a:picLocks noChangeAspect="1"/>
          </p:cNvPicPr>
          <p:nvPr/>
        </p:nvPicPr>
        <p:blipFill>
          <a:blip r:embed="rId1"/>
          <a:stretch>
            <a:fillRect/>
          </a:stretch>
        </p:blipFill>
        <p:spPr>
          <a:xfrm>
            <a:off x="1576808" y="2515983"/>
            <a:ext cx="319932" cy="319932"/>
          </a:xfrm>
          <a:prstGeom prst="rect">
            <a:avLst/>
          </a:prstGeom>
        </p:spPr>
      </p:pic>
      <p:sp>
        <p:nvSpPr>
          <p:cNvPr id="10" name="s8-texto-9"/>
          <p:cNvSpPr txBox="1"/>
          <p:nvPr/>
        </p:nvSpPr>
        <p:spPr>
          <a:xfrm>
            <a:off x="1576808" y="2927324"/>
            <a:ext cx="2473817" cy="268514"/>
          </a:xfrm>
          <a:prstGeom prst="rect">
            <a:avLst/>
          </a:prstGeom>
          <a:noFill/>
          <a:ln/>
        </p:spPr>
        <p:txBody>
          <a:bodyPr wrap="none" lIns="0" tIns="0" rIns="0" bIns="0" rtlCol="0" anchor="t"/>
          <a:lstStyle/>
          <a:p>
            <a:pPr algn="l" indent="0" marL="0">
              <a:lnSpc>
                <a:spcPts val="2159"/>
              </a:lnSpc>
              <a:buNone/>
            </a:pPr>
            <a:r>
              <a:rPr lang="en-US" sz="1799" b="1" spc="-18" kern="0" dirty="0">
                <a:solidFill>
                  <a:srgbClr val="16181D"/>
                </a:solidFill>
                <a:latin typeface="Georgia" pitchFamily="34" charset="0"/>
                <a:ea typeface="Georgia" pitchFamily="34" charset="-122"/>
                <a:cs typeface="Georgia" pitchFamily="34" charset="-120"/>
              </a:rPr>
              <a:t>DATOS PRIVADOS</a:t>
            </a:r>
            <a:endParaRPr lang="en-US" sz="1799" dirty="0"/>
          </a:p>
        </p:txBody>
      </p:sp>
      <p:sp>
        <p:nvSpPr>
          <p:cNvPr id="11" name="s8-texto-10"/>
          <p:cNvSpPr txBox="1"/>
          <p:nvPr/>
        </p:nvSpPr>
        <p:spPr>
          <a:xfrm>
            <a:off x="1576808" y="3310100"/>
            <a:ext cx="2473817"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Archivos, claves, variables de entorno.</a:t>
            </a:r>
            <a:endParaRPr lang="en-US" sz="1170" dirty="0"/>
          </a:p>
        </p:txBody>
      </p:sp>
      <p:sp>
        <p:nvSpPr>
          <p:cNvPr id="12" name="s8-texto-11"/>
          <p:cNvSpPr txBox="1"/>
          <p:nvPr/>
        </p:nvSpPr>
        <p:spPr>
          <a:xfrm>
            <a:off x="4281947" y="2898134"/>
            <a:ext cx="321360" cy="428480"/>
          </a:xfrm>
          <a:prstGeom prst="rect">
            <a:avLst/>
          </a:prstGeom>
          <a:noFill/>
          <a:ln/>
        </p:spPr>
        <p:txBody>
          <a:bodyPr wrap="none" lIns="0" tIns="0" rIns="0" bIns="0" rtlCol="0" anchor="t"/>
          <a:lstStyle/>
          <a:p>
            <a:pPr algn="l" indent="0" marL="0">
              <a:lnSpc>
                <a:spcPts val="3455"/>
              </a:lnSpc>
              <a:buNone/>
            </a:pPr>
            <a:r>
              <a:rPr lang="en-US" sz="2879" b="1" dirty="0">
                <a:solidFill>
                  <a:srgbClr val="AC321E"/>
                </a:solidFill>
                <a:latin typeface="Georgia" pitchFamily="34" charset="0"/>
                <a:ea typeface="Georgia" pitchFamily="34" charset="-122"/>
                <a:cs typeface="Georgia" pitchFamily="34" charset="-120"/>
              </a:rPr>
              <a:t>+</a:t>
            </a:r>
            <a:endParaRPr lang="en-US" sz="2879" dirty="0"/>
          </a:p>
        </p:txBody>
      </p:sp>
      <p:sp>
        <p:nvSpPr>
          <p:cNvPr id="13" name="s8-forma-12"/>
          <p:cNvSpPr/>
          <p:nvPr/>
        </p:nvSpPr>
        <p:spPr>
          <a:xfrm>
            <a:off x="4694717" y="2144634"/>
            <a:ext cx="2802262" cy="1935482"/>
          </a:xfrm>
          <a:prstGeom prst="rect">
            <a:avLst/>
          </a:prstGeom>
          <a:solidFill>
            <a:srgbClr val="C6BFAE"/>
          </a:solidFill>
          <a:ln w="5713">
            <a:solidFill>
              <a:srgbClr val="C6BFAE"/>
            </a:solidFill>
            <a:prstDash val="solid"/>
          </a:ln>
        </p:spPr>
      </p:sp>
      <p:pic>
        <p:nvPicPr>
          <p:cNvPr id="14" name="s8-icono-13" descr="preencoded.png">    </p:cNvPr>
          <p:cNvPicPr>
            <a:picLocks noChangeAspect="1"/>
          </p:cNvPicPr>
          <p:nvPr/>
        </p:nvPicPr>
        <p:blipFill>
          <a:blip r:embed="rId2"/>
          <a:stretch>
            <a:fillRect/>
          </a:stretch>
        </p:blipFill>
        <p:spPr>
          <a:xfrm>
            <a:off x="4928953" y="2378870"/>
            <a:ext cx="319932" cy="319932"/>
          </a:xfrm>
          <a:prstGeom prst="rect">
            <a:avLst/>
          </a:prstGeom>
        </p:spPr>
      </p:pic>
      <p:sp>
        <p:nvSpPr>
          <p:cNvPr id="15" name="s8-texto-14"/>
          <p:cNvSpPr txBox="1"/>
          <p:nvPr/>
        </p:nvSpPr>
        <p:spPr>
          <a:xfrm>
            <a:off x="4928953" y="2790211"/>
            <a:ext cx="2473817" cy="542742"/>
          </a:xfrm>
          <a:prstGeom prst="rect">
            <a:avLst/>
          </a:prstGeom>
          <a:noFill/>
          <a:ln/>
        </p:spPr>
        <p:txBody>
          <a:bodyPr wrap="square" lIns="0" tIns="0" rIns="0" bIns="0" rtlCol="0" anchor="t"/>
          <a:lstStyle/>
          <a:p>
            <a:pPr algn="l" indent="0" marL="0">
              <a:lnSpc>
                <a:spcPts val="2159"/>
              </a:lnSpc>
              <a:buNone/>
            </a:pPr>
            <a:r>
              <a:rPr lang="en-US" sz="1799" b="1" spc="-18" kern="0" dirty="0">
                <a:solidFill>
                  <a:srgbClr val="16181D"/>
                </a:solidFill>
                <a:latin typeface="Georgia" pitchFamily="34" charset="0"/>
                <a:ea typeface="Georgia" pitchFamily="34" charset="-122"/>
                <a:cs typeface="Georgia" pitchFamily="34" charset="-120"/>
              </a:rPr>
              <a:t>CONTENIDO NO CONFIABLE</a:t>
            </a:r>
            <a:endParaRPr lang="en-US" sz="1799" dirty="0"/>
          </a:p>
        </p:txBody>
      </p:sp>
      <p:sp>
        <p:nvSpPr>
          <p:cNvPr id="16" name="s8-texto-15"/>
          <p:cNvSpPr txBox="1"/>
          <p:nvPr/>
        </p:nvSpPr>
        <p:spPr>
          <a:xfrm>
            <a:off x="4928953" y="3447214"/>
            <a:ext cx="2473817"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Historias de usuario, web, PDF, resultados de herramientas.</a:t>
            </a:r>
            <a:endParaRPr lang="en-US" sz="1170" dirty="0"/>
          </a:p>
        </p:txBody>
      </p:sp>
      <p:sp>
        <p:nvSpPr>
          <p:cNvPr id="17" name="s8-texto-16"/>
          <p:cNvSpPr txBox="1"/>
          <p:nvPr/>
        </p:nvSpPr>
        <p:spPr>
          <a:xfrm>
            <a:off x="7634092" y="2898134"/>
            <a:ext cx="321360" cy="428480"/>
          </a:xfrm>
          <a:prstGeom prst="rect">
            <a:avLst/>
          </a:prstGeom>
          <a:noFill/>
          <a:ln/>
        </p:spPr>
        <p:txBody>
          <a:bodyPr wrap="none" lIns="0" tIns="0" rIns="0" bIns="0" rtlCol="0" anchor="t"/>
          <a:lstStyle/>
          <a:p>
            <a:pPr algn="l" indent="0" marL="0">
              <a:lnSpc>
                <a:spcPts val="3455"/>
              </a:lnSpc>
              <a:buNone/>
            </a:pPr>
            <a:r>
              <a:rPr lang="en-US" sz="2879" b="1" dirty="0">
                <a:solidFill>
                  <a:srgbClr val="AC321E"/>
                </a:solidFill>
                <a:latin typeface="Georgia" pitchFamily="34" charset="0"/>
                <a:ea typeface="Georgia" pitchFamily="34" charset="-122"/>
                <a:cs typeface="Georgia" pitchFamily="34" charset="-120"/>
              </a:rPr>
              <a:t>+</a:t>
            </a:r>
            <a:endParaRPr lang="en-US" sz="2879" dirty="0"/>
          </a:p>
        </p:txBody>
      </p:sp>
      <p:sp>
        <p:nvSpPr>
          <p:cNvPr id="18" name="s8-forma-17"/>
          <p:cNvSpPr/>
          <p:nvPr/>
        </p:nvSpPr>
        <p:spPr>
          <a:xfrm>
            <a:off x="8046862" y="2144634"/>
            <a:ext cx="2802262" cy="1935482"/>
          </a:xfrm>
          <a:prstGeom prst="rect">
            <a:avLst/>
          </a:prstGeom>
          <a:solidFill>
            <a:srgbClr val="C6BFAE"/>
          </a:solidFill>
          <a:ln w="5713">
            <a:solidFill>
              <a:srgbClr val="C6BFAE"/>
            </a:solidFill>
            <a:prstDash val="solid"/>
          </a:ln>
        </p:spPr>
      </p:sp>
      <p:pic>
        <p:nvPicPr>
          <p:cNvPr id="19" name="s8-icono-18" descr="preencoded.png">    </p:cNvPr>
          <p:cNvPicPr>
            <a:picLocks noChangeAspect="1"/>
          </p:cNvPicPr>
          <p:nvPr/>
        </p:nvPicPr>
        <p:blipFill>
          <a:blip r:embed="rId3"/>
          <a:stretch>
            <a:fillRect/>
          </a:stretch>
        </p:blipFill>
        <p:spPr>
          <a:xfrm>
            <a:off x="8281098" y="2378870"/>
            <a:ext cx="319932" cy="319932"/>
          </a:xfrm>
          <a:prstGeom prst="rect">
            <a:avLst/>
          </a:prstGeom>
        </p:spPr>
      </p:pic>
      <p:sp>
        <p:nvSpPr>
          <p:cNvPr id="20" name="s8-texto-19"/>
          <p:cNvSpPr txBox="1"/>
          <p:nvPr/>
        </p:nvSpPr>
        <p:spPr>
          <a:xfrm>
            <a:off x="8281098" y="2790211"/>
            <a:ext cx="2473817" cy="542742"/>
          </a:xfrm>
          <a:prstGeom prst="rect">
            <a:avLst/>
          </a:prstGeom>
          <a:noFill/>
          <a:ln/>
        </p:spPr>
        <p:txBody>
          <a:bodyPr wrap="square" lIns="0" tIns="0" rIns="0" bIns="0" rtlCol="0" anchor="t"/>
          <a:lstStyle/>
          <a:p>
            <a:pPr algn="l" indent="0" marL="0">
              <a:lnSpc>
                <a:spcPts val="2159"/>
              </a:lnSpc>
              <a:buNone/>
            </a:pPr>
            <a:r>
              <a:rPr lang="en-US" sz="1799" b="1" spc="-18" kern="0" dirty="0">
                <a:solidFill>
                  <a:srgbClr val="16181D"/>
                </a:solidFill>
                <a:latin typeface="Georgia" pitchFamily="34" charset="0"/>
                <a:ea typeface="Georgia" pitchFamily="34" charset="-122"/>
                <a:cs typeface="Georgia" pitchFamily="34" charset="-120"/>
              </a:rPr>
              <a:t>COMUNICACIÓN EXTERNA</a:t>
            </a:r>
            <a:endParaRPr lang="en-US" sz="1799" dirty="0"/>
          </a:p>
        </p:txBody>
      </p:sp>
      <p:sp>
        <p:nvSpPr>
          <p:cNvPr id="21" name="s8-texto-20"/>
          <p:cNvSpPr txBox="1"/>
          <p:nvPr/>
        </p:nvSpPr>
        <p:spPr>
          <a:xfrm>
            <a:off x="8281098" y="3447214"/>
            <a:ext cx="2473817"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En tu fábrica: desactivada, sin WebFetch ni WebSearch.</a:t>
            </a:r>
            <a:endParaRPr lang="en-US" sz="1170" dirty="0"/>
          </a:p>
        </p:txBody>
      </p:sp>
      <p:sp>
        <p:nvSpPr>
          <p:cNvPr id="22" name="s8-texto-21"/>
          <p:cNvSpPr txBox="1"/>
          <p:nvPr/>
        </p:nvSpPr>
        <p:spPr>
          <a:xfrm>
            <a:off x="1342572" y="4377195"/>
            <a:ext cx="10076945" cy="217097"/>
          </a:xfrm>
          <a:prstGeom prst="rect">
            <a:avLst/>
          </a:prstGeom>
          <a:noFill/>
          <a:ln/>
        </p:spPr>
        <p:txBody>
          <a:bodyPr wrap="none" lIns="0" tIns="0" rIns="0" bIns="0" rtlCol="0" anchor="t"/>
          <a:lstStyle/>
          <a:p>
            <a:pPr algn="l" indent="0" marL="0">
              <a:lnSpc>
                <a:spcPts val="2141"/>
              </a:lnSpc>
              <a:buNone/>
            </a:pPr>
            <a:r>
              <a:rPr lang="en-US" sz="1530" dirty="0">
                <a:solidFill>
                  <a:srgbClr val="16181D"/>
                </a:solidFill>
                <a:latin typeface="Arial" pitchFamily="34" charset="0"/>
                <a:ea typeface="Arial" pitchFamily="34" charset="-122"/>
                <a:cs typeface="Arial" pitchFamily="34" charset="-120"/>
              </a:rPr>
              <a:t>Con las tres presentes, una inyección puede exfiltrar datos. </a:t>
            </a:r>
            <a:pPr algn="l" indent="0" marL="0">
              <a:lnSpc>
                <a:spcPts val="2141"/>
              </a:lnSpc>
              <a:buNone/>
            </a:pPr>
            <a:r>
              <a:rPr lang="en-US" sz="1530" b="1" dirty="0">
                <a:solidFill>
                  <a:srgbClr val="0033A0"/>
                </a:solidFill>
                <a:latin typeface="Arial" pitchFamily="34" charset="0"/>
                <a:ea typeface="Arial" pitchFamily="34" charset="-122"/>
                <a:cs typeface="Arial" pitchFamily="34" charset="-120"/>
              </a:rPr>
              <a:t>Diseña para romper al menos una.</a:t>
            </a:r>
            <a:endParaRPr lang="en-US" sz="1530" dirty="0"/>
          </a:p>
        </p:txBody>
      </p:sp>
      <p:sp>
        <p:nvSpPr>
          <p:cNvPr id="23" name="s8-texto-22"/>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Concepto: Simon Willison, «The lethal trifecta for AI agents», 2025</a:t>
            </a:r>
            <a:endParaRPr lang="en-US" sz="1080" dirty="0"/>
          </a:p>
        </p:txBody>
      </p:sp>
      <p:sp>
        <p:nvSpPr>
          <p:cNvPr id="24" name="s8-forma-23"/>
          <p:cNvSpPr/>
          <p:nvPr/>
        </p:nvSpPr>
        <p:spPr>
          <a:xfrm>
            <a:off x="853390" y="6411138"/>
            <a:ext cx="10484915" cy="5713"/>
          </a:xfrm>
          <a:prstGeom prst="rect">
            <a:avLst/>
          </a:prstGeom>
          <a:solidFill>
            <a:srgbClr val="DBD4C4"/>
          </a:solidFill>
          <a:ln/>
        </p:spPr>
      </p:sp>
      <p:pic>
        <p:nvPicPr>
          <p:cNvPr id="25" name="s8-logo-24" descr="preencoded.png">    </p:cNvPr>
          <p:cNvPicPr>
            <a:picLocks noChangeAspect="1"/>
          </p:cNvPicPr>
          <p:nvPr/>
        </p:nvPicPr>
        <p:blipFill>
          <a:blip r:embed="rId4"/>
          <a:stretch>
            <a:fillRect/>
          </a:stretch>
        </p:blipFill>
        <p:spPr>
          <a:xfrm>
            <a:off x="853390" y="6465055"/>
            <a:ext cx="687800" cy="212455"/>
          </a:xfrm>
          <a:prstGeom prst="rect">
            <a:avLst/>
          </a:prstGeom>
        </p:spPr>
      </p:pic>
      <p:sp>
        <p:nvSpPr>
          <p:cNvPr id="26" name="s8-forma-25"/>
          <p:cNvSpPr/>
          <p:nvPr/>
        </p:nvSpPr>
        <p:spPr>
          <a:xfrm>
            <a:off x="1659380" y="6519865"/>
            <a:ext cx="3578704" cy="102835"/>
          </a:xfrm>
          <a:prstGeom prst="rect">
            <a:avLst/>
          </a:prstGeom>
          <a:ln/>
        </p:spPr>
      </p:sp>
      <p:sp>
        <p:nvSpPr>
          <p:cNvPr id="27" name="s8-forma-26"/>
          <p:cNvSpPr/>
          <p:nvPr/>
        </p:nvSpPr>
        <p:spPr>
          <a:xfrm>
            <a:off x="1659380" y="6519865"/>
            <a:ext cx="5713" cy="102835"/>
          </a:xfrm>
          <a:prstGeom prst="rect">
            <a:avLst/>
          </a:prstGeom>
          <a:solidFill>
            <a:srgbClr val="C6BFAE"/>
          </a:solidFill>
          <a:ln/>
        </p:spPr>
      </p:sp>
      <p:sp>
        <p:nvSpPr>
          <p:cNvPr id="28" name="s8-texto-27"/>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29" name="s8-texto-28"/>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8 / 22</a:t>
            </a:r>
            <a:endParaRPr lang="en-US" sz="745" dirty="0"/>
          </a:p>
        </p:txBody>
      </p:sp>
      <p:sp>
        <p:nvSpPr>
          <p:cNvPr id="30" name="s8-forma-29"/>
          <p:cNvSpPr/>
          <p:nvPr/>
        </p:nvSpPr>
        <p:spPr>
          <a:xfrm>
            <a:off x="0" y="0"/>
            <a:ext cx="4433344" cy="17139"/>
          </a:xfrm>
          <a:prstGeom prst="rect">
            <a:avLst/>
          </a:prstGeom>
          <a:solidFill>
            <a:srgbClr val="0033A0"/>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8DC"/>
        </a:solidFill>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sp>
      <p:sp>
        <p:nvSpPr>
          <p:cNvPr id="3" name="s9-forma-2"/>
          <p:cNvSpPr/>
          <p:nvPr/>
        </p:nvSpPr>
        <p:spPr>
          <a:xfrm>
            <a:off x="853390" y="331715"/>
            <a:ext cx="81411" cy="81411"/>
          </a:xfrm>
          <a:prstGeom prst="ellipse">
            <a:avLst/>
          </a:prstGeom>
          <a:solidFill>
            <a:srgbClr val="0033A0"/>
          </a:solidFill>
          <a:ln/>
        </p:spPr>
      </p:sp>
      <p:sp>
        <p:nvSpPr>
          <p:cNvPr id="4" name="s9-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0:30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4.2 · DEFENSAS POR CAPAS</a:t>
            </a:r>
            <a:endParaRPr lang="en-US" sz="900" dirty="0"/>
          </a:p>
        </p:txBody>
      </p:sp>
      <p:sp>
        <p:nvSpPr>
          <p:cNvPr id="7" name="s9-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Siete capas que ya tiene tu fábrica</a:t>
            </a:r>
            <a:endParaRPr lang="en-US" sz="2879" dirty="0"/>
          </a:p>
        </p:txBody>
      </p:sp>
      <p:sp>
        <p:nvSpPr>
          <p:cNvPr id="8" name="s9-forma-7"/>
          <p:cNvSpPr/>
          <p:nvPr/>
        </p:nvSpPr>
        <p:spPr>
          <a:xfrm>
            <a:off x="1342572" y="2098929"/>
            <a:ext cx="9506551" cy="382776"/>
          </a:xfrm>
          <a:prstGeom prst="rect">
            <a:avLst/>
          </a:prstGeom>
          <a:ln/>
        </p:spPr>
      </p:sp>
      <p:sp>
        <p:nvSpPr>
          <p:cNvPr id="9" name="s9-forma-8"/>
          <p:cNvSpPr/>
          <p:nvPr/>
        </p:nvSpPr>
        <p:spPr>
          <a:xfrm>
            <a:off x="1342572" y="2475992"/>
            <a:ext cx="9506551" cy="5713"/>
          </a:xfrm>
          <a:prstGeom prst="rect">
            <a:avLst/>
          </a:prstGeom>
          <a:solidFill>
            <a:srgbClr val="C6BFAE"/>
          </a:solidFill>
          <a:ln/>
        </p:spPr>
      </p:sp>
      <p:sp>
        <p:nvSpPr>
          <p:cNvPr id="10" name="s9-texto-9"/>
          <p:cNvSpPr txBox="1"/>
          <p:nvPr/>
        </p:nvSpPr>
        <p:spPr>
          <a:xfrm>
            <a:off x="1342572" y="2178912"/>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1</a:t>
            </a:r>
            <a:endParaRPr lang="en-US" sz="1440" dirty="0"/>
          </a:p>
        </p:txBody>
      </p:sp>
      <p:sp>
        <p:nvSpPr>
          <p:cNvPr id="11" name="s9-texto-10"/>
          <p:cNvSpPr txBox="1"/>
          <p:nvPr/>
        </p:nvSpPr>
        <p:spPr>
          <a:xfrm>
            <a:off x="1845322" y="2207477"/>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Mínima agencia</a:t>
            </a:r>
            <a:endParaRPr lang="en-US" sz="1260" dirty="0"/>
          </a:p>
        </p:txBody>
      </p:sp>
      <p:sp>
        <p:nvSpPr>
          <p:cNvPr id="12" name="s9-texto-11"/>
          <p:cNvSpPr txBox="1"/>
          <p:nvPr/>
        </p:nvSpPr>
        <p:spPr>
          <a:xfrm>
            <a:off x="4427631" y="2207477"/>
            <a:ext cx="3562830"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Cada agente escribe solo los archivos de su rol</a:t>
            </a:r>
            <a:endParaRPr lang="en-US" sz="1260" dirty="0"/>
          </a:p>
        </p:txBody>
      </p:sp>
      <p:sp>
        <p:nvSpPr>
          <p:cNvPr id="13" name="s9-forma-12"/>
          <p:cNvSpPr/>
          <p:nvPr/>
        </p:nvSpPr>
        <p:spPr>
          <a:xfrm>
            <a:off x="1342572" y="2481705"/>
            <a:ext cx="9506551" cy="382776"/>
          </a:xfrm>
          <a:prstGeom prst="rect">
            <a:avLst/>
          </a:prstGeom>
          <a:ln/>
        </p:spPr>
      </p:sp>
      <p:sp>
        <p:nvSpPr>
          <p:cNvPr id="14" name="s9-forma-13"/>
          <p:cNvSpPr/>
          <p:nvPr/>
        </p:nvSpPr>
        <p:spPr>
          <a:xfrm>
            <a:off x="1342572" y="2858768"/>
            <a:ext cx="9506551" cy="5713"/>
          </a:xfrm>
          <a:prstGeom prst="rect">
            <a:avLst/>
          </a:prstGeom>
          <a:solidFill>
            <a:srgbClr val="C6BFAE"/>
          </a:solidFill>
          <a:ln/>
        </p:spPr>
      </p:sp>
      <p:sp>
        <p:nvSpPr>
          <p:cNvPr id="15" name="s9-texto-14"/>
          <p:cNvSpPr txBox="1"/>
          <p:nvPr/>
        </p:nvSpPr>
        <p:spPr>
          <a:xfrm>
            <a:off x="1342572" y="2561688"/>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2</a:t>
            </a:r>
            <a:endParaRPr lang="en-US" sz="1440" dirty="0"/>
          </a:p>
        </p:txBody>
      </p:sp>
      <p:sp>
        <p:nvSpPr>
          <p:cNvPr id="16" name="s9-texto-15"/>
          <p:cNvSpPr txBox="1"/>
          <p:nvPr/>
        </p:nvSpPr>
        <p:spPr>
          <a:xfrm>
            <a:off x="1845322" y="2590253"/>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Aislamiento</a:t>
            </a:r>
            <a:endParaRPr lang="en-US" sz="1260" dirty="0"/>
          </a:p>
        </p:txBody>
      </p:sp>
      <p:sp>
        <p:nvSpPr>
          <p:cNvPr id="17" name="s9-texto-16"/>
          <p:cNvSpPr txBox="1"/>
          <p:nvPr/>
        </p:nvSpPr>
        <p:spPr>
          <a:xfrm>
            <a:off x="4427631" y="2590253"/>
            <a:ext cx="4496757"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Los agentes trabajan en app/; la app corre en contenedores</a:t>
            </a:r>
            <a:endParaRPr lang="en-US" sz="1260" dirty="0"/>
          </a:p>
        </p:txBody>
      </p:sp>
      <p:sp>
        <p:nvSpPr>
          <p:cNvPr id="18" name="s9-forma-17"/>
          <p:cNvSpPr/>
          <p:nvPr/>
        </p:nvSpPr>
        <p:spPr>
          <a:xfrm>
            <a:off x="1342572" y="2864481"/>
            <a:ext cx="9506551" cy="382776"/>
          </a:xfrm>
          <a:prstGeom prst="rect">
            <a:avLst/>
          </a:prstGeom>
          <a:ln/>
        </p:spPr>
      </p:sp>
      <p:sp>
        <p:nvSpPr>
          <p:cNvPr id="19" name="s9-forma-18"/>
          <p:cNvSpPr/>
          <p:nvPr/>
        </p:nvSpPr>
        <p:spPr>
          <a:xfrm>
            <a:off x="1342572" y="3241543"/>
            <a:ext cx="9506551" cy="5713"/>
          </a:xfrm>
          <a:prstGeom prst="rect">
            <a:avLst/>
          </a:prstGeom>
          <a:solidFill>
            <a:srgbClr val="C6BFAE"/>
          </a:solidFill>
          <a:ln/>
        </p:spPr>
      </p:sp>
      <p:sp>
        <p:nvSpPr>
          <p:cNvPr id="20" name="s9-texto-19"/>
          <p:cNvSpPr txBox="1"/>
          <p:nvPr/>
        </p:nvSpPr>
        <p:spPr>
          <a:xfrm>
            <a:off x="1342572" y="2944464"/>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3</a:t>
            </a:r>
            <a:endParaRPr lang="en-US" sz="1440" dirty="0"/>
          </a:p>
        </p:txBody>
      </p:sp>
      <p:sp>
        <p:nvSpPr>
          <p:cNvPr id="21" name="s9-texto-20"/>
          <p:cNvSpPr txBox="1"/>
          <p:nvPr/>
        </p:nvSpPr>
        <p:spPr>
          <a:xfrm>
            <a:off x="1845322" y="2973029"/>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Credenciales</a:t>
            </a:r>
            <a:endParaRPr lang="en-US" sz="1260" dirty="0"/>
          </a:p>
        </p:txBody>
      </p:sp>
      <p:sp>
        <p:nvSpPr>
          <p:cNvPr id="22" name="s9-texto-21"/>
          <p:cNvSpPr txBox="1"/>
          <p:nvPr/>
        </p:nvSpPr>
        <p:spPr>
          <a:xfrm>
            <a:off x="4427631" y="2973029"/>
            <a:ext cx="3525644"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.env fuera de Git y bloqueado para los agentes</a:t>
            </a:r>
            <a:endParaRPr lang="en-US" sz="1260" dirty="0"/>
          </a:p>
        </p:txBody>
      </p:sp>
      <p:sp>
        <p:nvSpPr>
          <p:cNvPr id="23" name="s9-forma-22"/>
          <p:cNvSpPr/>
          <p:nvPr/>
        </p:nvSpPr>
        <p:spPr>
          <a:xfrm>
            <a:off x="1342572" y="3247256"/>
            <a:ext cx="9506551" cy="382776"/>
          </a:xfrm>
          <a:prstGeom prst="rect">
            <a:avLst/>
          </a:prstGeom>
          <a:ln/>
        </p:spPr>
      </p:sp>
      <p:sp>
        <p:nvSpPr>
          <p:cNvPr id="24" name="s9-forma-23"/>
          <p:cNvSpPr/>
          <p:nvPr/>
        </p:nvSpPr>
        <p:spPr>
          <a:xfrm>
            <a:off x="1342572" y="3624319"/>
            <a:ext cx="9506551" cy="5713"/>
          </a:xfrm>
          <a:prstGeom prst="rect">
            <a:avLst/>
          </a:prstGeom>
          <a:solidFill>
            <a:srgbClr val="C6BFAE"/>
          </a:solidFill>
          <a:ln/>
        </p:spPr>
      </p:sp>
      <p:sp>
        <p:nvSpPr>
          <p:cNvPr id="25" name="s9-texto-24"/>
          <p:cNvSpPr txBox="1"/>
          <p:nvPr/>
        </p:nvSpPr>
        <p:spPr>
          <a:xfrm>
            <a:off x="1342572" y="3327239"/>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4</a:t>
            </a:r>
            <a:endParaRPr lang="en-US" sz="1440" dirty="0"/>
          </a:p>
        </p:txBody>
      </p:sp>
      <p:sp>
        <p:nvSpPr>
          <p:cNvPr id="26" name="s9-texto-25"/>
          <p:cNvSpPr txBox="1"/>
          <p:nvPr/>
        </p:nvSpPr>
        <p:spPr>
          <a:xfrm>
            <a:off x="1845322" y="3355805"/>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Guardrails</a:t>
            </a:r>
            <a:endParaRPr lang="en-US" sz="1260" dirty="0"/>
          </a:p>
        </p:txBody>
      </p:sp>
      <p:sp>
        <p:nvSpPr>
          <p:cNvPr id="27" name="s9-texto-26"/>
          <p:cNvSpPr txBox="1"/>
          <p:nvPr/>
        </p:nvSpPr>
        <p:spPr>
          <a:xfrm>
            <a:off x="4427631" y="3355805"/>
            <a:ext cx="3788979"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Filtro de la historia y validadores de cada artefacto</a:t>
            </a:r>
            <a:endParaRPr lang="en-US" sz="1260" dirty="0"/>
          </a:p>
        </p:txBody>
      </p:sp>
      <p:sp>
        <p:nvSpPr>
          <p:cNvPr id="28" name="s9-forma-27"/>
          <p:cNvSpPr/>
          <p:nvPr/>
        </p:nvSpPr>
        <p:spPr>
          <a:xfrm>
            <a:off x="1342572" y="3630032"/>
            <a:ext cx="9506551" cy="382776"/>
          </a:xfrm>
          <a:prstGeom prst="rect">
            <a:avLst/>
          </a:prstGeom>
          <a:ln/>
        </p:spPr>
      </p:sp>
      <p:sp>
        <p:nvSpPr>
          <p:cNvPr id="29" name="s9-forma-28"/>
          <p:cNvSpPr/>
          <p:nvPr/>
        </p:nvSpPr>
        <p:spPr>
          <a:xfrm>
            <a:off x="1342572" y="4007095"/>
            <a:ext cx="9506551" cy="5713"/>
          </a:xfrm>
          <a:prstGeom prst="rect">
            <a:avLst/>
          </a:prstGeom>
          <a:solidFill>
            <a:srgbClr val="C6BFAE"/>
          </a:solidFill>
          <a:ln/>
        </p:spPr>
      </p:sp>
      <p:sp>
        <p:nvSpPr>
          <p:cNvPr id="30" name="s9-texto-29"/>
          <p:cNvSpPr txBox="1"/>
          <p:nvPr/>
        </p:nvSpPr>
        <p:spPr>
          <a:xfrm>
            <a:off x="1342572" y="3710015"/>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5</a:t>
            </a:r>
            <a:endParaRPr lang="en-US" sz="1440" dirty="0"/>
          </a:p>
        </p:txBody>
      </p:sp>
      <p:sp>
        <p:nvSpPr>
          <p:cNvPr id="31" name="s9-texto-30"/>
          <p:cNvSpPr txBox="1"/>
          <p:nvPr/>
        </p:nvSpPr>
        <p:spPr>
          <a:xfrm>
            <a:off x="1845322" y="3738581"/>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Humano en el bucle</a:t>
            </a:r>
            <a:endParaRPr lang="en-US" sz="1260" dirty="0"/>
          </a:p>
        </p:txBody>
      </p:sp>
      <p:sp>
        <p:nvSpPr>
          <p:cNvPr id="32" name="s9-texto-31"/>
          <p:cNvSpPr txBox="1"/>
          <p:nvPr/>
        </p:nvSpPr>
        <p:spPr>
          <a:xfrm>
            <a:off x="4427631" y="3738581"/>
            <a:ext cx="3582039"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Aprobación del plan y de las preguntas abiertas</a:t>
            </a:r>
            <a:endParaRPr lang="en-US" sz="1260" dirty="0"/>
          </a:p>
        </p:txBody>
      </p:sp>
      <p:sp>
        <p:nvSpPr>
          <p:cNvPr id="33" name="s9-forma-32"/>
          <p:cNvSpPr/>
          <p:nvPr/>
        </p:nvSpPr>
        <p:spPr>
          <a:xfrm>
            <a:off x="1342572" y="4012808"/>
            <a:ext cx="9506551" cy="382776"/>
          </a:xfrm>
          <a:prstGeom prst="rect">
            <a:avLst/>
          </a:prstGeom>
          <a:ln/>
        </p:spPr>
      </p:sp>
      <p:sp>
        <p:nvSpPr>
          <p:cNvPr id="34" name="s9-forma-33"/>
          <p:cNvSpPr/>
          <p:nvPr/>
        </p:nvSpPr>
        <p:spPr>
          <a:xfrm>
            <a:off x="1342572" y="4389871"/>
            <a:ext cx="9506551" cy="5713"/>
          </a:xfrm>
          <a:prstGeom prst="rect">
            <a:avLst/>
          </a:prstGeom>
          <a:solidFill>
            <a:srgbClr val="C6BFAE"/>
          </a:solidFill>
          <a:ln/>
        </p:spPr>
      </p:sp>
      <p:sp>
        <p:nvSpPr>
          <p:cNvPr id="35" name="s9-texto-34"/>
          <p:cNvSpPr txBox="1"/>
          <p:nvPr/>
        </p:nvSpPr>
        <p:spPr>
          <a:xfrm>
            <a:off x="1342572" y="4092791"/>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6</a:t>
            </a:r>
            <a:endParaRPr lang="en-US" sz="1440" dirty="0"/>
          </a:p>
        </p:txBody>
      </p:sp>
      <p:sp>
        <p:nvSpPr>
          <p:cNvPr id="36" name="s9-texto-35"/>
          <p:cNvSpPr txBox="1"/>
          <p:nvPr/>
        </p:nvSpPr>
        <p:spPr>
          <a:xfrm>
            <a:off x="1845322" y="4121356"/>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Auditoría</a:t>
            </a:r>
            <a:endParaRPr lang="en-US" sz="1260" dirty="0"/>
          </a:p>
        </p:txBody>
      </p:sp>
      <p:sp>
        <p:nvSpPr>
          <p:cNvPr id="37" name="s9-texto-36"/>
          <p:cNvSpPr txBox="1"/>
          <p:nvPr/>
        </p:nvSpPr>
        <p:spPr>
          <a:xfrm>
            <a:off x="4427631" y="4121356"/>
            <a:ext cx="3987403"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Cada llamada a herramienta queda en auditoria.jsonl</a:t>
            </a:r>
            <a:endParaRPr lang="en-US" sz="1260" dirty="0"/>
          </a:p>
        </p:txBody>
      </p:sp>
      <p:sp>
        <p:nvSpPr>
          <p:cNvPr id="38" name="s9-texto-37"/>
          <p:cNvSpPr txBox="1"/>
          <p:nvPr/>
        </p:nvSpPr>
        <p:spPr>
          <a:xfrm>
            <a:off x="1342572" y="4475567"/>
            <a:ext cx="365637" cy="217097"/>
          </a:xfrm>
          <a:prstGeom prst="rect">
            <a:avLst/>
          </a:prstGeom>
          <a:noFill/>
          <a:ln/>
        </p:spPr>
        <p:txBody>
          <a:bodyPr wrap="none" lIns="0" tIns="0" rIns="0" bIns="0" rtlCol="0" anchor="t"/>
          <a:lstStyle/>
          <a:p>
            <a:pPr algn="l" indent="0" marL="0">
              <a:lnSpc>
                <a:spcPts val="1727"/>
              </a:lnSpc>
              <a:buNone/>
            </a:pPr>
            <a:r>
              <a:rPr lang="en-US" sz="1440" b="1" dirty="0">
                <a:solidFill>
                  <a:srgbClr val="984514"/>
                </a:solidFill>
                <a:latin typeface="Georgia" pitchFamily="34" charset="0"/>
                <a:ea typeface="Georgia" pitchFamily="34" charset="-122"/>
                <a:cs typeface="Georgia" pitchFamily="34" charset="-120"/>
              </a:rPr>
              <a:t>7</a:t>
            </a:r>
            <a:endParaRPr lang="en-US" sz="1440" dirty="0"/>
          </a:p>
        </p:txBody>
      </p:sp>
      <p:sp>
        <p:nvSpPr>
          <p:cNvPr id="39" name="s9-texto-38"/>
          <p:cNvSpPr txBox="1"/>
          <p:nvPr/>
        </p:nvSpPr>
        <p:spPr>
          <a:xfrm>
            <a:off x="1845322" y="4504132"/>
            <a:ext cx="2543460" cy="177105"/>
          </a:xfrm>
          <a:prstGeom prst="rect">
            <a:avLst/>
          </a:prstGeom>
          <a:noFill/>
          <a:ln/>
        </p:spPr>
        <p:txBody>
          <a:bodyPr wrap="none" lIns="0" tIns="0" rIns="0" bIns="0" rtlCol="0" anchor="t"/>
          <a:lstStyle/>
          <a:p>
            <a:pPr algn="l" indent="0" marL="0">
              <a:lnSpc>
                <a:spcPts val="1512"/>
              </a:lnSpc>
              <a:buNone/>
            </a:pPr>
            <a:r>
              <a:rPr lang="en-US" sz="1260" b="1" dirty="0">
                <a:solidFill>
                  <a:srgbClr val="16181D"/>
                </a:solidFill>
                <a:latin typeface="Arial" pitchFamily="34" charset="0"/>
                <a:ea typeface="Arial" pitchFamily="34" charset="-122"/>
                <a:cs typeface="Arial" pitchFamily="34" charset="-120"/>
              </a:rPr>
              <a:t>Límites</a:t>
            </a:r>
            <a:endParaRPr lang="en-US" sz="1260" dirty="0"/>
          </a:p>
        </p:txBody>
      </p:sp>
      <p:sp>
        <p:nvSpPr>
          <p:cNvPr id="40" name="s9-texto-39"/>
          <p:cNvSpPr txBox="1"/>
          <p:nvPr/>
        </p:nvSpPr>
        <p:spPr>
          <a:xfrm>
            <a:off x="4427631" y="4504132"/>
            <a:ext cx="3157561" cy="177105"/>
          </a:xfrm>
          <a:prstGeom prst="rect">
            <a:avLst/>
          </a:prstGeom>
          <a:noFill/>
          <a:ln/>
        </p:spPr>
        <p:txBody>
          <a:bodyPr wrap="none" lIns="0" tIns="0" rIns="0" bIns="0" rtlCol="0" anchor="t"/>
          <a:lstStyle/>
          <a:p>
            <a:pPr algn="l" indent="0" marL="0">
              <a:lnSpc>
                <a:spcPts val="1512"/>
              </a:lnSpc>
              <a:buNone/>
            </a:pPr>
            <a:r>
              <a:rPr lang="en-US" sz="1260" dirty="0">
                <a:solidFill>
                  <a:srgbClr val="585E6F"/>
                </a:solidFill>
                <a:latin typeface="Arial" pitchFamily="34" charset="0"/>
                <a:ea typeface="Arial" pitchFamily="34" charset="-122"/>
                <a:cs typeface="Arial" pitchFamily="34" charset="-120"/>
              </a:rPr>
              <a:t>Pasos, intentos, ciclos y max_budget_usd</a:t>
            </a:r>
            <a:endParaRPr lang="en-US" sz="1260" dirty="0"/>
          </a:p>
        </p:txBody>
      </p:sp>
      <p:sp>
        <p:nvSpPr>
          <p:cNvPr id="41" name="s9-texto-40"/>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Las capas 1, 3 y 6 viven en seguridad/hooks.py · DEFENSAS=0 apaga las de seguridad, solo en clase</a:t>
            </a:r>
            <a:endParaRPr lang="en-US" sz="1080" dirty="0"/>
          </a:p>
        </p:txBody>
      </p:sp>
      <p:sp>
        <p:nvSpPr>
          <p:cNvPr id="42" name="s9-forma-41"/>
          <p:cNvSpPr/>
          <p:nvPr/>
        </p:nvSpPr>
        <p:spPr>
          <a:xfrm>
            <a:off x="853390" y="6411138"/>
            <a:ext cx="10484915" cy="5713"/>
          </a:xfrm>
          <a:prstGeom prst="rect">
            <a:avLst/>
          </a:prstGeom>
          <a:solidFill>
            <a:srgbClr val="DBD4C4"/>
          </a:solidFill>
          <a:ln/>
        </p:spPr>
      </p:sp>
      <p:pic>
        <p:nvPicPr>
          <p:cNvPr id="43" name="s9-logo-42"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44" name="s9-forma-43"/>
          <p:cNvSpPr/>
          <p:nvPr/>
        </p:nvSpPr>
        <p:spPr>
          <a:xfrm>
            <a:off x="1659380" y="6519865"/>
            <a:ext cx="3578704" cy="102835"/>
          </a:xfrm>
          <a:prstGeom prst="rect">
            <a:avLst/>
          </a:prstGeom>
          <a:ln/>
        </p:spPr>
      </p:sp>
      <p:sp>
        <p:nvSpPr>
          <p:cNvPr id="45" name="s9-forma-44"/>
          <p:cNvSpPr/>
          <p:nvPr/>
        </p:nvSpPr>
        <p:spPr>
          <a:xfrm>
            <a:off x="1659380" y="6519865"/>
            <a:ext cx="5713" cy="102835"/>
          </a:xfrm>
          <a:prstGeom prst="rect">
            <a:avLst/>
          </a:prstGeom>
          <a:solidFill>
            <a:srgbClr val="C6BFAE"/>
          </a:solidFill>
          <a:ln/>
        </p:spPr>
      </p:sp>
      <p:sp>
        <p:nvSpPr>
          <p:cNvPr id="46" name="s9-texto-45"/>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47" name="s9-texto-46"/>
          <p:cNvSpPr txBox="1"/>
          <p:nvPr/>
        </p:nvSpPr>
        <p:spPr>
          <a:xfrm>
            <a:off x="10941157" y="6517008"/>
            <a:ext cx="442852"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9 / 22</a:t>
            </a:r>
            <a:endParaRPr lang="en-US" sz="745" dirty="0"/>
          </a:p>
        </p:txBody>
      </p:sp>
      <p:sp>
        <p:nvSpPr>
          <p:cNvPr id="48" name="s9-forma-47"/>
          <p:cNvSpPr/>
          <p:nvPr/>
        </p:nvSpPr>
        <p:spPr>
          <a:xfrm>
            <a:off x="0" y="0"/>
            <a:ext cx="4987512" cy="17139"/>
          </a:xfrm>
          <a:prstGeom prst="rect">
            <a:avLst/>
          </a:prstGeom>
          <a:solidFill>
            <a:srgbClr val="0033A0"/>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sp>
      <p:sp>
        <p:nvSpPr>
          <p:cNvPr id="3" name="s10-forma-2"/>
          <p:cNvSpPr/>
          <p:nvPr/>
        </p:nvSpPr>
        <p:spPr>
          <a:xfrm>
            <a:off x="853390" y="331715"/>
            <a:ext cx="81411" cy="81411"/>
          </a:xfrm>
          <a:prstGeom prst="ellipse">
            <a:avLst/>
          </a:prstGeom>
          <a:solidFill>
            <a:srgbClr val="0033A0"/>
          </a:solidFill>
          <a:ln/>
        </p:spPr>
      </p:sp>
      <p:sp>
        <p:nvSpPr>
          <p:cNvPr id="4" name="s10-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0:30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SEGURIDAD/HOOKS.PY</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Un hook bloquea antes de actuar</a:t>
            </a:r>
            <a:endParaRPr lang="en-US" sz="2879" dirty="0"/>
          </a:p>
        </p:txBody>
      </p:sp>
      <p:sp>
        <p:nvSpPr>
          <p:cNvPr id="8" name="s10-forma-7"/>
          <p:cNvSpPr/>
          <p:nvPr/>
        </p:nvSpPr>
        <p:spPr>
          <a:xfrm>
            <a:off x="1342572" y="2098929"/>
            <a:ext cx="9506551" cy="3050780"/>
          </a:xfrm>
          <a:prstGeom prst="rect">
            <a:avLst/>
          </a:prstGeom>
          <a:solidFill>
            <a:srgbClr val="E8E2D5"/>
          </a:solidFill>
          <a:ln/>
        </p:spPr>
      </p:sp>
      <p:sp>
        <p:nvSpPr>
          <p:cNvPr id="9" name="s10-forma-8"/>
          <p:cNvSpPr/>
          <p:nvPr/>
        </p:nvSpPr>
        <p:spPr>
          <a:xfrm>
            <a:off x="1342572" y="2098929"/>
            <a:ext cx="9506551" cy="5713"/>
          </a:xfrm>
          <a:prstGeom prst="rect">
            <a:avLst/>
          </a:prstGeom>
          <a:solidFill>
            <a:srgbClr val="DBD4C4"/>
          </a:solidFill>
          <a:ln/>
        </p:spPr>
      </p:sp>
      <p:sp>
        <p:nvSpPr>
          <p:cNvPr id="10" name="s10-forma-9"/>
          <p:cNvSpPr/>
          <p:nvPr/>
        </p:nvSpPr>
        <p:spPr>
          <a:xfrm>
            <a:off x="1342572" y="5143996"/>
            <a:ext cx="9506551" cy="5713"/>
          </a:xfrm>
          <a:prstGeom prst="rect">
            <a:avLst/>
          </a:prstGeom>
          <a:solidFill>
            <a:srgbClr val="DBD4C4"/>
          </a:solidFill>
          <a:ln/>
        </p:spPr>
      </p:sp>
      <p:sp>
        <p:nvSpPr>
          <p:cNvPr id="11" name="s10-forma-10"/>
          <p:cNvSpPr/>
          <p:nvPr/>
        </p:nvSpPr>
        <p:spPr>
          <a:xfrm>
            <a:off x="1342572" y="2098929"/>
            <a:ext cx="17139" cy="3050780"/>
          </a:xfrm>
          <a:prstGeom prst="rect">
            <a:avLst/>
          </a:prstGeom>
          <a:solidFill>
            <a:srgbClr val="C6BFAE"/>
          </a:solidFill>
          <a:ln/>
        </p:spPr>
      </p:sp>
      <p:sp>
        <p:nvSpPr>
          <p:cNvPr id="12" name="s10-forma-11"/>
          <p:cNvSpPr/>
          <p:nvPr/>
        </p:nvSpPr>
        <p:spPr>
          <a:xfrm>
            <a:off x="10843410" y="2098929"/>
            <a:ext cx="5713" cy="3050780"/>
          </a:xfrm>
          <a:prstGeom prst="rect">
            <a:avLst/>
          </a:prstGeom>
          <a:solidFill>
            <a:srgbClr val="DBD4C4"/>
          </a:solidFill>
          <a:ln/>
        </p:spPr>
      </p:sp>
      <p:sp>
        <p:nvSpPr>
          <p:cNvPr id="13" name="s10-texto-12"/>
          <p:cNvSpPr txBox="1"/>
          <p:nvPr/>
        </p:nvSpPr>
        <p:spPr>
          <a:xfrm>
            <a:off x="1588234" y="2310313"/>
            <a:ext cx="9568253" cy="2622300"/>
          </a:xfrm>
          <a:prstGeom prst="rect">
            <a:avLst/>
          </a:prstGeom>
          <a:noFill/>
          <a:ln/>
        </p:spPr>
        <p:txBody>
          <a:bodyPr wrap="square" lIns="0" tIns="0" rIns="0" bIns="0" rtlCol="0" anchor="t"/>
          <a:lstStyle/>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def comandos_permitidos(base: Path, programas: set[str]):</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async def hook(input_data, tool_use_id, context):</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comando = input_data["tool_input"].get("command", "")</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if "`" in comando or "$(" in comando:</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return _denegar(input_data, "Sustitución de comandos no permitida")</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if any(p in comando.lower() for p in PALABRAS_SECRETAS):</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return _denegar(input_data, "El comando menciona secretos")</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for tramo in re.split(r"&amp;&amp;|\|\||;|\|", comando):</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partes = tramo.strip().split()</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if partes and partes[0] not in programas:</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return _denegar(input_data, f"Programa no permitido: {partes[0]}")</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return {}</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    return hook</a:t>
            </a:r>
            <a:endParaRPr lang="en-US" sz="1080" dirty="0"/>
          </a:p>
        </p:txBody>
      </p:sp>
      <p:sp>
        <p:nvSpPr>
          <p:cNvPr id="14" name="s10-texto-13"/>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Pregunta: ¿por qué esto es más confiable que una frase en el prompt?</a:t>
            </a:r>
            <a:endParaRPr lang="en-US" sz="1080" dirty="0"/>
          </a:p>
        </p:txBody>
      </p:sp>
      <p:sp>
        <p:nvSpPr>
          <p:cNvPr id="15" name="s10-forma-14"/>
          <p:cNvSpPr/>
          <p:nvPr/>
        </p:nvSpPr>
        <p:spPr>
          <a:xfrm>
            <a:off x="853390" y="6411138"/>
            <a:ext cx="10484915" cy="5713"/>
          </a:xfrm>
          <a:prstGeom prst="rect">
            <a:avLst/>
          </a:prstGeom>
          <a:solidFill>
            <a:srgbClr val="DBD4C4"/>
          </a:solidFill>
          <a:ln/>
        </p:spPr>
      </p:sp>
      <p:pic>
        <p:nvPicPr>
          <p:cNvPr id="16" name="s10-logo-15"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7" name="s10-forma-16"/>
          <p:cNvSpPr/>
          <p:nvPr/>
        </p:nvSpPr>
        <p:spPr>
          <a:xfrm>
            <a:off x="1659380" y="6519865"/>
            <a:ext cx="3578704" cy="102835"/>
          </a:xfrm>
          <a:prstGeom prst="rect">
            <a:avLst/>
          </a:prstGeom>
          <a:ln/>
        </p:spPr>
      </p:sp>
      <p:sp>
        <p:nvSpPr>
          <p:cNvPr id="18" name="s10-forma-17"/>
          <p:cNvSpPr/>
          <p:nvPr/>
        </p:nvSpPr>
        <p:spPr>
          <a:xfrm>
            <a:off x="1659380" y="6519865"/>
            <a:ext cx="5713" cy="102835"/>
          </a:xfrm>
          <a:prstGeom prst="rect">
            <a:avLst/>
          </a:prstGeom>
          <a:solidFill>
            <a:srgbClr val="C6BFAE"/>
          </a:solidFill>
          <a:ln/>
        </p:spPr>
      </p:sp>
      <p:sp>
        <p:nvSpPr>
          <p:cNvPr id="19" name="s10-texto-18"/>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20" name="s10-texto-19"/>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10 / 22</a:t>
            </a:r>
            <a:endParaRPr lang="en-US" sz="745" dirty="0"/>
          </a:p>
        </p:txBody>
      </p:sp>
      <p:sp>
        <p:nvSpPr>
          <p:cNvPr id="21" name="s10-forma-20"/>
          <p:cNvSpPr/>
          <p:nvPr/>
        </p:nvSpPr>
        <p:spPr>
          <a:xfrm>
            <a:off x="0" y="0"/>
            <a:ext cx="5541680" cy="17139"/>
          </a:xfrm>
          <a:prstGeom prst="rect">
            <a:avLst/>
          </a:prstGeom>
          <a:solidFill>
            <a:srgbClr val="0033A0"/>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p:bgPr>
    </p:bg>
    <p:spTree>
      <p:nvGrpSpPr>
        <p:cNvPr id="1" name=""/>
        <p:cNvGrpSpPr/>
        <p:nvPr/>
      </p:nvGrpSpPr>
      <p:grpSpPr>
        <a:xfrm>
          <a:off x="0" y="0"/>
          <a:ext cx="0" cy="0"/>
          <a:chOff x="0" y="0"/>
          <a:chExt cx="0" cy="0"/>
        </a:xfrm>
      </p:grpSpPr>
      <p:sp>
        <p:nvSpPr>
          <p:cNvPr id="2" name="s11-forma-1"/>
          <p:cNvSpPr/>
          <p:nvPr/>
        </p:nvSpPr>
        <p:spPr>
          <a:xfrm>
            <a:off x="853390" y="331715"/>
            <a:ext cx="81411" cy="81411"/>
          </a:xfrm>
          <a:prstGeom prst="ellipse">
            <a:avLst/>
          </a:prstGeom>
          <a:solidFill>
            <a:srgbClr val="0033A0"/>
          </a:solidFill>
          <a:ln/>
        </p:spPr>
      </p:sp>
      <p:sp>
        <p:nvSpPr>
          <p:cNvPr id="3" name="s11-texto-2"/>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1-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0:45 · 10 min</a:t>
            </a:r>
            <a:endParaRPr lang="en-US" sz="807" dirty="0"/>
          </a:p>
        </p:txBody>
      </p:sp>
      <p:sp>
        <p:nvSpPr>
          <p:cNvPr id="5" name="s11-texto-4"/>
          <p:cNvSpPr txBox="1"/>
          <p:nvPr/>
        </p:nvSpPr>
        <p:spPr>
          <a:xfrm>
            <a:off x="853390" y="267987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BLOQUE 4.3</a:t>
            </a:r>
            <a:endParaRPr lang="en-US" sz="869" dirty="0"/>
          </a:p>
        </p:txBody>
      </p:sp>
      <p:sp>
        <p:nvSpPr>
          <p:cNvPr id="6" name="s11-forma-5"/>
          <p:cNvSpPr/>
          <p:nvPr/>
        </p:nvSpPr>
        <p:spPr>
          <a:xfrm>
            <a:off x="853390" y="3768306"/>
            <a:ext cx="722704" cy="22852"/>
          </a:xfrm>
          <a:prstGeom prst="rect">
            <a:avLst/>
          </a:prstGeom>
          <a:solidFill>
            <a:srgbClr val="0033A0"/>
          </a:solidFill>
          <a:ln/>
        </p:spPr>
      </p:sp>
      <p:sp>
        <p:nvSpPr>
          <p:cNvPr id="7" name="s11-texto-6"/>
          <p:cNvSpPr txBox="1"/>
          <p:nvPr/>
        </p:nvSpPr>
        <p:spPr>
          <a:xfrm>
            <a:off x="853390" y="2960889"/>
            <a:ext cx="7149222" cy="634151"/>
          </a:xfrm>
          <a:prstGeom prst="rect">
            <a:avLst/>
          </a:prstGeom>
          <a:noFill/>
          <a:ln/>
        </p:spPr>
        <p:txBody>
          <a:bodyPr wrap="non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El flujo end to end</a:t>
            </a:r>
            <a:endParaRPr lang="en-US" sz="4242" dirty="0"/>
          </a:p>
        </p:txBody>
      </p:sp>
      <p:sp>
        <p:nvSpPr>
          <p:cNvPr id="8" name="s11-texto-7"/>
          <p:cNvSpPr txBox="1"/>
          <p:nvPr/>
        </p:nvSpPr>
        <p:spPr>
          <a:xfrm>
            <a:off x="853390" y="3969960"/>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Si una prueba falla, el triage decide quién corrige.</a:t>
            </a:r>
            <a:endParaRPr lang="en-US" sz="1676" dirty="0"/>
          </a:p>
        </p:txBody>
      </p:sp>
      <p:pic>
        <p:nvPicPr>
          <p:cNvPr id="9" name="s11-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11-forma-9"/>
          <p:cNvSpPr/>
          <p:nvPr/>
        </p:nvSpPr>
        <p:spPr>
          <a:xfrm>
            <a:off x="1659380" y="6519865"/>
            <a:ext cx="3578704" cy="102835"/>
          </a:xfrm>
          <a:prstGeom prst="rect">
            <a:avLst/>
          </a:prstGeom>
          <a:ln/>
        </p:spPr>
      </p:sp>
      <p:sp>
        <p:nvSpPr>
          <p:cNvPr id="11" name="s11-forma-10"/>
          <p:cNvSpPr/>
          <p:nvPr/>
        </p:nvSpPr>
        <p:spPr>
          <a:xfrm>
            <a:off x="1659380" y="6519865"/>
            <a:ext cx="5713" cy="102835"/>
          </a:xfrm>
          <a:prstGeom prst="rect">
            <a:avLst/>
          </a:prstGeom>
          <a:solidFill>
            <a:srgbClr val="C6BFAE"/>
          </a:solidFill>
          <a:ln/>
        </p:spPr>
      </p:sp>
      <p:sp>
        <p:nvSpPr>
          <p:cNvPr id="12" name="s11-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11-texto-1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11 / 22</a:t>
            </a:r>
            <a:endParaRPr lang="en-US" sz="745" dirty="0"/>
          </a:p>
        </p:txBody>
      </p:sp>
      <p:sp>
        <p:nvSpPr>
          <p:cNvPr id="14" name="s11-forma-13"/>
          <p:cNvSpPr/>
          <p:nvPr/>
        </p:nvSpPr>
        <p:spPr>
          <a:xfrm>
            <a:off x="0" y="0"/>
            <a:ext cx="6095848" cy="17139"/>
          </a:xfrm>
          <a:prstGeom prst="rect">
            <a:avLst/>
          </a:prstGeom>
          <a:solidFill>
            <a:srgbClr val="0033A0"/>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p:bgPr>
    </p:bg>
    <p:spTree>
      <p:nvGrpSpPr>
        <p:cNvPr id="1" name=""/>
        <p:cNvGrpSpPr/>
        <p:nvPr/>
      </p:nvGrpSpPr>
      <p:grpSpPr>
        <a:xfrm>
          <a:off x="0" y="0"/>
          <a:ext cx="0" cy="0"/>
          <a:chOff x="0" y="0"/>
          <a:chExt cx="0" cy="0"/>
        </a:xfrm>
      </p:grpSpPr>
      <p:sp>
        <p:nvSpPr>
          <p:cNvPr id="2" name="s12-forma-1"/>
          <p:cNvSpPr/>
          <p:nvPr/>
        </p:nvSpPr>
        <p:spPr>
          <a:xfrm>
            <a:off x="853390" y="520961"/>
            <a:ext cx="10484915" cy="5713"/>
          </a:xfrm>
          <a:prstGeom prst="rect">
            <a:avLst/>
          </a:prstGeom>
          <a:solidFill>
            <a:srgbClr val="C6BFAE"/>
          </a:solidFill>
          <a:ln/>
        </p:spPr>
      </p:sp>
      <p:sp>
        <p:nvSpPr>
          <p:cNvPr id="3" name="s12-forma-2"/>
          <p:cNvSpPr/>
          <p:nvPr/>
        </p:nvSpPr>
        <p:spPr>
          <a:xfrm>
            <a:off x="853390" y="331715"/>
            <a:ext cx="81411" cy="81411"/>
          </a:xfrm>
          <a:prstGeom prst="ellipse">
            <a:avLst/>
          </a:prstGeom>
          <a:solidFill>
            <a:srgbClr val="0033A0"/>
          </a:solidFill>
          <a:ln/>
        </p:spPr>
      </p:sp>
      <p:sp>
        <p:nvSpPr>
          <p:cNvPr id="4" name="s12-texto-3"/>
          <p:cNvSpPr txBox="1"/>
          <p:nvPr/>
        </p:nvSpPr>
        <p:spPr>
          <a:xfrm>
            <a:off x="1007018" y="315290"/>
            <a:ext cx="450619"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2-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0:45 · 10 min</a:t>
            </a:r>
            <a:endParaRPr lang="en-US" sz="807" dirty="0"/>
          </a:p>
        </p:txBody>
      </p:sp>
      <p:sp>
        <p:nvSpPr>
          <p:cNvPr id="6" name="s12-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4.3 · AGENTE 6 · FLUJO END TO END</a:t>
            </a:r>
            <a:endParaRPr lang="en-US" sz="900" dirty="0"/>
          </a:p>
        </p:txBody>
      </p:sp>
      <p:sp>
        <p:nvSpPr>
          <p:cNvPr id="7" name="s12-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Si una prueba falla, el triage decide</a:t>
            </a:r>
            <a:endParaRPr lang="en-US" sz="2879" dirty="0"/>
          </a:p>
        </p:txBody>
      </p:sp>
      <p:sp>
        <p:nvSpPr>
          <p:cNvPr id="8" name="s12-forma-7"/>
          <p:cNvSpPr/>
          <p:nvPr/>
        </p:nvSpPr>
        <p:spPr>
          <a:xfrm>
            <a:off x="1342572" y="2228098"/>
            <a:ext cx="1828183" cy="628438"/>
          </a:xfrm>
          <a:prstGeom prst="rect">
            <a:avLst/>
          </a:prstGeom>
          <a:solidFill>
            <a:srgbClr val="E3DCCB"/>
          </a:solidFill>
          <a:ln w="5713">
            <a:solidFill>
              <a:srgbClr val="585E6F"/>
            </a:solidFill>
            <a:prstDash val="solid"/>
          </a:ln>
        </p:spPr>
      </p:sp>
      <p:sp>
        <p:nvSpPr>
          <p:cNvPr id="9" name="s12-texto-8"/>
          <p:cNvSpPr txBox="1"/>
          <p:nvPr/>
        </p:nvSpPr>
        <p:spPr>
          <a:xfrm>
            <a:off x="1931554" y="2359499"/>
            <a:ext cx="650130"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Reporte</a:t>
            </a:r>
            <a:endParaRPr lang="en-US" sz="1260" dirty="0"/>
          </a:p>
        </p:txBody>
      </p:sp>
      <p:sp>
        <p:nvSpPr>
          <p:cNvPr id="10" name="s12-texto-9"/>
          <p:cNvSpPr txBox="1"/>
          <p:nvPr/>
        </p:nvSpPr>
        <p:spPr>
          <a:xfrm>
            <a:off x="1644076" y="2565169"/>
            <a:ext cx="1225175"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LISTA o ESCALAR</a:t>
            </a:r>
            <a:endParaRPr lang="en-US" sz="1080" dirty="0"/>
          </a:p>
        </p:txBody>
      </p:sp>
      <p:sp>
        <p:nvSpPr>
          <p:cNvPr id="11" name="s12-forma-10"/>
          <p:cNvSpPr/>
          <p:nvPr/>
        </p:nvSpPr>
        <p:spPr>
          <a:xfrm>
            <a:off x="1342572" y="3484974"/>
            <a:ext cx="1828183" cy="685569"/>
          </a:xfrm>
          <a:prstGeom prst="rect">
            <a:avLst/>
          </a:prstGeom>
          <a:solidFill>
            <a:srgbClr val="DCE3F2"/>
          </a:solidFill>
          <a:ln w="5713">
            <a:solidFill>
              <a:srgbClr val="0033A0"/>
            </a:solidFill>
            <a:prstDash val="solid"/>
          </a:ln>
        </p:spPr>
      </p:sp>
      <p:sp>
        <p:nvSpPr>
          <p:cNvPr id="12" name="s12-texto-11"/>
          <p:cNvSpPr txBox="1"/>
          <p:nvPr/>
        </p:nvSpPr>
        <p:spPr>
          <a:xfrm>
            <a:off x="1738228" y="3644940"/>
            <a:ext cx="1036781"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Pruebas E2E</a:t>
            </a:r>
            <a:endParaRPr lang="en-US" sz="1260" dirty="0"/>
          </a:p>
        </p:txBody>
      </p:sp>
      <p:sp>
        <p:nvSpPr>
          <p:cNvPr id="13" name="s12-texto-12"/>
          <p:cNvSpPr txBox="1"/>
          <p:nvPr/>
        </p:nvSpPr>
        <p:spPr>
          <a:xfrm>
            <a:off x="1644738" y="3850610"/>
            <a:ext cx="1223851"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pytest + Playwright</a:t>
            </a:r>
            <a:endParaRPr lang="en-US" sz="1080" dirty="0"/>
          </a:p>
        </p:txBody>
      </p:sp>
      <p:sp>
        <p:nvSpPr>
          <p:cNvPr id="14" name="s12-forma-13"/>
          <p:cNvSpPr/>
          <p:nvPr/>
        </p:nvSpPr>
        <p:spPr>
          <a:xfrm>
            <a:off x="4153403" y="3484974"/>
            <a:ext cx="1828183" cy="685569"/>
          </a:xfrm>
          <a:prstGeom prst="rect">
            <a:avLst/>
          </a:prstGeom>
          <a:solidFill>
            <a:srgbClr val="E2D3C2"/>
          </a:solidFill>
          <a:ln w="5713">
            <a:solidFill>
              <a:srgbClr val="984514"/>
            </a:solidFill>
            <a:prstDash val="solid"/>
          </a:ln>
        </p:spPr>
      </p:sp>
      <p:sp>
        <p:nvSpPr>
          <p:cNvPr id="15" name="s12-texto-14"/>
          <p:cNvSpPr txBox="1"/>
          <p:nvPr/>
        </p:nvSpPr>
        <p:spPr>
          <a:xfrm>
            <a:off x="4808978" y="3644940"/>
            <a:ext cx="516944"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Triage</a:t>
            </a:r>
            <a:endParaRPr lang="en-US" sz="1260" dirty="0"/>
          </a:p>
        </p:txBody>
      </p:sp>
      <p:sp>
        <p:nvSpPr>
          <p:cNvPr id="16" name="s12-texto-15"/>
          <p:cNvSpPr txBox="1"/>
          <p:nvPr/>
        </p:nvSpPr>
        <p:spPr>
          <a:xfrm>
            <a:off x="4497868" y="3850610"/>
            <a:ext cx="1139163"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enruta, no corrige</a:t>
            </a:r>
            <a:endParaRPr lang="en-US" sz="1080" dirty="0"/>
          </a:p>
        </p:txBody>
      </p:sp>
      <p:sp>
        <p:nvSpPr>
          <p:cNvPr id="17" name="s12-forma-16"/>
          <p:cNvSpPr/>
          <p:nvPr/>
        </p:nvSpPr>
        <p:spPr>
          <a:xfrm>
            <a:off x="7466985" y="2399490"/>
            <a:ext cx="2056706" cy="628438"/>
          </a:xfrm>
          <a:prstGeom prst="rect">
            <a:avLst/>
          </a:prstGeom>
          <a:solidFill>
            <a:srgbClr val="E3DCCB"/>
          </a:solidFill>
          <a:ln w="5713">
            <a:solidFill>
              <a:srgbClr val="585E6F"/>
            </a:solidFill>
            <a:prstDash val="solid"/>
          </a:ln>
        </p:spPr>
      </p:sp>
      <p:sp>
        <p:nvSpPr>
          <p:cNvPr id="18" name="s12-texto-17"/>
          <p:cNvSpPr txBox="1"/>
          <p:nvPr/>
        </p:nvSpPr>
        <p:spPr>
          <a:xfrm>
            <a:off x="8197008" y="2530891"/>
            <a:ext cx="596570"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Código</a:t>
            </a:r>
            <a:endParaRPr lang="en-US" sz="1260" dirty="0"/>
          </a:p>
        </p:txBody>
      </p:sp>
      <p:sp>
        <p:nvSpPr>
          <p:cNvPr id="19" name="s12-texto-18"/>
          <p:cNvSpPr txBox="1"/>
          <p:nvPr/>
        </p:nvSpPr>
        <p:spPr>
          <a:xfrm>
            <a:off x="7970090" y="2736561"/>
            <a:ext cx="1050407"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agente 3 corrige</a:t>
            </a:r>
            <a:endParaRPr lang="en-US" sz="1080" dirty="0"/>
          </a:p>
        </p:txBody>
      </p:sp>
      <p:sp>
        <p:nvSpPr>
          <p:cNvPr id="20" name="s12-forma-19"/>
          <p:cNvSpPr/>
          <p:nvPr/>
        </p:nvSpPr>
        <p:spPr>
          <a:xfrm>
            <a:off x="7466985" y="3513539"/>
            <a:ext cx="2056706" cy="628438"/>
          </a:xfrm>
          <a:prstGeom prst="rect">
            <a:avLst/>
          </a:prstGeom>
          <a:solidFill>
            <a:srgbClr val="E3DCCB"/>
          </a:solidFill>
          <a:ln w="5713">
            <a:solidFill>
              <a:srgbClr val="585E6F"/>
            </a:solidFill>
            <a:prstDash val="solid"/>
          </a:ln>
        </p:spPr>
      </p:sp>
      <p:sp>
        <p:nvSpPr>
          <p:cNvPr id="21" name="s12-texto-20"/>
          <p:cNvSpPr txBox="1"/>
          <p:nvPr/>
        </p:nvSpPr>
        <p:spPr>
          <a:xfrm>
            <a:off x="8156838" y="3644940"/>
            <a:ext cx="676999"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Pruebas</a:t>
            </a:r>
            <a:endParaRPr lang="en-US" sz="1260" dirty="0"/>
          </a:p>
        </p:txBody>
      </p:sp>
      <p:sp>
        <p:nvSpPr>
          <p:cNvPr id="22" name="s12-texto-21"/>
          <p:cNvSpPr txBox="1"/>
          <p:nvPr/>
        </p:nvSpPr>
        <p:spPr>
          <a:xfrm>
            <a:off x="7970090" y="3850610"/>
            <a:ext cx="1050407"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agente 5 corrige</a:t>
            </a:r>
            <a:endParaRPr lang="en-US" sz="1080" dirty="0"/>
          </a:p>
        </p:txBody>
      </p:sp>
      <p:sp>
        <p:nvSpPr>
          <p:cNvPr id="23" name="s12-forma-22"/>
          <p:cNvSpPr/>
          <p:nvPr/>
        </p:nvSpPr>
        <p:spPr>
          <a:xfrm>
            <a:off x="7466985" y="4627588"/>
            <a:ext cx="2056706" cy="628438"/>
          </a:xfrm>
          <a:prstGeom prst="rect">
            <a:avLst/>
          </a:prstGeom>
          <a:solidFill>
            <a:srgbClr val="E3DCCB"/>
          </a:solidFill>
          <a:ln w="5713">
            <a:solidFill>
              <a:srgbClr val="585E6F"/>
            </a:solidFill>
            <a:prstDash val="solid"/>
          </a:ln>
        </p:spPr>
      </p:sp>
      <p:sp>
        <p:nvSpPr>
          <p:cNvPr id="24" name="s12-texto-23"/>
          <p:cNvSpPr txBox="1"/>
          <p:nvPr/>
        </p:nvSpPr>
        <p:spPr>
          <a:xfrm>
            <a:off x="8042949" y="4758989"/>
            <a:ext cx="904688" cy="177105"/>
          </a:xfrm>
          <a:prstGeom prst="rect">
            <a:avLst/>
          </a:prstGeom>
          <a:noFill/>
          <a:ln/>
        </p:spPr>
        <p:txBody>
          <a:bodyPr wrap="none" lIns="0" tIns="0" rIns="0" bIns="0" rtlCol="0" anchor="t"/>
          <a:lstStyle/>
          <a:p>
            <a:pPr algn="ctr" indent="0" marL="0">
              <a:lnSpc>
                <a:spcPts val="1512"/>
              </a:lnSpc>
              <a:buNone/>
            </a:pPr>
            <a:r>
              <a:rPr lang="en-US" sz="1260" b="1" dirty="0">
                <a:solidFill>
                  <a:srgbClr val="16181D"/>
                </a:solidFill>
                <a:latin typeface="Arial" pitchFamily="34" charset="0"/>
                <a:ea typeface="Arial" pitchFamily="34" charset="-122"/>
                <a:cs typeface="Arial" pitchFamily="34" charset="-120"/>
              </a:rPr>
              <a:t>Despliegue</a:t>
            </a:r>
            <a:endParaRPr lang="en-US" sz="1260" dirty="0"/>
          </a:p>
        </p:txBody>
      </p:sp>
      <p:sp>
        <p:nvSpPr>
          <p:cNvPr id="25" name="s12-texto-24"/>
          <p:cNvSpPr txBox="1"/>
          <p:nvPr/>
        </p:nvSpPr>
        <p:spPr>
          <a:xfrm>
            <a:off x="7970090" y="4964659"/>
            <a:ext cx="1050407" cy="154253"/>
          </a:xfrm>
          <a:prstGeom prst="rect">
            <a:avLst/>
          </a:prstGeom>
          <a:noFill/>
          <a:ln/>
        </p:spPr>
        <p:txBody>
          <a:bodyPr wrap="none" lIns="0" tIns="0" rIns="0" bIns="0" rtlCol="0" anchor="t"/>
          <a:lstStyle/>
          <a:p>
            <a:pPr algn="ctr" indent="0" marL="0">
              <a:lnSpc>
                <a:spcPts val="1296"/>
              </a:lnSpc>
              <a:buNone/>
            </a:pPr>
            <a:r>
              <a:rPr lang="en-US" sz="1080" dirty="0">
                <a:solidFill>
                  <a:srgbClr val="585E6F"/>
                </a:solidFill>
                <a:latin typeface="Arial" pitchFamily="34" charset="0"/>
                <a:ea typeface="Arial" pitchFamily="34" charset="-122"/>
                <a:cs typeface="Arial" pitchFamily="34" charset="-120"/>
              </a:rPr>
              <a:t>agente 4 corrige</a:t>
            </a:r>
            <a:endParaRPr lang="en-US" sz="1080" dirty="0"/>
          </a:p>
        </p:txBody>
      </p:sp>
      <p:sp>
        <p:nvSpPr>
          <p:cNvPr id="26" name="s12-texto-25"/>
          <p:cNvSpPr txBox="1"/>
          <p:nvPr/>
        </p:nvSpPr>
        <p:spPr>
          <a:xfrm>
            <a:off x="2348073" y="3062206"/>
            <a:ext cx="731273"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pasan</a:t>
            </a:r>
            <a:endParaRPr lang="en-US" sz="1080" dirty="0"/>
          </a:p>
        </p:txBody>
      </p:sp>
      <p:sp>
        <p:nvSpPr>
          <p:cNvPr id="27" name="s12-texto-26"/>
          <p:cNvSpPr txBox="1"/>
          <p:nvPr/>
        </p:nvSpPr>
        <p:spPr>
          <a:xfrm>
            <a:off x="3296442" y="3542105"/>
            <a:ext cx="847820"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fallan</a:t>
            </a:r>
            <a:endParaRPr lang="en-US" sz="1080" dirty="0"/>
          </a:p>
        </p:txBody>
      </p:sp>
      <p:sp>
        <p:nvSpPr>
          <p:cNvPr id="28" name="s12-texto-27"/>
          <p:cNvSpPr txBox="1"/>
          <p:nvPr/>
        </p:nvSpPr>
        <p:spPr>
          <a:xfrm>
            <a:off x="4153403" y="5233174"/>
            <a:ext cx="3391279" cy="154253"/>
          </a:xfrm>
          <a:prstGeom prst="rect">
            <a:avLst/>
          </a:prstGeom>
          <a:noFill/>
          <a:ln/>
        </p:spPr>
        <p:txBody>
          <a:bodyPr wrap="none" lIns="0" tIns="0" rIns="0" bIns="0" rtlCol="0" anchor="t"/>
          <a:lstStyle/>
          <a:p>
            <a:pPr algn="l" indent="0" marL="0">
              <a:lnSpc>
                <a:spcPts val="1296"/>
              </a:lnSpc>
              <a:buNone/>
            </a:pPr>
            <a:r>
              <a:rPr lang="en-US" sz="1080" dirty="0">
                <a:solidFill>
                  <a:srgbClr val="984514"/>
                </a:solidFill>
                <a:latin typeface="Arial" pitchFamily="34" charset="0"/>
                <a:ea typeface="Arial" pitchFamily="34" charset="-122"/>
                <a:cs typeface="Arial" pitchFamily="34" charset="-120"/>
              </a:rPr>
              <a:t>vuelve a probar · máximo 2 ciclos</a:t>
            </a:r>
            <a:endParaRPr lang="en-US" sz="1080" dirty="0"/>
          </a:p>
        </p:txBody>
      </p:sp>
      <p:sp>
        <p:nvSpPr>
          <p:cNvPr id="29" name="s12-texto-28"/>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flujos/flujo_s4.py · agentes/triage.py · el criterio de aceptación decide quién tiene razón</a:t>
            </a:r>
            <a:endParaRPr lang="en-US" sz="1080" dirty="0"/>
          </a:p>
        </p:txBody>
      </p:sp>
      <p:sp>
        <p:nvSpPr>
          <p:cNvPr id="30" name="s12-linea-29-0"/>
          <p:cNvSpPr/>
          <p:nvPr/>
        </p:nvSpPr>
        <p:spPr>
          <a:xfrm flipV="1">
            <a:off x="2256663" y="2856536"/>
            <a:ext cx="0" cy="628438"/>
          </a:xfrm>
          <a:prstGeom prst="line">
            <a:avLst/>
          </a:prstGeom>
          <a:noFill/>
          <a:ln w="17140">
            <a:solidFill>
              <a:srgbClr val="585E6F"/>
            </a:solidFill>
            <a:prstDash val="solid"/>
            <a:tailEnd type="triangle"/>
          </a:ln>
        </p:spPr>
      </p:sp>
      <p:sp>
        <p:nvSpPr>
          <p:cNvPr id="31" name="s12-linea-30-0"/>
          <p:cNvSpPr/>
          <p:nvPr/>
        </p:nvSpPr>
        <p:spPr>
          <a:xfrm>
            <a:off x="3170755" y="3827758"/>
            <a:ext cx="982648" cy="0"/>
          </a:xfrm>
          <a:prstGeom prst="line">
            <a:avLst/>
          </a:prstGeom>
          <a:noFill/>
          <a:ln w="17140">
            <a:solidFill>
              <a:srgbClr val="585E6F"/>
            </a:solidFill>
            <a:prstDash val="solid"/>
            <a:tailEnd type="triangle"/>
          </a:ln>
        </p:spPr>
      </p:sp>
      <p:sp>
        <p:nvSpPr>
          <p:cNvPr id="32" name="s12-linea-31-0"/>
          <p:cNvSpPr/>
          <p:nvPr/>
        </p:nvSpPr>
        <p:spPr>
          <a:xfrm>
            <a:off x="5981586" y="3827758"/>
            <a:ext cx="742699" cy="0"/>
          </a:xfrm>
          <a:prstGeom prst="line">
            <a:avLst/>
          </a:prstGeom>
          <a:noFill/>
          <a:ln w="17140">
            <a:solidFill>
              <a:srgbClr val="585E6F"/>
            </a:solidFill>
            <a:prstDash val="solid"/>
          </a:ln>
        </p:spPr>
      </p:sp>
      <p:sp>
        <p:nvSpPr>
          <p:cNvPr id="33" name="s12-linea-31-1"/>
          <p:cNvSpPr/>
          <p:nvPr/>
        </p:nvSpPr>
        <p:spPr>
          <a:xfrm flipV="1">
            <a:off x="6724285" y="2713709"/>
            <a:ext cx="0" cy="1114049"/>
          </a:xfrm>
          <a:prstGeom prst="line">
            <a:avLst/>
          </a:prstGeom>
          <a:noFill/>
          <a:ln w="17140">
            <a:solidFill>
              <a:srgbClr val="585E6F"/>
            </a:solidFill>
            <a:prstDash val="solid"/>
          </a:ln>
        </p:spPr>
      </p:sp>
      <p:sp>
        <p:nvSpPr>
          <p:cNvPr id="34" name="s12-linea-31-2"/>
          <p:cNvSpPr/>
          <p:nvPr/>
        </p:nvSpPr>
        <p:spPr>
          <a:xfrm>
            <a:off x="6724285" y="2713709"/>
            <a:ext cx="742699" cy="0"/>
          </a:xfrm>
          <a:prstGeom prst="line">
            <a:avLst/>
          </a:prstGeom>
          <a:noFill/>
          <a:ln w="17140">
            <a:solidFill>
              <a:srgbClr val="585E6F"/>
            </a:solidFill>
            <a:prstDash val="solid"/>
            <a:tailEnd type="triangle"/>
          </a:ln>
        </p:spPr>
      </p:sp>
      <p:sp>
        <p:nvSpPr>
          <p:cNvPr id="35" name="s12-linea-32-0"/>
          <p:cNvSpPr/>
          <p:nvPr/>
        </p:nvSpPr>
        <p:spPr>
          <a:xfrm>
            <a:off x="5981586" y="3827758"/>
            <a:ext cx="1485399" cy="0"/>
          </a:xfrm>
          <a:prstGeom prst="line">
            <a:avLst/>
          </a:prstGeom>
          <a:noFill/>
          <a:ln w="17140">
            <a:solidFill>
              <a:srgbClr val="585E6F"/>
            </a:solidFill>
            <a:prstDash val="solid"/>
            <a:tailEnd type="triangle"/>
          </a:ln>
        </p:spPr>
      </p:sp>
      <p:sp>
        <p:nvSpPr>
          <p:cNvPr id="36" name="s12-linea-33-0"/>
          <p:cNvSpPr/>
          <p:nvPr/>
        </p:nvSpPr>
        <p:spPr>
          <a:xfrm>
            <a:off x="5981586" y="3827758"/>
            <a:ext cx="742699" cy="0"/>
          </a:xfrm>
          <a:prstGeom prst="line">
            <a:avLst/>
          </a:prstGeom>
          <a:noFill/>
          <a:ln w="17140">
            <a:solidFill>
              <a:srgbClr val="585E6F"/>
            </a:solidFill>
            <a:prstDash val="solid"/>
          </a:ln>
        </p:spPr>
      </p:sp>
      <p:sp>
        <p:nvSpPr>
          <p:cNvPr id="37" name="s12-linea-33-1"/>
          <p:cNvSpPr/>
          <p:nvPr/>
        </p:nvSpPr>
        <p:spPr>
          <a:xfrm>
            <a:off x="6724285" y="3827758"/>
            <a:ext cx="0" cy="1114049"/>
          </a:xfrm>
          <a:prstGeom prst="line">
            <a:avLst/>
          </a:prstGeom>
          <a:noFill/>
          <a:ln w="17140">
            <a:solidFill>
              <a:srgbClr val="585E6F"/>
            </a:solidFill>
            <a:prstDash val="solid"/>
          </a:ln>
        </p:spPr>
      </p:sp>
      <p:sp>
        <p:nvSpPr>
          <p:cNvPr id="38" name="s12-linea-33-2"/>
          <p:cNvSpPr/>
          <p:nvPr/>
        </p:nvSpPr>
        <p:spPr>
          <a:xfrm>
            <a:off x="6724285" y="4941807"/>
            <a:ext cx="742699" cy="0"/>
          </a:xfrm>
          <a:prstGeom prst="line">
            <a:avLst/>
          </a:prstGeom>
          <a:noFill/>
          <a:ln w="17140">
            <a:solidFill>
              <a:srgbClr val="585E6F"/>
            </a:solidFill>
            <a:prstDash val="solid"/>
            <a:tailEnd type="triangle"/>
          </a:ln>
        </p:spPr>
      </p:sp>
      <p:sp>
        <p:nvSpPr>
          <p:cNvPr id="39" name="s12-linea-34-0"/>
          <p:cNvSpPr/>
          <p:nvPr/>
        </p:nvSpPr>
        <p:spPr>
          <a:xfrm>
            <a:off x="9523691" y="2713709"/>
            <a:ext cx="457046" cy="0"/>
          </a:xfrm>
          <a:prstGeom prst="line">
            <a:avLst/>
          </a:prstGeom>
          <a:noFill/>
          <a:ln w="17140">
            <a:solidFill>
              <a:srgbClr val="984514"/>
            </a:solidFill>
            <a:prstDash val="dash"/>
          </a:ln>
        </p:spPr>
      </p:sp>
      <p:sp>
        <p:nvSpPr>
          <p:cNvPr id="40" name="s12-linea-35-0"/>
          <p:cNvSpPr/>
          <p:nvPr/>
        </p:nvSpPr>
        <p:spPr>
          <a:xfrm>
            <a:off x="9523691" y="3827758"/>
            <a:ext cx="457046" cy="0"/>
          </a:xfrm>
          <a:prstGeom prst="line">
            <a:avLst/>
          </a:prstGeom>
          <a:noFill/>
          <a:ln w="17140">
            <a:solidFill>
              <a:srgbClr val="984514"/>
            </a:solidFill>
            <a:prstDash val="dash"/>
          </a:ln>
        </p:spPr>
      </p:sp>
      <p:sp>
        <p:nvSpPr>
          <p:cNvPr id="41" name="s12-linea-36-0"/>
          <p:cNvSpPr/>
          <p:nvPr/>
        </p:nvSpPr>
        <p:spPr>
          <a:xfrm>
            <a:off x="9523691" y="4941807"/>
            <a:ext cx="457046" cy="0"/>
          </a:xfrm>
          <a:prstGeom prst="line">
            <a:avLst/>
          </a:prstGeom>
          <a:noFill/>
          <a:ln w="17140">
            <a:solidFill>
              <a:srgbClr val="984514"/>
            </a:solidFill>
            <a:prstDash val="dash"/>
          </a:ln>
        </p:spPr>
      </p:sp>
      <p:sp>
        <p:nvSpPr>
          <p:cNvPr id="42" name="s12-linea-37-0"/>
          <p:cNvSpPr/>
          <p:nvPr/>
        </p:nvSpPr>
        <p:spPr>
          <a:xfrm>
            <a:off x="9980736" y="2713709"/>
            <a:ext cx="0" cy="2827971"/>
          </a:xfrm>
          <a:prstGeom prst="line">
            <a:avLst/>
          </a:prstGeom>
          <a:noFill/>
          <a:ln w="17140">
            <a:solidFill>
              <a:srgbClr val="984514"/>
            </a:solidFill>
            <a:prstDash val="dash"/>
          </a:ln>
        </p:spPr>
      </p:sp>
      <p:sp>
        <p:nvSpPr>
          <p:cNvPr id="43" name="s12-linea-38-0"/>
          <p:cNvSpPr/>
          <p:nvPr/>
        </p:nvSpPr>
        <p:spPr>
          <a:xfrm flipH="1">
            <a:off x="2256663" y="5541680"/>
            <a:ext cx="7724073" cy="0"/>
          </a:xfrm>
          <a:prstGeom prst="line">
            <a:avLst/>
          </a:prstGeom>
          <a:noFill/>
          <a:ln w="17140">
            <a:solidFill>
              <a:srgbClr val="984514"/>
            </a:solidFill>
            <a:prstDash val="dash"/>
          </a:ln>
        </p:spPr>
      </p:sp>
      <p:sp>
        <p:nvSpPr>
          <p:cNvPr id="44" name="s12-linea-39-0"/>
          <p:cNvSpPr/>
          <p:nvPr/>
        </p:nvSpPr>
        <p:spPr>
          <a:xfrm flipV="1">
            <a:off x="2256663" y="4170542"/>
            <a:ext cx="0" cy="1371137"/>
          </a:xfrm>
          <a:prstGeom prst="line">
            <a:avLst/>
          </a:prstGeom>
          <a:noFill/>
          <a:ln w="17140">
            <a:solidFill>
              <a:srgbClr val="984514"/>
            </a:solidFill>
            <a:prstDash val="dash"/>
            <a:tailEnd type="triangle"/>
          </a:ln>
        </p:spPr>
      </p:sp>
      <p:sp>
        <p:nvSpPr>
          <p:cNvPr id="45" name="s12-forma-40"/>
          <p:cNvSpPr/>
          <p:nvPr/>
        </p:nvSpPr>
        <p:spPr>
          <a:xfrm>
            <a:off x="853390" y="6411138"/>
            <a:ext cx="10484915" cy="5713"/>
          </a:xfrm>
          <a:prstGeom prst="rect">
            <a:avLst/>
          </a:prstGeom>
          <a:solidFill>
            <a:srgbClr val="DBD4C4"/>
          </a:solidFill>
          <a:ln/>
        </p:spPr>
      </p:sp>
      <p:pic>
        <p:nvPicPr>
          <p:cNvPr id="46" name="s12-logo-41"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47" name="s12-forma-42"/>
          <p:cNvSpPr/>
          <p:nvPr/>
        </p:nvSpPr>
        <p:spPr>
          <a:xfrm>
            <a:off x="1659380" y="6519865"/>
            <a:ext cx="3578704" cy="102835"/>
          </a:xfrm>
          <a:prstGeom prst="rect">
            <a:avLst/>
          </a:prstGeom>
          <a:ln/>
        </p:spPr>
      </p:sp>
      <p:sp>
        <p:nvSpPr>
          <p:cNvPr id="48" name="s12-forma-43"/>
          <p:cNvSpPr/>
          <p:nvPr/>
        </p:nvSpPr>
        <p:spPr>
          <a:xfrm>
            <a:off x="1659380" y="6519865"/>
            <a:ext cx="5713" cy="102835"/>
          </a:xfrm>
          <a:prstGeom prst="rect">
            <a:avLst/>
          </a:prstGeom>
          <a:solidFill>
            <a:srgbClr val="C6BFAE"/>
          </a:solidFill>
          <a:ln/>
        </p:spPr>
      </p:sp>
      <p:sp>
        <p:nvSpPr>
          <p:cNvPr id="49" name="s12-texto-44"/>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50" name="s12-texto-45"/>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12 / 22</a:t>
            </a:r>
            <a:endParaRPr lang="en-US" sz="745" dirty="0"/>
          </a:p>
        </p:txBody>
      </p:sp>
      <p:sp>
        <p:nvSpPr>
          <p:cNvPr id="51" name="s12-forma-46"/>
          <p:cNvSpPr/>
          <p:nvPr/>
        </p:nvSpPr>
        <p:spPr>
          <a:xfrm>
            <a:off x="0" y="0"/>
            <a:ext cx="6650016" cy="17139"/>
          </a:xfrm>
          <a:prstGeom prst="rect">
            <a:avLst/>
          </a:prstGeom>
          <a:solidFill>
            <a:srgbClr val="0033A0"/>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p:bgPr>
    </p:bg>
    <p:spTree>
      <p:nvGrpSpPr>
        <p:cNvPr id="1" name=""/>
        <p:cNvGrpSpPr/>
        <p:nvPr/>
      </p:nvGrpSpPr>
      <p:grpSpPr>
        <a:xfrm>
          <a:off x="0" y="0"/>
          <a:ext cx="0" cy="0"/>
          <a:chOff x="0" y="0"/>
          <a:chExt cx="0" cy="0"/>
        </a:xfrm>
      </p:grpSpPr>
      <p:sp>
        <p:nvSpPr>
          <p:cNvPr id="2" name="s13-forma-1"/>
          <p:cNvSpPr/>
          <p:nvPr/>
        </p:nvSpPr>
        <p:spPr>
          <a:xfrm>
            <a:off x="853390" y="520961"/>
            <a:ext cx="10484915" cy="5713"/>
          </a:xfrm>
          <a:prstGeom prst="rect">
            <a:avLst/>
          </a:prstGeom>
          <a:solidFill>
            <a:srgbClr val="C6BFAE"/>
          </a:solidFill>
          <a:ln/>
        </p:spPr>
      </p:sp>
      <p:sp>
        <p:nvSpPr>
          <p:cNvPr id="3" name="s13-forma-2"/>
          <p:cNvSpPr/>
          <p:nvPr/>
        </p:nvSpPr>
        <p:spPr>
          <a:xfrm>
            <a:off x="853390" y="331715"/>
            <a:ext cx="81411" cy="81411"/>
          </a:xfrm>
          <a:prstGeom prst="ellipse">
            <a:avLst/>
          </a:prstGeom>
          <a:solidFill>
            <a:srgbClr val="0E6871"/>
          </a:solidFill>
          <a:ln/>
        </p:spPr>
      </p:sp>
      <p:sp>
        <p:nvSpPr>
          <p:cNvPr id="4" name="s13-texto-3"/>
          <p:cNvSpPr txBox="1"/>
          <p:nvPr/>
        </p:nvSpPr>
        <p:spPr>
          <a:xfrm>
            <a:off x="1007018" y="315290"/>
            <a:ext cx="693513"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13-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0:55 · 10 min</a:t>
            </a:r>
            <a:endParaRPr lang="en-US" sz="807" dirty="0"/>
          </a:p>
        </p:txBody>
      </p:sp>
      <p:sp>
        <p:nvSpPr>
          <p:cNvPr id="6" name="s13-forma-5"/>
          <p:cNvSpPr/>
          <p:nvPr/>
        </p:nvSpPr>
        <p:spPr>
          <a:xfrm>
            <a:off x="5885535" y="2400561"/>
            <a:ext cx="420446" cy="17139"/>
          </a:xfrm>
          <a:prstGeom prst="rect">
            <a:avLst/>
          </a:prstGeom>
          <a:solidFill>
            <a:srgbClr val="0033A0"/>
          </a:solidFill>
          <a:ln/>
        </p:spPr>
      </p:sp>
      <p:sp>
        <p:nvSpPr>
          <p:cNvPr id="7" name="s13-texto-6"/>
          <p:cNvSpPr txBox="1"/>
          <p:nvPr/>
        </p:nvSpPr>
        <p:spPr>
          <a:xfrm>
            <a:off x="538843" y="2543388"/>
            <a:ext cx="11114010" cy="377063"/>
          </a:xfrm>
          <a:prstGeom prst="rect">
            <a:avLst/>
          </a:prstGeom>
          <a:noFill/>
          <a:ln/>
        </p:spPr>
        <p:txBody>
          <a:bodyPr wrap="none" lIns="0" tIns="0" rIns="0" bIns="0" rtlCol="0" anchor="t"/>
          <a:lstStyle/>
          <a:p>
            <a:pPr algn="ctr" indent="0" marL="0">
              <a:lnSpc>
                <a:spcPts val="2890"/>
              </a:lnSpc>
              <a:buNone/>
            </a:pPr>
            <a:r>
              <a:rPr lang="en-US" sz="2535" b="1" spc="-38" kern="0"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13-texto-7"/>
          <p:cNvSpPr txBox="1"/>
          <p:nvPr/>
        </p:nvSpPr>
        <p:spPr>
          <a:xfrm>
            <a:off x="538843" y="3270644"/>
            <a:ext cx="11114010" cy="816969"/>
          </a:xfrm>
          <a:prstGeom prst="rect">
            <a:avLst/>
          </a:prstGeom>
          <a:noFill/>
          <a:ln/>
        </p:spPr>
        <p:txBody>
          <a:bodyPr wrap="none" lIns="0" tIns="0" rIns="0" bIns="0" rtlCol="0" anchor="t"/>
          <a:lstStyle/>
          <a:p>
            <a:pPr algn="ctr" indent="0" marL="0">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13-texto-8"/>
          <p:cNvSpPr txBox="1"/>
          <p:nvPr/>
        </p:nvSpPr>
        <p:spPr>
          <a:xfrm>
            <a:off x="538843" y="4305782"/>
            <a:ext cx="11114010" cy="177105"/>
          </a:xfrm>
          <a:prstGeom prst="rect">
            <a:avLst/>
          </a:prstGeom>
          <a:noFill/>
          <a:ln/>
        </p:spPr>
        <p:txBody>
          <a:bodyPr wrap="none" lIns="0" tIns="0" rIns="0" bIns="0" rtlCol="0" anchor="t"/>
          <a:lstStyle/>
          <a:p>
            <a:pPr algn="ctr" indent="0" marL="0">
              <a:lnSpc>
                <a:spcPts val="1987"/>
              </a:lnSpc>
              <a:buNone/>
            </a:pPr>
            <a:r>
              <a:rPr lang="en-US" sz="1242" dirty="0">
                <a:solidFill>
                  <a:srgbClr val="585E6F"/>
                </a:solidFill>
                <a:latin typeface="Arial" pitchFamily="34" charset="0"/>
                <a:ea typeface="Arial" pitchFamily="34" charset="-122"/>
                <a:cs typeface="Arial" pitchFamily="34" charset="-120"/>
              </a:rPr>
              <a:t>Volvemos con el Lab 4: probar todo, atacar y defender.</a:t>
            </a:r>
            <a:endParaRPr lang="en-US" sz="1242" dirty="0"/>
          </a:p>
        </p:txBody>
      </p:sp>
      <p:sp>
        <p:nvSpPr>
          <p:cNvPr id="10" name="s13-forma-9"/>
          <p:cNvSpPr/>
          <p:nvPr/>
        </p:nvSpPr>
        <p:spPr>
          <a:xfrm>
            <a:off x="853390" y="6411138"/>
            <a:ext cx="10484915" cy="5713"/>
          </a:xfrm>
          <a:prstGeom prst="rect">
            <a:avLst/>
          </a:prstGeom>
          <a:solidFill>
            <a:srgbClr val="DBD4C4"/>
          </a:solidFill>
          <a:ln/>
        </p:spPr>
      </p:sp>
      <p:pic>
        <p:nvPicPr>
          <p:cNvPr id="11" name="s13-logo-10"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2" name="s13-forma-11"/>
          <p:cNvSpPr/>
          <p:nvPr/>
        </p:nvSpPr>
        <p:spPr>
          <a:xfrm>
            <a:off x="1659380" y="6519865"/>
            <a:ext cx="3578704" cy="102835"/>
          </a:xfrm>
          <a:prstGeom prst="rect">
            <a:avLst/>
          </a:prstGeom>
          <a:ln/>
        </p:spPr>
      </p:sp>
      <p:sp>
        <p:nvSpPr>
          <p:cNvPr id="13" name="s13-forma-12"/>
          <p:cNvSpPr/>
          <p:nvPr/>
        </p:nvSpPr>
        <p:spPr>
          <a:xfrm>
            <a:off x="1659380" y="6519865"/>
            <a:ext cx="5713" cy="102835"/>
          </a:xfrm>
          <a:prstGeom prst="rect">
            <a:avLst/>
          </a:prstGeom>
          <a:solidFill>
            <a:srgbClr val="C6BFAE"/>
          </a:solidFill>
          <a:ln/>
        </p:spPr>
      </p:sp>
      <p:sp>
        <p:nvSpPr>
          <p:cNvPr id="14" name="s13-texto-13"/>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5" name="s13-texto-14"/>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13 / 22</a:t>
            </a:r>
            <a:endParaRPr lang="en-US" sz="745" dirty="0"/>
          </a:p>
        </p:txBody>
      </p:sp>
      <p:sp>
        <p:nvSpPr>
          <p:cNvPr id="16" name="s13-forma-15"/>
          <p:cNvSpPr/>
          <p:nvPr/>
        </p:nvSpPr>
        <p:spPr>
          <a:xfrm>
            <a:off x="0" y="0"/>
            <a:ext cx="7204184" cy="17139"/>
          </a:xfrm>
          <a:prstGeom prst="rect">
            <a:avLst/>
          </a:prstGeom>
          <a:solidFill>
            <a:srgbClr val="0033A0"/>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p:bgPr>
    </p:bg>
    <p:spTree>
      <p:nvGrpSpPr>
        <p:cNvPr id="1" name=""/>
        <p:cNvGrpSpPr/>
        <p:nvPr/>
      </p:nvGrpSpPr>
      <p:grpSpPr>
        <a:xfrm>
          <a:off x="0" y="0"/>
          <a:ext cx="0" cy="0"/>
          <a:chOff x="0" y="0"/>
          <a:chExt cx="0" cy="0"/>
        </a:xfrm>
      </p:grpSpPr>
      <p:sp>
        <p:nvSpPr>
          <p:cNvPr id="2" name="s14-forma-1"/>
          <p:cNvSpPr/>
          <p:nvPr/>
        </p:nvSpPr>
        <p:spPr>
          <a:xfrm>
            <a:off x="853390" y="331715"/>
            <a:ext cx="81411" cy="81411"/>
          </a:xfrm>
          <a:prstGeom prst="ellipse">
            <a:avLst/>
          </a:prstGeom>
          <a:solidFill>
            <a:srgbClr val="1B6A43"/>
          </a:solidFill>
          <a:ln/>
        </p:spPr>
      </p:sp>
      <p:sp>
        <p:nvSpPr>
          <p:cNvPr id="3" name="s14-texto-2"/>
          <p:cNvSpPr txBox="1"/>
          <p:nvPr/>
        </p:nvSpPr>
        <p:spPr>
          <a:xfrm>
            <a:off x="1007018" y="315290"/>
            <a:ext cx="693513"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14-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1:05 · 25 min</a:t>
            </a:r>
            <a:endParaRPr lang="en-US" sz="807" dirty="0"/>
          </a:p>
        </p:txBody>
      </p:sp>
      <p:sp>
        <p:nvSpPr>
          <p:cNvPr id="5" name="s14-texto-4"/>
          <p:cNvSpPr txBox="1"/>
          <p:nvPr/>
        </p:nvSpPr>
        <p:spPr>
          <a:xfrm>
            <a:off x="853390" y="238895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LABORATORIO 4A</a:t>
            </a:r>
            <a:endParaRPr lang="en-US" sz="869" dirty="0"/>
          </a:p>
        </p:txBody>
      </p:sp>
      <p:sp>
        <p:nvSpPr>
          <p:cNvPr id="6" name="s14-forma-5"/>
          <p:cNvSpPr/>
          <p:nvPr/>
        </p:nvSpPr>
        <p:spPr>
          <a:xfrm>
            <a:off x="853390" y="4059138"/>
            <a:ext cx="722704" cy="22852"/>
          </a:xfrm>
          <a:prstGeom prst="rect">
            <a:avLst/>
          </a:prstGeom>
          <a:solidFill>
            <a:srgbClr val="0033A0"/>
          </a:solidFill>
          <a:ln/>
        </p:spPr>
      </p:sp>
      <p:sp>
        <p:nvSpPr>
          <p:cNvPr id="7" name="s14-texto-6"/>
          <p:cNvSpPr txBox="1"/>
          <p:nvPr/>
        </p:nvSpPr>
        <p:spPr>
          <a:xfrm>
            <a:off x="853390" y="2669968"/>
            <a:ext cx="7149222" cy="1215902"/>
          </a:xfrm>
          <a:prstGeom prst="rect">
            <a:avLst/>
          </a:prstGeom>
          <a:noFill/>
          <a:ln/>
        </p:spPr>
        <p:txBody>
          <a:bodyPr wrap="squar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La fábrica completa con HU-03</a:t>
            </a:r>
            <a:endParaRPr lang="en-US" sz="4242" dirty="0"/>
          </a:p>
        </p:txBody>
      </p:sp>
      <p:sp>
        <p:nvSpPr>
          <p:cNvPr id="8" name="s14-texto-7"/>
          <p:cNvSpPr txBox="1"/>
          <p:nvPr/>
        </p:nvSpPr>
        <p:spPr>
          <a:xfrm>
            <a:off x="853390" y="426079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Seis agentes de punta a punta y el reporte E2E.</a:t>
            </a:r>
            <a:endParaRPr lang="en-US" sz="1676" dirty="0"/>
          </a:p>
        </p:txBody>
      </p:sp>
      <p:pic>
        <p:nvPicPr>
          <p:cNvPr id="9" name="s14-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14-forma-9"/>
          <p:cNvSpPr/>
          <p:nvPr/>
        </p:nvSpPr>
        <p:spPr>
          <a:xfrm>
            <a:off x="1659380" y="6519865"/>
            <a:ext cx="3578704" cy="102835"/>
          </a:xfrm>
          <a:prstGeom prst="rect">
            <a:avLst/>
          </a:prstGeom>
          <a:ln/>
        </p:spPr>
      </p:sp>
      <p:sp>
        <p:nvSpPr>
          <p:cNvPr id="11" name="s14-forma-10"/>
          <p:cNvSpPr/>
          <p:nvPr/>
        </p:nvSpPr>
        <p:spPr>
          <a:xfrm>
            <a:off x="1659380" y="6519865"/>
            <a:ext cx="5713" cy="102835"/>
          </a:xfrm>
          <a:prstGeom prst="rect">
            <a:avLst/>
          </a:prstGeom>
          <a:solidFill>
            <a:srgbClr val="C6BFAE"/>
          </a:solidFill>
          <a:ln/>
        </p:spPr>
      </p:sp>
      <p:sp>
        <p:nvSpPr>
          <p:cNvPr id="12" name="s14-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14-texto-1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14 / 22</a:t>
            </a:r>
            <a:endParaRPr lang="en-US" sz="745" dirty="0"/>
          </a:p>
        </p:txBody>
      </p:sp>
      <p:sp>
        <p:nvSpPr>
          <p:cNvPr id="14" name="s14-forma-13"/>
          <p:cNvSpPr/>
          <p:nvPr/>
        </p:nvSpPr>
        <p:spPr>
          <a:xfrm>
            <a:off x="0" y="0"/>
            <a:ext cx="7758351" cy="17139"/>
          </a:xfrm>
          <a:prstGeom prst="rect">
            <a:avLst/>
          </a:prstGeom>
          <a:solidFill>
            <a:srgbClr val="0033A0"/>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sp>
      <p:sp>
        <p:nvSpPr>
          <p:cNvPr id="3" name="s15-forma-2"/>
          <p:cNvSpPr/>
          <p:nvPr/>
        </p:nvSpPr>
        <p:spPr>
          <a:xfrm>
            <a:off x="853390" y="331715"/>
            <a:ext cx="81411" cy="81411"/>
          </a:xfrm>
          <a:prstGeom prst="ellipse">
            <a:avLst/>
          </a:prstGeom>
          <a:solidFill>
            <a:srgbClr val="1B6A43"/>
          </a:solidFill>
          <a:ln/>
        </p:spPr>
      </p:sp>
      <p:sp>
        <p:nvSpPr>
          <p:cNvPr id="4" name="s15-texto-3"/>
          <p:cNvSpPr txBox="1"/>
          <p:nvPr/>
        </p:nvSpPr>
        <p:spPr>
          <a:xfrm>
            <a:off x="1007018" y="315290"/>
            <a:ext cx="693513"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1:05 · 25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LAB 4 · 70 MIN · INDIVIDUAL</a:t>
            </a:r>
            <a:endParaRPr lang="en-US" sz="900" dirty="0"/>
          </a:p>
        </p:txBody>
      </p:sp>
      <p:sp>
        <p:nvSpPr>
          <p:cNvPr id="7" name="s15-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Probar todo, atacar y defender</a:t>
            </a:r>
            <a:endParaRPr lang="en-US" sz="2879" dirty="0"/>
          </a:p>
        </p:txBody>
      </p:sp>
      <p:sp>
        <p:nvSpPr>
          <p:cNvPr id="8" name="s15-forma-7"/>
          <p:cNvSpPr/>
          <p:nvPr/>
        </p:nvSpPr>
        <p:spPr>
          <a:xfrm>
            <a:off x="1342572" y="2144634"/>
            <a:ext cx="3046942" cy="1399524"/>
          </a:xfrm>
          <a:prstGeom prst="rect">
            <a:avLst/>
          </a:prstGeom>
          <a:solidFill>
            <a:srgbClr val="EDE8DC"/>
          </a:solidFill>
          <a:ln w="5713">
            <a:solidFill>
              <a:srgbClr val="C6BFAE"/>
            </a:solidFill>
            <a:prstDash val="solid"/>
          </a:ln>
        </p:spPr>
      </p:sp>
      <p:sp>
        <p:nvSpPr>
          <p:cNvPr id="9" name="s15-texto-8"/>
          <p:cNvSpPr txBox="1"/>
          <p:nvPr/>
        </p:nvSpPr>
        <p:spPr>
          <a:xfrm>
            <a:off x="1553956" y="2356017"/>
            <a:ext cx="2781625"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4A · 25 MIN</a:t>
            </a:r>
            <a:endParaRPr lang="en-US" sz="900" dirty="0"/>
          </a:p>
        </p:txBody>
      </p:sp>
      <p:sp>
        <p:nvSpPr>
          <p:cNvPr id="10" name="s15-texto-9"/>
          <p:cNvSpPr txBox="1"/>
          <p:nvPr/>
        </p:nvSpPr>
        <p:spPr>
          <a:xfrm>
            <a:off x="1553956" y="2578827"/>
            <a:ext cx="2781625" cy="239949"/>
          </a:xfrm>
          <a:prstGeom prst="rect">
            <a:avLst/>
          </a:prstGeom>
          <a:noFill/>
          <a:ln/>
        </p:spPr>
        <p:txBody>
          <a:bodyPr wrap="none" lIns="0" tIns="0" rIns="0" bIns="0" rtlCol="0" anchor="t"/>
          <a:lstStyle/>
          <a:p>
            <a:pPr algn="l" indent="0" marL="0">
              <a:lnSpc>
                <a:spcPts val="1943"/>
              </a:lnSpc>
              <a:buNone/>
            </a:pPr>
            <a:r>
              <a:rPr lang="en-US" sz="1619" b="1" spc="-16" kern="0" dirty="0">
                <a:solidFill>
                  <a:srgbClr val="16181D"/>
                </a:solidFill>
                <a:latin typeface="Georgia" pitchFamily="34" charset="0"/>
                <a:ea typeface="Georgia" pitchFamily="34" charset="-122"/>
                <a:cs typeface="Georgia" pitchFamily="34" charset="-120"/>
              </a:rPr>
              <a:t>FÁBRICA COMPLETA</a:t>
            </a:r>
            <a:endParaRPr lang="en-US" sz="1619" dirty="0"/>
          </a:p>
        </p:txBody>
      </p:sp>
      <p:sp>
        <p:nvSpPr>
          <p:cNvPr id="11" name="s15-texto-10"/>
          <p:cNvSpPr txBox="1"/>
          <p:nvPr/>
        </p:nvSpPr>
        <p:spPr>
          <a:xfrm>
            <a:off x="1553956" y="2934109"/>
            <a:ext cx="2781625"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HU-03 con los seis agentes. Lee cada decisión del triage.</a:t>
            </a:r>
            <a:endParaRPr lang="en-US" sz="1170" dirty="0"/>
          </a:p>
        </p:txBody>
      </p:sp>
      <p:sp>
        <p:nvSpPr>
          <p:cNvPr id="12" name="s15-forma-11"/>
          <p:cNvSpPr/>
          <p:nvPr/>
        </p:nvSpPr>
        <p:spPr>
          <a:xfrm>
            <a:off x="4572332" y="2144634"/>
            <a:ext cx="3046942" cy="1399524"/>
          </a:xfrm>
          <a:prstGeom prst="rect">
            <a:avLst/>
          </a:prstGeom>
          <a:solidFill>
            <a:srgbClr val="EDE8DC"/>
          </a:solidFill>
          <a:ln w="5713">
            <a:solidFill>
              <a:srgbClr val="984514"/>
            </a:solidFill>
            <a:prstDash val="solid"/>
          </a:ln>
        </p:spPr>
      </p:sp>
      <p:sp>
        <p:nvSpPr>
          <p:cNvPr id="13" name="s15-texto-12"/>
          <p:cNvSpPr txBox="1"/>
          <p:nvPr/>
        </p:nvSpPr>
        <p:spPr>
          <a:xfrm>
            <a:off x="4783716" y="2356017"/>
            <a:ext cx="2781625"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4B · 25 MIN</a:t>
            </a:r>
            <a:endParaRPr lang="en-US" sz="900" dirty="0"/>
          </a:p>
        </p:txBody>
      </p:sp>
      <p:sp>
        <p:nvSpPr>
          <p:cNvPr id="14" name="s15-texto-13"/>
          <p:cNvSpPr txBox="1"/>
          <p:nvPr/>
        </p:nvSpPr>
        <p:spPr>
          <a:xfrm>
            <a:off x="4783716" y="2578827"/>
            <a:ext cx="2781625" cy="239949"/>
          </a:xfrm>
          <a:prstGeom prst="rect">
            <a:avLst/>
          </a:prstGeom>
          <a:noFill/>
          <a:ln/>
        </p:spPr>
        <p:txBody>
          <a:bodyPr wrap="none" lIns="0" tIns="0" rIns="0" bIns="0" rtlCol="0" anchor="t"/>
          <a:lstStyle/>
          <a:p>
            <a:pPr algn="l" indent="0" marL="0">
              <a:lnSpc>
                <a:spcPts val="1943"/>
              </a:lnSpc>
              <a:buNone/>
            </a:pPr>
            <a:r>
              <a:rPr lang="en-US" sz="1619" b="1" spc="-16" kern="0" dirty="0">
                <a:solidFill>
                  <a:srgbClr val="16181D"/>
                </a:solidFill>
                <a:latin typeface="Georgia" pitchFamily="34" charset="0"/>
                <a:ea typeface="Georgia" pitchFamily="34" charset="-122"/>
                <a:cs typeface="Georgia" pitchFamily="34" charset="-120"/>
              </a:rPr>
              <a:t>ATACAR Y DEFENDER</a:t>
            </a:r>
            <a:endParaRPr lang="en-US" sz="1619" dirty="0"/>
          </a:p>
        </p:txBody>
      </p:sp>
      <p:sp>
        <p:nvSpPr>
          <p:cNvPr id="15" name="s15-texto-14"/>
          <p:cNvSpPr txBox="1"/>
          <p:nvPr/>
        </p:nvSpPr>
        <p:spPr>
          <a:xfrm>
            <a:off x="4783716" y="2934109"/>
            <a:ext cx="2781625"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HU-99 y un contexto envenenado, con y sin DEFENSAS.</a:t>
            </a:r>
            <a:endParaRPr lang="en-US" sz="1170" dirty="0"/>
          </a:p>
        </p:txBody>
      </p:sp>
      <p:sp>
        <p:nvSpPr>
          <p:cNvPr id="16" name="s15-forma-15"/>
          <p:cNvSpPr/>
          <p:nvPr/>
        </p:nvSpPr>
        <p:spPr>
          <a:xfrm>
            <a:off x="7802092" y="2144634"/>
            <a:ext cx="3046942" cy="1399524"/>
          </a:xfrm>
          <a:prstGeom prst="rect">
            <a:avLst/>
          </a:prstGeom>
          <a:solidFill>
            <a:srgbClr val="EDE8DC"/>
          </a:solidFill>
          <a:ln w="5713">
            <a:solidFill>
              <a:srgbClr val="C6BFAE"/>
            </a:solidFill>
            <a:prstDash val="solid"/>
          </a:ln>
        </p:spPr>
      </p:sp>
      <p:sp>
        <p:nvSpPr>
          <p:cNvPr id="17" name="s15-texto-16"/>
          <p:cNvSpPr txBox="1"/>
          <p:nvPr/>
        </p:nvSpPr>
        <p:spPr>
          <a:xfrm>
            <a:off x="8013476" y="2356017"/>
            <a:ext cx="2781625" cy="131401"/>
          </a:xfrm>
          <a:prstGeom prst="rect">
            <a:avLst/>
          </a:prstGeom>
          <a:noFill/>
          <a:ln/>
        </p:spPr>
        <p:txBody>
          <a:bodyPr wrap="none" lIns="0" tIns="0" rIns="0" bIns="0" rtlCol="0" anchor="t"/>
          <a:lstStyle/>
          <a:p>
            <a:pPr algn="l" indent="0" marL="0">
              <a:lnSpc>
                <a:spcPts val="1080"/>
              </a:lnSpc>
              <a:buNone/>
            </a:pPr>
            <a:r>
              <a:rPr lang="en-US" sz="900" b="1" spc="90" kern="0" dirty="0">
                <a:solidFill>
                  <a:srgbClr val="0033A0"/>
                </a:solidFill>
                <a:latin typeface="Courier New" pitchFamily="34" charset="0"/>
                <a:ea typeface="Courier New" pitchFamily="34" charset="-122"/>
                <a:cs typeface="Courier New" pitchFamily="34" charset="-120"/>
              </a:rPr>
              <a:t>4C · 20 MIN</a:t>
            </a:r>
            <a:endParaRPr lang="en-US" sz="900" dirty="0"/>
          </a:p>
        </p:txBody>
      </p:sp>
      <p:sp>
        <p:nvSpPr>
          <p:cNvPr id="18" name="s15-texto-17"/>
          <p:cNvSpPr txBox="1"/>
          <p:nvPr/>
        </p:nvSpPr>
        <p:spPr>
          <a:xfrm>
            <a:off x="8013476" y="2578827"/>
            <a:ext cx="2781625" cy="239949"/>
          </a:xfrm>
          <a:prstGeom prst="rect">
            <a:avLst/>
          </a:prstGeom>
          <a:noFill/>
          <a:ln/>
        </p:spPr>
        <p:txBody>
          <a:bodyPr wrap="none" lIns="0" tIns="0" rIns="0" bIns="0" rtlCol="0" anchor="t"/>
          <a:lstStyle/>
          <a:p>
            <a:pPr algn="l" indent="0" marL="0">
              <a:lnSpc>
                <a:spcPts val="1943"/>
              </a:lnSpc>
              <a:buNone/>
            </a:pPr>
            <a:r>
              <a:rPr lang="en-US" sz="1619" b="1" spc="-16" kern="0" dirty="0">
                <a:solidFill>
                  <a:srgbClr val="16181D"/>
                </a:solidFill>
                <a:latin typeface="Georgia" pitchFamily="34" charset="0"/>
                <a:ea typeface="Georgia" pitchFamily="34" charset="-122"/>
                <a:cs typeface="Georgia" pitchFamily="34" charset="-120"/>
              </a:rPr>
              <a:t>REPORTE</a:t>
            </a:r>
            <a:endParaRPr lang="en-US" sz="1619" dirty="0"/>
          </a:p>
        </p:txBody>
      </p:sp>
      <p:sp>
        <p:nvSpPr>
          <p:cNvPr id="19" name="s15-texto-18"/>
          <p:cNvSpPr txBox="1"/>
          <p:nvPr/>
        </p:nvSpPr>
        <p:spPr>
          <a:xfrm>
            <a:off x="8013476" y="2934109"/>
            <a:ext cx="2781625"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Tabla de ataques con evidencia y checklist de producción.</a:t>
            </a:r>
            <a:endParaRPr lang="en-US" sz="1170" dirty="0"/>
          </a:p>
        </p:txBody>
      </p:sp>
      <p:sp>
        <p:nvSpPr>
          <p:cNvPr id="20" name="s15-forma-19"/>
          <p:cNvSpPr/>
          <p:nvPr/>
        </p:nvSpPr>
        <p:spPr>
          <a:xfrm>
            <a:off x="1342572" y="3818385"/>
            <a:ext cx="9506551" cy="948370"/>
          </a:xfrm>
          <a:prstGeom prst="rect">
            <a:avLst/>
          </a:prstGeom>
          <a:solidFill>
            <a:srgbClr val="E8E2D5"/>
          </a:solidFill>
          <a:ln/>
        </p:spPr>
      </p:sp>
      <p:sp>
        <p:nvSpPr>
          <p:cNvPr id="21" name="s15-forma-20"/>
          <p:cNvSpPr/>
          <p:nvPr/>
        </p:nvSpPr>
        <p:spPr>
          <a:xfrm>
            <a:off x="1342572" y="3818385"/>
            <a:ext cx="9506551" cy="5713"/>
          </a:xfrm>
          <a:prstGeom prst="rect">
            <a:avLst/>
          </a:prstGeom>
          <a:solidFill>
            <a:srgbClr val="DBD4C4"/>
          </a:solidFill>
          <a:ln/>
        </p:spPr>
      </p:sp>
      <p:sp>
        <p:nvSpPr>
          <p:cNvPr id="22" name="s15-forma-21"/>
          <p:cNvSpPr/>
          <p:nvPr/>
        </p:nvSpPr>
        <p:spPr>
          <a:xfrm>
            <a:off x="1342572" y="4761042"/>
            <a:ext cx="9506551" cy="5713"/>
          </a:xfrm>
          <a:prstGeom prst="rect">
            <a:avLst/>
          </a:prstGeom>
          <a:solidFill>
            <a:srgbClr val="DBD4C4"/>
          </a:solidFill>
          <a:ln/>
        </p:spPr>
      </p:sp>
      <p:sp>
        <p:nvSpPr>
          <p:cNvPr id="23" name="s15-forma-22"/>
          <p:cNvSpPr/>
          <p:nvPr/>
        </p:nvSpPr>
        <p:spPr>
          <a:xfrm>
            <a:off x="1342572" y="3818385"/>
            <a:ext cx="17139" cy="948370"/>
          </a:xfrm>
          <a:prstGeom prst="rect">
            <a:avLst/>
          </a:prstGeom>
          <a:solidFill>
            <a:srgbClr val="C6BFAE"/>
          </a:solidFill>
          <a:ln/>
        </p:spPr>
      </p:sp>
      <p:sp>
        <p:nvSpPr>
          <p:cNvPr id="24" name="s15-forma-23"/>
          <p:cNvSpPr/>
          <p:nvPr/>
        </p:nvSpPr>
        <p:spPr>
          <a:xfrm>
            <a:off x="10843410" y="3818385"/>
            <a:ext cx="5713" cy="948370"/>
          </a:xfrm>
          <a:prstGeom prst="rect">
            <a:avLst/>
          </a:prstGeom>
          <a:solidFill>
            <a:srgbClr val="DBD4C4"/>
          </a:solidFill>
          <a:ln/>
        </p:spPr>
      </p:sp>
      <p:sp>
        <p:nvSpPr>
          <p:cNvPr id="25" name="s15-texto-24"/>
          <p:cNvSpPr txBox="1"/>
          <p:nvPr/>
        </p:nvSpPr>
        <p:spPr>
          <a:xfrm>
            <a:off x="1588234" y="4006916"/>
            <a:ext cx="9568253" cy="565594"/>
          </a:xfrm>
          <a:prstGeom prst="rect">
            <a:avLst/>
          </a:prstGeom>
          <a:noFill/>
          <a:ln/>
        </p:spPr>
        <p:txBody>
          <a:bodyPr wrap="square" lIns="0" tIns="0" rIns="0" bIns="0" rtlCol="0" anchor="t"/>
          <a:lstStyle/>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flujos.flujo_s4 historias/HU-03-editar-dar-baja.md</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agentes.analista historias/HU-99-envenenada.md   </a:t>
            </a:r>
            <a:pPr algn="l" indent="0" marL="0">
              <a:lnSpc>
                <a:spcPts val="1619"/>
              </a:lnSpc>
              <a:buNone/>
            </a:pPr>
            <a:r>
              <a:rPr lang="en-US" sz="1080" dirty="0">
                <a:solidFill>
                  <a:srgbClr val="585E6F"/>
                </a:solidFill>
                <a:latin typeface="Courier New" pitchFamily="34" charset="0"/>
                <a:ea typeface="Courier New" pitchFamily="34" charset="-122"/>
                <a:cs typeface="Courier New" pitchFamily="34" charset="-120"/>
              </a:rPr>
              <a:t># ¿la orden llega?</a:t>
            </a:r>
            <a:endParaRPr lang="en-US" sz="1080" dirty="0"/>
          </a:p>
          <a:p>
            <a:pPr algn="l" indent="0" marL="0">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flujos.flujo_s4 historias/HU-99-envenenada.md    </a:t>
            </a:r>
            <a:pPr algn="l" indent="0" marL="0">
              <a:lnSpc>
                <a:spcPts val="1619"/>
              </a:lnSpc>
              <a:buNone/>
            </a:pPr>
            <a:r>
              <a:rPr lang="en-US" sz="1080" dirty="0">
                <a:solidFill>
                  <a:srgbClr val="585E6F"/>
                </a:solidFill>
                <a:latin typeface="Courier New" pitchFamily="34" charset="0"/>
                <a:ea typeface="Courier New" pitchFamily="34" charset="-122"/>
                <a:cs typeface="Courier New" pitchFamily="34" charset="-120"/>
              </a:rPr>
              <a:t># ¿se bloquea?</a:t>
            </a:r>
            <a:endParaRPr lang="en-US" sz="1080" dirty="0"/>
          </a:p>
        </p:txBody>
      </p:sp>
      <p:sp>
        <p:nvSpPr>
          <p:cNvPr id="26" name="s15-texto-25"/>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Regla: los ataques apuntan solo a secretos_demo.txt, nunca al .env real</a:t>
            </a:r>
            <a:endParaRPr lang="en-US" sz="1080" dirty="0"/>
          </a:p>
        </p:txBody>
      </p:sp>
      <p:sp>
        <p:nvSpPr>
          <p:cNvPr id="27" name="s15-forma-26"/>
          <p:cNvSpPr/>
          <p:nvPr/>
        </p:nvSpPr>
        <p:spPr>
          <a:xfrm>
            <a:off x="853390" y="6411138"/>
            <a:ext cx="10484915" cy="5713"/>
          </a:xfrm>
          <a:prstGeom prst="rect">
            <a:avLst/>
          </a:prstGeom>
          <a:solidFill>
            <a:srgbClr val="DBD4C4"/>
          </a:solidFill>
          <a:ln/>
        </p:spPr>
      </p:sp>
      <p:pic>
        <p:nvPicPr>
          <p:cNvPr id="28" name="s15-logo-27"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29" name="s15-forma-28"/>
          <p:cNvSpPr/>
          <p:nvPr/>
        </p:nvSpPr>
        <p:spPr>
          <a:xfrm>
            <a:off x="1659380" y="6519865"/>
            <a:ext cx="3578704" cy="102835"/>
          </a:xfrm>
          <a:prstGeom prst="rect">
            <a:avLst/>
          </a:prstGeom>
          <a:ln/>
        </p:spPr>
      </p:sp>
      <p:sp>
        <p:nvSpPr>
          <p:cNvPr id="30" name="s15-forma-29"/>
          <p:cNvSpPr/>
          <p:nvPr/>
        </p:nvSpPr>
        <p:spPr>
          <a:xfrm>
            <a:off x="1659380" y="6519865"/>
            <a:ext cx="5713" cy="102835"/>
          </a:xfrm>
          <a:prstGeom prst="rect">
            <a:avLst/>
          </a:prstGeom>
          <a:solidFill>
            <a:srgbClr val="C6BFAE"/>
          </a:solidFill>
          <a:ln/>
        </p:spPr>
      </p:sp>
      <p:sp>
        <p:nvSpPr>
          <p:cNvPr id="31" name="s15-texto-30"/>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32" name="s15-texto-31"/>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15 / 22</a:t>
            </a:r>
            <a:endParaRPr lang="en-US" sz="745" dirty="0"/>
          </a:p>
        </p:txBody>
      </p:sp>
      <p:sp>
        <p:nvSpPr>
          <p:cNvPr id="33" name="s15-forma-32"/>
          <p:cNvSpPr/>
          <p:nvPr/>
        </p:nvSpPr>
        <p:spPr>
          <a:xfrm>
            <a:off x="0" y="0"/>
            <a:ext cx="8312519" cy="17139"/>
          </a:xfrm>
          <a:prstGeom prst="rect">
            <a:avLst/>
          </a:prstGeom>
          <a:solidFill>
            <a:srgbClr val="0033A0"/>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p:bgPr>
    </p:bg>
    <p:spTree>
      <p:nvGrpSpPr>
        <p:cNvPr id="1" name=""/>
        <p:cNvGrpSpPr/>
        <p:nvPr/>
      </p:nvGrpSpPr>
      <p:grpSpPr>
        <a:xfrm>
          <a:off x="0" y="0"/>
          <a:ext cx="0" cy="0"/>
          <a:chOff x="0" y="0"/>
          <a:chExt cx="0" cy="0"/>
        </a:xfrm>
      </p:grpSpPr>
      <p:sp>
        <p:nvSpPr>
          <p:cNvPr id="2" name="s16-forma-1"/>
          <p:cNvSpPr/>
          <p:nvPr/>
        </p:nvSpPr>
        <p:spPr>
          <a:xfrm>
            <a:off x="853390" y="331715"/>
            <a:ext cx="81411" cy="81411"/>
          </a:xfrm>
          <a:prstGeom prst="ellipse">
            <a:avLst/>
          </a:prstGeom>
          <a:solidFill>
            <a:srgbClr val="1B6A43"/>
          </a:solidFill>
          <a:ln/>
        </p:spPr>
      </p:sp>
      <p:sp>
        <p:nvSpPr>
          <p:cNvPr id="3" name="s16-texto-2"/>
          <p:cNvSpPr txBox="1"/>
          <p:nvPr/>
        </p:nvSpPr>
        <p:spPr>
          <a:xfrm>
            <a:off x="1007018" y="315290"/>
            <a:ext cx="693513"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16-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1:30 · 25 min</a:t>
            </a:r>
            <a:endParaRPr lang="en-US" sz="807" dirty="0"/>
          </a:p>
        </p:txBody>
      </p:sp>
      <p:sp>
        <p:nvSpPr>
          <p:cNvPr id="5" name="s16-texto-4"/>
          <p:cNvSpPr txBox="1"/>
          <p:nvPr/>
        </p:nvSpPr>
        <p:spPr>
          <a:xfrm>
            <a:off x="853390" y="267987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LABORATORIO 4B</a:t>
            </a:r>
            <a:endParaRPr lang="en-US" sz="869" dirty="0"/>
          </a:p>
        </p:txBody>
      </p:sp>
      <p:sp>
        <p:nvSpPr>
          <p:cNvPr id="6" name="s16-forma-5"/>
          <p:cNvSpPr/>
          <p:nvPr/>
        </p:nvSpPr>
        <p:spPr>
          <a:xfrm>
            <a:off x="853390" y="3768306"/>
            <a:ext cx="722704" cy="22852"/>
          </a:xfrm>
          <a:prstGeom prst="rect">
            <a:avLst/>
          </a:prstGeom>
          <a:solidFill>
            <a:srgbClr val="0033A0"/>
          </a:solidFill>
          <a:ln/>
        </p:spPr>
      </p:sp>
      <p:sp>
        <p:nvSpPr>
          <p:cNvPr id="7" name="s16-texto-6"/>
          <p:cNvSpPr txBox="1"/>
          <p:nvPr/>
        </p:nvSpPr>
        <p:spPr>
          <a:xfrm>
            <a:off x="853390" y="2960889"/>
            <a:ext cx="7149222" cy="634151"/>
          </a:xfrm>
          <a:prstGeom prst="rect">
            <a:avLst/>
          </a:prstGeom>
          <a:noFill/>
          <a:ln/>
        </p:spPr>
        <p:txBody>
          <a:bodyPr wrap="non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Atacar y defender</a:t>
            </a:r>
            <a:endParaRPr lang="en-US" sz="4242" dirty="0"/>
          </a:p>
        </p:txBody>
      </p:sp>
      <p:sp>
        <p:nvSpPr>
          <p:cNvPr id="8" name="s16-texto-7"/>
          <p:cNvSpPr txBox="1"/>
          <p:nvPr/>
        </p:nvSpPr>
        <p:spPr>
          <a:xfrm>
            <a:off x="853390" y="3969960"/>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HU-99 y un contexto envenenado, con y sin defensas.</a:t>
            </a:r>
            <a:endParaRPr lang="en-US" sz="1676" dirty="0"/>
          </a:p>
        </p:txBody>
      </p:sp>
      <p:pic>
        <p:nvPicPr>
          <p:cNvPr id="9" name="s16-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16-forma-9"/>
          <p:cNvSpPr/>
          <p:nvPr/>
        </p:nvSpPr>
        <p:spPr>
          <a:xfrm>
            <a:off x="1659380" y="6519865"/>
            <a:ext cx="3578704" cy="102835"/>
          </a:xfrm>
          <a:prstGeom prst="rect">
            <a:avLst/>
          </a:prstGeom>
          <a:ln/>
        </p:spPr>
      </p:sp>
      <p:sp>
        <p:nvSpPr>
          <p:cNvPr id="11" name="s16-forma-10"/>
          <p:cNvSpPr/>
          <p:nvPr/>
        </p:nvSpPr>
        <p:spPr>
          <a:xfrm>
            <a:off x="1659380" y="6519865"/>
            <a:ext cx="5713" cy="102835"/>
          </a:xfrm>
          <a:prstGeom prst="rect">
            <a:avLst/>
          </a:prstGeom>
          <a:solidFill>
            <a:srgbClr val="C6BFAE"/>
          </a:solidFill>
          <a:ln/>
        </p:spPr>
      </p:sp>
      <p:sp>
        <p:nvSpPr>
          <p:cNvPr id="12" name="s16-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16-texto-1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16 / 22</a:t>
            </a:r>
            <a:endParaRPr lang="en-US" sz="745" dirty="0"/>
          </a:p>
        </p:txBody>
      </p:sp>
      <p:sp>
        <p:nvSpPr>
          <p:cNvPr id="14" name="s16-forma-13"/>
          <p:cNvSpPr/>
          <p:nvPr/>
        </p:nvSpPr>
        <p:spPr>
          <a:xfrm>
            <a:off x="0" y="0"/>
            <a:ext cx="8866687" cy="17139"/>
          </a:xfrm>
          <a:prstGeom prst="rect">
            <a:avLst/>
          </a:prstGeom>
          <a:solidFill>
            <a:srgbClr val="0033A0"/>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p:bgPr>
    </p:bg>
    <p:spTree>
      <p:nvGrpSpPr>
        <p:cNvPr id="1" name=""/>
        <p:cNvGrpSpPr/>
        <p:nvPr/>
      </p:nvGrpSpPr>
      <p:grpSpPr>
        <a:xfrm>
          <a:off x="0" y="0"/>
          <a:ext cx="0" cy="0"/>
          <a:chOff x="0" y="0"/>
          <a:chExt cx="0" cy="0"/>
        </a:xfrm>
      </p:grpSpPr>
      <p:sp>
        <p:nvSpPr>
          <p:cNvPr id="2" name="s17-forma-1"/>
          <p:cNvSpPr/>
          <p:nvPr/>
        </p:nvSpPr>
        <p:spPr>
          <a:xfrm>
            <a:off x="853390" y="331715"/>
            <a:ext cx="81411" cy="81411"/>
          </a:xfrm>
          <a:prstGeom prst="ellipse">
            <a:avLst/>
          </a:prstGeom>
          <a:solidFill>
            <a:srgbClr val="984514"/>
          </a:solidFill>
          <a:ln/>
        </p:spPr>
      </p:sp>
      <p:sp>
        <p:nvSpPr>
          <p:cNvPr id="3" name="s17-texto-2"/>
          <p:cNvSpPr txBox="1"/>
          <p:nvPr/>
        </p:nvSpPr>
        <p:spPr>
          <a:xfrm>
            <a:off x="1007018" y="315290"/>
            <a:ext cx="369654"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984514"/>
                </a:solidFill>
                <a:latin typeface="Courier New" pitchFamily="34" charset="0"/>
                <a:ea typeface="Courier New" pitchFamily="34" charset="-122"/>
                <a:cs typeface="Courier New" pitchFamily="34" charset="-120"/>
              </a:rPr>
              <a:t>RETA</a:t>
            </a:r>
            <a:endParaRPr lang="en-US" sz="807" dirty="0"/>
          </a:p>
        </p:txBody>
      </p:sp>
      <p:sp>
        <p:nvSpPr>
          <p:cNvPr id="4" name="s17-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5" name="s17-texto-4"/>
          <p:cNvSpPr txBox="1"/>
          <p:nvPr/>
        </p:nvSpPr>
        <p:spPr>
          <a:xfrm>
            <a:off x="853390" y="238895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LABORATORIO 4C Y EVALUACIÓN</a:t>
            </a:r>
            <a:endParaRPr lang="en-US" sz="869" dirty="0"/>
          </a:p>
        </p:txBody>
      </p:sp>
      <p:sp>
        <p:nvSpPr>
          <p:cNvPr id="6" name="s17-forma-5"/>
          <p:cNvSpPr/>
          <p:nvPr/>
        </p:nvSpPr>
        <p:spPr>
          <a:xfrm>
            <a:off x="853390" y="4059138"/>
            <a:ext cx="722704" cy="22852"/>
          </a:xfrm>
          <a:prstGeom prst="rect">
            <a:avLst/>
          </a:prstGeom>
          <a:solidFill>
            <a:srgbClr val="0033A0"/>
          </a:solidFill>
          <a:ln/>
        </p:spPr>
      </p:sp>
      <p:sp>
        <p:nvSpPr>
          <p:cNvPr id="7" name="s17-texto-6"/>
          <p:cNvSpPr txBox="1"/>
          <p:nvPr/>
        </p:nvSpPr>
        <p:spPr>
          <a:xfrm>
            <a:off x="853390" y="2669968"/>
            <a:ext cx="7149222" cy="1215902"/>
          </a:xfrm>
          <a:prstGeom prst="rect">
            <a:avLst/>
          </a:prstGeom>
          <a:noFill/>
          <a:ln/>
        </p:spPr>
        <p:txBody>
          <a:bodyPr wrap="squar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Reporte de seguridad y reto HU-10</a:t>
            </a:r>
            <a:endParaRPr lang="en-US" sz="4242" dirty="0"/>
          </a:p>
        </p:txBody>
      </p:sp>
      <p:sp>
        <p:nvSpPr>
          <p:cNvPr id="8" name="s17-texto-7"/>
          <p:cNvSpPr txBox="1"/>
          <p:nvPr/>
        </p:nvSpPr>
        <p:spPr>
          <a:xfrm>
            <a:off x="853390" y="426079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Tabla de ataques, checklist de producción, examen y reto.</a:t>
            </a:r>
            <a:endParaRPr lang="en-US" sz="1676" dirty="0"/>
          </a:p>
        </p:txBody>
      </p:sp>
      <p:pic>
        <p:nvPicPr>
          <p:cNvPr id="9" name="s17-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17-forma-9"/>
          <p:cNvSpPr/>
          <p:nvPr/>
        </p:nvSpPr>
        <p:spPr>
          <a:xfrm>
            <a:off x="1659380" y="6519865"/>
            <a:ext cx="3578704" cy="102835"/>
          </a:xfrm>
          <a:prstGeom prst="rect">
            <a:avLst/>
          </a:prstGeom>
          <a:ln/>
        </p:spPr>
      </p:sp>
      <p:sp>
        <p:nvSpPr>
          <p:cNvPr id="11" name="s17-forma-10"/>
          <p:cNvSpPr/>
          <p:nvPr/>
        </p:nvSpPr>
        <p:spPr>
          <a:xfrm>
            <a:off x="1659380" y="6519865"/>
            <a:ext cx="5713" cy="102835"/>
          </a:xfrm>
          <a:prstGeom prst="rect">
            <a:avLst/>
          </a:prstGeom>
          <a:solidFill>
            <a:srgbClr val="C6BFAE"/>
          </a:solidFill>
          <a:ln/>
        </p:spPr>
      </p:sp>
      <p:sp>
        <p:nvSpPr>
          <p:cNvPr id="12" name="s17-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17-texto-1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17 / 22</a:t>
            </a:r>
            <a:endParaRPr lang="en-US" sz="745" dirty="0"/>
          </a:p>
        </p:txBody>
      </p:sp>
      <p:sp>
        <p:nvSpPr>
          <p:cNvPr id="14" name="s17-forma-13"/>
          <p:cNvSpPr/>
          <p:nvPr/>
        </p:nvSpPr>
        <p:spPr>
          <a:xfrm>
            <a:off x="0" y="0"/>
            <a:ext cx="9420855" cy="17139"/>
          </a:xfrm>
          <a:prstGeom prst="rect">
            <a:avLst/>
          </a:prstGeom>
          <a:solidFill>
            <a:srgbClr val="0033A0"/>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sp>
      <p:sp>
        <p:nvSpPr>
          <p:cNvPr id="3" name="s18-forma-2"/>
          <p:cNvSpPr/>
          <p:nvPr/>
        </p:nvSpPr>
        <p:spPr>
          <a:xfrm>
            <a:off x="853390" y="331715"/>
            <a:ext cx="81411" cy="81411"/>
          </a:xfrm>
          <a:prstGeom prst="ellipse">
            <a:avLst/>
          </a:prstGeom>
          <a:solidFill>
            <a:srgbClr val="984514"/>
          </a:solidFill>
          <a:ln/>
        </p:spPr>
      </p:sp>
      <p:sp>
        <p:nvSpPr>
          <p:cNvPr id="4" name="s18-texto-3"/>
          <p:cNvSpPr txBox="1"/>
          <p:nvPr/>
        </p:nvSpPr>
        <p:spPr>
          <a:xfrm>
            <a:off x="1007018" y="315290"/>
            <a:ext cx="369654"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984514"/>
                </a:solidFill>
                <a:latin typeface="Courier New" pitchFamily="34" charset="0"/>
                <a:ea typeface="Courier New" pitchFamily="34" charset="-122"/>
                <a:cs typeface="Courier New" pitchFamily="34" charset="-120"/>
              </a:rPr>
              <a:t>RETA</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EVALUACIÓN INDIVIDUAL</a:t>
            </a:r>
            <a:endParaRPr lang="en-US" sz="900" dirty="0"/>
          </a:p>
        </p:txBody>
      </p:sp>
      <p:sp>
        <p:nvSpPr>
          <p:cNvPr id="7" name="s18-texto-6"/>
          <p:cNvSpPr txBox="1"/>
          <p:nvPr/>
        </p:nvSpPr>
        <p:spPr>
          <a:xfrm>
            <a:off x="1342572" y="1451120"/>
            <a:ext cx="10076945" cy="394202"/>
          </a:xfrm>
          <a:prstGeom prst="rect">
            <a:avLst/>
          </a:prstGeom>
          <a:noFill/>
          <a:ln/>
        </p:spPr>
        <p:txBody>
          <a:bodyPr wrap="none" lIns="0" tIns="0" rIns="0" bIns="0" rtlCol="0" anchor="t"/>
          <a:lstStyle/>
          <a:p>
            <a:pPr algn="l" indent="0" marL="0">
              <a:lnSpc>
                <a:spcPts val="2920"/>
              </a:lnSpc>
              <a:buNone/>
            </a:pPr>
            <a:r>
              <a:rPr lang="en-US" sz="2654" b="1" spc="-27" kern="0" dirty="0">
                <a:solidFill>
                  <a:srgbClr val="16181D"/>
                </a:solidFill>
                <a:latin typeface="Georgia" pitchFamily="34" charset="0"/>
                <a:ea typeface="Georgia" pitchFamily="34" charset="-122"/>
                <a:cs typeface="Georgia" pitchFamily="34" charset="-120"/>
              </a:rPr>
              <a:t>Un examen de conceptos y un reto que los aplica</a:t>
            </a:r>
            <a:endParaRPr lang="en-US" sz="2654" dirty="0"/>
          </a:p>
        </p:txBody>
      </p:sp>
      <p:sp>
        <p:nvSpPr>
          <p:cNvPr id="8" name="s18-forma-7"/>
          <p:cNvSpPr/>
          <p:nvPr/>
        </p:nvSpPr>
        <p:spPr>
          <a:xfrm>
            <a:off x="1342572" y="2113212"/>
            <a:ext cx="4616162" cy="2139902"/>
          </a:xfrm>
          <a:prstGeom prst="rect">
            <a:avLst/>
          </a:prstGeom>
          <a:solidFill>
            <a:srgbClr val="E3DCCB"/>
          </a:solidFill>
          <a:ln w="5713">
            <a:solidFill>
              <a:srgbClr val="C6BFAE"/>
            </a:solidFill>
            <a:prstDash val="solid"/>
          </a:ln>
        </p:spPr>
      </p:sp>
      <p:sp>
        <p:nvSpPr>
          <p:cNvPr id="9" name="s18-texto-8"/>
          <p:cNvSpPr txBox="1"/>
          <p:nvPr/>
        </p:nvSpPr>
        <p:spPr>
          <a:xfrm>
            <a:off x="1576808" y="2296030"/>
            <a:ext cx="4396552" cy="645577"/>
          </a:xfrm>
          <a:prstGeom prst="rect">
            <a:avLst/>
          </a:prstGeom>
          <a:noFill/>
          <a:ln/>
        </p:spPr>
        <p:txBody>
          <a:bodyPr wrap="none" lIns="0" tIns="0" rIns="0" bIns="0" rtlCol="0" anchor="t"/>
          <a:lstStyle/>
          <a:p>
            <a:pPr algn="l" indent="0" marL="0">
              <a:lnSpc>
                <a:spcPts val="4319"/>
              </a:lnSpc>
              <a:buNone/>
            </a:pPr>
            <a:r>
              <a:rPr lang="en-US" sz="4319" b="1" dirty="0">
                <a:solidFill>
                  <a:srgbClr val="585E6F"/>
                </a:solidFill>
                <a:latin typeface="Georgia" pitchFamily="34" charset="0"/>
                <a:ea typeface="Georgia" pitchFamily="34" charset="-122"/>
                <a:cs typeface="Georgia" pitchFamily="34" charset="-120"/>
              </a:rPr>
              <a:t>40%</a:t>
            </a:r>
            <a:endParaRPr lang="en-US" sz="4319" dirty="0"/>
          </a:p>
        </p:txBody>
      </p:sp>
      <p:sp>
        <p:nvSpPr>
          <p:cNvPr id="10" name="s18-texto-9"/>
          <p:cNvSpPr txBox="1"/>
          <p:nvPr/>
        </p:nvSpPr>
        <p:spPr>
          <a:xfrm>
            <a:off x="1576808" y="2987312"/>
            <a:ext cx="4396552" cy="268514"/>
          </a:xfrm>
          <a:prstGeom prst="rect">
            <a:avLst/>
          </a:prstGeom>
          <a:noFill/>
          <a:ln/>
        </p:spPr>
        <p:txBody>
          <a:bodyPr wrap="none" lIns="0" tIns="0" rIns="0" bIns="0" rtlCol="0" anchor="t"/>
          <a:lstStyle/>
          <a:p>
            <a:pPr algn="l" indent="0" marL="0">
              <a:lnSpc>
                <a:spcPts val="2159"/>
              </a:lnSpc>
              <a:buNone/>
            </a:pPr>
            <a:r>
              <a:rPr lang="en-US" sz="1799" b="1" spc="-18" kern="0" dirty="0">
                <a:solidFill>
                  <a:srgbClr val="16181D"/>
                </a:solidFill>
                <a:latin typeface="Georgia" pitchFamily="34" charset="0"/>
                <a:ea typeface="Georgia" pitchFamily="34" charset="-122"/>
                <a:cs typeface="Georgia" pitchFamily="34" charset="-120"/>
              </a:rPr>
              <a:t>EXAMEN DE CONCEPTOS</a:t>
            </a:r>
            <a:endParaRPr lang="en-US" sz="1799" dirty="0"/>
          </a:p>
        </p:txBody>
      </p:sp>
      <p:sp>
        <p:nvSpPr>
          <p:cNvPr id="11" name="s18-texto-10"/>
          <p:cNvSpPr txBox="1"/>
          <p:nvPr/>
        </p:nvSpPr>
        <p:spPr>
          <a:xfrm>
            <a:off x="1576808" y="3370087"/>
            <a:ext cx="4396552" cy="624867"/>
          </a:xfrm>
          <a:prstGeom prst="rect">
            <a:avLst/>
          </a:prstGeom>
          <a:noFill/>
          <a:ln/>
        </p:spPr>
        <p:txBody>
          <a:bodyPr wrap="square" lIns="0" tIns="0" rIns="0" bIns="0" rtlCol="0" anchor="t"/>
          <a:lstStyle/>
          <a:p>
            <a:pPr algn="l" indent="0" marL="0">
              <a:lnSpc>
                <a:spcPts val="1763"/>
              </a:lnSpc>
              <a:buNone/>
            </a:pPr>
            <a:r>
              <a:rPr lang="en-US" sz="1260" dirty="0">
                <a:solidFill>
                  <a:srgbClr val="585E6F"/>
                </a:solidFill>
                <a:latin typeface="Arial" pitchFamily="34" charset="0"/>
                <a:ea typeface="Arial" pitchFamily="34" charset="-122"/>
                <a:cs typeface="Arial" pitchFamily="34" charset="-120"/>
              </a:rPr>
              <a:t>20 preguntas de opción múltiple en 30 minutos: agentes, salidas estructuradas, orquestación y humano, arquitecturas y seguridad.</a:t>
            </a:r>
            <a:endParaRPr lang="en-US" sz="1260" dirty="0"/>
          </a:p>
        </p:txBody>
      </p:sp>
      <p:sp>
        <p:nvSpPr>
          <p:cNvPr id="12" name="s18-forma-11"/>
          <p:cNvSpPr/>
          <p:nvPr/>
        </p:nvSpPr>
        <p:spPr>
          <a:xfrm>
            <a:off x="6232961" y="2113212"/>
            <a:ext cx="4616162" cy="2139902"/>
          </a:xfrm>
          <a:prstGeom prst="rect">
            <a:avLst/>
          </a:prstGeom>
          <a:solidFill>
            <a:srgbClr val="E2D3C2"/>
          </a:solidFill>
          <a:ln w="5713">
            <a:solidFill>
              <a:srgbClr val="984514"/>
            </a:solidFill>
            <a:prstDash val="solid"/>
          </a:ln>
        </p:spPr>
      </p:sp>
      <p:sp>
        <p:nvSpPr>
          <p:cNvPr id="13" name="s18-texto-12"/>
          <p:cNvSpPr txBox="1"/>
          <p:nvPr/>
        </p:nvSpPr>
        <p:spPr>
          <a:xfrm>
            <a:off x="6467197" y="2296030"/>
            <a:ext cx="4396552" cy="645577"/>
          </a:xfrm>
          <a:prstGeom prst="rect">
            <a:avLst/>
          </a:prstGeom>
          <a:noFill/>
          <a:ln/>
        </p:spPr>
        <p:txBody>
          <a:bodyPr wrap="none" lIns="0" tIns="0" rIns="0" bIns="0" rtlCol="0" anchor="t"/>
          <a:lstStyle/>
          <a:p>
            <a:pPr algn="l" indent="0" marL="0">
              <a:lnSpc>
                <a:spcPts val="4319"/>
              </a:lnSpc>
              <a:buNone/>
            </a:pPr>
            <a:r>
              <a:rPr lang="en-US" sz="4319" b="1" dirty="0">
                <a:solidFill>
                  <a:srgbClr val="984514"/>
                </a:solidFill>
                <a:latin typeface="Georgia" pitchFamily="34" charset="0"/>
                <a:ea typeface="Georgia" pitchFamily="34" charset="-122"/>
                <a:cs typeface="Georgia" pitchFamily="34" charset="-120"/>
              </a:rPr>
              <a:t>60%</a:t>
            </a:r>
            <a:endParaRPr lang="en-US" sz="4319" dirty="0"/>
          </a:p>
        </p:txBody>
      </p:sp>
      <p:sp>
        <p:nvSpPr>
          <p:cNvPr id="14" name="s18-texto-13"/>
          <p:cNvSpPr txBox="1"/>
          <p:nvPr/>
        </p:nvSpPr>
        <p:spPr>
          <a:xfrm>
            <a:off x="6467197" y="2987312"/>
            <a:ext cx="4396552" cy="268514"/>
          </a:xfrm>
          <a:prstGeom prst="rect">
            <a:avLst/>
          </a:prstGeom>
          <a:noFill/>
          <a:ln/>
        </p:spPr>
        <p:txBody>
          <a:bodyPr wrap="none" lIns="0" tIns="0" rIns="0" bIns="0" rtlCol="0" anchor="t"/>
          <a:lstStyle/>
          <a:p>
            <a:pPr algn="l" indent="0" marL="0">
              <a:lnSpc>
                <a:spcPts val="2159"/>
              </a:lnSpc>
              <a:buNone/>
            </a:pPr>
            <a:r>
              <a:rPr lang="en-US" sz="1799" b="1" spc="-18" kern="0" dirty="0">
                <a:solidFill>
                  <a:srgbClr val="16181D"/>
                </a:solidFill>
                <a:latin typeface="Georgia" pitchFamily="34" charset="0"/>
                <a:ea typeface="Georgia" pitchFamily="34" charset="-122"/>
                <a:cs typeface="Georgia" pitchFamily="34" charset="-120"/>
              </a:rPr>
              <a:t>RETO EN CÓDIGO</a:t>
            </a:r>
            <a:endParaRPr lang="en-US" sz="1799" dirty="0"/>
          </a:p>
        </p:txBody>
      </p:sp>
      <p:sp>
        <p:nvSpPr>
          <p:cNvPr id="15" name="s18-texto-14"/>
          <p:cNvSpPr txBox="1"/>
          <p:nvPr/>
        </p:nvSpPr>
        <p:spPr>
          <a:xfrm>
            <a:off x="6467197" y="3370087"/>
            <a:ext cx="4396552" cy="624867"/>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Tu fábrica de los labs procesa una historia nueva, </a:t>
            </a:r>
            <a:pPr algn="l" indent="0" marL="0">
              <a:lnSpc>
                <a:spcPts val="1763"/>
              </a:lnSpc>
              <a:buNone/>
            </a:pPr>
            <a:r>
              <a:rPr lang="en-US" sz="1260" b="1" dirty="0">
                <a:solidFill>
                  <a:srgbClr val="0033A0"/>
                </a:solidFill>
                <a:latin typeface="Arial" pitchFamily="34" charset="0"/>
                <a:ea typeface="Arial" pitchFamily="34" charset="-122"/>
                <a:cs typeface="Arial" pitchFamily="34" charset="-120"/>
              </a:rPr>
              <a:t>HU-10 Solicitar vacaciones</a:t>
            </a:r>
            <a:pPr algn="l" indent="0" marL="0">
              <a:lnSpc>
                <a:spcPts val="1763"/>
              </a:lnSpc>
              <a:buNone/>
            </a:pPr>
            <a:r>
              <a:rPr lang="en-US" sz="1260" dirty="0">
                <a:solidFill>
                  <a:srgbClr val="16181D"/>
                </a:solidFill>
                <a:latin typeface="Arial" pitchFamily="34" charset="0"/>
                <a:ea typeface="Arial" pitchFamily="34" charset="-122"/>
                <a:cs typeface="Arial" pitchFamily="34" charset="-120"/>
              </a:rPr>
              <a:t>, de los criterios a las pruebas. Una semana.</a:t>
            </a:r>
            <a:endParaRPr lang="en-US" sz="1260" dirty="0"/>
          </a:p>
        </p:txBody>
      </p:sp>
      <p:sp>
        <p:nvSpPr>
          <p:cNvPr id="16" name="s18-texto-15"/>
          <p:cNvSpPr txBox="1"/>
          <p:nvPr/>
        </p:nvSpPr>
        <p:spPr>
          <a:xfrm>
            <a:off x="1342572" y="4550194"/>
            <a:ext cx="10076945" cy="177105"/>
          </a:xfrm>
          <a:prstGeom prst="rect">
            <a:avLst/>
          </a:prstGeom>
          <a:noFill/>
          <a:ln/>
        </p:spPr>
        <p:txBody>
          <a:bodyPr wrap="non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Los entregables y quizzes de cada sesión son práctica: preparan el examen y el reto.</a:t>
            </a:r>
            <a:endParaRPr lang="en-US" sz="1260" dirty="0"/>
          </a:p>
        </p:txBody>
      </p:sp>
      <p:sp>
        <p:nvSpPr>
          <p:cNvPr id="17" name="s18-texto-16"/>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Integridad: nada en app/ ni en salida/ se edita a mano; la bitácora y la auditoría lo muestran</a:t>
            </a:r>
            <a:endParaRPr lang="en-US" sz="1080" dirty="0"/>
          </a:p>
        </p:txBody>
      </p:sp>
      <p:sp>
        <p:nvSpPr>
          <p:cNvPr id="18" name="s18-forma-17"/>
          <p:cNvSpPr/>
          <p:nvPr/>
        </p:nvSpPr>
        <p:spPr>
          <a:xfrm>
            <a:off x="853390" y="6411138"/>
            <a:ext cx="10484915" cy="5713"/>
          </a:xfrm>
          <a:prstGeom prst="rect">
            <a:avLst/>
          </a:prstGeom>
          <a:solidFill>
            <a:srgbClr val="DBD4C4"/>
          </a:solidFill>
          <a:ln/>
        </p:spPr>
      </p:sp>
      <p:pic>
        <p:nvPicPr>
          <p:cNvPr id="19" name="s18-logo-1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20" name="s18-forma-19"/>
          <p:cNvSpPr/>
          <p:nvPr/>
        </p:nvSpPr>
        <p:spPr>
          <a:xfrm>
            <a:off x="1659380" y="6519865"/>
            <a:ext cx="3578704" cy="102835"/>
          </a:xfrm>
          <a:prstGeom prst="rect">
            <a:avLst/>
          </a:prstGeom>
          <a:ln/>
        </p:spPr>
      </p:sp>
      <p:sp>
        <p:nvSpPr>
          <p:cNvPr id="21" name="s18-forma-20"/>
          <p:cNvSpPr/>
          <p:nvPr/>
        </p:nvSpPr>
        <p:spPr>
          <a:xfrm>
            <a:off x="1659380" y="6519865"/>
            <a:ext cx="5713" cy="102835"/>
          </a:xfrm>
          <a:prstGeom prst="rect">
            <a:avLst/>
          </a:prstGeom>
          <a:solidFill>
            <a:srgbClr val="C6BFAE"/>
          </a:solidFill>
          <a:ln/>
        </p:spPr>
      </p:sp>
      <p:sp>
        <p:nvSpPr>
          <p:cNvPr id="22" name="s18-texto-2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23" name="s18-texto-2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18 / 22</a:t>
            </a:r>
            <a:endParaRPr lang="en-US" sz="745" dirty="0"/>
          </a:p>
        </p:txBody>
      </p:sp>
      <p:sp>
        <p:nvSpPr>
          <p:cNvPr id="24" name="s18-forma-23"/>
          <p:cNvSpPr/>
          <p:nvPr/>
        </p:nvSpPr>
        <p:spPr>
          <a:xfrm>
            <a:off x="0" y="0"/>
            <a:ext cx="9975023" cy="17139"/>
          </a:xfrm>
          <a:prstGeom prst="rect">
            <a:avLst/>
          </a:prstGeom>
          <a:solidFill>
            <a:srgbClr val="0033A0"/>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sp>
      <p:sp>
        <p:nvSpPr>
          <p:cNvPr id="3" name="s19-forma-2"/>
          <p:cNvSpPr/>
          <p:nvPr/>
        </p:nvSpPr>
        <p:spPr>
          <a:xfrm>
            <a:off x="853390" y="331715"/>
            <a:ext cx="81411" cy="81411"/>
          </a:xfrm>
          <a:prstGeom prst="ellipse">
            <a:avLst/>
          </a:prstGeom>
          <a:solidFill>
            <a:srgbClr val="984514"/>
          </a:solidFill>
          <a:ln/>
        </p:spPr>
      </p:sp>
      <p:sp>
        <p:nvSpPr>
          <p:cNvPr id="4" name="s19-texto-3"/>
          <p:cNvSpPr txBox="1"/>
          <p:nvPr/>
        </p:nvSpPr>
        <p:spPr>
          <a:xfrm>
            <a:off x="1007018" y="315290"/>
            <a:ext cx="369654"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984514"/>
                </a:solidFill>
                <a:latin typeface="Courier New" pitchFamily="34" charset="0"/>
                <a:ea typeface="Courier New" pitchFamily="34" charset="-122"/>
                <a:cs typeface="Courier New" pitchFamily="34" charset="-120"/>
              </a:rPr>
              <a:t>RETA</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RETO EN CÓDIGO · 60 %</a:t>
            </a:r>
            <a:endParaRPr lang="en-US" sz="900" dirty="0"/>
          </a:p>
        </p:txBody>
      </p:sp>
      <p:sp>
        <p:nvSpPr>
          <p:cNvPr id="7" name="s19-texto-6"/>
          <p:cNvSpPr txBox="1"/>
          <p:nvPr/>
        </p:nvSpPr>
        <p:spPr>
          <a:xfrm>
            <a:off x="1342572" y="1451120"/>
            <a:ext cx="10076945" cy="394202"/>
          </a:xfrm>
          <a:prstGeom prst="rect">
            <a:avLst/>
          </a:prstGeom>
          <a:noFill/>
          <a:ln/>
        </p:spPr>
        <p:txBody>
          <a:bodyPr wrap="none" lIns="0" tIns="0" rIns="0" bIns="0" rtlCol="0" anchor="t"/>
          <a:lstStyle/>
          <a:p>
            <a:pPr algn="l" indent="0" marL="0">
              <a:lnSpc>
                <a:spcPts val="2920"/>
              </a:lnSpc>
              <a:buNone/>
            </a:pPr>
            <a:r>
              <a:rPr lang="en-US" sz="2654" b="1" spc="-27" kern="0" dirty="0">
                <a:solidFill>
                  <a:srgbClr val="16181D"/>
                </a:solidFill>
                <a:latin typeface="Georgia" pitchFamily="34" charset="0"/>
                <a:ea typeface="Georgia" pitchFamily="34" charset="-122"/>
                <a:cs typeface="Georgia" pitchFamily="34" charset="-120"/>
              </a:rPr>
              <a:t>HU-10 Solicitar vacaciones, por toda tu fábrica</a:t>
            </a:r>
            <a:endParaRPr lang="en-US" sz="2654" dirty="0"/>
          </a:p>
        </p:txBody>
      </p:sp>
      <p:sp>
        <p:nvSpPr>
          <p:cNvPr id="8" name="s19-forma-7"/>
          <p:cNvSpPr/>
          <p:nvPr/>
        </p:nvSpPr>
        <p:spPr>
          <a:xfrm>
            <a:off x="1342572" y="2113212"/>
            <a:ext cx="3077382" cy="1112799"/>
          </a:xfrm>
          <a:prstGeom prst="rect">
            <a:avLst/>
          </a:prstGeom>
          <a:solidFill>
            <a:srgbClr val="E3DCCB"/>
          </a:solidFill>
          <a:ln w="5713">
            <a:solidFill>
              <a:srgbClr val="C6BFAE"/>
            </a:solidFill>
            <a:prstDash val="solid"/>
          </a:ln>
        </p:spPr>
      </p:sp>
      <p:sp>
        <p:nvSpPr>
          <p:cNvPr id="9" name="s19-texto-8"/>
          <p:cNvSpPr txBox="1"/>
          <p:nvPr/>
        </p:nvSpPr>
        <p:spPr>
          <a:xfrm>
            <a:off x="1531103" y="2301743"/>
            <a:ext cx="2862338" cy="228523"/>
          </a:xfrm>
          <a:prstGeom prst="rect">
            <a:avLst/>
          </a:prstGeom>
          <a:noFill/>
          <a:ln/>
        </p:spPr>
        <p:txBody>
          <a:bodyPr wrap="none" lIns="0" tIns="0" rIns="0" bIns="0" rtlCol="0" anchor="t"/>
          <a:lstStyle/>
          <a:p>
            <a:pPr algn="l" indent="0" marL="0">
              <a:lnSpc>
                <a:spcPts val="1835"/>
              </a:lnSpc>
              <a:buNone/>
            </a:pPr>
            <a:r>
              <a:rPr lang="en-US" sz="1530" b="1" spc="-15" kern="0" dirty="0">
                <a:solidFill>
                  <a:srgbClr val="16181D"/>
                </a:solidFill>
                <a:latin typeface="Georgia" pitchFamily="34" charset="0"/>
                <a:ea typeface="Georgia" pitchFamily="34" charset="-122"/>
                <a:cs typeface="Georgia" pitchFamily="34" charset="-120"/>
              </a:rPr>
              <a:t>ANTIGÜEDAD</a:t>
            </a:r>
            <a:endParaRPr lang="en-US" sz="1530" dirty="0"/>
          </a:p>
        </p:txBody>
      </p:sp>
      <p:sp>
        <p:nvSpPr>
          <p:cNvPr id="10" name="s19-texto-9"/>
          <p:cNvSpPr txBox="1"/>
          <p:nvPr/>
        </p:nvSpPr>
        <p:spPr>
          <a:xfrm>
            <a:off x="1531103" y="2638814"/>
            <a:ext cx="2862338"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Al menos un año cumplido a la fecha de inicio de las vacaciones</a:t>
            </a:r>
            <a:endParaRPr lang="en-US" sz="1170" dirty="0"/>
          </a:p>
        </p:txBody>
      </p:sp>
      <p:sp>
        <p:nvSpPr>
          <p:cNvPr id="11" name="s19-forma-10"/>
          <p:cNvSpPr/>
          <p:nvPr/>
        </p:nvSpPr>
        <p:spPr>
          <a:xfrm>
            <a:off x="4557067" y="2113212"/>
            <a:ext cx="3077471" cy="1112799"/>
          </a:xfrm>
          <a:prstGeom prst="rect">
            <a:avLst/>
          </a:prstGeom>
          <a:solidFill>
            <a:srgbClr val="E3DCCB"/>
          </a:solidFill>
          <a:ln w="5713">
            <a:solidFill>
              <a:srgbClr val="C6BFAE"/>
            </a:solidFill>
            <a:prstDash val="solid"/>
          </a:ln>
        </p:spPr>
      </p:sp>
      <p:sp>
        <p:nvSpPr>
          <p:cNvPr id="12" name="s19-texto-11"/>
          <p:cNvSpPr txBox="1"/>
          <p:nvPr/>
        </p:nvSpPr>
        <p:spPr>
          <a:xfrm>
            <a:off x="4745599" y="2301743"/>
            <a:ext cx="2862433" cy="228523"/>
          </a:xfrm>
          <a:prstGeom prst="rect">
            <a:avLst/>
          </a:prstGeom>
          <a:noFill/>
          <a:ln/>
        </p:spPr>
        <p:txBody>
          <a:bodyPr wrap="none" lIns="0" tIns="0" rIns="0" bIns="0" rtlCol="0" anchor="t"/>
          <a:lstStyle/>
          <a:p>
            <a:pPr algn="l" indent="0" marL="0">
              <a:lnSpc>
                <a:spcPts val="1835"/>
              </a:lnSpc>
              <a:buNone/>
            </a:pPr>
            <a:r>
              <a:rPr lang="en-US" sz="1530" b="1" spc="-15" kern="0" dirty="0">
                <a:solidFill>
                  <a:srgbClr val="16181D"/>
                </a:solidFill>
                <a:latin typeface="Georgia" pitchFamily="34" charset="0"/>
                <a:ea typeface="Georgia" pitchFamily="34" charset="-122"/>
                <a:cs typeface="Georgia" pitchFamily="34" charset="-120"/>
              </a:rPr>
              <a:t>TOPE ANUAL</a:t>
            </a:r>
            <a:endParaRPr lang="en-US" sz="1530" dirty="0"/>
          </a:p>
        </p:txBody>
      </p:sp>
      <p:sp>
        <p:nvSpPr>
          <p:cNvPr id="13" name="s19-texto-12"/>
          <p:cNvSpPr txBox="1"/>
          <p:nvPr/>
        </p:nvSpPr>
        <p:spPr>
          <a:xfrm>
            <a:off x="4745599" y="2638814"/>
            <a:ext cx="2862433"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12 días hábiles por año calendario; se puede usar exactamente lo que queda</a:t>
            </a:r>
            <a:endParaRPr lang="en-US" sz="1170" dirty="0"/>
          </a:p>
        </p:txBody>
      </p:sp>
      <p:sp>
        <p:nvSpPr>
          <p:cNvPr id="14" name="s19-forma-13"/>
          <p:cNvSpPr/>
          <p:nvPr/>
        </p:nvSpPr>
        <p:spPr>
          <a:xfrm>
            <a:off x="7771652" y="2113212"/>
            <a:ext cx="3077471" cy="1112799"/>
          </a:xfrm>
          <a:prstGeom prst="rect">
            <a:avLst/>
          </a:prstGeom>
          <a:solidFill>
            <a:srgbClr val="E3DCCB"/>
          </a:solidFill>
          <a:ln w="5713">
            <a:solidFill>
              <a:srgbClr val="C6BFAE"/>
            </a:solidFill>
            <a:prstDash val="solid"/>
          </a:ln>
        </p:spPr>
      </p:sp>
      <p:sp>
        <p:nvSpPr>
          <p:cNvPr id="15" name="s19-texto-14"/>
          <p:cNvSpPr txBox="1"/>
          <p:nvPr/>
        </p:nvSpPr>
        <p:spPr>
          <a:xfrm>
            <a:off x="7960184" y="2301743"/>
            <a:ext cx="2862433" cy="228523"/>
          </a:xfrm>
          <a:prstGeom prst="rect">
            <a:avLst/>
          </a:prstGeom>
          <a:noFill/>
          <a:ln/>
        </p:spPr>
        <p:txBody>
          <a:bodyPr wrap="none" lIns="0" tIns="0" rIns="0" bIns="0" rtlCol="0" anchor="t"/>
          <a:lstStyle/>
          <a:p>
            <a:pPr algn="l" indent="0" marL="0">
              <a:lnSpc>
                <a:spcPts val="1835"/>
              </a:lnSpc>
              <a:buNone/>
            </a:pPr>
            <a:r>
              <a:rPr lang="en-US" sz="1530" b="1" spc="-15" kern="0" dirty="0">
                <a:solidFill>
                  <a:srgbClr val="16181D"/>
                </a:solidFill>
                <a:latin typeface="Georgia" pitchFamily="34" charset="0"/>
                <a:ea typeface="Georgia" pitchFamily="34" charset="-122"/>
                <a:cs typeface="Georgia" pitchFamily="34" charset="-120"/>
              </a:rPr>
              <a:t>DÍAS HÁBILES</a:t>
            </a:r>
            <a:endParaRPr lang="en-US" sz="1530" dirty="0"/>
          </a:p>
        </p:txBody>
      </p:sp>
      <p:sp>
        <p:nvSpPr>
          <p:cNvPr id="16" name="s19-texto-15"/>
          <p:cNvSpPr txBox="1"/>
          <p:nvPr/>
        </p:nvSpPr>
        <p:spPr>
          <a:xfrm>
            <a:off x="7960184" y="2638814"/>
            <a:ext cx="2862433" cy="379294"/>
          </a:xfrm>
          <a:prstGeom prst="rect">
            <a:avLst/>
          </a:prstGeom>
          <a:noFill/>
          <a:ln/>
        </p:spPr>
        <p:txBody>
          <a:bodyPr wrap="square" lIns="0" tIns="0" rIns="0" bIns="0" rtlCol="0" anchor="t"/>
          <a:lstStyle/>
          <a:p>
            <a:pPr algn="l" indent="0" marL="0">
              <a:lnSpc>
                <a:spcPts val="1637"/>
              </a:lnSpc>
              <a:buNone/>
            </a:pPr>
            <a:r>
              <a:rPr lang="en-US" sz="1170" dirty="0">
                <a:solidFill>
                  <a:srgbClr val="585E6F"/>
                </a:solidFill>
                <a:latin typeface="Arial" pitchFamily="34" charset="0"/>
                <a:ea typeface="Arial" pitchFamily="34" charset="-122"/>
                <a:cs typeface="Arial" pitchFamily="34" charset="-120"/>
              </a:rPr>
              <a:t>No cuentan sábados, domingos ni festivos oficiales (LFT, art. 74)</a:t>
            </a:r>
            <a:endParaRPr lang="en-US" sz="1170" dirty="0"/>
          </a:p>
        </p:txBody>
      </p:sp>
      <p:sp>
        <p:nvSpPr>
          <p:cNvPr id="17" name="s19-forma-16"/>
          <p:cNvSpPr/>
          <p:nvPr/>
        </p:nvSpPr>
        <p:spPr>
          <a:xfrm>
            <a:off x="1342572" y="3500238"/>
            <a:ext cx="1508251" cy="542742"/>
          </a:xfrm>
          <a:prstGeom prst="rect">
            <a:avLst/>
          </a:prstGeom>
          <a:solidFill>
            <a:srgbClr val="E8E2D5"/>
          </a:solidFill>
          <a:ln/>
        </p:spPr>
      </p:sp>
      <p:sp>
        <p:nvSpPr>
          <p:cNvPr id="18" name="s19-forma-17"/>
          <p:cNvSpPr/>
          <p:nvPr/>
        </p:nvSpPr>
        <p:spPr>
          <a:xfrm>
            <a:off x="1342572" y="3500238"/>
            <a:ext cx="1508251" cy="5713"/>
          </a:xfrm>
          <a:prstGeom prst="rect">
            <a:avLst/>
          </a:prstGeom>
          <a:solidFill>
            <a:srgbClr val="DBD4C4"/>
          </a:solidFill>
          <a:ln/>
        </p:spPr>
      </p:sp>
      <p:sp>
        <p:nvSpPr>
          <p:cNvPr id="19" name="s19-forma-18"/>
          <p:cNvSpPr/>
          <p:nvPr/>
        </p:nvSpPr>
        <p:spPr>
          <a:xfrm>
            <a:off x="1342572" y="4037267"/>
            <a:ext cx="1508251" cy="5713"/>
          </a:xfrm>
          <a:prstGeom prst="rect">
            <a:avLst/>
          </a:prstGeom>
          <a:solidFill>
            <a:srgbClr val="DBD4C4"/>
          </a:solidFill>
          <a:ln/>
        </p:spPr>
      </p:sp>
      <p:sp>
        <p:nvSpPr>
          <p:cNvPr id="20" name="s19-forma-19"/>
          <p:cNvSpPr/>
          <p:nvPr/>
        </p:nvSpPr>
        <p:spPr>
          <a:xfrm>
            <a:off x="1342572" y="3500238"/>
            <a:ext cx="17139" cy="542742"/>
          </a:xfrm>
          <a:prstGeom prst="rect">
            <a:avLst/>
          </a:prstGeom>
          <a:solidFill>
            <a:srgbClr val="C6BFAE"/>
          </a:solidFill>
          <a:ln/>
        </p:spPr>
      </p:sp>
      <p:sp>
        <p:nvSpPr>
          <p:cNvPr id="21" name="s19-forma-20"/>
          <p:cNvSpPr/>
          <p:nvPr/>
        </p:nvSpPr>
        <p:spPr>
          <a:xfrm>
            <a:off x="2845110" y="3500238"/>
            <a:ext cx="5713" cy="542742"/>
          </a:xfrm>
          <a:prstGeom prst="rect">
            <a:avLst/>
          </a:prstGeom>
          <a:solidFill>
            <a:srgbClr val="DBD4C4"/>
          </a:solidFill>
          <a:ln/>
        </p:spPr>
      </p:sp>
      <p:sp>
        <p:nvSpPr>
          <p:cNvPr id="22" name="s19-texto-21"/>
          <p:cNvSpPr txBox="1"/>
          <p:nvPr/>
        </p:nvSpPr>
        <p:spPr>
          <a:xfrm>
            <a:off x="206741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1</a:t>
            </a:r>
            <a:endParaRPr lang="en-US" sz="990" dirty="0"/>
          </a:p>
        </p:txBody>
      </p:sp>
      <p:sp>
        <p:nvSpPr>
          <p:cNvPr id="23" name="s19-texto-22"/>
          <p:cNvSpPr txBox="1"/>
          <p:nvPr/>
        </p:nvSpPr>
        <p:spPr>
          <a:xfrm>
            <a:off x="1825862" y="3768753"/>
            <a:ext cx="598712"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Criterios</a:t>
            </a:r>
            <a:endParaRPr lang="en-US" sz="1170" dirty="0"/>
          </a:p>
        </p:txBody>
      </p:sp>
      <p:sp>
        <p:nvSpPr>
          <p:cNvPr id="24" name="s19-forma-23"/>
          <p:cNvSpPr/>
          <p:nvPr/>
        </p:nvSpPr>
        <p:spPr>
          <a:xfrm>
            <a:off x="2942232" y="3500238"/>
            <a:ext cx="1508251" cy="542742"/>
          </a:xfrm>
          <a:prstGeom prst="rect">
            <a:avLst/>
          </a:prstGeom>
          <a:solidFill>
            <a:srgbClr val="E8E2D5"/>
          </a:solidFill>
          <a:ln/>
        </p:spPr>
      </p:sp>
      <p:sp>
        <p:nvSpPr>
          <p:cNvPr id="25" name="s19-forma-24"/>
          <p:cNvSpPr/>
          <p:nvPr/>
        </p:nvSpPr>
        <p:spPr>
          <a:xfrm>
            <a:off x="2942232" y="3500238"/>
            <a:ext cx="1508251" cy="5713"/>
          </a:xfrm>
          <a:prstGeom prst="rect">
            <a:avLst/>
          </a:prstGeom>
          <a:solidFill>
            <a:srgbClr val="DBD4C4"/>
          </a:solidFill>
          <a:ln/>
        </p:spPr>
      </p:sp>
      <p:sp>
        <p:nvSpPr>
          <p:cNvPr id="26" name="s19-forma-25"/>
          <p:cNvSpPr/>
          <p:nvPr/>
        </p:nvSpPr>
        <p:spPr>
          <a:xfrm>
            <a:off x="2942232" y="4037267"/>
            <a:ext cx="1508251" cy="5713"/>
          </a:xfrm>
          <a:prstGeom prst="rect">
            <a:avLst/>
          </a:prstGeom>
          <a:solidFill>
            <a:srgbClr val="DBD4C4"/>
          </a:solidFill>
          <a:ln/>
        </p:spPr>
      </p:sp>
      <p:sp>
        <p:nvSpPr>
          <p:cNvPr id="27" name="s19-forma-26"/>
          <p:cNvSpPr/>
          <p:nvPr/>
        </p:nvSpPr>
        <p:spPr>
          <a:xfrm>
            <a:off x="2942232" y="3500238"/>
            <a:ext cx="17139" cy="542742"/>
          </a:xfrm>
          <a:prstGeom prst="rect">
            <a:avLst/>
          </a:prstGeom>
          <a:solidFill>
            <a:srgbClr val="C6BFAE"/>
          </a:solidFill>
          <a:ln/>
        </p:spPr>
      </p:sp>
      <p:sp>
        <p:nvSpPr>
          <p:cNvPr id="28" name="s19-forma-27"/>
          <p:cNvSpPr/>
          <p:nvPr/>
        </p:nvSpPr>
        <p:spPr>
          <a:xfrm>
            <a:off x="4444770" y="3500238"/>
            <a:ext cx="5713" cy="542742"/>
          </a:xfrm>
          <a:prstGeom prst="rect">
            <a:avLst/>
          </a:prstGeom>
          <a:solidFill>
            <a:srgbClr val="DBD4C4"/>
          </a:solidFill>
          <a:ln/>
        </p:spPr>
      </p:sp>
      <p:sp>
        <p:nvSpPr>
          <p:cNvPr id="29" name="s19-texto-28"/>
          <p:cNvSpPr txBox="1"/>
          <p:nvPr/>
        </p:nvSpPr>
        <p:spPr>
          <a:xfrm>
            <a:off x="366707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2</a:t>
            </a:r>
            <a:endParaRPr lang="en-US" sz="990" dirty="0"/>
          </a:p>
        </p:txBody>
      </p:sp>
      <p:sp>
        <p:nvSpPr>
          <p:cNvPr id="30" name="s19-texto-29"/>
          <p:cNvSpPr txBox="1"/>
          <p:nvPr/>
        </p:nvSpPr>
        <p:spPr>
          <a:xfrm>
            <a:off x="3491490" y="3768753"/>
            <a:ext cx="466776"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Casos</a:t>
            </a:r>
            <a:endParaRPr lang="en-US" sz="1170" dirty="0"/>
          </a:p>
        </p:txBody>
      </p:sp>
      <p:sp>
        <p:nvSpPr>
          <p:cNvPr id="31" name="s19-forma-30"/>
          <p:cNvSpPr/>
          <p:nvPr/>
        </p:nvSpPr>
        <p:spPr>
          <a:xfrm>
            <a:off x="4541892" y="3500238"/>
            <a:ext cx="1508251" cy="542742"/>
          </a:xfrm>
          <a:prstGeom prst="rect">
            <a:avLst/>
          </a:prstGeom>
          <a:solidFill>
            <a:srgbClr val="E8E2D5"/>
          </a:solidFill>
          <a:ln/>
        </p:spPr>
      </p:sp>
      <p:sp>
        <p:nvSpPr>
          <p:cNvPr id="32" name="s19-forma-31"/>
          <p:cNvSpPr/>
          <p:nvPr/>
        </p:nvSpPr>
        <p:spPr>
          <a:xfrm>
            <a:off x="4541892" y="3500238"/>
            <a:ext cx="1508251" cy="5713"/>
          </a:xfrm>
          <a:prstGeom prst="rect">
            <a:avLst/>
          </a:prstGeom>
          <a:solidFill>
            <a:srgbClr val="DBD4C4"/>
          </a:solidFill>
          <a:ln/>
        </p:spPr>
      </p:sp>
      <p:sp>
        <p:nvSpPr>
          <p:cNvPr id="33" name="s19-forma-32"/>
          <p:cNvSpPr/>
          <p:nvPr/>
        </p:nvSpPr>
        <p:spPr>
          <a:xfrm>
            <a:off x="4541892" y="4037267"/>
            <a:ext cx="1508251" cy="5713"/>
          </a:xfrm>
          <a:prstGeom prst="rect">
            <a:avLst/>
          </a:prstGeom>
          <a:solidFill>
            <a:srgbClr val="DBD4C4"/>
          </a:solidFill>
          <a:ln/>
        </p:spPr>
      </p:sp>
      <p:sp>
        <p:nvSpPr>
          <p:cNvPr id="34" name="s19-forma-33"/>
          <p:cNvSpPr/>
          <p:nvPr/>
        </p:nvSpPr>
        <p:spPr>
          <a:xfrm>
            <a:off x="4541892" y="3500238"/>
            <a:ext cx="17139" cy="542742"/>
          </a:xfrm>
          <a:prstGeom prst="rect">
            <a:avLst/>
          </a:prstGeom>
          <a:solidFill>
            <a:srgbClr val="C6BFAE"/>
          </a:solidFill>
          <a:ln/>
        </p:spPr>
      </p:sp>
      <p:sp>
        <p:nvSpPr>
          <p:cNvPr id="35" name="s19-forma-34"/>
          <p:cNvSpPr/>
          <p:nvPr/>
        </p:nvSpPr>
        <p:spPr>
          <a:xfrm>
            <a:off x="6044430" y="3500238"/>
            <a:ext cx="5713" cy="542742"/>
          </a:xfrm>
          <a:prstGeom prst="rect">
            <a:avLst/>
          </a:prstGeom>
          <a:solidFill>
            <a:srgbClr val="DBD4C4"/>
          </a:solidFill>
          <a:ln/>
        </p:spPr>
      </p:sp>
      <p:sp>
        <p:nvSpPr>
          <p:cNvPr id="36" name="s19-texto-35"/>
          <p:cNvSpPr txBox="1"/>
          <p:nvPr/>
        </p:nvSpPr>
        <p:spPr>
          <a:xfrm>
            <a:off x="526673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3</a:t>
            </a:r>
            <a:endParaRPr lang="en-US" sz="990" dirty="0"/>
          </a:p>
        </p:txBody>
      </p:sp>
      <p:sp>
        <p:nvSpPr>
          <p:cNvPr id="37" name="s19-texto-36"/>
          <p:cNvSpPr txBox="1"/>
          <p:nvPr/>
        </p:nvSpPr>
        <p:spPr>
          <a:xfrm>
            <a:off x="5066334" y="3768753"/>
            <a:ext cx="516497"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Código</a:t>
            </a:r>
            <a:endParaRPr lang="en-US" sz="1170" dirty="0"/>
          </a:p>
        </p:txBody>
      </p:sp>
      <p:sp>
        <p:nvSpPr>
          <p:cNvPr id="38" name="s19-forma-37"/>
          <p:cNvSpPr/>
          <p:nvPr/>
        </p:nvSpPr>
        <p:spPr>
          <a:xfrm>
            <a:off x="6141552" y="3500238"/>
            <a:ext cx="1508251" cy="542742"/>
          </a:xfrm>
          <a:prstGeom prst="rect">
            <a:avLst/>
          </a:prstGeom>
          <a:solidFill>
            <a:srgbClr val="E8E2D5"/>
          </a:solidFill>
          <a:ln/>
        </p:spPr>
      </p:sp>
      <p:sp>
        <p:nvSpPr>
          <p:cNvPr id="39" name="s19-forma-38"/>
          <p:cNvSpPr/>
          <p:nvPr/>
        </p:nvSpPr>
        <p:spPr>
          <a:xfrm>
            <a:off x="6141552" y="3500238"/>
            <a:ext cx="1508251" cy="5713"/>
          </a:xfrm>
          <a:prstGeom prst="rect">
            <a:avLst/>
          </a:prstGeom>
          <a:solidFill>
            <a:srgbClr val="DBD4C4"/>
          </a:solidFill>
          <a:ln/>
        </p:spPr>
      </p:sp>
      <p:sp>
        <p:nvSpPr>
          <p:cNvPr id="40" name="s19-forma-39"/>
          <p:cNvSpPr/>
          <p:nvPr/>
        </p:nvSpPr>
        <p:spPr>
          <a:xfrm>
            <a:off x="6141552" y="4037267"/>
            <a:ext cx="1508251" cy="5713"/>
          </a:xfrm>
          <a:prstGeom prst="rect">
            <a:avLst/>
          </a:prstGeom>
          <a:solidFill>
            <a:srgbClr val="DBD4C4"/>
          </a:solidFill>
          <a:ln/>
        </p:spPr>
      </p:sp>
      <p:sp>
        <p:nvSpPr>
          <p:cNvPr id="41" name="s19-forma-40"/>
          <p:cNvSpPr/>
          <p:nvPr/>
        </p:nvSpPr>
        <p:spPr>
          <a:xfrm>
            <a:off x="6141552" y="3500238"/>
            <a:ext cx="17139" cy="542742"/>
          </a:xfrm>
          <a:prstGeom prst="rect">
            <a:avLst/>
          </a:prstGeom>
          <a:solidFill>
            <a:srgbClr val="C6BFAE"/>
          </a:solidFill>
          <a:ln/>
        </p:spPr>
      </p:sp>
      <p:sp>
        <p:nvSpPr>
          <p:cNvPr id="42" name="s19-forma-41"/>
          <p:cNvSpPr/>
          <p:nvPr/>
        </p:nvSpPr>
        <p:spPr>
          <a:xfrm>
            <a:off x="7644090" y="3500238"/>
            <a:ext cx="5713" cy="542742"/>
          </a:xfrm>
          <a:prstGeom prst="rect">
            <a:avLst/>
          </a:prstGeom>
          <a:solidFill>
            <a:srgbClr val="DBD4C4"/>
          </a:solidFill>
          <a:ln/>
        </p:spPr>
      </p:sp>
      <p:sp>
        <p:nvSpPr>
          <p:cNvPr id="43" name="s19-texto-42"/>
          <p:cNvSpPr txBox="1"/>
          <p:nvPr/>
        </p:nvSpPr>
        <p:spPr>
          <a:xfrm>
            <a:off x="686639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4</a:t>
            </a:r>
            <a:endParaRPr lang="en-US" sz="990" dirty="0"/>
          </a:p>
        </p:txBody>
      </p:sp>
      <p:sp>
        <p:nvSpPr>
          <p:cNvPr id="44" name="s19-texto-43"/>
          <p:cNvSpPr txBox="1"/>
          <p:nvPr/>
        </p:nvSpPr>
        <p:spPr>
          <a:xfrm>
            <a:off x="6529773" y="3768753"/>
            <a:ext cx="788940"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Despliegue</a:t>
            </a:r>
            <a:endParaRPr lang="en-US" sz="1170" dirty="0"/>
          </a:p>
        </p:txBody>
      </p:sp>
      <p:sp>
        <p:nvSpPr>
          <p:cNvPr id="45" name="s19-forma-44"/>
          <p:cNvSpPr/>
          <p:nvPr/>
        </p:nvSpPr>
        <p:spPr>
          <a:xfrm>
            <a:off x="7741212" y="3500238"/>
            <a:ext cx="1508251" cy="542742"/>
          </a:xfrm>
          <a:prstGeom prst="rect">
            <a:avLst/>
          </a:prstGeom>
          <a:solidFill>
            <a:srgbClr val="E8E2D5"/>
          </a:solidFill>
          <a:ln/>
        </p:spPr>
      </p:sp>
      <p:sp>
        <p:nvSpPr>
          <p:cNvPr id="46" name="s19-forma-45"/>
          <p:cNvSpPr/>
          <p:nvPr/>
        </p:nvSpPr>
        <p:spPr>
          <a:xfrm>
            <a:off x="7741212" y="3500238"/>
            <a:ext cx="1508251" cy="5713"/>
          </a:xfrm>
          <a:prstGeom prst="rect">
            <a:avLst/>
          </a:prstGeom>
          <a:solidFill>
            <a:srgbClr val="DBD4C4"/>
          </a:solidFill>
          <a:ln/>
        </p:spPr>
      </p:sp>
      <p:sp>
        <p:nvSpPr>
          <p:cNvPr id="47" name="s19-forma-46"/>
          <p:cNvSpPr/>
          <p:nvPr/>
        </p:nvSpPr>
        <p:spPr>
          <a:xfrm>
            <a:off x="7741212" y="4037267"/>
            <a:ext cx="1508251" cy="5713"/>
          </a:xfrm>
          <a:prstGeom prst="rect">
            <a:avLst/>
          </a:prstGeom>
          <a:solidFill>
            <a:srgbClr val="DBD4C4"/>
          </a:solidFill>
          <a:ln/>
        </p:spPr>
      </p:sp>
      <p:sp>
        <p:nvSpPr>
          <p:cNvPr id="48" name="s19-forma-47"/>
          <p:cNvSpPr/>
          <p:nvPr/>
        </p:nvSpPr>
        <p:spPr>
          <a:xfrm>
            <a:off x="7741212" y="3500238"/>
            <a:ext cx="17139" cy="542742"/>
          </a:xfrm>
          <a:prstGeom prst="rect">
            <a:avLst/>
          </a:prstGeom>
          <a:solidFill>
            <a:srgbClr val="C6BFAE"/>
          </a:solidFill>
          <a:ln/>
        </p:spPr>
      </p:sp>
      <p:sp>
        <p:nvSpPr>
          <p:cNvPr id="49" name="s19-forma-48"/>
          <p:cNvSpPr/>
          <p:nvPr/>
        </p:nvSpPr>
        <p:spPr>
          <a:xfrm>
            <a:off x="9243750" y="3500238"/>
            <a:ext cx="5713" cy="542742"/>
          </a:xfrm>
          <a:prstGeom prst="rect">
            <a:avLst/>
          </a:prstGeom>
          <a:solidFill>
            <a:srgbClr val="DBD4C4"/>
          </a:solidFill>
          <a:ln/>
        </p:spPr>
      </p:sp>
      <p:sp>
        <p:nvSpPr>
          <p:cNvPr id="50" name="s19-texto-49"/>
          <p:cNvSpPr txBox="1"/>
          <p:nvPr/>
        </p:nvSpPr>
        <p:spPr>
          <a:xfrm>
            <a:off x="846605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5</a:t>
            </a:r>
            <a:endParaRPr lang="en-US" sz="990" dirty="0"/>
          </a:p>
        </p:txBody>
      </p:sp>
      <p:sp>
        <p:nvSpPr>
          <p:cNvPr id="51" name="s19-texto-50"/>
          <p:cNvSpPr txBox="1"/>
          <p:nvPr/>
        </p:nvSpPr>
        <p:spPr>
          <a:xfrm>
            <a:off x="8224413" y="3768753"/>
            <a:ext cx="598980"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Pruebas</a:t>
            </a:r>
            <a:endParaRPr lang="en-US" sz="1170" dirty="0"/>
          </a:p>
        </p:txBody>
      </p:sp>
      <p:sp>
        <p:nvSpPr>
          <p:cNvPr id="52" name="s19-forma-51"/>
          <p:cNvSpPr/>
          <p:nvPr/>
        </p:nvSpPr>
        <p:spPr>
          <a:xfrm>
            <a:off x="9340872" y="3500238"/>
            <a:ext cx="1508251" cy="542742"/>
          </a:xfrm>
          <a:prstGeom prst="rect">
            <a:avLst/>
          </a:prstGeom>
          <a:solidFill>
            <a:srgbClr val="E8E2D5"/>
          </a:solidFill>
          <a:ln/>
        </p:spPr>
      </p:sp>
      <p:sp>
        <p:nvSpPr>
          <p:cNvPr id="53" name="s19-forma-52"/>
          <p:cNvSpPr/>
          <p:nvPr/>
        </p:nvSpPr>
        <p:spPr>
          <a:xfrm>
            <a:off x="9340872" y="3500238"/>
            <a:ext cx="1508251" cy="5713"/>
          </a:xfrm>
          <a:prstGeom prst="rect">
            <a:avLst/>
          </a:prstGeom>
          <a:solidFill>
            <a:srgbClr val="DBD4C4"/>
          </a:solidFill>
          <a:ln/>
        </p:spPr>
      </p:sp>
      <p:sp>
        <p:nvSpPr>
          <p:cNvPr id="54" name="s19-forma-53"/>
          <p:cNvSpPr/>
          <p:nvPr/>
        </p:nvSpPr>
        <p:spPr>
          <a:xfrm>
            <a:off x="9340872" y="4037267"/>
            <a:ext cx="1508251" cy="5713"/>
          </a:xfrm>
          <a:prstGeom prst="rect">
            <a:avLst/>
          </a:prstGeom>
          <a:solidFill>
            <a:srgbClr val="DBD4C4"/>
          </a:solidFill>
          <a:ln/>
        </p:spPr>
      </p:sp>
      <p:sp>
        <p:nvSpPr>
          <p:cNvPr id="55" name="s19-forma-54"/>
          <p:cNvSpPr/>
          <p:nvPr/>
        </p:nvSpPr>
        <p:spPr>
          <a:xfrm>
            <a:off x="9340872" y="3500238"/>
            <a:ext cx="17139" cy="542742"/>
          </a:xfrm>
          <a:prstGeom prst="rect">
            <a:avLst/>
          </a:prstGeom>
          <a:solidFill>
            <a:srgbClr val="C6BFAE"/>
          </a:solidFill>
          <a:ln/>
        </p:spPr>
      </p:sp>
      <p:sp>
        <p:nvSpPr>
          <p:cNvPr id="56" name="s19-forma-55"/>
          <p:cNvSpPr/>
          <p:nvPr/>
        </p:nvSpPr>
        <p:spPr>
          <a:xfrm>
            <a:off x="10843410" y="3500238"/>
            <a:ext cx="5713" cy="542742"/>
          </a:xfrm>
          <a:prstGeom prst="rect">
            <a:avLst/>
          </a:prstGeom>
          <a:solidFill>
            <a:srgbClr val="DBD4C4"/>
          </a:solidFill>
          <a:ln/>
        </p:spPr>
      </p:sp>
      <p:sp>
        <p:nvSpPr>
          <p:cNvPr id="57" name="s19-texto-56"/>
          <p:cNvSpPr txBox="1"/>
          <p:nvPr/>
        </p:nvSpPr>
        <p:spPr>
          <a:xfrm>
            <a:off x="10065718" y="3597361"/>
            <a:ext cx="115690" cy="142827"/>
          </a:xfrm>
          <a:prstGeom prst="rect">
            <a:avLst/>
          </a:prstGeom>
          <a:noFill/>
          <a:ln/>
        </p:spPr>
        <p:txBody>
          <a:bodyPr wrap="none" lIns="0" tIns="0" rIns="0" bIns="0" rtlCol="0" anchor="t"/>
          <a:lstStyle/>
          <a:p>
            <a:pPr algn="l" indent="0" marL="0">
              <a:lnSpc>
                <a:spcPts val="1188"/>
              </a:lnSpc>
              <a:buNone/>
            </a:pPr>
            <a:r>
              <a:rPr lang="en-US" sz="990" b="1" dirty="0">
                <a:solidFill>
                  <a:srgbClr val="AC321E"/>
                </a:solidFill>
                <a:latin typeface="Arial" pitchFamily="34" charset="0"/>
                <a:ea typeface="Arial" pitchFamily="34" charset="-122"/>
                <a:cs typeface="Arial" pitchFamily="34" charset="-120"/>
              </a:rPr>
              <a:t>6</a:t>
            </a:r>
            <a:endParaRPr lang="en-US" sz="990" dirty="0"/>
          </a:p>
        </p:txBody>
      </p:sp>
      <p:sp>
        <p:nvSpPr>
          <p:cNvPr id="58" name="s19-texto-57"/>
          <p:cNvSpPr txBox="1"/>
          <p:nvPr/>
        </p:nvSpPr>
        <p:spPr>
          <a:xfrm>
            <a:off x="9675444" y="3768753"/>
            <a:ext cx="901566" cy="171392"/>
          </a:xfrm>
          <a:prstGeom prst="rect">
            <a:avLst/>
          </a:prstGeom>
          <a:noFill/>
          <a:ln/>
        </p:spPr>
        <p:txBody>
          <a:bodyPr wrap="none" lIns="0" tIns="0" rIns="0" bIns="0" rtlCol="0" anchor="t"/>
          <a:lstStyle/>
          <a:p>
            <a:pPr algn="l" indent="0" marL="0">
              <a:lnSpc>
                <a:spcPts val="1404"/>
              </a:lnSpc>
              <a:buNone/>
            </a:pPr>
            <a:r>
              <a:rPr lang="en-US" sz="1170" dirty="0">
                <a:solidFill>
                  <a:srgbClr val="16181D"/>
                </a:solidFill>
                <a:latin typeface="Arial" pitchFamily="34" charset="0"/>
                <a:ea typeface="Arial" pitchFamily="34" charset="-122"/>
                <a:cs typeface="Arial" pitchFamily="34" charset="-120"/>
              </a:rPr>
              <a:t>Reporte E2E</a:t>
            </a:r>
            <a:endParaRPr lang="en-US" sz="1170" dirty="0"/>
          </a:p>
        </p:txBody>
      </p:sp>
      <p:sp>
        <p:nvSpPr>
          <p:cNvPr id="59" name="s19-texto-58"/>
          <p:cNvSpPr txBox="1"/>
          <p:nvPr/>
        </p:nvSpPr>
        <p:spPr>
          <a:xfrm>
            <a:off x="1342572" y="4340060"/>
            <a:ext cx="10076945" cy="400986"/>
          </a:xfrm>
          <a:prstGeom prst="rect">
            <a:avLst/>
          </a:prstGeom>
          <a:noFill/>
          <a:ln/>
        </p:spPr>
        <p:txBody>
          <a:bodyPr wrap="squar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Cada etapa deja su evidencia. Si un agente se equivoca, </a:t>
            </a:r>
            <a:pPr algn="l" indent="0" marL="0">
              <a:lnSpc>
                <a:spcPts val="1763"/>
              </a:lnSpc>
              <a:buNone/>
            </a:pPr>
            <a:r>
              <a:rPr lang="en-US" sz="1260" b="1" dirty="0">
                <a:solidFill>
                  <a:srgbClr val="0033A0"/>
                </a:solidFill>
                <a:latin typeface="Arial" pitchFamily="34" charset="0"/>
                <a:ea typeface="Arial" pitchFamily="34" charset="-122"/>
                <a:cs typeface="Arial" pitchFamily="34" charset="-120"/>
              </a:rPr>
              <a:t>corriges al agente</a:t>
            </a:r>
            <a:pPr algn="l" indent="0" marL="0">
              <a:lnSpc>
                <a:spcPts val="1763"/>
              </a:lnSpc>
              <a:buNone/>
            </a:pPr>
            <a:r>
              <a:rPr lang="en-US" sz="1260" dirty="0">
                <a:solidFill>
                  <a:srgbClr val="16181D"/>
                </a:solidFill>
                <a:latin typeface="Arial" pitchFamily="34" charset="0"/>
                <a:ea typeface="Arial" pitchFamily="34" charset="-122"/>
                <a:cs typeface="Arial" pitchFamily="34" charset="-120"/>
              </a:rPr>
              <a:t>, no su resultado. Y explicas tus decisiones en </a:t>
            </a:r>
            <a:pPr algn="l" indent="0" marL="0">
              <a:lnSpc>
                <a:spcPts val="1763"/>
              </a:lnSpc>
              <a:buNone/>
            </a:pPr>
            <a:r>
              <a:rPr lang="en-US" sz="1260" b="1" dirty="0">
                <a:solidFill>
                  <a:srgbClr val="0033A0"/>
                </a:solidFill>
                <a:latin typeface="Arial" pitchFamily="34" charset="0"/>
                <a:ea typeface="Arial" pitchFamily="34" charset="-122"/>
                <a:cs typeface="Arial" pitchFamily="34" charset="-120"/>
              </a:rPr>
              <a:t>decisiones.md</a:t>
            </a:r>
            <a:pPr algn="l" indent="0" marL="0">
              <a:lnSpc>
                <a:spcPts val="1763"/>
              </a:lnSpc>
              <a:buNone/>
            </a:pPr>
            <a:r>
              <a:rPr lang="en-US" sz="1260" dirty="0">
                <a:solidFill>
                  <a:srgbClr val="16181D"/>
                </a:solidFill>
                <a:latin typeface="Arial" pitchFamily="34" charset="0"/>
                <a:ea typeface="Arial" pitchFamily="34" charset="-122"/>
                <a:cs typeface="Arial" pitchFamily="34" charset="-120"/>
              </a:rPr>
              <a:t>.</a:t>
            </a:r>
            <a:endParaRPr lang="en-US" sz="1260" dirty="0"/>
          </a:p>
        </p:txBody>
      </p:sp>
      <p:sp>
        <p:nvSpPr>
          <p:cNvPr id="60" name="s19-texto-59"/>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python -m flujos.flujo_s4 historias/HU-10-solicitar-vacaciones.md</a:t>
            </a:r>
            <a:endParaRPr lang="en-US" sz="1080" dirty="0"/>
          </a:p>
        </p:txBody>
      </p:sp>
      <p:sp>
        <p:nvSpPr>
          <p:cNvPr id="61" name="s19-forma-60"/>
          <p:cNvSpPr/>
          <p:nvPr/>
        </p:nvSpPr>
        <p:spPr>
          <a:xfrm>
            <a:off x="853390" y="6411138"/>
            <a:ext cx="10484915" cy="5713"/>
          </a:xfrm>
          <a:prstGeom prst="rect">
            <a:avLst/>
          </a:prstGeom>
          <a:solidFill>
            <a:srgbClr val="DBD4C4"/>
          </a:solidFill>
          <a:ln/>
        </p:spPr>
      </p:sp>
      <p:pic>
        <p:nvPicPr>
          <p:cNvPr id="62" name="s19-logo-61"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63" name="s19-forma-62"/>
          <p:cNvSpPr/>
          <p:nvPr/>
        </p:nvSpPr>
        <p:spPr>
          <a:xfrm>
            <a:off x="1659380" y="6519865"/>
            <a:ext cx="3578704" cy="102835"/>
          </a:xfrm>
          <a:prstGeom prst="rect">
            <a:avLst/>
          </a:prstGeom>
          <a:ln/>
        </p:spPr>
      </p:sp>
      <p:sp>
        <p:nvSpPr>
          <p:cNvPr id="64" name="s19-forma-63"/>
          <p:cNvSpPr/>
          <p:nvPr/>
        </p:nvSpPr>
        <p:spPr>
          <a:xfrm>
            <a:off x="1659380" y="6519865"/>
            <a:ext cx="5713" cy="102835"/>
          </a:xfrm>
          <a:prstGeom prst="rect">
            <a:avLst/>
          </a:prstGeom>
          <a:solidFill>
            <a:srgbClr val="C6BFAE"/>
          </a:solidFill>
          <a:ln/>
        </p:spPr>
      </p:sp>
      <p:sp>
        <p:nvSpPr>
          <p:cNvPr id="65" name="s19-texto-64"/>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66" name="s19-texto-65"/>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19 / 22</a:t>
            </a:r>
            <a:endParaRPr lang="en-US" sz="745" dirty="0"/>
          </a:p>
        </p:txBody>
      </p:sp>
      <p:sp>
        <p:nvSpPr>
          <p:cNvPr id="67" name="s19-forma-66"/>
          <p:cNvSpPr/>
          <p:nvPr/>
        </p:nvSpPr>
        <p:spPr>
          <a:xfrm>
            <a:off x="0" y="0"/>
            <a:ext cx="10529191" cy="17139"/>
          </a:xfrm>
          <a:prstGeom prst="rect">
            <a:avLst/>
          </a:prstGeom>
          <a:solidFill>
            <a:srgbClr val="0033A0"/>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sp>
      <p:sp>
        <p:nvSpPr>
          <p:cNvPr id="3" name="s20-forma-2"/>
          <p:cNvSpPr/>
          <p:nvPr/>
        </p:nvSpPr>
        <p:spPr>
          <a:xfrm>
            <a:off x="853390" y="331715"/>
            <a:ext cx="81411" cy="81411"/>
          </a:xfrm>
          <a:prstGeom prst="ellipse">
            <a:avLst/>
          </a:prstGeom>
          <a:solidFill>
            <a:srgbClr val="984514"/>
          </a:solidFill>
          <a:ln/>
        </p:spPr>
      </p:sp>
      <p:sp>
        <p:nvSpPr>
          <p:cNvPr id="4" name="s20-texto-3"/>
          <p:cNvSpPr txBox="1"/>
          <p:nvPr/>
        </p:nvSpPr>
        <p:spPr>
          <a:xfrm>
            <a:off x="1007018" y="315290"/>
            <a:ext cx="369654"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984514"/>
                </a:solidFill>
                <a:latin typeface="Courier New" pitchFamily="34" charset="0"/>
                <a:ea typeface="Courier New" pitchFamily="34" charset="-122"/>
                <a:cs typeface="Courier New" pitchFamily="34" charset="-120"/>
              </a:rPr>
              <a:t>RETA</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RÚBRICA DEL RETO</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Cómo se califica el reto</a:t>
            </a:r>
            <a:endParaRPr lang="en-US" sz="2879" dirty="0"/>
          </a:p>
        </p:txBody>
      </p:sp>
      <p:sp>
        <p:nvSpPr>
          <p:cNvPr id="8" name="s20-forma-7"/>
          <p:cNvSpPr/>
          <p:nvPr/>
        </p:nvSpPr>
        <p:spPr>
          <a:xfrm>
            <a:off x="1342572" y="2144634"/>
            <a:ext cx="3042032" cy="226202"/>
          </a:xfrm>
          <a:prstGeom prst="rect">
            <a:avLst/>
          </a:prstGeom>
          <a:ln/>
        </p:spPr>
      </p:sp>
      <p:sp>
        <p:nvSpPr>
          <p:cNvPr id="9" name="s20-forma-8"/>
          <p:cNvSpPr/>
          <p:nvPr/>
        </p:nvSpPr>
        <p:spPr>
          <a:xfrm>
            <a:off x="1342572" y="2365122"/>
            <a:ext cx="3042032" cy="5713"/>
          </a:xfrm>
          <a:prstGeom prst="rect">
            <a:avLst/>
          </a:prstGeom>
          <a:solidFill>
            <a:srgbClr val="0033A0"/>
          </a:solidFill>
          <a:ln/>
        </p:spPr>
      </p:sp>
      <p:sp>
        <p:nvSpPr>
          <p:cNvPr id="10" name="s20-texto-9"/>
          <p:cNvSpPr txBox="1"/>
          <p:nvPr/>
        </p:nvSpPr>
        <p:spPr>
          <a:xfrm>
            <a:off x="1418538" y="2193463"/>
            <a:ext cx="3063487" cy="125688"/>
          </a:xfrm>
          <a:prstGeom prst="rect">
            <a:avLst/>
          </a:prstGeom>
          <a:noFill/>
          <a:ln/>
        </p:spPr>
        <p:txBody>
          <a:bodyPr wrap="none" lIns="0" tIns="0" rIns="0" bIns="0" rtlCol="0" anchor="t"/>
          <a:lstStyle/>
          <a:p>
            <a:pPr algn="l"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CRITERIO</a:t>
            </a:r>
            <a:endParaRPr lang="en-US" sz="855" dirty="0"/>
          </a:p>
        </p:txBody>
      </p:sp>
      <p:sp>
        <p:nvSpPr>
          <p:cNvPr id="11" name="s20-forma-10"/>
          <p:cNvSpPr/>
          <p:nvPr/>
        </p:nvSpPr>
        <p:spPr>
          <a:xfrm>
            <a:off x="4384604" y="2144634"/>
            <a:ext cx="950602" cy="226202"/>
          </a:xfrm>
          <a:prstGeom prst="rect">
            <a:avLst/>
          </a:prstGeom>
          <a:ln/>
        </p:spPr>
      </p:sp>
      <p:sp>
        <p:nvSpPr>
          <p:cNvPr id="12" name="s20-forma-11"/>
          <p:cNvSpPr/>
          <p:nvPr/>
        </p:nvSpPr>
        <p:spPr>
          <a:xfrm>
            <a:off x="4384604" y="2365122"/>
            <a:ext cx="950602" cy="5713"/>
          </a:xfrm>
          <a:prstGeom prst="rect">
            <a:avLst/>
          </a:prstGeom>
          <a:solidFill>
            <a:srgbClr val="0033A0"/>
          </a:solidFill>
          <a:ln/>
        </p:spPr>
      </p:sp>
      <p:sp>
        <p:nvSpPr>
          <p:cNvPr id="13" name="s20-texto-12"/>
          <p:cNvSpPr txBox="1"/>
          <p:nvPr/>
        </p:nvSpPr>
        <p:spPr>
          <a:xfrm>
            <a:off x="4412670" y="2193463"/>
            <a:ext cx="846552" cy="125688"/>
          </a:xfrm>
          <a:prstGeom prst="rect">
            <a:avLst/>
          </a:prstGeom>
          <a:noFill/>
          <a:ln/>
        </p:spPr>
        <p:txBody>
          <a:bodyPr wrap="none" lIns="0" tIns="0" rIns="0" bIns="0" rtlCol="0" anchor="t"/>
          <a:lstStyle/>
          <a:p>
            <a:pPr algn="r"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PESO</a:t>
            </a:r>
            <a:endParaRPr lang="en-US" sz="855" dirty="0"/>
          </a:p>
        </p:txBody>
      </p:sp>
      <p:sp>
        <p:nvSpPr>
          <p:cNvPr id="14" name="s20-forma-13"/>
          <p:cNvSpPr/>
          <p:nvPr/>
        </p:nvSpPr>
        <p:spPr>
          <a:xfrm>
            <a:off x="5335206" y="2144634"/>
            <a:ext cx="5513918" cy="226202"/>
          </a:xfrm>
          <a:prstGeom prst="rect">
            <a:avLst/>
          </a:prstGeom>
          <a:ln/>
        </p:spPr>
      </p:sp>
      <p:sp>
        <p:nvSpPr>
          <p:cNvPr id="15" name="s20-forma-14"/>
          <p:cNvSpPr/>
          <p:nvPr/>
        </p:nvSpPr>
        <p:spPr>
          <a:xfrm>
            <a:off x="5335206" y="2365122"/>
            <a:ext cx="5513918" cy="5713"/>
          </a:xfrm>
          <a:prstGeom prst="rect">
            <a:avLst/>
          </a:prstGeom>
          <a:solidFill>
            <a:srgbClr val="0033A0"/>
          </a:solidFill>
          <a:ln/>
        </p:spPr>
      </p:sp>
      <p:sp>
        <p:nvSpPr>
          <p:cNvPr id="16" name="s20-texto-15"/>
          <p:cNvSpPr txBox="1"/>
          <p:nvPr/>
        </p:nvSpPr>
        <p:spPr>
          <a:xfrm>
            <a:off x="5411172" y="2193463"/>
            <a:ext cx="5683686" cy="125688"/>
          </a:xfrm>
          <a:prstGeom prst="rect">
            <a:avLst/>
          </a:prstGeom>
          <a:noFill/>
          <a:ln/>
        </p:spPr>
        <p:txBody>
          <a:bodyPr wrap="none" lIns="0" tIns="0" rIns="0" bIns="0" rtlCol="0" anchor="t"/>
          <a:lstStyle/>
          <a:p>
            <a:pPr algn="l" indent="0" marL="0">
              <a:lnSpc>
                <a:spcPts val="1026"/>
              </a:lnSpc>
              <a:buNone/>
            </a:pPr>
            <a:r>
              <a:rPr lang="en-US" sz="855" b="1" spc="111" kern="0" dirty="0">
                <a:solidFill>
                  <a:srgbClr val="0033A0"/>
                </a:solidFill>
                <a:latin typeface="Courier New" pitchFamily="34" charset="0"/>
                <a:ea typeface="Courier New" pitchFamily="34" charset="-122"/>
                <a:cs typeface="Courier New" pitchFamily="34" charset="-120"/>
              </a:rPr>
              <a:t>QUÉ SE REVISA</a:t>
            </a:r>
            <a:endParaRPr lang="en-US" sz="855" dirty="0"/>
          </a:p>
        </p:txBody>
      </p:sp>
      <p:sp>
        <p:nvSpPr>
          <p:cNvPr id="17" name="s20-forma-16"/>
          <p:cNvSpPr/>
          <p:nvPr/>
        </p:nvSpPr>
        <p:spPr>
          <a:xfrm>
            <a:off x="1342572" y="2370836"/>
            <a:ext cx="9506551" cy="332429"/>
          </a:xfrm>
          <a:prstGeom prst="rect">
            <a:avLst/>
          </a:prstGeom>
          <a:solidFill>
            <a:srgbClr val="E2D3C2"/>
          </a:solidFill>
          <a:ln/>
        </p:spPr>
      </p:sp>
      <p:sp>
        <p:nvSpPr>
          <p:cNvPr id="18" name="s20-forma-17"/>
          <p:cNvSpPr/>
          <p:nvPr/>
        </p:nvSpPr>
        <p:spPr>
          <a:xfrm>
            <a:off x="1342572" y="2370836"/>
            <a:ext cx="3042032" cy="332429"/>
          </a:xfrm>
          <a:prstGeom prst="rect">
            <a:avLst/>
          </a:prstGeom>
          <a:ln/>
        </p:spPr>
      </p:sp>
      <p:sp>
        <p:nvSpPr>
          <p:cNvPr id="19" name="s20-forma-18"/>
          <p:cNvSpPr/>
          <p:nvPr/>
        </p:nvSpPr>
        <p:spPr>
          <a:xfrm>
            <a:off x="1342572" y="2697552"/>
            <a:ext cx="3042032" cy="5713"/>
          </a:xfrm>
          <a:prstGeom prst="rect">
            <a:avLst/>
          </a:prstGeom>
          <a:solidFill>
            <a:srgbClr val="DBD4C4"/>
          </a:solidFill>
          <a:ln/>
        </p:spPr>
      </p:sp>
      <p:sp>
        <p:nvSpPr>
          <p:cNvPr id="20" name="s20-texto-19"/>
          <p:cNvSpPr txBox="1"/>
          <p:nvPr/>
        </p:nvSpPr>
        <p:spPr>
          <a:xfrm>
            <a:off x="1454512" y="2445641"/>
            <a:ext cx="2987202" cy="177105"/>
          </a:xfrm>
          <a:prstGeom prst="rect">
            <a:avLst/>
          </a:prstGeom>
          <a:noFill/>
          <a:ln/>
        </p:spPr>
        <p:txBody>
          <a:bodyPr wrap="none" lIns="0" tIns="0" rIns="0" bIns="0" rtlCol="0" anchor="t"/>
          <a:lstStyle/>
          <a:p>
            <a:pPr algn="l" indent="0" marL="0">
              <a:lnSpc>
                <a:spcPts val="1512"/>
              </a:lnSpc>
              <a:buNone/>
            </a:pPr>
            <a:r>
              <a:rPr lang="en-US" sz="1260" b="1" dirty="0">
                <a:solidFill>
                  <a:srgbClr val="0033A0"/>
                </a:solidFill>
                <a:latin typeface="Arial" pitchFamily="34" charset="0"/>
                <a:ea typeface="Arial" pitchFamily="34" charset="-122"/>
                <a:cs typeface="Arial" pitchFamily="34" charset="-120"/>
              </a:rPr>
              <a:t>La app cumple la historia</a:t>
            </a:r>
            <a:endParaRPr lang="en-US" sz="1260" dirty="0"/>
          </a:p>
        </p:txBody>
      </p:sp>
      <p:sp>
        <p:nvSpPr>
          <p:cNvPr id="21" name="s20-forma-20"/>
          <p:cNvSpPr/>
          <p:nvPr/>
        </p:nvSpPr>
        <p:spPr>
          <a:xfrm>
            <a:off x="4384604" y="2370836"/>
            <a:ext cx="950602" cy="332429"/>
          </a:xfrm>
          <a:prstGeom prst="rect">
            <a:avLst/>
          </a:prstGeom>
          <a:ln/>
        </p:spPr>
      </p:sp>
      <p:sp>
        <p:nvSpPr>
          <p:cNvPr id="22" name="s20-forma-21"/>
          <p:cNvSpPr/>
          <p:nvPr/>
        </p:nvSpPr>
        <p:spPr>
          <a:xfrm>
            <a:off x="4384604" y="2697552"/>
            <a:ext cx="950602" cy="5713"/>
          </a:xfrm>
          <a:prstGeom prst="rect">
            <a:avLst/>
          </a:prstGeom>
          <a:solidFill>
            <a:srgbClr val="DBD4C4"/>
          </a:solidFill>
          <a:ln/>
        </p:spPr>
      </p:sp>
      <p:sp>
        <p:nvSpPr>
          <p:cNvPr id="23" name="s20-texto-22"/>
          <p:cNvSpPr txBox="1"/>
          <p:nvPr/>
        </p:nvSpPr>
        <p:spPr>
          <a:xfrm>
            <a:off x="4450876" y="2445641"/>
            <a:ext cx="772354" cy="177105"/>
          </a:xfrm>
          <a:prstGeom prst="rect">
            <a:avLst/>
          </a:prstGeom>
          <a:noFill/>
          <a:ln/>
        </p:spPr>
        <p:txBody>
          <a:bodyPr wrap="none" lIns="0" tIns="0" rIns="0" bIns="0" rtlCol="0" anchor="t"/>
          <a:lstStyle/>
          <a:p>
            <a:pPr algn="r" indent="0" marL="0">
              <a:lnSpc>
                <a:spcPts val="1512"/>
              </a:lnSpc>
              <a:buNone/>
            </a:pPr>
            <a:r>
              <a:rPr lang="en-US" sz="1260" dirty="0">
                <a:solidFill>
                  <a:srgbClr val="16181D"/>
                </a:solidFill>
                <a:latin typeface="Arial" pitchFamily="34" charset="0"/>
                <a:ea typeface="Arial" pitchFamily="34" charset="-122"/>
                <a:cs typeface="Arial" pitchFamily="34" charset="-120"/>
              </a:rPr>
              <a:t>40%</a:t>
            </a:r>
            <a:endParaRPr lang="en-US" sz="1260" dirty="0"/>
          </a:p>
        </p:txBody>
      </p:sp>
      <p:sp>
        <p:nvSpPr>
          <p:cNvPr id="24" name="s20-forma-23"/>
          <p:cNvSpPr/>
          <p:nvPr/>
        </p:nvSpPr>
        <p:spPr>
          <a:xfrm>
            <a:off x="5335206" y="2370836"/>
            <a:ext cx="5513918" cy="332429"/>
          </a:xfrm>
          <a:prstGeom prst="rect">
            <a:avLst/>
          </a:prstGeom>
          <a:ln/>
        </p:spPr>
      </p:sp>
      <p:sp>
        <p:nvSpPr>
          <p:cNvPr id="25" name="s20-forma-24"/>
          <p:cNvSpPr/>
          <p:nvPr/>
        </p:nvSpPr>
        <p:spPr>
          <a:xfrm>
            <a:off x="5335206" y="2697552"/>
            <a:ext cx="5513918" cy="5713"/>
          </a:xfrm>
          <a:prstGeom prst="rect">
            <a:avLst/>
          </a:prstGeom>
          <a:solidFill>
            <a:srgbClr val="DBD4C4"/>
          </a:solidFill>
          <a:ln/>
        </p:spPr>
      </p:sp>
      <p:sp>
        <p:nvSpPr>
          <p:cNvPr id="26" name="s20-texto-25"/>
          <p:cNvSpPr txBox="1"/>
          <p:nvPr/>
        </p:nvSpPr>
        <p:spPr>
          <a:xfrm>
            <a:off x="5447146" y="2445641"/>
            <a:ext cx="5607401" cy="177105"/>
          </a:xfrm>
          <a:prstGeom prst="rect">
            <a:avLst/>
          </a:prstGeom>
          <a:noFill/>
          <a:ln/>
        </p:spPr>
        <p:txBody>
          <a:bodyPr wrap="none" lIns="0" tIns="0" rIns="0" bIns="0" rtlCol="0" anchor="t"/>
          <a:lstStyle/>
          <a:p>
            <a:pPr algn="l" indent="0" marL="0">
              <a:lnSpc>
                <a:spcPts val="1512"/>
              </a:lnSpc>
              <a:buNone/>
            </a:pPr>
            <a:r>
              <a:rPr lang="en-US" sz="1260" dirty="0">
                <a:solidFill>
                  <a:srgbClr val="16181D"/>
                </a:solidFill>
                <a:latin typeface="Arial" pitchFamily="34" charset="0"/>
                <a:ea typeface="Arial" pitchFamily="34" charset="-122"/>
                <a:cs typeface="Arial" pitchFamily="34" charset="-120"/>
              </a:rPr>
              <a:t>Proporción de las pruebas ocultas que pasan contra tu app desplegada</a:t>
            </a:r>
            <a:endParaRPr lang="en-US" sz="1260" dirty="0"/>
          </a:p>
        </p:txBody>
      </p:sp>
      <p:sp>
        <p:nvSpPr>
          <p:cNvPr id="27" name="s20-forma-26"/>
          <p:cNvSpPr/>
          <p:nvPr/>
        </p:nvSpPr>
        <p:spPr>
          <a:xfrm>
            <a:off x="1342572" y="2703265"/>
            <a:ext cx="3042032" cy="332429"/>
          </a:xfrm>
          <a:prstGeom prst="rect">
            <a:avLst/>
          </a:prstGeom>
          <a:ln/>
        </p:spPr>
      </p:sp>
      <p:sp>
        <p:nvSpPr>
          <p:cNvPr id="28" name="s20-forma-27"/>
          <p:cNvSpPr/>
          <p:nvPr/>
        </p:nvSpPr>
        <p:spPr>
          <a:xfrm>
            <a:off x="1342572" y="3029981"/>
            <a:ext cx="3042032" cy="5713"/>
          </a:xfrm>
          <a:prstGeom prst="rect">
            <a:avLst/>
          </a:prstGeom>
          <a:solidFill>
            <a:srgbClr val="DBD4C4"/>
          </a:solidFill>
          <a:ln/>
        </p:spPr>
      </p:sp>
      <p:sp>
        <p:nvSpPr>
          <p:cNvPr id="29" name="s20-texto-28"/>
          <p:cNvSpPr txBox="1"/>
          <p:nvPr/>
        </p:nvSpPr>
        <p:spPr>
          <a:xfrm>
            <a:off x="1454512" y="2778070"/>
            <a:ext cx="2987202" cy="177105"/>
          </a:xfrm>
          <a:prstGeom prst="rect">
            <a:avLst/>
          </a:prstGeom>
          <a:noFill/>
          <a:ln/>
        </p:spPr>
        <p:txBody>
          <a:bodyPr wrap="none" lIns="0" tIns="0" rIns="0" bIns="0" rtlCol="0" anchor="t"/>
          <a:lstStyle/>
          <a:p>
            <a:pPr algn="l" indent="0" marL="0">
              <a:lnSpc>
                <a:spcPts val="1512"/>
              </a:lnSpc>
              <a:buNone/>
            </a:pPr>
            <a:r>
              <a:rPr lang="en-US" sz="1260" b="1" dirty="0">
                <a:solidFill>
                  <a:srgbClr val="0033A0"/>
                </a:solidFill>
                <a:latin typeface="Arial" pitchFamily="34" charset="0"/>
                <a:ea typeface="Arial" pitchFamily="34" charset="-122"/>
                <a:cs typeface="Arial" pitchFamily="34" charset="-120"/>
              </a:rPr>
              <a:t>Recorrido completo de la fábrica</a:t>
            </a:r>
            <a:endParaRPr lang="en-US" sz="1260" dirty="0"/>
          </a:p>
        </p:txBody>
      </p:sp>
      <p:sp>
        <p:nvSpPr>
          <p:cNvPr id="30" name="s20-forma-29"/>
          <p:cNvSpPr/>
          <p:nvPr/>
        </p:nvSpPr>
        <p:spPr>
          <a:xfrm>
            <a:off x="4384604" y="2703265"/>
            <a:ext cx="950602" cy="332429"/>
          </a:xfrm>
          <a:prstGeom prst="rect">
            <a:avLst/>
          </a:prstGeom>
          <a:ln/>
        </p:spPr>
      </p:sp>
      <p:sp>
        <p:nvSpPr>
          <p:cNvPr id="31" name="s20-forma-30"/>
          <p:cNvSpPr/>
          <p:nvPr/>
        </p:nvSpPr>
        <p:spPr>
          <a:xfrm>
            <a:off x="4384604" y="3029981"/>
            <a:ext cx="950602" cy="5713"/>
          </a:xfrm>
          <a:prstGeom prst="rect">
            <a:avLst/>
          </a:prstGeom>
          <a:solidFill>
            <a:srgbClr val="DBD4C4"/>
          </a:solidFill>
          <a:ln/>
        </p:spPr>
      </p:sp>
      <p:sp>
        <p:nvSpPr>
          <p:cNvPr id="32" name="s20-texto-31"/>
          <p:cNvSpPr txBox="1"/>
          <p:nvPr/>
        </p:nvSpPr>
        <p:spPr>
          <a:xfrm>
            <a:off x="4450876" y="2778070"/>
            <a:ext cx="772354" cy="177105"/>
          </a:xfrm>
          <a:prstGeom prst="rect">
            <a:avLst/>
          </a:prstGeom>
          <a:noFill/>
          <a:ln/>
        </p:spPr>
        <p:txBody>
          <a:bodyPr wrap="none" lIns="0" tIns="0" rIns="0" bIns="0" rtlCol="0" anchor="t"/>
          <a:lstStyle/>
          <a:p>
            <a:pPr algn="r" indent="0" marL="0">
              <a:lnSpc>
                <a:spcPts val="1512"/>
              </a:lnSpc>
              <a:buNone/>
            </a:pPr>
            <a:r>
              <a:rPr lang="en-US" sz="1260" dirty="0">
                <a:solidFill>
                  <a:srgbClr val="16181D"/>
                </a:solidFill>
                <a:latin typeface="Arial" pitchFamily="34" charset="0"/>
                <a:ea typeface="Arial" pitchFamily="34" charset="-122"/>
                <a:cs typeface="Arial" pitchFamily="34" charset="-120"/>
              </a:rPr>
              <a:t>35%</a:t>
            </a:r>
            <a:endParaRPr lang="en-US" sz="1260" dirty="0"/>
          </a:p>
        </p:txBody>
      </p:sp>
      <p:sp>
        <p:nvSpPr>
          <p:cNvPr id="33" name="s20-forma-32"/>
          <p:cNvSpPr/>
          <p:nvPr/>
        </p:nvSpPr>
        <p:spPr>
          <a:xfrm>
            <a:off x="5335206" y="2703265"/>
            <a:ext cx="5513918" cy="332429"/>
          </a:xfrm>
          <a:prstGeom prst="rect">
            <a:avLst/>
          </a:prstGeom>
          <a:ln/>
        </p:spPr>
      </p:sp>
      <p:sp>
        <p:nvSpPr>
          <p:cNvPr id="34" name="s20-forma-33"/>
          <p:cNvSpPr/>
          <p:nvPr/>
        </p:nvSpPr>
        <p:spPr>
          <a:xfrm>
            <a:off x="5335206" y="3029981"/>
            <a:ext cx="5513918" cy="5713"/>
          </a:xfrm>
          <a:prstGeom prst="rect">
            <a:avLst/>
          </a:prstGeom>
          <a:solidFill>
            <a:srgbClr val="DBD4C4"/>
          </a:solidFill>
          <a:ln/>
        </p:spPr>
      </p:sp>
      <p:sp>
        <p:nvSpPr>
          <p:cNvPr id="35" name="s20-texto-34"/>
          <p:cNvSpPr txBox="1"/>
          <p:nvPr/>
        </p:nvSpPr>
        <p:spPr>
          <a:xfrm>
            <a:off x="5447146" y="2778070"/>
            <a:ext cx="5607401" cy="177105"/>
          </a:xfrm>
          <a:prstGeom prst="rect">
            <a:avLst/>
          </a:prstGeom>
          <a:noFill/>
          <a:ln/>
        </p:spPr>
        <p:txBody>
          <a:bodyPr wrap="none" lIns="0" tIns="0" rIns="0" bIns="0" rtlCol="0" anchor="t"/>
          <a:lstStyle/>
          <a:p>
            <a:pPr algn="l" indent="0" marL="0">
              <a:lnSpc>
                <a:spcPts val="1512"/>
              </a:lnSpc>
              <a:buNone/>
            </a:pPr>
            <a:r>
              <a:rPr lang="en-US" sz="1260" dirty="0">
                <a:solidFill>
                  <a:srgbClr val="16181D"/>
                </a:solidFill>
                <a:latin typeface="Arial" pitchFamily="34" charset="0"/>
                <a:ea typeface="Arial" pitchFamily="34" charset="-122"/>
                <a:cs typeface="Arial" pitchFamily="34" charset="-120"/>
              </a:rPr>
              <a:t>Evidencia de las seis etapas, en orden, con validaciones y plan aprobado</a:t>
            </a:r>
            <a:endParaRPr lang="en-US" sz="1260" dirty="0"/>
          </a:p>
        </p:txBody>
      </p:sp>
      <p:sp>
        <p:nvSpPr>
          <p:cNvPr id="36" name="s20-forma-35"/>
          <p:cNvSpPr/>
          <p:nvPr/>
        </p:nvSpPr>
        <p:spPr>
          <a:xfrm>
            <a:off x="1342572" y="3035694"/>
            <a:ext cx="3042032" cy="332429"/>
          </a:xfrm>
          <a:prstGeom prst="rect">
            <a:avLst/>
          </a:prstGeom>
          <a:ln/>
        </p:spPr>
      </p:sp>
      <p:sp>
        <p:nvSpPr>
          <p:cNvPr id="37" name="s20-forma-36"/>
          <p:cNvSpPr/>
          <p:nvPr/>
        </p:nvSpPr>
        <p:spPr>
          <a:xfrm>
            <a:off x="1342572" y="3362411"/>
            <a:ext cx="3042032" cy="5713"/>
          </a:xfrm>
          <a:prstGeom prst="rect">
            <a:avLst/>
          </a:prstGeom>
          <a:solidFill>
            <a:srgbClr val="DBD4C4"/>
          </a:solidFill>
          <a:ln/>
        </p:spPr>
      </p:sp>
      <p:sp>
        <p:nvSpPr>
          <p:cNvPr id="38" name="s20-texto-37"/>
          <p:cNvSpPr txBox="1"/>
          <p:nvPr/>
        </p:nvSpPr>
        <p:spPr>
          <a:xfrm>
            <a:off x="1454512" y="3110500"/>
            <a:ext cx="2987202" cy="177105"/>
          </a:xfrm>
          <a:prstGeom prst="rect">
            <a:avLst/>
          </a:prstGeom>
          <a:noFill/>
          <a:ln/>
        </p:spPr>
        <p:txBody>
          <a:bodyPr wrap="none" lIns="0" tIns="0" rIns="0" bIns="0" rtlCol="0" anchor="t"/>
          <a:lstStyle/>
          <a:p>
            <a:pPr algn="l" indent="0" marL="0">
              <a:lnSpc>
                <a:spcPts val="1512"/>
              </a:lnSpc>
              <a:buNone/>
            </a:pPr>
            <a:r>
              <a:rPr lang="en-US" sz="1260" b="1" dirty="0">
                <a:solidFill>
                  <a:srgbClr val="0033A0"/>
                </a:solidFill>
                <a:latin typeface="Arial" pitchFamily="34" charset="0"/>
                <a:ea typeface="Arial" pitchFamily="34" charset="-122"/>
                <a:cs typeface="Arial" pitchFamily="34" charset="-120"/>
              </a:rPr>
              <a:t>Integridad y seguridad</a:t>
            </a:r>
            <a:endParaRPr lang="en-US" sz="1260" dirty="0"/>
          </a:p>
        </p:txBody>
      </p:sp>
      <p:sp>
        <p:nvSpPr>
          <p:cNvPr id="39" name="s20-forma-38"/>
          <p:cNvSpPr/>
          <p:nvPr/>
        </p:nvSpPr>
        <p:spPr>
          <a:xfrm>
            <a:off x="4384604" y="3035694"/>
            <a:ext cx="950602" cy="332429"/>
          </a:xfrm>
          <a:prstGeom prst="rect">
            <a:avLst/>
          </a:prstGeom>
          <a:ln/>
        </p:spPr>
      </p:sp>
      <p:sp>
        <p:nvSpPr>
          <p:cNvPr id="40" name="s20-forma-39"/>
          <p:cNvSpPr/>
          <p:nvPr/>
        </p:nvSpPr>
        <p:spPr>
          <a:xfrm>
            <a:off x="4384604" y="3362411"/>
            <a:ext cx="950602" cy="5713"/>
          </a:xfrm>
          <a:prstGeom prst="rect">
            <a:avLst/>
          </a:prstGeom>
          <a:solidFill>
            <a:srgbClr val="DBD4C4"/>
          </a:solidFill>
          <a:ln/>
        </p:spPr>
      </p:sp>
      <p:sp>
        <p:nvSpPr>
          <p:cNvPr id="41" name="s20-texto-40"/>
          <p:cNvSpPr txBox="1"/>
          <p:nvPr/>
        </p:nvSpPr>
        <p:spPr>
          <a:xfrm>
            <a:off x="4450876" y="3110500"/>
            <a:ext cx="772354" cy="177105"/>
          </a:xfrm>
          <a:prstGeom prst="rect">
            <a:avLst/>
          </a:prstGeom>
          <a:noFill/>
          <a:ln/>
        </p:spPr>
        <p:txBody>
          <a:bodyPr wrap="none" lIns="0" tIns="0" rIns="0" bIns="0" rtlCol="0" anchor="t"/>
          <a:lstStyle/>
          <a:p>
            <a:pPr algn="r" indent="0" marL="0">
              <a:lnSpc>
                <a:spcPts val="1512"/>
              </a:lnSpc>
              <a:buNone/>
            </a:pPr>
            <a:r>
              <a:rPr lang="en-US" sz="1260" dirty="0">
                <a:solidFill>
                  <a:srgbClr val="16181D"/>
                </a:solidFill>
                <a:latin typeface="Arial" pitchFamily="34" charset="0"/>
                <a:ea typeface="Arial" pitchFamily="34" charset="-122"/>
                <a:cs typeface="Arial" pitchFamily="34" charset="-120"/>
              </a:rPr>
              <a:t>10%</a:t>
            </a:r>
            <a:endParaRPr lang="en-US" sz="1260" dirty="0"/>
          </a:p>
        </p:txBody>
      </p:sp>
      <p:sp>
        <p:nvSpPr>
          <p:cNvPr id="42" name="s20-forma-41"/>
          <p:cNvSpPr/>
          <p:nvPr/>
        </p:nvSpPr>
        <p:spPr>
          <a:xfrm>
            <a:off x="5335206" y="3035694"/>
            <a:ext cx="5513918" cy="332429"/>
          </a:xfrm>
          <a:prstGeom prst="rect">
            <a:avLst/>
          </a:prstGeom>
          <a:ln/>
        </p:spPr>
      </p:sp>
      <p:sp>
        <p:nvSpPr>
          <p:cNvPr id="43" name="s20-forma-42"/>
          <p:cNvSpPr/>
          <p:nvPr/>
        </p:nvSpPr>
        <p:spPr>
          <a:xfrm>
            <a:off x="5335206" y="3362411"/>
            <a:ext cx="5513918" cy="5713"/>
          </a:xfrm>
          <a:prstGeom prst="rect">
            <a:avLst/>
          </a:prstGeom>
          <a:solidFill>
            <a:srgbClr val="DBD4C4"/>
          </a:solidFill>
          <a:ln/>
        </p:spPr>
      </p:sp>
      <p:sp>
        <p:nvSpPr>
          <p:cNvPr id="44" name="s20-texto-43"/>
          <p:cNvSpPr txBox="1"/>
          <p:nvPr/>
        </p:nvSpPr>
        <p:spPr>
          <a:xfrm>
            <a:off x="5447146" y="3110500"/>
            <a:ext cx="5607401" cy="177105"/>
          </a:xfrm>
          <a:prstGeom prst="rect">
            <a:avLst/>
          </a:prstGeom>
          <a:noFill/>
          <a:ln/>
        </p:spPr>
        <p:txBody>
          <a:bodyPr wrap="none" lIns="0" tIns="0" rIns="0" bIns="0" rtlCol="0" anchor="t"/>
          <a:lstStyle/>
          <a:p>
            <a:pPr algn="l" indent="0" marL="0">
              <a:lnSpc>
                <a:spcPts val="1512"/>
              </a:lnSpc>
              <a:buNone/>
            </a:pPr>
            <a:r>
              <a:rPr lang="en-US" sz="1260" dirty="0">
                <a:solidFill>
                  <a:srgbClr val="16181D"/>
                </a:solidFill>
                <a:latin typeface="Arial" pitchFamily="34" charset="0"/>
                <a:ea typeface="Arial" pitchFamily="34" charset="-122"/>
                <a:cs typeface="Arial" pitchFamily="34" charset="-120"/>
              </a:rPr>
              <a:t>Hooks intactos; nada editado a mano en app/ ni salida/</a:t>
            </a:r>
            <a:endParaRPr lang="en-US" sz="1260" dirty="0"/>
          </a:p>
        </p:txBody>
      </p:sp>
      <p:sp>
        <p:nvSpPr>
          <p:cNvPr id="45" name="s20-texto-44"/>
          <p:cNvSpPr txBox="1"/>
          <p:nvPr/>
        </p:nvSpPr>
        <p:spPr>
          <a:xfrm>
            <a:off x="1454512" y="3442929"/>
            <a:ext cx="2987202" cy="177105"/>
          </a:xfrm>
          <a:prstGeom prst="rect">
            <a:avLst/>
          </a:prstGeom>
          <a:noFill/>
          <a:ln/>
        </p:spPr>
        <p:txBody>
          <a:bodyPr wrap="none" lIns="0" tIns="0" rIns="0" bIns="0" rtlCol="0" anchor="t"/>
          <a:lstStyle/>
          <a:p>
            <a:pPr algn="l" indent="0" marL="0">
              <a:lnSpc>
                <a:spcPts val="1512"/>
              </a:lnSpc>
              <a:buNone/>
            </a:pPr>
            <a:r>
              <a:rPr lang="en-US" sz="1260" b="1" dirty="0">
                <a:solidFill>
                  <a:srgbClr val="0033A0"/>
                </a:solidFill>
                <a:latin typeface="Arial" pitchFamily="34" charset="0"/>
                <a:ea typeface="Arial" pitchFamily="34" charset="-122"/>
                <a:cs typeface="Arial" pitchFamily="34" charset="-120"/>
              </a:rPr>
              <a:t>Decisiones</a:t>
            </a:r>
            <a:endParaRPr lang="en-US" sz="1260" dirty="0"/>
          </a:p>
        </p:txBody>
      </p:sp>
      <p:sp>
        <p:nvSpPr>
          <p:cNvPr id="46" name="s20-texto-45"/>
          <p:cNvSpPr txBox="1"/>
          <p:nvPr/>
        </p:nvSpPr>
        <p:spPr>
          <a:xfrm>
            <a:off x="4450876" y="3442929"/>
            <a:ext cx="772354" cy="177105"/>
          </a:xfrm>
          <a:prstGeom prst="rect">
            <a:avLst/>
          </a:prstGeom>
          <a:noFill/>
          <a:ln/>
        </p:spPr>
        <p:txBody>
          <a:bodyPr wrap="none" lIns="0" tIns="0" rIns="0" bIns="0" rtlCol="0" anchor="t"/>
          <a:lstStyle/>
          <a:p>
            <a:pPr algn="r" indent="0" marL="0">
              <a:lnSpc>
                <a:spcPts val="1512"/>
              </a:lnSpc>
              <a:buNone/>
            </a:pPr>
            <a:r>
              <a:rPr lang="en-US" sz="1260" dirty="0">
                <a:solidFill>
                  <a:srgbClr val="16181D"/>
                </a:solidFill>
                <a:latin typeface="Arial" pitchFamily="34" charset="0"/>
                <a:ea typeface="Arial" pitchFamily="34" charset="-122"/>
                <a:cs typeface="Arial" pitchFamily="34" charset="-120"/>
              </a:rPr>
              <a:t>15%</a:t>
            </a:r>
            <a:endParaRPr lang="en-US" sz="1260" dirty="0"/>
          </a:p>
        </p:txBody>
      </p:sp>
      <p:sp>
        <p:nvSpPr>
          <p:cNvPr id="47" name="s20-texto-46"/>
          <p:cNvSpPr txBox="1"/>
          <p:nvPr/>
        </p:nvSpPr>
        <p:spPr>
          <a:xfrm>
            <a:off x="5447146" y="3442929"/>
            <a:ext cx="5607401" cy="177105"/>
          </a:xfrm>
          <a:prstGeom prst="rect">
            <a:avLst/>
          </a:prstGeom>
          <a:noFill/>
          <a:ln/>
        </p:spPr>
        <p:txBody>
          <a:bodyPr wrap="none" lIns="0" tIns="0" rIns="0" bIns="0" rtlCol="0" anchor="t"/>
          <a:lstStyle/>
          <a:p>
            <a:pPr algn="l" indent="0" marL="0">
              <a:lnSpc>
                <a:spcPts val="1512"/>
              </a:lnSpc>
              <a:buNone/>
            </a:pPr>
            <a:r>
              <a:rPr lang="en-US" sz="1260" dirty="0">
                <a:solidFill>
                  <a:srgbClr val="16181D"/>
                </a:solidFill>
                <a:latin typeface="Arial" pitchFamily="34" charset="0"/>
                <a:ea typeface="Arial" pitchFamily="34" charset="-122"/>
                <a:cs typeface="Arial" pitchFamily="34" charset="-120"/>
              </a:rPr>
              <a:t>Respuestas específicas a tu ejecución, con los conceptos del módulo</a:t>
            </a:r>
            <a:endParaRPr lang="en-US" sz="1260" dirty="0"/>
          </a:p>
        </p:txBody>
      </p:sp>
      <p:sp>
        <p:nvSpPr>
          <p:cNvPr id="48" name="s20-texto-47"/>
          <p:cNvSpPr txBox="1"/>
          <p:nvPr/>
        </p:nvSpPr>
        <p:spPr>
          <a:xfrm>
            <a:off x="1342572" y="3994776"/>
            <a:ext cx="10076945" cy="177105"/>
          </a:xfrm>
          <a:prstGeom prst="rect">
            <a:avLst/>
          </a:prstGeom>
          <a:noFill/>
          <a:ln/>
        </p:spPr>
        <p:txBody>
          <a:bodyPr wrap="none" lIns="0" tIns="0" rIns="0" bIns="0" rtlCol="0" anchor="t"/>
          <a:lstStyle/>
          <a:p>
            <a:pPr algn="l" indent="0" marL="0">
              <a:lnSpc>
                <a:spcPts val="1763"/>
              </a:lnSpc>
              <a:buNone/>
            </a:pPr>
            <a:r>
              <a:rPr lang="en-US" sz="1260" dirty="0">
                <a:solidFill>
                  <a:srgbClr val="16181D"/>
                </a:solidFill>
                <a:latin typeface="Arial" pitchFamily="34" charset="0"/>
                <a:ea typeface="Arial" pitchFamily="34" charset="-122"/>
                <a:cs typeface="Arial" pitchFamily="34" charset="-120"/>
              </a:rPr>
              <a:t>Los mensajes y códigos de error deben ser </a:t>
            </a:r>
            <a:pPr algn="l" indent="0" marL="0">
              <a:lnSpc>
                <a:spcPts val="1763"/>
              </a:lnSpc>
              <a:buNone/>
            </a:pPr>
            <a:r>
              <a:rPr lang="en-US" sz="1260" b="1" dirty="0">
                <a:solidFill>
                  <a:srgbClr val="0033A0"/>
                </a:solidFill>
                <a:latin typeface="Arial" pitchFamily="34" charset="0"/>
                <a:ea typeface="Arial" pitchFamily="34" charset="-122"/>
                <a:cs typeface="Arial" pitchFamily="34" charset="-120"/>
              </a:rPr>
              <a:t>exactamente</a:t>
            </a:r>
            <a:pPr algn="l" indent="0" marL="0">
              <a:lnSpc>
                <a:spcPts val="1763"/>
              </a:lnSpc>
              <a:buNone/>
            </a:pPr>
            <a:r>
              <a:rPr lang="en-US" sz="1260" dirty="0">
                <a:solidFill>
                  <a:srgbClr val="16181D"/>
                </a:solidFill>
                <a:latin typeface="Arial" pitchFamily="34" charset="0"/>
                <a:ea typeface="Arial" pitchFamily="34" charset="-122"/>
                <a:cs typeface="Arial" pitchFamily="34" charset="-120"/>
              </a:rPr>
              <a:t> los de las reglas: así los verifican las pruebas.</a:t>
            </a:r>
            <a:endParaRPr lang="en-US" sz="1260" dirty="0"/>
          </a:p>
        </p:txBody>
      </p:sp>
      <p:sp>
        <p:nvSpPr>
          <p:cNvPr id="49" name="s20-texto-48"/>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Las pruebas ocultas y la clave del examen viven en el paquete del docente</a:t>
            </a:r>
            <a:endParaRPr lang="en-US" sz="1080" dirty="0"/>
          </a:p>
        </p:txBody>
      </p:sp>
      <p:sp>
        <p:nvSpPr>
          <p:cNvPr id="50" name="s20-forma-49"/>
          <p:cNvSpPr/>
          <p:nvPr/>
        </p:nvSpPr>
        <p:spPr>
          <a:xfrm>
            <a:off x="853390" y="6411138"/>
            <a:ext cx="10484915" cy="5713"/>
          </a:xfrm>
          <a:prstGeom prst="rect">
            <a:avLst/>
          </a:prstGeom>
          <a:solidFill>
            <a:srgbClr val="DBD4C4"/>
          </a:solidFill>
          <a:ln/>
        </p:spPr>
      </p:sp>
      <p:pic>
        <p:nvPicPr>
          <p:cNvPr id="51" name="s20-logo-50"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52" name="s20-forma-51"/>
          <p:cNvSpPr/>
          <p:nvPr/>
        </p:nvSpPr>
        <p:spPr>
          <a:xfrm>
            <a:off x="1659380" y="6519865"/>
            <a:ext cx="3578704" cy="102835"/>
          </a:xfrm>
          <a:prstGeom prst="rect">
            <a:avLst/>
          </a:prstGeom>
          <a:ln/>
        </p:spPr>
      </p:sp>
      <p:sp>
        <p:nvSpPr>
          <p:cNvPr id="53" name="s20-forma-52"/>
          <p:cNvSpPr/>
          <p:nvPr/>
        </p:nvSpPr>
        <p:spPr>
          <a:xfrm>
            <a:off x="1659380" y="6519865"/>
            <a:ext cx="5713" cy="102835"/>
          </a:xfrm>
          <a:prstGeom prst="rect">
            <a:avLst/>
          </a:prstGeom>
          <a:solidFill>
            <a:srgbClr val="C6BFAE"/>
          </a:solidFill>
          <a:ln/>
        </p:spPr>
      </p:sp>
      <p:sp>
        <p:nvSpPr>
          <p:cNvPr id="54" name="s20-texto-53"/>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55" name="s20-texto-54"/>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20 / 22</a:t>
            </a:r>
            <a:endParaRPr lang="en-US" sz="745" dirty="0"/>
          </a:p>
        </p:txBody>
      </p:sp>
      <p:sp>
        <p:nvSpPr>
          <p:cNvPr id="56" name="s20-forma-55"/>
          <p:cNvSpPr/>
          <p:nvPr/>
        </p:nvSpPr>
        <p:spPr>
          <a:xfrm>
            <a:off x="0" y="0"/>
            <a:ext cx="11083359" cy="17139"/>
          </a:xfrm>
          <a:prstGeom prst="rect">
            <a:avLst/>
          </a:prstGeom>
          <a:solidFill>
            <a:srgbClr val="0033A0"/>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p:bgPr>
    </p:bg>
    <p:spTree>
      <p:nvGrpSpPr>
        <p:cNvPr id="1" name=""/>
        <p:cNvGrpSpPr/>
        <p:nvPr/>
      </p:nvGrpSpPr>
      <p:grpSpPr>
        <a:xfrm>
          <a:off x="0" y="0"/>
          <a:ext cx="0" cy="0"/>
          <a:chOff x="0" y="0"/>
          <a:chExt cx="0" cy="0"/>
        </a:xfrm>
      </p:grpSpPr>
      <p:sp>
        <p:nvSpPr>
          <p:cNvPr id="2" name="s21-forma-1"/>
          <p:cNvSpPr/>
          <p:nvPr/>
        </p:nvSpPr>
        <p:spPr>
          <a:xfrm>
            <a:off x="853390" y="331715"/>
            <a:ext cx="81411" cy="81411"/>
          </a:xfrm>
          <a:prstGeom prst="ellipse">
            <a:avLst/>
          </a:prstGeom>
          <a:solidFill>
            <a:srgbClr val="7C560C"/>
          </a:solidFill>
          <a:ln/>
        </p:spPr>
      </p:sp>
      <p:sp>
        <p:nvSpPr>
          <p:cNvPr id="3" name="s21-texto-2"/>
          <p:cNvSpPr txBox="1"/>
          <p:nvPr/>
        </p:nvSpPr>
        <p:spPr>
          <a:xfrm>
            <a:off x="1007018" y="315290"/>
            <a:ext cx="612548"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1-texto-3"/>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21-texto-4"/>
          <p:cNvSpPr txBox="1"/>
          <p:nvPr/>
        </p:nvSpPr>
        <p:spPr>
          <a:xfrm>
            <a:off x="853390" y="2388957"/>
            <a:ext cx="11114010" cy="125688"/>
          </a:xfrm>
          <a:prstGeom prst="rect">
            <a:avLst/>
          </a:prstGeom>
          <a:noFill/>
          <a:ln/>
        </p:spPr>
        <p:txBody>
          <a:bodyPr wrap="none" lIns="0" tIns="0" rIns="0" bIns="0" rtlCol="0" anchor="t"/>
          <a:lstStyle/>
          <a:p>
            <a:pPr algn="l" indent="0" marL="0">
              <a:lnSpc>
                <a:spcPts val="1043"/>
              </a:lnSpc>
              <a:buNone/>
            </a:pPr>
            <a:r>
              <a:rPr lang="en-US" sz="869" b="1" spc="209" kern="0" dirty="0">
                <a:solidFill>
                  <a:srgbClr val="0033A0"/>
                </a:solidFill>
                <a:latin typeface="Courier New" pitchFamily="34" charset="0"/>
                <a:ea typeface="Courier New" pitchFamily="34" charset="-122"/>
                <a:cs typeface="Courier New" pitchFamily="34" charset="-120"/>
              </a:rPr>
              <a:t>CIERRE DEL MÓDULO</a:t>
            </a:r>
            <a:endParaRPr lang="en-US" sz="869" dirty="0"/>
          </a:p>
        </p:txBody>
      </p:sp>
      <p:sp>
        <p:nvSpPr>
          <p:cNvPr id="6" name="s21-forma-5"/>
          <p:cNvSpPr/>
          <p:nvPr/>
        </p:nvSpPr>
        <p:spPr>
          <a:xfrm>
            <a:off x="853390" y="4059138"/>
            <a:ext cx="722704" cy="22852"/>
          </a:xfrm>
          <a:prstGeom prst="rect">
            <a:avLst/>
          </a:prstGeom>
          <a:solidFill>
            <a:srgbClr val="0033A0"/>
          </a:solidFill>
          <a:ln/>
        </p:spPr>
      </p:sp>
      <p:sp>
        <p:nvSpPr>
          <p:cNvPr id="7" name="s21-texto-6"/>
          <p:cNvSpPr txBox="1"/>
          <p:nvPr/>
        </p:nvSpPr>
        <p:spPr>
          <a:xfrm>
            <a:off x="853390" y="2669968"/>
            <a:ext cx="7149222" cy="1215902"/>
          </a:xfrm>
          <a:prstGeom prst="rect">
            <a:avLst/>
          </a:prstGeom>
          <a:noFill/>
          <a:ln/>
        </p:spPr>
        <p:txBody>
          <a:bodyPr wrap="square" lIns="0" tIns="0" rIns="0" bIns="0" rtlCol="0" anchor="t"/>
          <a:lstStyle/>
          <a:p>
            <a:pPr algn="l" indent="0" marL="0">
              <a:lnSpc>
                <a:spcPts val="4582"/>
              </a:lnSpc>
              <a:buNone/>
            </a:pPr>
            <a:r>
              <a:rPr lang="en-US" sz="4242" b="1" spc="-64" kern="0" dirty="0">
                <a:solidFill>
                  <a:srgbClr val="16181D"/>
                </a:solidFill>
                <a:latin typeface="Georgia" pitchFamily="34" charset="0"/>
                <a:ea typeface="Georgia" pitchFamily="34" charset="-122"/>
                <a:cs typeface="Georgia" pitchFamily="34" charset="-120"/>
              </a:rPr>
              <a:t>Demostraciones y retrospectiva</a:t>
            </a:r>
            <a:endParaRPr lang="en-US" sz="4242" dirty="0"/>
          </a:p>
        </p:txBody>
      </p:sp>
      <p:sp>
        <p:nvSpPr>
          <p:cNvPr id="8" name="s21-texto-7"/>
          <p:cNvSpPr txBox="1"/>
          <p:nvPr/>
        </p:nvSpPr>
        <p:spPr>
          <a:xfrm>
            <a:off x="853390" y="4260791"/>
            <a:ext cx="7778274" cy="239949"/>
          </a:xfrm>
          <a:prstGeom prst="rect">
            <a:avLst/>
          </a:prstGeom>
          <a:noFill/>
          <a:ln/>
        </p:spPr>
        <p:txBody>
          <a:bodyPr wrap="none" lIns="0" tIns="0" rIns="0" bIns="0" rtlCol="0" anchor="t"/>
          <a:lstStyle/>
          <a:p>
            <a:pPr algn="l" indent="0" marL="0">
              <a:lnSpc>
                <a:spcPts val="2430"/>
              </a:lnSpc>
              <a:buNone/>
            </a:pPr>
            <a:r>
              <a:rPr lang="en-US" sz="1676" dirty="0">
                <a:solidFill>
                  <a:srgbClr val="585E6F"/>
                </a:solidFill>
                <a:latin typeface="Arial" pitchFamily="34" charset="0"/>
                <a:ea typeface="Arial" pitchFamily="34" charset="-122"/>
                <a:cs typeface="Arial" pitchFamily="34" charset="-120"/>
              </a:rPr>
              <a:t>Dos o tres fábricas completas y el checklist de producción.</a:t>
            </a:r>
            <a:endParaRPr lang="en-US" sz="1676" dirty="0"/>
          </a:p>
        </p:txBody>
      </p:sp>
      <p:pic>
        <p:nvPicPr>
          <p:cNvPr id="9" name="s21-logo-8" descr="preencoded.png">    </p:cNvPr>
          <p:cNvPicPr>
            <a:picLocks noChangeAspect="1"/>
          </p:cNvPicPr>
          <p:nvPr/>
        </p:nvPicPr>
        <p:blipFill>
          <a:blip r:embed="rId1"/>
          <a:stretch>
            <a:fillRect/>
          </a:stretch>
        </p:blipFill>
        <p:spPr>
          <a:xfrm>
            <a:off x="853390" y="6465055"/>
            <a:ext cx="687800" cy="212455"/>
          </a:xfrm>
          <a:prstGeom prst="rect">
            <a:avLst/>
          </a:prstGeom>
        </p:spPr>
      </p:pic>
      <p:sp>
        <p:nvSpPr>
          <p:cNvPr id="10" name="s21-forma-9"/>
          <p:cNvSpPr/>
          <p:nvPr/>
        </p:nvSpPr>
        <p:spPr>
          <a:xfrm>
            <a:off x="1659380" y="6519865"/>
            <a:ext cx="3578704" cy="102835"/>
          </a:xfrm>
          <a:prstGeom prst="rect">
            <a:avLst/>
          </a:prstGeom>
          <a:ln/>
        </p:spPr>
      </p:sp>
      <p:sp>
        <p:nvSpPr>
          <p:cNvPr id="11" name="s21-forma-10"/>
          <p:cNvSpPr/>
          <p:nvPr/>
        </p:nvSpPr>
        <p:spPr>
          <a:xfrm>
            <a:off x="1659380" y="6519865"/>
            <a:ext cx="5713" cy="102835"/>
          </a:xfrm>
          <a:prstGeom prst="rect">
            <a:avLst/>
          </a:prstGeom>
          <a:solidFill>
            <a:srgbClr val="C6BFAE"/>
          </a:solidFill>
          <a:ln/>
        </p:spPr>
      </p:sp>
      <p:sp>
        <p:nvSpPr>
          <p:cNvPr id="12" name="s21-texto-11"/>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13" name="s21-texto-12"/>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21 / 22</a:t>
            </a:r>
            <a:endParaRPr lang="en-US" sz="745" dirty="0"/>
          </a:p>
        </p:txBody>
      </p:sp>
      <p:sp>
        <p:nvSpPr>
          <p:cNvPr id="14" name="s21-forma-13"/>
          <p:cNvSpPr/>
          <p:nvPr/>
        </p:nvSpPr>
        <p:spPr>
          <a:xfrm>
            <a:off x="0" y="0"/>
            <a:ext cx="11637527" cy="17139"/>
          </a:xfrm>
          <a:prstGeom prst="rect">
            <a:avLst/>
          </a:prstGeom>
          <a:solidFill>
            <a:srgbClr val="0033A0"/>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p:bgPr>
    </p:bg>
    <p:spTree>
      <p:nvGrpSpPr>
        <p:cNvPr id="1" name=""/>
        <p:cNvGrpSpPr/>
        <p:nvPr/>
      </p:nvGrpSpPr>
      <p:grpSpPr>
        <a:xfrm>
          <a:off x="0" y="0"/>
          <a:ext cx="0" cy="0"/>
          <a:chOff x="0" y="0"/>
          <a:chExt cx="0" cy="0"/>
        </a:xfrm>
      </p:grpSpPr>
      <p:sp>
        <p:nvSpPr>
          <p:cNvPr id="2" name="s22-forma-1"/>
          <p:cNvSpPr/>
          <p:nvPr/>
        </p:nvSpPr>
        <p:spPr>
          <a:xfrm>
            <a:off x="853390" y="520961"/>
            <a:ext cx="10484915" cy="5713"/>
          </a:xfrm>
          <a:prstGeom prst="rect">
            <a:avLst/>
          </a:prstGeom>
          <a:solidFill>
            <a:srgbClr val="C6BFAE"/>
          </a:solidFill>
          <a:ln/>
        </p:spPr>
      </p:sp>
      <p:sp>
        <p:nvSpPr>
          <p:cNvPr id="3" name="s22-forma-2"/>
          <p:cNvSpPr/>
          <p:nvPr/>
        </p:nvSpPr>
        <p:spPr>
          <a:xfrm>
            <a:off x="853390" y="331715"/>
            <a:ext cx="81411" cy="81411"/>
          </a:xfrm>
          <a:prstGeom prst="ellipse">
            <a:avLst/>
          </a:prstGeom>
          <a:solidFill>
            <a:srgbClr val="7C560C"/>
          </a:solidFill>
          <a:ln/>
        </p:spPr>
      </p:sp>
      <p:sp>
        <p:nvSpPr>
          <p:cNvPr id="4" name="s22-texto-3"/>
          <p:cNvSpPr txBox="1"/>
          <p:nvPr/>
        </p:nvSpPr>
        <p:spPr>
          <a:xfrm>
            <a:off x="1007018" y="315290"/>
            <a:ext cx="612548" cy="114261"/>
          </a:xfrm>
          <a:prstGeom prst="rect">
            <a:avLst/>
          </a:prstGeom>
          <a:noFill/>
          <a:ln/>
        </p:spPr>
        <p:txBody>
          <a:bodyPr wrap="none" lIns="0" tIns="0" rIns="0" bIns="0" rtlCol="0" anchor="t"/>
          <a:lstStyle/>
          <a:p>
            <a:pPr algn="l" indent="0" marL="0">
              <a:lnSpc>
                <a:spcPts val="968"/>
              </a:lnSpc>
              <a:buNone/>
            </a:pPr>
            <a:r>
              <a:rPr lang="en-US" sz="807" b="1" spc="153" kern="0"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22-texto-4"/>
          <p:cNvSpPr txBox="1"/>
          <p:nvPr/>
        </p:nvSpPr>
        <p:spPr>
          <a:xfrm>
            <a:off x="10405557" y="315290"/>
            <a:ext cx="988713" cy="114261"/>
          </a:xfrm>
          <a:prstGeom prst="rect">
            <a:avLst/>
          </a:prstGeom>
          <a:noFill/>
          <a:ln/>
        </p:spPr>
        <p:txBody>
          <a:bodyPr wrap="none" lIns="0" tIns="0" rIns="0" bIns="0" rtlCol="0" anchor="t"/>
          <a:lstStyle/>
          <a:p>
            <a:pPr algn="l" indent="0" marL="0">
              <a:lnSpc>
                <a:spcPts val="968"/>
              </a:lnSpc>
              <a:buNone/>
            </a:pPr>
            <a:r>
              <a:rPr lang="en-US" sz="807" spc="81" kern="0"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6" name="s22-texto-5"/>
          <p:cNvSpPr txBox="1"/>
          <p:nvPr/>
        </p:nvSpPr>
        <p:spPr>
          <a:xfrm>
            <a:off x="1342572" y="1245450"/>
            <a:ext cx="10076945" cy="131401"/>
          </a:xfrm>
          <a:prstGeom prst="rect">
            <a:avLst/>
          </a:prstGeom>
          <a:noFill/>
          <a:ln/>
        </p:spPr>
        <p:txBody>
          <a:bodyPr wrap="none" lIns="0" tIns="0" rIns="0" bIns="0" rtlCol="0" anchor="t"/>
          <a:lstStyle/>
          <a:p>
            <a:pPr algn="l" indent="0" marL="0">
              <a:lnSpc>
                <a:spcPts val="1080"/>
              </a:lnSpc>
              <a:buNone/>
            </a:pPr>
            <a:r>
              <a:rPr lang="en-US" sz="900" b="1" spc="135" kern="0" dirty="0">
                <a:solidFill>
                  <a:srgbClr val="0033A0"/>
                </a:solidFill>
                <a:latin typeface="Courier New" pitchFamily="34" charset="0"/>
                <a:ea typeface="Courier New" pitchFamily="34" charset="-122"/>
                <a:cs typeface="Courier New" pitchFamily="34" charset="-120"/>
              </a:rPr>
              <a:t>PARA LLEVAR</a:t>
            </a:r>
            <a:endParaRPr lang="en-US" sz="900" dirty="0"/>
          </a:p>
        </p:txBody>
      </p:sp>
      <p:sp>
        <p:nvSpPr>
          <p:cNvPr id="7" name="s22-texto-6"/>
          <p:cNvSpPr txBox="1"/>
          <p:nvPr/>
        </p:nvSpPr>
        <p:spPr>
          <a:xfrm>
            <a:off x="1342572" y="1451120"/>
            <a:ext cx="10076945" cy="428480"/>
          </a:xfrm>
          <a:prstGeom prst="rect">
            <a:avLst/>
          </a:prstGeom>
          <a:noFill/>
          <a:ln/>
        </p:spPr>
        <p:txBody>
          <a:bodyPr wrap="none" lIns="0" tIns="0" rIns="0" bIns="0" rtlCol="0" anchor="t"/>
          <a:lstStyle/>
          <a:p>
            <a:pPr algn="l" indent="0" marL="0">
              <a:lnSpc>
                <a:spcPts val="3167"/>
              </a:lnSpc>
              <a:buNone/>
            </a:pPr>
            <a:r>
              <a:rPr lang="en-US" sz="2879" b="1" spc="-29" kern="0" dirty="0">
                <a:solidFill>
                  <a:srgbClr val="16181D"/>
                </a:solidFill>
                <a:latin typeface="Georgia" pitchFamily="34" charset="0"/>
                <a:ea typeface="Georgia" pitchFamily="34" charset="-122"/>
                <a:cs typeface="Georgia" pitchFamily="34" charset="-120"/>
              </a:rPr>
              <a:t>Checklist de salida a producción</a:t>
            </a:r>
            <a:endParaRPr lang="en-US" sz="2879" dirty="0"/>
          </a:p>
        </p:txBody>
      </p:sp>
      <p:pic>
        <p:nvPicPr>
          <p:cNvPr id="8" name="s22-icono-7" descr="preencoded.png">    </p:cNvPr>
          <p:cNvPicPr>
            <a:picLocks noChangeAspect="1"/>
          </p:cNvPicPr>
          <p:nvPr/>
        </p:nvPicPr>
        <p:blipFill>
          <a:blip r:embed="rId1"/>
          <a:stretch>
            <a:fillRect/>
          </a:stretch>
        </p:blipFill>
        <p:spPr>
          <a:xfrm>
            <a:off x="1342572" y="2150347"/>
            <a:ext cx="228523" cy="228523"/>
          </a:xfrm>
          <a:prstGeom prst="rect">
            <a:avLst/>
          </a:prstGeom>
        </p:spPr>
      </p:pic>
      <p:sp>
        <p:nvSpPr>
          <p:cNvPr id="9" name="s22-texto-8"/>
          <p:cNvSpPr txBox="1"/>
          <p:nvPr/>
        </p:nvSpPr>
        <p:spPr>
          <a:xfrm>
            <a:off x="1708208" y="2167486"/>
            <a:ext cx="5412989"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Cada agente tiene una lista justificada de herramientas y permisos.</a:t>
            </a:r>
            <a:endParaRPr lang="en-US" sz="1350" dirty="0"/>
          </a:p>
        </p:txBody>
      </p:sp>
      <p:pic>
        <p:nvPicPr>
          <p:cNvPr id="10" name="s22-icono-9" descr="preencoded.png">    </p:cNvPr>
          <p:cNvPicPr>
            <a:picLocks noChangeAspect="1"/>
          </p:cNvPicPr>
          <p:nvPr/>
        </p:nvPicPr>
        <p:blipFill>
          <a:blip r:embed="rId2"/>
          <a:stretch>
            <a:fillRect/>
          </a:stretch>
        </p:blipFill>
        <p:spPr>
          <a:xfrm>
            <a:off x="1342572" y="2515983"/>
            <a:ext cx="228523" cy="228523"/>
          </a:xfrm>
          <a:prstGeom prst="rect">
            <a:avLst/>
          </a:prstGeom>
        </p:spPr>
      </p:pic>
      <p:sp>
        <p:nvSpPr>
          <p:cNvPr id="11" name="s22-texto-10"/>
          <p:cNvSpPr txBox="1"/>
          <p:nvPr/>
        </p:nvSpPr>
        <p:spPr>
          <a:xfrm>
            <a:off x="1708208" y="2533122"/>
            <a:ext cx="5352052"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Nada irreversible o externo ocurre sin aprobación o lista permitida.</a:t>
            </a:r>
            <a:endParaRPr lang="en-US" sz="1350" dirty="0"/>
          </a:p>
        </p:txBody>
      </p:sp>
      <p:pic>
        <p:nvPicPr>
          <p:cNvPr id="12" name="s22-icono-11" descr="preencoded.png">    </p:cNvPr>
          <p:cNvPicPr>
            <a:picLocks noChangeAspect="1"/>
          </p:cNvPicPr>
          <p:nvPr/>
        </p:nvPicPr>
        <p:blipFill>
          <a:blip r:embed="rId3"/>
          <a:stretch>
            <a:fillRect/>
          </a:stretch>
        </p:blipFill>
        <p:spPr>
          <a:xfrm>
            <a:off x="1342572" y="2881620"/>
            <a:ext cx="228523" cy="228523"/>
          </a:xfrm>
          <a:prstGeom prst="rect">
            <a:avLst/>
          </a:prstGeom>
        </p:spPr>
      </p:pic>
      <p:sp>
        <p:nvSpPr>
          <p:cNvPr id="13" name="s22-texto-12"/>
          <p:cNvSpPr txBox="1"/>
          <p:nvPr/>
        </p:nvSpPr>
        <p:spPr>
          <a:xfrm>
            <a:off x="1708208" y="2898759"/>
            <a:ext cx="5574510"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El contenido externo se marca como no confiable y pasa por un filtro.</a:t>
            </a:r>
            <a:endParaRPr lang="en-US" sz="1350" dirty="0"/>
          </a:p>
        </p:txBody>
      </p:sp>
      <p:pic>
        <p:nvPicPr>
          <p:cNvPr id="14" name="s22-icono-13" descr="preencoded.png">    </p:cNvPr>
          <p:cNvPicPr>
            <a:picLocks noChangeAspect="1"/>
          </p:cNvPicPr>
          <p:nvPr/>
        </p:nvPicPr>
        <p:blipFill>
          <a:blip r:embed="rId4"/>
          <a:stretch>
            <a:fillRect/>
          </a:stretch>
        </p:blipFill>
        <p:spPr>
          <a:xfrm>
            <a:off x="1342572" y="3247256"/>
            <a:ext cx="228523" cy="228523"/>
          </a:xfrm>
          <a:prstGeom prst="rect">
            <a:avLst/>
          </a:prstGeom>
        </p:spPr>
      </p:pic>
      <p:sp>
        <p:nvSpPr>
          <p:cNvPr id="15" name="s22-texto-14"/>
          <p:cNvSpPr txBox="1"/>
          <p:nvPr/>
        </p:nvSpPr>
        <p:spPr>
          <a:xfrm>
            <a:off x="1708208" y="3264396"/>
            <a:ext cx="4241181"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Hay límites de pasos, tiempo y tokens por ejecución.</a:t>
            </a:r>
            <a:endParaRPr lang="en-US" sz="1350" dirty="0"/>
          </a:p>
        </p:txBody>
      </p:sp>
      <p:pic>
        <p:nvPicPr>
          <p:cNvPr id="16" name="s22-icono-15" descr="preencoded.png">    </p:cNvPr>
          <p:cNvPicPr>
            <a:picLocks noChangeAspect="1"/>
          </p:cNvPicPr>
          <p:nvPr/>
        </p:nvPicPr>
        <p:blipFill>
          <a:blip r:embed="rId5"/>
          <a:stretch>
            <a:fillRect/>
          </a:stretch>
        </p:blipFill>
        <p:spPr>
          <a:xfrm>
            <a:off x="1342572" y="3612893"/>
            <a:ext cx="228523" cy="228523"/>
          </a:xfrm>
          <a:prstGeom prst="rect">
            <a:avLst/>
          </a:prstGeom>
        </p:spPr>
      </p:pic>
      <p:sp>
        <p:nvSpPr>
          <p:cNvPr id="17" name="s22-texto-16"/>
          <p:cNvSpPr txBox="1"/>
          <p:nvPr/>
        </p:nvSpPr>
        <p:spPr>
          <a:xfrm>
            <a:off x="1708208" y="3630032"/>
            <a:ext cx="3646193"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Cada llamada a herramienta queda auditada.</a:t>
            </a:r>
            <a:endParaRPr lang="en-US" sz="1350" dirty="0"/>
          </a:p>
        </p:txBody>
      </p:sp>
      <p:pic>
        <p:nvPicPr>
          <p:cNvPr id="18" name="s22-icono-17" descr="preencoded.png">    </p:cNvPr>
          <p:cNvPicPr>
            <a:picLocks noChangeAspect="1"/>
          </p:cNvPicPr>
          <p:nvPr/>
        </p:nvPicPr>
        <p:blipFill>
          <a:blip r:embed="rId6"/>
          <a:stretch>
            <a:fillRect/>
          </a:stretch>
        </p:blipFill>
        <p:spPr>
          <a:xfrm>
            <a:off x="1342572" y="3978530"/>
            <a:ext cx="228523" cy="228523"/>
          </a:xfrm>
          <a:prstGeom prst="rect">
            <a:avLst/>
          </a:prstGeom>
        </p:spPr>
      </p:pic>
      <p:sp>
        <p:nvSpPr>
          <p:cNvPr id="19" name="s22-texto-18"/>
          <p:cNvSpPr txBox="1"/>
          <p:nvPr/>
        </p:nvSpPr>
        <p:spPr>
          <a:xfrm>
            <a:off x="1708208" y="3995669"/>
            <a:ext cx="4999109" cy="188531"/>
          </a:xfrm>
          <a:prstGeom prst="rect">
            <a:avLst/>
          </a:prstGeom>
          <a:noFill/>
          <a:ln/>
        </p:spPr>
        <p:txBody>
          <a:bodyPr wrap="none" lIns="0" tIns="0" rIns="0" bIns="0" rtlCol="0" anchor="t"/>
          <a:lstStyle/>
          <a:p>
            <a:pPr algn="l" indent="0" marL="0">
              <a:lnSpc>
                <a:spcPts val="1889"/>
              </a:lnSpc>
              <a:buNone/>
            </a:pPr>
            <a:r>
              <a:rPr lang="en-US" sz="1350" dirty="0">
                <a:solidFill>
                  <a:srgbClr val="16181D"/>
                </a:solidFill>
                <a:latin typeface="Arial" pitchFamily="34" charset="0"/>
                <a:ea typeface="Arial" pitchFamily="34" charset="-122"/>
                <a:cs typeface="Arial" pitchFamily="34" charset="-120"/>
              </a:rPr>
              <a:t>La suite de evaluación incluye al menos 3 casos de inyección.</a:t>
            </a:r>
            <a:endParaRPr lang="en-US" sz="1350" dirty="0"/>
          </a:p>
        </p:txBody>
      </p:sp>
      <p:sp>
        <p:nvSpPr>
          <p:cNvPr id="20" name="s22-texto-19"/>
          <p:cNvSpPr txBox="1"/>
          <p:nvPr/>
        </p:nvSpPr>
        <p:spPr>
          <a:xfrm>
            <a:off x="1342572" y="6158691"/>
            <a:ext cx="10076945" cy="154253"/>
          </a:xfrm>
          <a:prstGeom prst="rect">
            <a:avLst/>
          </a:prstGeom>
          <a:noFill/>
          <a:ln/>
        </p:spPr>
        <p:txBody>
          <a:bodyPr wrap="none" lIns="0" tIns="0" rIns="0" bIns="0" rtlCol="0" anchor="t"/>
          <a:lstStyle/>
          <a:p>
            <a:pPr algn="l" indent="0" marL="0">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 · Gracias</a:t>
            </a:r>
            <a:endParaRPr lang="en-US" sz="1080" dirty="0"/>
          </a:p>
        </p:txBody>
      </p:sp>
      <p:sp>
        <p:nvSpPr>
          <p:cNvPr id="21" name="s22-forma-20"/>
          <p:cNvSpPr/>
          <p:nvPr/>
        </p:nvSpPr>
        <p:spPr>
          <a:xfrm>
            <a:off x="853390" y="6411138"/>
            <a:ext cx="10484915" cy="5713"/>
          </a:xfrm>
          <a:prstGeom prst="rect">
            <a:avLst/>
          </a:prstGeom>
          <a:solidFill>
            <a:srgbClr val="DBD4C4"/>
          </a:solidFill>
          <a:ln/>
        </p:spPr>
      </p:sp>
      <p:pic>
        <p:nvPicPr>
          <p:cNvPr id="22" name="s22-logo-21" descr="preencoded.png">    </p:cNvPr>
          <p:cNvPicPr>
            <a:picLocks noChangeAspect="1"/>
          </p:cNvPicPr>
          <p:nvPr/>
        </p:nvPicPr>
        <p:blipFill>
          <a:blip r:embed="rId7"/>
          <a:stretch>
            <a:fillRect/>
          </a:stretch>
        </p:blipFill>
        <p:spPr>
          <a:xfrm>
            <a:off x="853390" y="6465055"/>
            <a:ext cx="687800" cy="212455"/>
          </a:xfrm>
          <a:prstGeom prst="rect">
            <a:avLst/>
          </a:prstGeom>
        </p:spPr>
      </p:pic>
      <p:sp>
        <p:nvSpPr>
          <p:cNvPr id="23" name="s22-forma-22"/>
          <p:cNvSpPr/>
          <p:nvPr/>
        </p:nvSpPr>
        <p:spPr>
          <a:xfrm>
            <a:off x="1659380" y="6519865"/>
            <a:ext cx="3578704" cy="102835"/>
          </a:xfrm>
          <a:prstGeom prst="rect">
            <a:avLst/>
          </a:prstGeom>
          <a:ln/>
        </p:spPr>
      </p:sp>
      <p:sp>
        <p:nvSpPr>
          <p:cNvPr id="24" name="s22-forma-23"/>
          <p:cNvSpPr/>
          <p:nvPr/>
        </p:nvSpPr>
        <p:spPr>
          <a:xfrm>
            <a:off x="1659380" y="6519865"/>
            <a:ext cx="5713" cy="102835"/>
          </a:xfrm>
          <a:prstGeom prst="rect">
            <a:avLst/>
          </a:prstGeom>
          <a:solidFill>
            <a:srgbClr val="C6BFAE"/>
          </a:solidFill>
          <a:ln/>
        </p:spPr>
      </p:sp>
      <p:sp>
        <p:nvSpPr>
          <p:cNvPr id="25" name="s22-texto-24"/>
          <p:cNvSpPr txBox="1"/>
          <p:nvPr/>
        </p:nvSpPr>
        <p:spPr>
          <a:xfrm>
            <a:off x="1783282" y="6519865"/>
            <a:ext cx="3662090" cy="102835"/>
          </a:xfrm>
          <a:prstGeom prst="rect">
            <a:avLst/>
          </a:prstGeom>
          <a:noFill/>
          <a:ln/>
        </p:spPr>
        <p:txBody>
          <a:bodyPr wrap="none" lIns="0" tIns="0" rIns="0" bIns="0" rtlCol="0" anchor="t"/>
          <a:lstStyle/>
          <a:p>
            <a:pPr algn="l" indent="0" marL="0">
              <a:lnSpc>
                <a:spcPts val="844"/>
              </a:lnSpc>
              <a:buNone/>
            </a:pPr>
            <a:r>
              <a:rPr lang="en-US" sz="704" spc="91" kern="0" dirty="0">
                <a:solidFill>
                  <a:srgbClr val="585E6F"/>
                </a:solidFill>
                <a:latin typeface="Courier New" pitchFamily="34" charset="0"/>
                <a:ea typeface="Courier New" pitchFamily="34" charset="-122"/>
                <a:cs typeface="Courier New" pitchFamily="34" charset="-120"/>
              </a:rPr>
              <a:t>MÓDULO 3 · SESIÓN 4 — SEGURIDAD EN SISTEMAS AGÉNTICOS</a:t>
            </a:r>
            <a:endParaRPr lang="en-US" sz="704" dirty="0"/>
          </a:p>
        </p:txBody>
      </p:sp>
      <p:sp>
        <p:nvSpPr>
          <p:cNvPr id="26" name="s22-texto-25"/>
          <p:cNvSpPr txBox="1"/>
          <p:nvPr/>
        </p:nvSpPr>
        <p:spPr>
          <a:xfrm>
            <a:off x="10874921" y="6517008"/>
            <a:ext cx="509088" cy="108548"/>
          </a:xfrm>
          <a:prstGeom prst="rect">
            <a:avLst/>
          </a:prstGeom>
          <a:noFill/>
          <a:ln/>
        </p:spPr>
        <p:txBody>
          <a:bodyPr wrap="none" lIns="0" tIns="0" rIns="0" bIns="0" rtlCol="0" anchor="t"/>
          <a:lstStyle/>
          <a:p>
            <a:pPr algn="l" indent="0" marL="0">
              <a:lnSpc>
                <a:spcPts val="894"/>
              </a:lnSpc>
              <a:buNone/>
            </a:pPr>
            <a:r>
              <a:rPr lang="en-US" sz="745" spc="74" kern="0" dirty="0">
                <a:solidFill>
                  <a:srgbClr val="585E6F"/>
                </a:solidFill>
                <a:latin typeface="Courier New" pitchFamily="34" charset="0"/>
                <a:ea typeface="Courier New" pitchFamily="34" charset="-122"/>
                <a:cs typeface="Courier New" pitchFamily="34" charset="-120"/>
              </a:rPr>
              <a:t>22 / 22</a:t>
            </a:r>
            <a:endParaRPr lang="en-US" sz="745" dirty="0"/>
          </a:p>
        </p:txBody>
      </p:sp>
      <p:sp>
        <p:nvSpPr>
          <p:cNvPr id="27" name="s22-forma-26"/>
          <p:cNvSpPr/>
          <p:nvPr/>
        </p:nvSpPr>
        <p:spPr>
          <a:xfrm>
            <a:off x="0" y="0"/>
            <a:ext cx="12191695" cy="17139"/>
          </a:xfrm>
          <a:prstGeom prst="rect">
            <a:avLst/>
          </a:prstGeom>
          <a:solidFill>
            <a:srgbClr val="0033A0"/>
          </a:solidFill>
          <a:ln/>
        </p:spPr>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4 · Seguridad en sistemas agénticos</dc:title>
  <dc:subject>PptxGenJS Presentation</dc:subject>
  <dc:creator>Tecnológico de Monterrey · Next-Gen Coding</dc:creator>
  <cp:lastModifiedBy>Tecnológico de Monterrey · Next-Gen Coding</cp:lastModifiedBy>
  <cp:revision>1</cp:revision>
  <dcterms:created xsi:type="dcterms:W3CDTF">2026-10-15T02:23:15Z</dcterms:created>
  <dcterms:modified xsi:type="dcterms:W3CDTF">2026-10-15T02:23:15Z</dcterms:modified>
</cp:coreProperties>
</file>