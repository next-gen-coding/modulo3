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2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6839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Idea central: un agente convierte texto en acciones con credenciales reales, así que cualquier texto que lea es una posible orden. Sesión de 2 horas. Antes de la sesión, ejecuta el ataque con y sin defensas.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un estudiante muestra una denegación de su auditoria.jsonl. Es la mejor entrada al tema de hoy.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de 2 horas: 0:00 revisión del entregable 3; 0:05 riesgos (OWASP en la fábrica); 0:20 tríada letal, defensas por capas y hooks; 0:35 el flujo end to end con triage; 0:43 descanso; 0:48 Lab 4A fábrica completa con HU-03; 1:13 Lab 4B atacar y defender con HU-99; 1:33 evaluación: reto HU-10 y examen en línea; 1:45 cierre con demostraciones y retrospectiva. El reporte de seguridad (salida/seguridad.md) se entrega con el reto. Antes de la sesión, ejecuten el ataque con y sin defensas: el resultado sin defensas varía y eso también se discute.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fondo solo ASI01, ASI02, ASI03 y ASI05; el resto en una frase. Pide el archivo donde aparece y el que lo mitiga.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dramática. Una página web, un correo, un PDF o el resultado de una herramienta pueden contener instrucciones. El modelo no distingue con certeza entre "datos" e "instrucciones". Por eso las defensas que funcionan limitan el daño posible en lugar de confiar en que el modelo resista.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minutos. Publicado en diciembre de 2025: complementa al Top 10 para aplicaciones LLM; aquel cubre lo que el modelo dice, este lo que el agente hace. Profundizar solo en las cuatro filas resaltadas (ASI01, ASI02, ASI03 y ASI05): para cada una, pedir a la clase el archivo de su fábrica donde aparece y el que lo mitiga. Las demás se mencionan en una frase. ASI07 (comunicación entre agentes) y ASI10 (agentes deshonestos) aplican menos porque los agentes de la fábrica no se hablan directamente: se comunican por archivos y por el estado del grafo. En el laboratorio atacaremos ASI01; ASI06 (contexto envenenado) queda como ampliación opcional.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un hook es más confiable que una frase en el prompt?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Tríada, capas y hooks suman 15 minutos: unos 5 por lámina. Inyección directa: el usuario intenta manipular al agente. Indirecta: la orden llega escondida en contenido que el agente lee. Hoy no existe un filtro que detecte el 100% de las inyecciones; por eso la defensa principal es arquitectónica. Si un agente lee contenido no confiable, que no tenga acceso a datos privados o que no pueda comunicarse hacia fuera sin aprobación. Nuestra fábrica de código la reúne por diseño: lee una historia no confiable, accede a archivos y ejecuta el código que genera. El Lab 4 la ataca y luego la rompe.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Unos 5 minutos. Defensa en profundidad: cada capa asume que la anterior puede fallar. Recorrer cada una mostrando el archivo donde vive. Los hooks de rol siempre están activos; los de seguridad (lectura confinada, comandos permitidos, auditoría) se apagan con DEFENSAS=0 únicamente para demostrar el ataque en el laboratorio. Pregunta para la clase: ¿por qué un hook es más confiable que escribir "no leas .env" en el prompt? Porque el prompt es una sugerencia que una inyección puede anular; el hook es código que el modelo no puede saltarse.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registra con HookMatcher(matcher="Bash", hooks=[comandos_permitidos(app, PROGRAMAS)]). Este hook corre antes de cada comando de terminal que Claude Code quiera ejecutar. Rechaza sustituciones de comandos, cualquier mención de secretos o variables de entorno, y cualquier programa que no esté en la lista del rol: el despliegue solo puede usar docker y curl; el automatizador, python y pytest. Si devuelve deny, el comando no se ejecuta y el motivo regresa al modelo, que ajusta su plan. Respuesta esperada a la pregunta: el prompt es una sugerencia que una inyección puede anular; el hook es código determinista que el modelo no puede saltarse.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triage enruta, no corrige; gana quien siga el criterio de aceptación.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minutos. Después del despliegue y de escribir las pruebas, el flujo las ejecuta todas: API y end to end. Si pasan, se escribe el reporte. Si fallan, el triage, que es el único supervisor de la fábrica, lee los fallos y los criterios de aceptación y devuelve un diagnóstico estructurado: responsable, causa, criterio de referencia e instrucción. El flujo enruta la corrección al agente responsable y vuelve a probar, con un máximo de dos ciclos; después, el reporte escala a una persona. Regla: si la prueba y la app no coinciden, gana quien siga el criterio de aceptación.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Quédate en la sala los primeros 2 minutos: ahí llegan las dudas 1:1.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Lancen el flujo al empezar: Claude Code tarda. Aprobar el plan solo si respeta «no se puede editar a un empleado dado de baja».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minutos en total. 4A (25 min): lancen el flujo apenas empiece el laboratorio, porque Claude Code tarda; aprobar el plan solo si respeta "no se puede editar a un empleado dado de baja"; si hay fallos, ¿están de acuerdo con el responsable que eligió el triage? Control: salida/HU-03/reporte.md. 4B (20 min): solo la historia envenenada, probada sobre un solo agente para que quepa en el tiempo. Sin defensas: correr solo el analista y buscar "diagnostico" en los criterios. Con defensas: flujo_s4 debe bloquearla en el primer nodo. El resultado sin defensas varía entre ejecuciones: esa variación es la razón para defender con código. Después de clase: salida/seguridad.md se entrega junto con el reto; el ataque de contexto envenenado queda como ampliación opcional (instrucciones en la guía de laboratorios).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ataques apuntan solo a secretos_demo.txt, nunca al .env real. El contexto envenenado queda como ampliación opcional.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la evaluación: examen de conceptos en línea (40 %) y reto en código con HU-10 (60 %), que incluye salida/seguridad.md.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evaluación sigue la lógica del módulo: los conceptos se miden en el examen y su aplicación en el reto. El examen se responde en línea después de la sesión, con la misma fecha límite que el reto. Tiene 20 preguntas: cuatro de agentes y componentes, cuatro de salidas estructuradas y validación, cuatro de orquestación y el rol del humano, cinco de arquitecturas y tres de seguridad. El reto usa la fábrica que cada quien construyó en los laboratorios con una historia nueva, solicitar vacaciones, que se entrega al terminar la sesión 4. Los entregables y quizzes de sesión no suman a la nota: son la práctica para llegar bien a las dos partes.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reto toma todo lo que hicieron en los laboratorios como base. Reciben la historia HU-10, sus reglas con la tabla de festivos de 2026 y 2027, y las convenciones de la API y la pantalla. Las agregan a historias y a contexto, y ejecutan la fábrica completa sobre su app de empleados: criterios de aceptación, casos de prueba, código con aprobación del plan, despliegue con Docker Compose, pruebas de API y E2E, y el reporte de punta a punta. Las tres reglas tienen mensajes de error exactos, porque el docente califica la API con pruebas propias que los estudiantes no ven. Además escriben una página de decisiones: qué es workflow y qué es agente, cómo se validó cada salida, dónde intervinieron, qué arquitectura usa su fábrica y qué corrigieron. Junto con el reto entregan salida/seguridad.md, el reporte del Lab 4B con la tabla de ataques y el checklist de producción.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40 por ciento depende de que la app cumpla la historia: el docente levanta la app de cada estudiante y corre una suite de 12 pruebas de API que cubre las tres reglas, los casos límite y los datos inválidos. El 35 por ciento es el recorrido: que cada etapa de la fábrica haya dejado su evidencia y sus validaciones, incluida la aprobación del plan. El 10 por ciento es integridad y seguridad: hooks intactos, nada editado a mano (verificable en la auditoría) y el reporte salida/seguridad.md con la tabla de ataques y el checklist de producción. El 15 por ciento son las decisiones, donde el estudiante demuestra que entiende los conceptos usando su propia ejecución como ejemplo.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Abre espacio para preguntas sobre el reto y recuerda las fechas: reto y examen, una semana después.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módulo, 15 minutos: una o dos fábricas completas en pantalla y la retrospectiva. Este checklist es el mismo que se exige en salida/seguridad.md, que se entrega con el reto. Recordar las dos fechas: el reto (con seguridad.md) y el examen en línea, ambos una semana después de la sesión 4.</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1-forma-1"/>
          <p:cNvSpPr/>
          <p:nvPr/>
        </p:nvSpPr>
        <p:spPr>
          <a:xfrm>
            <a:off x="853390" y="331715"/>
            <a:ext cx="81411" cy="81411"/>
          </a:xfrm>
          <a:prstGeom prst="ellipse">
            <a:avLst/>
          </a:prstGeom>
          <a:solidFill>
            <a:srgbClr val="E8ECF5"/>
          </a:solidFill>
          <a:ln/>
        </p:spPr>
        <p:txBody>
          <a:bodyPr/>
          <a:lstStyle/>
          <a:p>
            <a:endParaRPr lang="es-MX"/>
          </a:p>
        </p:txBody>
      </p:sp>
      <p:sp>
        <p:nvSpPr>
          <p:cNvPr id="3" name="s1-texto-2"/>
          <p:cNvSpPr txBox="1"/>
          <p:nvPr/>
        </p:nvSpPr>
        <p:spPr>
          <a:xfrm>
            <a:off x="1007018" y="315290"/>
            <a:ext cx="77447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E8ECF5"/>
                </a:solidFill>
                <a:latin typeface="Courier New" pitchFamily="34" charset="0"/>
                <a:ea typeface="Courier New" pitchFamily="34" charset="-122"/>
                <a:cs typeface="Courier New" pitchFamily="34" charset="-120"/>
              </a:rPr>
              <a:t>INTRODUCE</a:t>
            </a:r>
            <a:endParaRPr lang="en-US" sz="807" dirty="0"/>
          </a:p>
        </p:txBody>
      </p:sp>
      <p:sp>
        <p:nvSpPr>
          <p:cNvPr id="4" name="s1-texto-3"/>
          <p:cNvSpPr txBox="1"/>
          <p:nvPr/>
        </p:nvSpPr>
        <p:spPr>
          <a:xfrm>
            <a:off x="10262105" y="315290"/>
            <a:ext cx="1140772"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96A2B8"/>
                </a:solidFill>
                <a:latin typeface="Courier New" pitchFamily="34" charset="0"/>
                <a:ea typeface="Courier New" pitchFamily="34" charset="-122"/>
                <a:cs typeface="Courier New" pitchFamily="34" charset="-120"/>
              </a:rPr>
              <a:t>0:00 · Apertura</a:t>
            </a:r>
            <a:endParaRPr lang="en-US" sz="807" dirty="0"/>
          </a:p>
        </p:txBody>
      </p:sp>
      <p:sp>
        <p:nvSpPr>
          <p:cNvPr id="5" name="s1-texto-4"/>
          <p:cNvSpPr txBox="1"/>
          <p:nvPr/>
        </p:nvSpPr>
        <p:spPr>
          <a:xfrm>
            <a:off x="853390" y="2142313"/>
            <a:ext cx="7204103" cy="217097"/>
          </a:xfrm>
          <a:prstGeom prst="rect">
            <a:avLst/>
          </a:prstGeom>
          <a:noFill/>
          <a:ln/>
        </p:spPr>
        <p:txBody>
          <a:bodyPr wrap="none" lIns="0" tIns="0" rIns="0" bIns="0" rtlCol="0" anchor="t"/>
          <a:lstStyle/>
          <a:p>
            <a:pPr marL="0" indent="0" algn="l">
              <a:lnSpc>
                <a:spcPts val="2483"/>
              </a:lnSpc>
              <a:buNone/>
            </a:pPr>
            <a:r>
              <a:rPr lang="en-US" sz="1552" kern="0" spc="16" dirty="0">
                <a:solidFill>
                  <a:srgbClr val="DDE4F2"/>
                </a:solidFill>
                <a:latin typeface="Arial" pitchFamily="34" charset="0"/>
                <a:ea typeface="Arial" pitchFamily="34" charset="-122"/>
                <a:cs typeface="Arial" pitchFamily="34" charset="-120"/>
              </a:rPr>
              <a:t>Certificado</a:t>
            </a:r>
            <a:endParaRPr lang="en-US" sz="1552" dirty="0"/>
          </a:p>
        </p:txBody>
      </p:sp>
      <p:sp>
        <p:nvSpPr>
          <p:cNvPr id="6" name="s1-forma-5"/>
          <p:cNvSpPr/>
          <p:nvPr/>
        </p:nvSpPr>
        <p:spPr>
          <a:xfrm>
            <a:off x="853390" y="3410525"/>
            <a:ext cx="446691" cy="17139"/>
          </a:xfrm>
          <a:prstGeom prst="rect">
            <a:avLst/>
          </a:prstGeom>
          <a:solidFill>
            <a:srgbClr val="FFFFFF"/>
          </a:solidFill>
          <a:ln/>
        </p:spPr>
        <p:txBody>
          <a:bodyPr/>
          <a:lstStyle/>
          <a:p>
            <a:endParaRPr lang="es-MX"/>
          </a:p>
        </p:txBody>
      </p:sp>
      <p:sp>
        <p:nvSpPr>
          <p:cNvPr id="7" name="s1-texto-6"/>
          <p:cNvSpPr txBox="1"/>
          <p:nvPr/>
        </p:nvSpPr>
        <p:spPr>
          <a:xfrm>
            <a:off x="853390" y="2463584"/>
            <a:ext cx="6197033" cy="743413"/>
          </a:xfrm>
          <a:prstGeom prst="rect">
            <a:avLst/>
          </a:prstGeom>
          <a:noFill/>
          <a:ln/>
        </p:spPr>
        <p:txBody>
          <a:bodyPr wrap="square" lIns="0" tIns="0" rIns="0" bIns="0" rtlCol="0" anchor="t"/>
          <a:lstStyle/>
          <a:p>
            <a:pPr marL="0" indent="0" algn="l">
              <a:lnSpc>
                <a:spcPts val="2975"/>
              </a:lnSpc>
              <a:buNone/>
            </a:pPr>
            <a:r>
              <a:rPr lang="en-US" sz="2587" b="1" kern="0" spc="-52" dirty="0">
                <a:solidFill>
                  <a:srgbClr val="FFFFFF"/>
                </a:solidFill>
                <a:latin typeface="Arial" pitchFamily="34" charset="0"/>
                <a:ea typeface="Arial" pitchFamily="34" charset="-122"/>
                <a:cs typeface="Arial" pitchFamily="34" charset="-120"/>
              </a:rPr>
              <a:t>Next-Gen Coding: Desarrollo de Software con IA Generativa (Virtual)</a:t>
            </a:r>
            <a:endParaRPr lang="en-US" sz="2587" dirty="0"/>
          </a:p>
        </p:txBody>
      </p:sp>
      <p:sp>
        <p:nvSpPr>
          <p:cNvPr id="8" name="s1-texto-7"/>
          <p:cNvSpPr txBox="1"/>
          <p:nvPr/>
        </p:nvSpPr>
        <p:spPr>
          <a:xfrm>
            <a:off x="853390" y="3611554"/>
            <a:ext cx="11114010" cy="331358"/>
          </a:xfrm>
          <a:prstGeom prst="rect">
            <a:avLst/>
          </a:prstGeom>
          <a:noFill/>
          <a:ln/>
        </p:spPr>
        <p:txBody>
          <a:bodyPr wrap="none" lIns="0" tIns="0" rIns="0" bIns="0" rtlCol="0" anchor="t"/>
          <a:lstStyle/>
          <a:p>
            <a:pPr marL="0" indent="0" algn="l">
              <a:lnSpc>
                <a:spcPts val="2669"/>
              </a:lnSpc>
              <a:buNone/>
            </a:pPr>
            <a:r>
              <a:rPr lang="en-US" sz="2225" b="1" kern="0" spc="-33" dirty="0">
                <a:solidFill>
                  <a:srgbClr val="FFFFFF"/>
                </a:solidFill>
                <a:latin typeface="Georgia" pitchFamily="34" charset="0"/>
                <a:ea typeface="Georgia" pitchFamily="34" charset="-122"/>
                <a:cs typeface="Georgia" pitchFamily="34" charset="-120"/>
              </a:rPr>
              <a:t>Seguridad en sistemas agénticos</a:t>
            </a:r>
            <a:endParaRPr lang="en-US" sz="2225" dirty="0"/>
          </a:p>
        </p:txBody>
      </p:sp>
      <p:sp>
        <p:nvSpPr>
          <p:cNvPr id="9" name="s1-texto-8"/>
          <p:cNvSpPr txBox="1"/>
          <p:nvPr/>
        </p:nvSpPr>
        <p:spPr>
          <a:xfrm>
            <a:off x="853390" y="4022806"/>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7FA8F0"/>
                </a:solidFill>
                <a:latin typeface="Courier New" pitchFamily="34" charset="0"/>
                <a:ea typeface="Courier New" pitchFamily="34" charset="-122"/>
                <a:cs typeface="Courier New" pitchFamily="34" charset="-120"/>
              </a:rPr>
              <a:t>MÓDULO 3 · CONSTRUCCIÓN DE SISTEMAS AGÉNTICOS</a:t>
            </a:r>
            <a:endParaRPr lang="en-US" sz="869" dirty="0"/>
          </a:p>
        </p:txBody>
      </p:sp>
      <p:sp>
        <p:nvSpPr>
          <p:cNvPr id="10" name="s1-texto-9"/>
          <p:cNvSpPr txBox="1"/>
          <p:nvPr/>
        </p:nvSpPr>
        <p:spPr>
          <a:xfrm>
            <a:off x="853390" y="430096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96A2B8"/>
                </a:solidFill>
                <a:latin typeface="Arial" pitchFamily="34" charset="0"/>
                <a:ea typeface="Arial" pitchFamily="34" charset="-122"/>
                <a:cs typeface="Arial" pitchFamily="34" charset="-120"/>
              </a:rPr>
              <a:t>Sesión 4 · 2 h · Nivel profesional</a:t>
            </a:r>
            <a:endParaRPr lang="en-US" sz="1676" dirty="0"/>
          </a:p>
        </p:txBody>
      </p:sp>
      <p:sp>
        <p:nvSpPr>
          <p:cNvPr id="11" name="s1-texto-10"/>
          <p:cNvSpPr txBox="1"/>
          <p:nvPr/>
        </p:nvSpPr>
        <p:spPr>
          <a:xfrm>
            <a:off x="853390" y="4609646"/>
            <a:ext cx="5761958" cy="177105"/>
          </a:xfrm>
          <a:prstGeom prst="rect">
            <a:avLst/>
          </a:prstGeom>
          <a:noFill/>
          <a:ln/>
        </p:spPr>
        <p:txBody>
          <a:bodyPr wrap="none" lIns="0" tIns="0" rIns="0" bIns="0" rtlCol="0" anchor="t"/>
          <a:lstStyle/>
          <a:p>
            <a:pPr marL="0" indent="0" algn="l">
              <a:lnSpc>
                <a:spcPts val="1987"/>
              </a:lnSpc>
              <a:buNone/>
            </a:pPr>
            <a:r>
              <a:rPr lang="en-US" sz="1242" dirty="0">
                <a:solidFill>
                  <a:srgbClr val="96A2B8"/>
                </a:solidFill>
                <a:latin typeface="Arial" pitchFamily="34" charset="0"/>
                <a:ea typeface="Arial" pitchFamily="34" charset="-122"/>
                <a:cs typeface="Arial" pitchFamily="34" charset="-120"/>
              </a:rPr>
              <a:t>Limitar lo que el agente puede hacer, aunque lo engañen.</a:t>
            </a:r>
            <a:endParaRPr lang="en-US" sz="1242" dirty="0"/>
          </a:p>
        </p:txBody>
      </p:sp>
      <p:pic>
        <p:nvPicPr>
          <p:cNvPr id="12" name="s1-logo-11" descr="preencoded.png"/>
          <p:cNvPicPr>
            <a:picLocks noChangeAspect="1"/>
          </p:cNvPicPr>
          <p:nvPr/>
        </p:nvPicPr>
        <p:blipFill>
          <a:blip r:embed="rId4"/>
          <a:stretch>
            <a:fillRect/>
          </a:stretch>
        </p:blipFill>
        <p:spPr>
          <a:xfrm>
            <a:off x="853390" y="6465055"/>
            <a:ext cx="687800" cy="212455"/>
          </a:xfrm>
          <a:prstGeom prst="rect">
            <a:avLst/>
          </a:prstGeom>
        </p:spPr>
      </p:pic>
      <p:sp>
        <p:nvSpPr>
          <p:cNvPr id="13" name="s1-forma-12"/>
          <p:cNvSpPr/>
          <p:nvPr/>
        </p:nvSpPr>
        <p:spPr>
          <a:xfrm>
            <a:off x="1659380" y="6519865"/>
            <a:ext cx="3578704" cy="102835"/>
          </a:xfrm>
          <a:prstGeom prst="rect">
            <a:avLst/>
          </a:prstGeom>
          <a:ln/>
        </p:spPr>
        <p:txBody>
          <a:bodyPr/>
          <a:lstStyle/>
          <a:p>
            <a:endParaRPr lang="es-MX"/>
          </a:p>
        </p:txBody>
      </p:sp>
      <p:sp>
        <p:nvSpPr>
          <p:cNvPr id="14" name="s1-forma-13"/>
          <p:cNvSpPr/>
          <p:nvPr/>
        </p:nvSpPr>
        <p:spPr>
          <a:xfrm>
            <a:off x="1659380" y="6519865"/>
            <a:ext cx="5713" cy="102835"/>
          </a:xfrm>
          <a:prstGeom prst="rect">
            <a:avLst/>
          </a:prstGeom>
          <a:solidFill>
            <a:srgbClr val="2A3550"/>
          </a:solidFill>
          <a:ln/>
        </p:spPr>
        <p:txBody>
          <a:bodyPr/>
          <a:lstStyle/>
          <a:p>
            <a:endParaRPr lang="es-MX"/>
          </a:p>
        </p:txBody>
      </p:sp>
      <p:sp>
        <p:nvSpPr>
          <p:cNvPr id="15" name="s1-texto-14"/>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96A2B8"/>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6" name="s1-texto-15"/>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96A2B8"/>
                </a:solidFill>
                <a:latin typeface="Courier New" pitchFamily="34" charset="0"/>
                <a:ea typeface="Courier New" pitchFamily="34" charset="-122"/>
                <a:cs typeface="Courier New" pitchFamily="34" charset="-120"/>
              </a:rPr>
              <a:t>1 / 22</a:t>
            </a:r>
            <a:endParaRPr lang="en-US" sz="745" dirty="0"/>
          </a:p>
        </p:txBody>
      </p:sp>
      <p:sp>
        <p:nvSpPr>
          <p:cNvPr id="17" name="s1-forma-16"/>
          <p:cNvSpPr/>
          <p:nvPr/>
        </p:nvSpPr>
        <p:spPr>
          <a:xfrm>
            <a:off x="0" y="0"/>
            <a:ext cx="554168" cy="17139"/>
          </a:xfrm>
          <a:prstGeom prst="rect">
            <a:avLst/>
          </a:prstGeom>
          <a:solidFill>
            <a:srgbClr val="7FA8F0"/>
          </a:solidFill>
          <a:ln/>
        </p:spPr>
        <p:txBody>
          <a:bodyPr/>
          <a:lstStyle/>
          <a:p>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8DC"/>
        </a:solidFill>
        <a:effectLst/>
      </p:bgPr>
    </p:bg>
    <p:spTree>
      <p:nvGrpSpPr>
        <p:cNvPr id="1" name=""/>
        <p:cNvGrpSpPr/>
        <p:nvPr/>
      </p:nvGrpSpPr>
      <p:grpSpPr>
        <a:xfrm>
          <a:off x="0" y="0"/>
          <a:ext cx="0" cy="0"/>
          <a:chOff x="0" y="0"/>
          <a:chExt cx="0" cy="0"/>
        </a:xfrm>
      </p:grpSpPr>
      <p:sp>
        <p:nvSpPr>
          <p:cNvPr id="2" name="s2-forma-1"/>
          <p:cNvSpPr/>
          <p:nvPr/>
        </p:nvSpPr>
        <p:spPr>
          <a:xfrm>
            <a:off x="853390" y="331715"/>
            <a:ext cx="81411" cy="81411"/>
          </a:xfrm>
          <a:prstGeom prst="ellipse">
            <a:avLst/>
          </a:prstGeom>
          <a:solidFill>
            <a:srgbClr val="7C560C"/>
          </a:solidFill>
          <a:ln/>
        </p:spPr>
        <p:txBody>
          <a:bodyPr/>
          <a:lstStyle/>
          <a:p>
            <a:endParaRPr lang="es-MX"/>
          </a:p>
        </p:txBody>
      </p:sp>
      <p:sp>
        <p:nvSpPr>
          <p:cNvPr id="3" name="s2-texto-2"/>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2-texto-3"/>
          <p:cNvSpPr txBox="1"/>
          <p:nvPr/>
        </p:nvSpPr>
        <p:spPr>
          <a:xfrm>
            <a:off x="10477327" y="315290"/>
            <a:ext cx="912636"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5 min</a:t>
            </a:r>
            <a:endParaRPr lang="en-US" sz="807" dirty="0"/>
          </a:p>
        </p:txBody>
      </p:sp>
      <p:sp>
        <p:nvSpPr>
          <p:cNvPr id="5" name="s2-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4.0</a:t>
            </a:r>
            <a:endParaRPr lang="en-US" sz="869" dirty="0"/>
          </a:p>
        </p:txBody>
      </p:sp>
      <p:sp>
        <p:nvSpPr>
          <p:cNvPr id="6" name="s2-forma-5"/>
          <p:cNvSpPr/>
          <p:nvPr/>
        </p:nvSpPr>
        <p:spPr>
          <a:xfrm>
            <a:off x="853390" y="3768306"/>
            <a:ext cx="722704" cy="22852"/>
          </a:xfrm>
          <a:prstGeom prst="rect">
            <a:avLst/>
          </a:prstGeom>
          <a:solidFill>
            <a:srgbClr val="0033A0"/>
          </a:solidFill>
          <a:ln/>
        </p:spPr>
        <p:txBody>
          <a:bodyPr/>
          <a:lstStyle/>
          <a:p>
            <a:endParaRPr lang="es-MX"/>
          </a:p>
        </p:txBody>
      </p:sp>
      <p:sp>
        <p:nvSpPr>
          <p:cNvPr id="7" name="s2-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Revisión del entregable 3</a:t>
            </a:r>
            <a:endParaRPr lang="en-US" sz="4242" dirty="0"/>
          </a:p>
        </p:txBody>
      </p:sp>
      <p:sp>
        <p:nvSpPr>
          <p:cNvPr id="8" name="s2-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Una denegación de la auditoría, en pantalla.</a:t>
            </a:r>
            <a:endParaRPr lang="en-US" sz="1676" dirty="0"/>
          </a:p>
        </p:txBody>
      </p:sp>
      <p:pic>
        <p:nvPicPr>
          <p:cNvPr id="9" name="s2-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forma-9"/>
          <p:cNvSpPr/>
          <p:nvPr/>
        </p:nvSpPr>
        <p:spPr>
          <a:xfrm>
            <a:off x="1659380" y="6519865"/>
            <a:ext cx="3578704" cy="102835"/>
          </a:xfrm>
          <a:prstGeom prst="rect">
            <a:avLst/>
          </a:prstGeom>
          <a:ln/>
        </p:spPr>
        <p:txBody>
          <a:bodyPr/>
          <a:lstStyle/>
          <a:p>
            <a:endParaRPr lang="es-MX"/>
          </a:p>
        </p:txBody>
      </p:sp>
      <p:sp>
        <p:nvSpPr>
          <p:cNvPr id="11" name="s2-forma-10"/>
          <p:cNvSpPr/>
          <p:nvPr/>
        </p:nvSpPr>
        <p:spPr>
          <a:xfrm>
            <a:off x="1659380" y="6519865"/>
            <a:ext cx="5713" cy="102835"/>
          </a:xfrm>
          <a:prstGeom prst="rect">
            <a:avLst/>
          </a:prstGeom>
          <a:solidFill>
            <a:srgbClr val="C6BFAE"/>
          </a:solidFill>
          <a:ln/>
        </p:spPr>
        <p:txBody>
          <a:bodyPr/>
          <a:lstStyle/>
          <a:p>
            <a:endParaRPr lang="es-MX"/>
          </a:p>
        </p:txBody>
      </p:sp>
      <p:sp>
        <p:nvSpPr>
          <p:cNvPr id="12" name="s2-texto-1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3" name="s2-texto-12"/>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 / 22</a:t>
            </a:r>
            <a:endParaRPr lang="en-US" sz="745" dirty="0"/>
          </a:p>
        </p:txBody>
      </p:sp>
      <p:sp>
        <p:nvSpPr>
          <p:cNvPr id="14" name="s2-forma-13"/>
          <p:cNvSpPr/>
          <p:nvPr/>
        </p:nvSpPr>
        <p:spPr>
          <a:xfrm>
            <a:off x="0" y="0"/>
            <a:ext cx="1108336" cy="17139"/>
          </a:xfrm>
          <a:prstGeom prst="rect">
            <a:avLst/>
          </a:prstGeom>
          <a:solidFill>
            <a:srgbClr val="0033A0"/>
          </a:solidFill>
          <a:ln/>
        </p:spPr>
        <p:txBody>
          <a:bodyPr/>
          <a:lstStyle/>
          <a:p>
            <a:endParaRPr lang="es-MX"/>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8DC"/>
        </a:solidFill>
        <a:effectLst/>
      </p:bgPr>
    </p:bg>
    <p:spTree>
      <p:nvGrpSpPr>
        <p:cNvPr id="1" name=""/>
        <p:cNvGrpSpPr/>
        <p:nvPr/>
      </p:nvGrpSpPr>
      <p:grpSpPr>
        <a:xfrm>
          <a:off x="0" y="0"/>
          <a:ext cx="0" cy="0"/>
          <a:chOff x="0" y="0"/>
          <a:chExt cx="0" cy="0"/>
        </a:xfrm>
      </p:grpSpPr>
      <p:sp>
        <p:nvSpPr>
          <p:cNvPr id="2" name="s3-forma-1"/>
          <p:cNvSpPr/>
          <p:nvPr/>
        </p:nvSpPr>
        <p:spPr>
          <a:xfrm>
            <a:off x="853390" y="520961"/>
            <a:ext cx="10484915" cy="5713"/>
          </a:xfrm>
          <a:prstGeom prst="rect">
            <a:avLst/>
          </a:prstGeom>
          <a:solidFill>
            <a:srgbClr val="C6BFAE"/>
          </a:solidFill>
          <a:ln/>
        </p:spPr>
        <p:txBody>
          <a:bodyPr/>
          <a:lstStyle/>
          <a:p>
            <a:endParaRPr lang="es-MX"/>
          </a:p>
        </p:txBody>
      </p:sp>
      <p:sp>
        <p:nvSpPr>
          <p:cNvPr id="3" name="s3-forma-2"/>
          <p:cNvSpPr/>
          <p:nvPr/>
        </p:nvSpPr>
        <p:spPr>
          <a:xfrm>
            <a:off x="853390" y="331715"/>
            <a:ext cx="81411" cy="81411"/>
          </a:xfrm>
          <a:prstGeom prst="ellipse">
            <a:avLst/>
          </a:prstGeom>
          <a:solidFill>
            <a:srgbClr val="7C560C"/>
          </a:solidFill>
          <a:ln/>
        </p:spPr>
        <p:txBody>
          <a:bodyPr/>
          <a:lstStyle/>
          <a:p>
            <a:endParaRPr lang="es-MX"/>
          </a:p>
        </p:txBody>
      </p:sp>
      <p:sp>
        <p:nvSpPr>
          <p:cNvPr id="4" name="s3-texto-3"/>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5" name="s3-texto-4"/>
          <p:cNvSpPr txBox="1"/>
          <p:nvPr/>
        </p:nvSpPr>
        <p:spPr>
          <a:xfrm>
            <a:off x="10477327" y="315290"/>
            <a:ext cx="912636"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0:00 · 5 min</a:t>
            </a:r>
            <a:endParaRPr lang="en-US" sz="807" dirty="0"/>
          </a:p>
        </p:txBody>
      </p:sp>
      <p:sp>
        <p:nvSpPr>
          <p:cNvPr id="6" name="s3-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SESIÓN 4 · OBJETIVO</a:t>
            </a:r>
            <a:endParaRPr lang="en-US" sz="900" dirty="0"/>
          </a:p>
        </p:txBody>
      </p:sp>
      <p:sp>
        <p:nvSpPr>
          <p:cNvPr id="7" name="s3-texto-6"/>
          <p:cNvSpPr txBox="1"/>
          <p:nvPr/>
        </p:nvSpPr>
        <p:spPr>
          <a:xfrm>
            <a:off x="1342572" y="1462546"/>
            <a:ext cx="10076945" cy="279941"/>
          </a:xfrm>
          <a:prstGeom prst="rect">
            <a:avLst/>
          </a:prstGeom>
          <a:noFill/>
          <a:ln/>
        </p:spPr>
        <p:txBody>
          <a:bodyPr wrap="none" lIns="0" tIns="0" rIns="0" bIns="0" rtlCol="0" anchor="t"/>
          <a:lstStyle/>
          <a:p>
            <a:pPr marL="0" indent="0" algn="l">
              <a:lnSpc>
                <a:spcPts val="2173"/>
              </a:lnSpc>
              <a:buNone/>
            </a:pPr>
            <a:r>
              <a:rPr lang="en-US" sz="1889" b="1" kern="0" spc="-19" dirty="0">
                <a:solidFill>
                  <a:srgbClr val="16181D"/>
                </a:solidFill>
                <a:latin typeface="Georgia" pitchFamily="34" charset="0"/>
                <a:ea typeface="Georgia" pitchFamily="34" charset="-122"/>
                <a:cs typeface="Georgia" pitchFamily="34" charset="-120"/>
              </a:rPr>
              <a:t>Entender los riesgos de un sistema agéntico y defenderlo por capas</a:t>
            </a:r>
            <a:endParaRPr lang="en-US" sz="1889" dirty="0"/>
          </a:p>
        </p:txBody>
      </p:sp>
      <p:sp>
        <p:nvSpPr>
          <p:cNvPr id="8" name="s3-forma-7"/>
          <p:cNvSpPr/>
          <p:nvPr/>
        </p:nvSpPr>
        <p:spPr>
          <a:xfrm>
            <a:off x="1342572" y="2018410"/>
            <a:ext cx="3035516" cy="2205960"/>
          </a:xfrm>
          <a:prstGeom prst="rect">
            <a:avLst/>
          </a:prstGeom>
          <a:solidFill>
            <a:srgbClr val="E2D3C2"/>
          </a:solidFill>
          <a:ln/>
        </p:spPr>
        <p:txBody>
          <a:bodyPr/>
          <a:lstStyle/>
          <a:p>
            <a:endParaRPr lang="es-MX"/>
          </a:p>
        </p:txBody>
      </p:sp>
      <p:sp>
        <p:nvSpPr>
          <p:cNvPr id="9" name="s3-texto-8"/>
          <p:cNvSpPr txBox="1"/>
          <p:nvPr/>
        </p:nvSpPr>
        <p:spPr>
          <a:xfrm>
            <a:off x="1571095" y="2246933"/>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APRENDES</a:t>
            </a:r>
            <a:endParaRPr lang="en-US" sz="900" dirty="0"/>
          </a:p>
        </p:txBody>
      </p:sp>
      <p:sp>
        <p:nvSpPr>
          <p:cNvPr id="10" name="s3-texto-9"/>
          <p:cNvSpPr txBox="1"/>
          <p:nvPr/>
        </p:nvSpPr>
        <p:spPr>
          <a:xfrm>
            <a:off x="1571095" y="2492595"/>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OWASP Top 10 agéntico y la tríada letal</a:t>
            </a:r>
            <a:endParaRPr lang="en-US" sz="1260" dirty="0"/>
          </a:p>
        </p:txBody>
      </p:sp>
      <p:sp>
        <p:nvSpPr>
          <p:cNvPr id="11" name="s3-texto-10"/>
          <p:cNvSpPr txBox="1"/>
          <p:nvPr/>
        </p:nvSpPr>
        <p:spPr>
          <a:xfrm>
            <a:off x="1571095" y="3031767"/>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Defensas en código, no en el prompt</a:t>
            </a:r>
            <a:endParaRPr lang="en-US" sz="1260" dirty="0"/>
          </a:p>
        </p:txBody>
      </p:sp>
      <p:sp>
        <p:nvSpPr>
          <p:cNvPr id="12" name="s3-texto-11"/>
          <p:cNvSpPr txBox="1"/>
          <p:nvPr/>
        </p:nvSpPr>
        <p:spPr>
          <a:xfrm>
            <a:off x="1571095" y="3570938"/>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Flujo de punta a punta con triage y escalamiento</a:t>
            </a:r>
            <a:endParaRPr lang="en-US" sz="1260" dirty="0"/>
          </a:p>
        </p:txBody>
      </p:sp>
      <p:sp>
        <p:nvSpPr>
          <p:cNvPr id="13" name="s3-forma-12"/>
          <p:cNvSpPr/>
          <p:nvPr/>
        </p:nvSpPr>
        <p:spPr>
          <a:xfrm>
            <a:off x="4560906" y="2018410"/>
            <a:ext cx="3046942" cy="2205960"/>
          </a:xfrm>
          <a:prstGeom prst="rect">
            <a:avLst/>
          </a:prstGeom>
          <a:solidFill>
            <a:srgbClr val="E3DCCB"/>
          </a:solidFill>
          <a:ln w="5713">
            <a:solidFill>
              <a:srgbClr val="C6BFAE"/>
            </a:solidFill>
            <a:prstDash val="solid"/>
          </a:ln>
        </p:spPr>
        <p:txBody>
          <a:bodyPr/>
          <a:lstStyle/>
          <a:p>
            <a:endParaRPr lang="es-MX"/>
          </a:p>
        </p:txBody>
      </p:sp>
      <p:sp>
        <p:nvSpPr>
          <p:cNvPr id="14" name="s3-texto-13"/>
          <p:cNvSpPr txBox="1"/>
          <p:nvPr/>
        </p:nvSpPr>
        <p:spPr>
          <a:xfrm>
            <a:off x="4795142" y="2252646"/>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APLICAS EN TU FÁBRICA</a:t>
            </a:r>
            <a:endParaRPr lang="en-US" sz="900" dirty="0"/>
          </a:p>
        </p:txBody>
      </p:sp>
      <p:sp>
        <p:nvSpPr>
          <p:cNvPr id="15" name="s3-texto-14"/>
          <p:cNvSpPr txBox="1"/>
          <p:nvPr/>
        </p:nvSpPr>
        <p:spPr>
          <a:xfrm>
            <a:off x="4795142" y="2498308"/>
            <a:ext cx="2733178" cy="400986"/>
          </a:xfrm>
          <a:prstGeom prst="rect">
            <a:avLst/>
          </a:prstGeom>
          <a:noFill/>
          <a:ln/>
        </p:spPr>
        <p:txBody>
          <a:bodyPr wrap="square" lIns="0" tIns="0" rIns="0" bIns="0" rtlCol="0" anchor="t"/>
          <a:lstStyle/>
          <a:p>
            <a:pPr marL="0" indent="0" algn="l">
              <a:lnSpc>
                <a:spcPts val="1763"/>
              </a:lnSpc>
              <a:buNone/>
            </a:pPr>
            <a:r>
              <a:rPr lang="en-US" sz="1260" b="1" dirty="0">
                <a:solidFill>
                  <a:srgbClr val="0033A0"/>
                </a:solidFill>
                <a:latin typeface="Arial" pitchFamily="34" charset="0"/>
                <a:ea typeface="Arial" pitchFamily="34" charset="-122"/>
                <a:cs typeface="Arial" pitchFamily="34" charset="-120"/>
              </a:rPr>
              <a:t>6 · Flujo E2E</a:t>
            </a:r>
            <a:r>
              <a:rPr lang="en-US" sz="1260" dirty="0">
                <a:solidFill>
                  <a:srgbClr val="16181D"/>
                </a:solidFill>
                <a:latin typeface="Arial" pitchFamily="34" charset="0"/>
                <a:ea typeface="Arial" pitchFamily="34" charset="-122"/>
                <a:cs typeface="Arial" pitchFamily="34" charset="-120"/>
              </a:rPr>
              <a:t> con un agente de triage</a:t>
            </a:r>
            <a:endParaRPr lang="en-US" sz="1260" dirty="0"/>
          </a:p>
        </p:txBody>
      </p:sp>
      <p:sp>
        <p:nvSpPr>
          <p:cNvPr id="16" name="s3-texto-15"/>
          <p:cNvSpPr txBox="1"/>
          <p:nvPr/>
        </p:nvSpPr>
        <p:spPr>
          <a:xfrm>
            <a:off x="4795142" y="3037480"/>
            <a:ext cx="2733178" cy="177105"/>
          </a:xfrm>
          <a:prstGeom prst="rect">
            <a:avLst/>
          </a:prstGeom>
          <a:noFill/>
          <a:ln/>
        </p:spPr>
        <p:txBody>
          <a:bodyPr wrap="non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Un filtro para historias no confiables</a:t>
            </a:r>
            <a:endParaRPr lang="en-US" sz="1260" dirty="0"/>
          </a:p>
        </p:txBody>
      </p:sp>
      <p:sp>
        <p:nvSpPr>
          <p:cNvPr id="17" name="s3-texto-16"/>
          <p:cNvSpPr txBox="1"/>
          <p:nvPr/>
        </p:nvSpPr>
        <p:spPr>
          <a:xfrm>
            <a:off x="4795142" y="3352770"/>
            <a:ext cx="2733178"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Pruebas de ataque con y sin defensas</a:t>
            </a:r>
            <a:endParaRPr lang="en-US" sz="1260" dirty="0"/>
          </a:p>
        </p:txBody>
      </p:sp>
      <p:sp>
        <p:nvSpPr>
          <p:cNvPr id="18" name="s3-forma-17"/>
          <p:cNvSpPr/>
          <p:nvPr/>
        </p:nvSpPr>
        <p:spPr>
          <a:xfrm>
            <a:off x="7790666" y="2018410"/>
            <a:ext cx="3058368" cy="2205960"/>
          </a:xfrm>
          <a:prstGeom prst="rect">
            <a:avLst/>
          </a:prstGeom>
          <a:solidFill>
            <a:srgbClr val="E8E2D5"/>
          </a:solidFill>
          <a:ln/>
        </p:spPr>
        <p:txBody>
          <a:bodyPr/>
          <a:lstStyle/>
          <a:p>
            <a:endParaRPr lang="es-MX"/>
          </a:p>
        </p:txBody>
      </p:sp>
      <p:sp>
        <p:nvSpPr>
          <p:cNvPr id="19" name="s3-forma-18"/>
          <p:cNvSpPr/>
          <p:nvPr/>
        </p:nvSpPr>
        <p:spPr>
          <a:xfrm>
            <a:off x="7790666" y="2018410"/>
            <a:ext cx="3058368" cy="5713"/>
          </a:xfrm>
          <a:prstGeom prst="rect">
            <a:avLst/>
          </a:prstGeom>
          <a:solidFill>
            <a:srgbClr val="DBD4C4"/>
          </a:solidFill>
          <a:ln/>
        </p:spPr>
        <p:txBody>
          <a:bodyPr/>
          <a:lstStyle/>
          <a:p>
            <a:endParaRPr lang="es-MX"/>
          </a:p>
        </p:txBody>
      </p:sp>
      <p:sp>
        <p:nvSpPr>
          <p:cNvPr id="20" name="s3-forma-19"/>
          <p:cNvSpPr/>
          <p:nvPr/>
        </p:nvSpPr>
        <p:spPr>
          <a:xfrm>
            <a:off x="7790666" y="4218657"/>
            <a:ext cx="3058368" cy="5713"/>
          </a:xfrm>
          <a:prstGeom prst="rect">
            <a:avLst/>
          </a:prstGeom>
          <a:solidFill>
            <a:srgbClr val="DBD4C4"/>
          </a:solidFill>
          <a:ln/>
        </p:spPr>
        <p:txBody>
          <a:bodyPr/>
          <a:lstStyle/>
          <a:p>
            <a:endParaRPr lang="es-MX"/>
          </a:p>
        </p:txBody>
      </p:sp>
      <p:sp>
        <p:nvSpPr>
          <p:cNvPr id="21" name="s3-forma-20"/>
          <p:cNvSpPr/>
          <p:nvPr/>
        </p:nvSpPr>
        <p:spPr>
          <a:xfrm>
            <a:off x="7790666" y="2018410"/>
            <a:ext cx="17139" cy="2205960"/>
          </a:xfrm>
          <a:prstGeom prst="rect">
            <a:avLst/>
          </a:prstGeom>
          <a:solidFill>
            <a:srgbClr val="C6BFAE"/>
          </a:solidFill>
          <a:ln/>
        </p:spPr>
        <p:txBody>
          <a:bodyPr/>
          <a:lstStyle/>
          <a:p>
            <a:endParaRPr lang="es-MX"/>
          </a:p>
        </p:txBody>
      </p:sp>
      <p:sp>
        <p:nvSpPr>
          <p:cNvPr id="22" name="s3-forma-21"/>
          <p:cNvSpPr/>
          <p:nvPr/>
        </p:nvSpPr>
        <p:spPr>
          <a:xfrm>
            <a:off x="10843321" y="2018410"/>
            <a:ext cx="5713" cy="2205960"/>
          </a:xfrm>
          <a:prstGeom prst="rect">
            <a:avLst/>
          </a:prstGeom>
          <a:solidFill>
            <a:srgbClr val="DBD4C4"/>
          </a:solidFill>
          <a:ln/>
        </p:spPr>
        <p:txBody>
          <a:bodyPr/>
          <a:lstStyle/>
          <a:p>
            <a:endParaRPr lang="es-MX"/>
          </a:p>
        </p:txBody>
      </p:sp>
      <p:sp>
        <p:nvSpPr>
          <p:cNvPr id="23" name="s3-texto-22"/>
          <p:cNvSpPr txBox="1"/>
          <p:nvPr/>
        </p:nvSpPr>
        <p:spPr>
          <a:xfrm>
            <a:off x="8036328" y="2252646"/>
            <a:ext cx="2733178"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ENTREGAS HOY</a:t>
            </a:r>
            <a:endParaRPr lang="en-US" sz="900" dirty="0"/>
          </a:p>
        </p:txBody>
      </p:sp>
      <p:sp>
        <p:nvSpPr>
          <p:cNvPr id="24" name="s3-texto-23"/>
          <p:cNvSpPr txBox="1"/>
          <p:nvPr/>
        </p:nvSpPr>
        <p:spPr>
          <a:xfrm>
            <a:off x="8036328" y="2498308"/>
            <a:ext cx="2733178" cy="708421"/>
          </a:xfrm>
          <a:prstGeom prst="rect">
            <a:avLst/>
          </a:prstGeom>
          <a:noFill/>
          <a:ln/>
        </p:spPr>
        <p:txBody>
          <a:bodyPr wrap="square" lIns="0" tIns="0" rIns="0" bIns="0" rtlCol="0" anchor="t"/>
          <a:lstStyle/>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salida/HU-03/reporte.md</a:t>
            </a:r>
            <a:endParaRPr lang="en-US" sz="990" dirty="0"/>
          </a:p>
          <a:p>
            <a:pPr marL="0" indent="0" algn="l">
              <a:lnSpc>
                <a:spcPts val="1485"/>
              </a:lnSpc>
              <a:buNone/>
            </a:pPr>
            <a:r>
              <a:rPr lang="en-US" sz="990" dirty="0">
                <a:solidFill>
                  <a:srgbClr val="585E6F"/>
                </a:solidFill>
                <a:latin typeface="Courier New" pitchFamily="34" charset="0"/>
                <a:ea typeface="Courier New" pitchFamily="34" charset="-122"/>
                <a:cs typeface="Courier New" pitchFamily="34" charset="-120"/>
              </a:rPr>
              <a:t>en una semana:</a:t>
            </a:r>
            <a:endParaRPr lang="en-US" sz="990" dirty="0"/>
          </a:p>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reto HU-10</a:t>
            </a:r>
            <a:endParaRPr lang="en-US" sz="990" dirty="0"/>
          </a:p>
          <a:p>
            <a:pPr marL="0" indent="0" algn="l">
              <a:lnSpc>
                <a:spcPts val="1485"/>
              </a:lnSpc>
              <a:buNone/>
            </a:pPr>
            <a:r>
              <a:rPr lang="en-US" sz="990" dirty="0">
                <a:solidFill>
                  <a:srgbClr val="16181D"/>
                </a:solidFill>
                <a:latin typeface="Courier New" pitchFamily="34" charset="0"/>
                <a:ea typeface="Courier New" pitchFamily="34" charset="-122"/>
                <a:cs typeface="Courier New" pitchFamily="34" charset="-120"/>
              </a:rPr>
              <a:t>salida/seguridad.md</a:t>
            </a:r>
            <a:endParaRPr lang="en-US" sz="990" dirty="0"/>
          </a:p>
        </p:txBody>
      </p:sp>
      <p:sp>
        <p:nvSpPr>
          <p:cNvPr id="25" name="s3-texto-24"/>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Sesión 4 · Seguridad en sistemas agénticos · 2 h</a:t>
            </a:r>
            <a:endParaRPr lang="en-US" sz="1080" dirty="0"/>
          </a:p>
        </p:txBody>
      </p:sp>
      <p:sp>
        <p:nvSpPr>
          <p:cNvPr id="26" name="s3-forma-25"/>
          <p:cNvSpPr/>
          <p:nvPr/>
        </p:nvSpPr>
        <p:spPr>
          <a:xfrm>
            <a:off x="853390" y="6411138"/>
            <a:ext cx="10484915" cy="5713"/>
          </a:xfrm>
          <a:prstGeom prst="rect">
            <a:avLst/>
          </a:prstGeom>
          <a:solidFill>
            <a:srgbClr val="DBD4C4"/>
          </a:solidFill>
          <a:ln/>
        </p:spPr>
        <p:txBody>
          <a:bodyPr/>
          <a:lstStyle/>
          <a:p>
            <a:endParaRPr lang="es-MX"/>
          </a:p>
        </p:txBody>
      </p:sp>
      <p:pic>
        <p:nvPicPr>
          <p:cNvPr id="27" name="s3-logo-26" descr="preencoded.png"/>
          <p:cNvPicPr>
            <a:picLocks noChangeAspect="1"/>
          </p:cNvPicPr>
          <p:nvPr/>
        </p:nvPicPr>
        <p:blipFill>
          <a:blip r:embed="rId3"/>
          <a:stretch>
            <a:fillRect/>
          </a:stretch>
        </p:blipFill>
        <p:spPr>
          <a:xfrm>
            <a:off x="853390" y="6465055"/>
            <a:ext cx="687800" cy="212455"/>
          </a:xfrm>
          <a:prstGeom prst="rect">
            <a:avLst/>
          </a:prstGeom>
        </p:spPr>
      </p:pic>
      <p:sp>
        <p:nvSpPr>
          <p:cNvPr id="28" name="s3-forma-27"/>
          <p:cNvSpPr/>
          <p:nvPr/>
        </p:nvSpPr>
        <p:spPr>
          <a:xfrm>
            <a:off x="1659380" y="6519865"/>
            <a:ext cx="3578704" cy="102835"/>
          </a:xfrm>
          <a:prstGeom prst="rect">
            <a:avLst/>
          </a:prstGeom>
          <a:ln/>
        </p:spPr>
        <p:txBody>
          <a:bodyPr/>
          <a:lstStyle/>
          <a:p>
            <a:endParaRPr lang="es-MX"/>
          </a:p>
        </p:txBody>
      </p:sp>
      <p:sp>
        <p:nvSpPr>
          <p:cNvPr id="29" name="s3-forma-28"/>
          <p:cNvSpPr/>
          <p:nvPr/>
        </p:nvSpPr>
        <p:spPr>
          <a:xfrm>
            <a:off x="1659380" y="6519865"/>
            <a:ext cx="5713" cy="102835"/>
          </a:xfrm>
          <a:prstGeom prst="rect">
            <a:avLst/>
          </a:prstGeom>
          <a:solidFill>
            <a:srgbClr val="C6BFAE"/>
          </a:solidFill>
          <a:ln/>
        </p:spPr>
        <p:txBody>
          <a:bodyPr/>
          <a:lstStyle/>
          <a:p>
            <a:endParaRPr lang="es-MX"/>
          </a:p>
        </p:txBody>
      </p:sp>
      <p:sp>
        <p:nvSpPr>
          <p:cNvPr id="30" name="s3-texto-29"/>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31" name="s3-texto-30"/>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3 / 22</a:t>
            </a:r>
            <a:endParaRPr lang="en-US" sz="745" dirty="0"/>
          </a:p>
        </p:txBody>
      </p:sp>
      <p:sp>
        <p:nvSpPr>
          <p:cNvPr id="32" name="s3-forma-31"/>
          <p:cNvSpPr/>
          <p:nvPr/>
        </p:nvSpPr>
        <p:spPr>
          <a:xfrm>
            <a:off x="0" y="0"/>
            <a:ext cx="1662504" cy="17139"/>
          </a:xfrm>
          <a:prstGeom prst="rect">
            <a:avLst/>
          </a:prstGeom>
          <a:solidFill>
            <a:srgbClr val="0033A0"/>
          </a:solidFill>
          <a:ln/>
        </p:spPr>
        <p:txBody>
          <a:bodyPr/>
          <a:lstStyle/>
          <a:p>
            <a:endParaRPr lang="es-MX"/>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8DC"/>
        </a:solidFill>
        <a:effectLst/>
      </p:bgPr>
    </p:bg>
    <p:spTree>
      <p:nvGrpSpPr>
        <p:cNvPr id="1" name=""/>
        <p:cNvGrpSpPr/>
        <p:nvPr/>
      </p:nvGrpSpPr>
      <p:grpSpPr>
        <a:xfrm>
          <a:off x="0" y="0"/>
          <a:ext cx="0" cy="0"/>
          <a:chOff x="0" y="0"/>
          <a:chExt cx="0" cy="0"/>
        </a:xfrm>
      </p:grpSpPr>
      <p:sp>
        <p:nvSpPr>
          <p:cNvPr id="2" name="s4-forma-1"/>
          <p:cNvSpPr/>
          <p:nvPr/>
        </p:nvSpPr>
        <p:spPr>
          <a:xfrm>
            <a:off x="853390" y="331715"/>
            <a:ext cx="81411" cy="81411"/>
          </a:xfrm>
          <a:prstGeom prst="ellipse">
            <a:avLst/>
          </a:prstGeom>
          <a:solidFill>
            <a:srgbClr val="0033A0"/>
          </a:solidFill>
          <a:ln/>
        </p:spPr>
        <p:txBody>
          <a:bodyPr/>
          <a:lstStyle/>
          <a:p>
            <a:endParaRPr lang="es-MX"/>
          </a:p>
        </p:txBody>
      </p:sp>
      <p:sp>
        <p:nvSpPr>
          <p:cNvPr id="3" name="s4-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4-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0:05 · 15 min</a:t>
            </a:r>
            <a:endParaRPr lang="en-US" sz="807" dirty="0"/>
          </a:p>
        </p:txBody>
      </p:sp>
      <p:sp>
        <p:nvSpPr>
          <p:cNvPr id="5" name="s4-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4.1</a:t>
            </a:r>
            <a:endParaRPr lang="en-US" sz="869" dirty="0"/>
          </a:p>
        </p:txBody>
      </p:sp>
      <p:sp>
        <p:nvSpPr>
          <p:cNvPr id="6" name="s4-forma-5"/>
          <p:cNvSpPr/>
          <p:nvPr/>
        </p:nvSpPr>
        <p:spPr>
          <a:xfrm>
            <a:off x="853390" y="4059138"/>
            <a:ext cx="722704" cy="22852"/>
          </a:xfrm>
          <a:prstGeom prst="rect">
            <a:avLst/>
          </a:prstGeom>
          <a:solidFill>
            <a:srgbClr val="0033A0"/>
          </a:solidFill>
          <a:ln/>
        </p:spPr>
        <p:txBody>
          <a:bodyPr/>
          <a:lstStyle/>
          <a:p>
            <a:endParaRPr lang="es-MX"/>
          </a:p>
        </p:txBody>
      </p:sp>
      <p:sp>
        <p:nvSpPr>
          <p:cNvPr id="7" name="s4-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Riesgos de un sistema agéntico</a:t>
            </a:r>
            <a:endParaRPr lang="en-US" sz="4242" dirty="0"/>
          </a:p>
        </p:txBody>
      </p:sp>
      <p:sp>
        <p:nvSpPr>
          <p:cNvPr id="8" name="s4-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OWASP Top 10 agéntico, dentro de tu fábrica.</a:t>
            </a:r>
            <a:endParaRPr lang="en-US" sz="1676" dirty="0"/>
          </a:p>
        </p:txBody>
      </p:sp>
      <p:pic>
        <p:nvPicPr>
          <p:cNvPr id="9" name="s4-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4-forma-9"/>
          <p:cNvSpPr/>
          <p:nvPr/>
        </p:nvSpPr>
        <p:spPr>
          <a:xfrm>
            <a:off x="1659380" y="6519865"/>
            <a:ext cx="3578704" cy="102835"/>
          </a:xfrm>
          <a:prstGeom prst="rect">
            <a:avLst/>
          </a:prstGeom>
          <a:ln/>
        </p:spPr>
        <p:txBody>
          <a:bodyPr/>
          <a:lstStyle/>
          <a:p>
            <a:endParaRPr lang="es-MX"/>
          </a:p>
        </p:txBody>
      </p:sp>
      <p:sp>
        <p:nvSpPr>
          <p:cNvPr id="11" name="s4-forma-10"/>
          <p:cNvSpPr/>
          <p:nvPr/>
        </p:nvSpPr>
        <p:spPr>
          <a:xfrm>
            <a:off x="1659380" y="6519865"/>
            <a:ext cx="5713" cy="102835"/>
          </a:xfrm>
          <a:prstGeom prst="rect">
            <a:avLst/>
          </a:prstGeom>
          <a:solidFill>
            <a:srgbClr val="C6BFAE"/>
          </a:solidFill>
          <a:ln/>
        </p:spPr>
        <p:txBody>
          <a:bodyPr/>
          <a:lstStyle/>
          <a:p>
            <a:endParaRPr lang="es-MX"/>
          </a:p>
        </p:txBody>
      </p:sp>
      <p:sp>
        <p:nvSpPr>
          <p:cNvPr id="12" name="s4-texto-1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3" name="s4-texto-12"/>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4 / 22</a:t>
            </a:r>
            <a:endParaRPr lang="en-US" sz="745" dirty="0"/>
          </a:p>
        </p:txBody>
      </p:sp>
      <p:sp>
        <p:nvSpPr>
          <p:cNvPr id="14" name="s4-forma-13"/>
          <p:cNvSpPr/>
          <p:nvPr/>
        </p:nvSpPr>
        <p:spPr>
          <a:xfrm>
            <a:off x="0" y="0"/>
            <a:ext cx="2216672" cy="17139"/>
          </a:xfrm>
          <a:prstGeom prst="rect">
            <a:avLst/>
          </a:prstGeom>
          <a:solidFill>
            <a:srgbClr val="0033A0"/>
          </a:solidFill>
          <a:ln/>
        </p:spPr>
        <p:txBody>
          <a:bodyPr/>
          <a:lstStyle/>
          <a:p>
            <a:endParaRPr lang="es-MX"/>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8DC"/>
        </a:solidFill>
        <a:effectLst/>
      </p:bgPr>
    </p:bg>
    <p:spTree>
      <p:nvGrpSpPr>
        <p:cNvPr id="1" name=""/>
        <p:cNvGrpSpPr/>
        <p:nvPr/>
      </p:nvGrpSpPr>
      <p:grpSpPr>
        <a:xfrm>
          <a:off x="0" y="0"/>
          <a:ext cx="0" cy="0"/>
          <a:chOff x="0" y="0"/>
          <a:chExt cx="0" cy="0"/>
        </a:xfrm>
      </p:grpSpPr>
      <p:sp>
        <p:nvSpPr>
          <p:cNvPr id="2" name="s5-forma-1"/>
          <p:cNvSpPr/>
          <p:nvPr/>
        </p:nvSpPr>
        <p:spPr>
          <a:xfrm>
            <a:off x="853390" y="520961"/>
            <a:ext cx="10484915" cy="5713"/>
          </a:xfrm>
          <a:prstGeom prst="rect">
            <a:avLst/>
          </a:prstGeom>
          <a:solidFill>
            <a:srgbClr val="C6BFAE"/>
          </a:solidFill>
          <a:ln/>
        </p:spPr>
        <p:txBody>
          <a:bodyPr/>
          <a:lstStyle/>
          <a:p>
            <a:endParaRPr lang="es-MX"/>
          </a:p>
        </p:txBody>
      </p:sp>
      <p:sp>
        <p:nvSpPr>
          <p:cNvPr id="3" name="s5-forma-2"/>
          <p:cNvSpPr/>
          <p:nvPr/>
        </p:nvSpPr>
        <p:spPr>
          <a:xfrm>
            <a:off x="853390" y="331715"/>
            <a:ext cx="81411" cy="81411"/>
          </a:xfrm>
          <a:prstGeom prst="ellipse">
            <a:avLst/>
          </a:prstGeom>
          <a:solidFill>
            <a:srgbClr val="0033A0"/>
          </a:solidFill>
          <a:ln/>
        </p:spPr>
        <p:txBody>
          <a:bodyPr/>
          <a:lstStyle/>
          <a:p>
            <a:endParaRPr lang="es-MX"/>
          </a:p>
        </p:txBody>
      </p:sp>
      <p:sp>
        <p:nvSpPr>
          <p:cNvPr id="4" name="s5-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0:05 · 15 min</a:t>
            </a:r>
            <a:endParaRPr lang="en-US" sz="807" dirty="0"/>
          </a:p>
        </p:txBody>
      </p:sp>
      <p:sp>
        <p:nvSpPr>
          <p:cNvPr id="6" name="s5-texto-5"/>
          <p:cNvSpPr txBox="1"/>
          <p:nvPr/>
        </p:nvSpPr>
        <p:spPr>
          <a:xfrm>
            <a:off x="1342572" y="2527499"/>
            <a:ext cx="10076945" cy="1248842"/>
          </a:xfrm>
          <a:prstGeom prst="rect">
            <a:avLst/>
          </a:prstGeom>
          <a:noFill/>
          <a:ln/>
        </p:spPr>
        <p:txBody>
          <a:bodyPr wrap="square" lIns="0" tIns="0" rIns="0" bIns="0" rtlCol="0" anchor="t"/>
          <a:lstStyle/>
          <a:p>
            <a:pPr marL="0" indent="0" algn="l">
              <a:lnSpc>
                <a:spcPts val="4751"/>
              </a:lnSpc>
              <a:buNone/>
            </a:pPr>
            <a:r>
              <a:rPr lang="en-US" sz="4319" b="1" kern="0" spc="-65" dirty="0">
                <a:solidFill>
                  <a:srgbClr val="16181D"/>
                </a:solidFill>
                <a:latin typeface="Georgia" pitchFamily="34" charset="0"/>
                <a:ea typeface="Georgia" pitchFamily="34" charset="-122"/>
                <a:cs typeface="Georgia" pitchFamily="34" charset="-120"/>
              </a:rPr>
              <a:t>Todo texto que lee un agente es una posible orden.</a:t>
            </a:r>
            <a:endParaRPr lang="en-US" sz="4319" dirty="0"/>
          </a:p>
        </p:txBody>
      </p:sp>
      <p:sp>
        <p:nvSpPr>
          <p:cNvPr id="7" name="s5-texto-6"/>
          <p:cNvSpPr txBox="1"/>
          <p:nvPr/>
        </p:nvSpPr>
        <p:spPr>
          <a:xfrm>
            <a:off x="1342572" y="4059673"/>
            <a:ext cx="8478199" cy="559881"/>
          </a:xfrm>
          <a:prstGeom prst="rect">
            <a:avLst/>
          </a:prstGeom>
          <a:noFill/>
          <a:ln/>
        </p:spPr>
        <p:txBody>
          <a:bodyPr wrap="square" lIns="0" tIns="0" rIns="0" bIns="0" rtlCol="0" anchor="t"/>
          <a:lstStyle/>
          <a:p>
            <a:pPr marL="0" indent="0" algn="l">
              <a:lnSpc>
                <a:spcPts val="2429"/>
              </a:lnSpc>
              <a:buNone/>
            </a:pPr>
            <a:r>
              <a:rPr lang="en-US" sz="1799" dirty="0">
                <a:solidFill>
                  <a:srgbClr val="16181D"/>
                </a:solidFill>
                <a:latin typeface="Arial" pitchFamily="34" charset="0"/>
                <a:ea typeface="Arial" pitchFamily="34" charset="-122"/>
                <a:cs typeface="Arial" pitchFamily="34" charset="-120"/>
              </a:rPr>
              <a:t>La seguridad no depende de que el modelo obedezca, sino de lo que el sistema le permite hacer.</a:t>
            </a:r>
            <a:endParaRPr lang="en-US" sz="1799" dirty="0"/>
          </a:p>
        </p:txBody>
      </p:sp>
      <p:sp>
        <p:nvSpPr>
          <p:cNvPr id="8" name="s5-forma-7"/>
          <p:cNvSpPr/>
          <p:nvPr/>
        </p:nvSpPr>
        <p:spPr>
          <a:xfrm>
            <a:off x="853390" y="6411138"/>
            <a:ext cx="10484915" cy="5713"/>
          </a:xfrm>
          <a:prstGeom prst="rect">
            <a:avLst/>
          </a:prstGeom>
          <a:solidFill>
            <a:srgbClr val="DBD4C4"/>
          </a:solidFill>
          <a:ln/>
        </p:spPr>
        <p:txBody>
          <a:bodyPr/>
          <a:lstStyle/>
          <a:p>
            <a:endParaRPr lang="es-MX"/>
          </a:p>
        </p:txBody>
      </p:sp>
      <p:pic>
        <p:nvPicPr>
          <p:cNvPr id="9" name="s5-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5-forma-9"/>
          <p:cNvSpPr/>
          <p:nvPr/>
        </p:nvSpPr>
        <p:spPr>
          <a:xfrm>
            <a:off x="1659380" y="6519865"/>
            <a:ext cx="3578704" cy="102835"/>
          </a:xfrm>
          <a:prstGeom prst="rect">
            <a:avLst/>
          </a:prstGeom>
          <a:ln/>
        </p:spPr>
        <p:txBody>
          <a:bodyPr/>
          <a:lstStyle/>
          <a:p>
            <a:endParaRPr lang="es-MX"/>
          </a:p>
        </p:txBody>
      </p:sp>
      <p:sp>
        <p:nvSpPr>
          <p:cNvPr id="11" name="s5-forma-10"/>
          <p:cNvSpPr/>
          <p:nvPr/>
        </p:nvSpPr>
        <p:spPr>
          <a:xfrm>
            <a:off x="1659380" y="6519865"/>
            <a:ext cx="5713" cy="102835"/>
          </a:xfrm>
          <a:prstGeom prst="rect">
            <a:avLst/>
          </a:prstGeom>
          <a:solidFill>
            <a:srgbClr val="C6BFAE"/>
          </a:solidFill>
          <a:ln/>
        </p:spPr>
        <p:txBody>
          <a:bodyPr/>
          <a:lstStyle/>
          <a:p>
            <a:endParaRPr lang="es-MX"/>
          </a:p>
        </p:txBody>
      </p:sp>
      <p:sp>
        <p:nvSpPr>
          <p:cNvPr id="12" name="s5-texto-1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3" name="s5-texto-12"/>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5 / 22</a:t>
            </a:r>
            <a:endParaRPr lang="en-US" sz="745" dirty="0"/>
          </a:p>
        </p:txBody>
      </p:sp>
      <p:sp>
        <p:nvSpPr>
          <p:cNvPr id="14" name="s5-forma-13"/>
          <p:cNvSpPr/>
          <p:nvPr/>
        </p:nvSpPr>
        <p:spPr>
          <a:xfrm>
            <a:off x="0" y="0"/>
            <a:ext cx="2770840" cy="17139"/>
          </a:xfrm>
          <a:prstGeom prst="rect">
            <a:avLst/>
          </a:prstGeom>
          <a:solidFill>
            <a:srgbClr val="0033A0"/>
          </a:solidFill>
          <a:ln/>
        </p:spPr>
        <p:txBody>
          <a:bodyPr/>
          <a:lstStyle/>
          <a:p>
            <a:endParaRPr lang="es-MX"/>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8DC"/>
        </a:solidFill>
        <a:effectLst/>
      </p:bgPr>
    </p:bg>
    <p:spTree>
      <p:nvGrpSpPr>
        <p:cNvPr id="1" name=""/>
        <p:cNvGrpSpPr/>
        <p:nvPr/>
      </p:nvGrpSpPr>
      <p:grpSpPr>
        <a:xfrm>
          <a:off x="0" y="0"/>
          <a:ext cx="0" cy="0"/>
          <a:chOff x="0" y="0"/>
          <a:chExt cx="0" cy="0"/>
        </a:xfrm>
      </p:grpSpPr>
      <p:sp>
        <p:nvSpPr>
          <p:cNvPr id="2" name="s6-forma-1"/>
          <p:cNvSpPr/>
          <p:nvPr/>
        </p:nvSpPr>
        <p:spPr>
          <a:xfrm>
            <a:off x="853390" y="520961"/>
            <a:ext cx="10484915" cy="5713"/>
          </a:xfrm>
          <a:prstGeom prst="rect">
            <a:avLst/>
          </a:prstGeom>
          <a:solidFill>
            <a:srgbClr val="C6BFAE"/>
          </a:solidFill>
          <a:ln/>
        </p:spPr>
        <p:txBody>
          <a:bodyPr/>
          <a:lstStyle/>
          <a:p>
            <a:endParaRPr lang="es-MX"/>
          </a:p>
        </p:txBody>
      </p:sp>
      <p:sp>
        <p:nvSpPr>
          <p:cNvPr id="3" name="s6-forma-2"/>
          <p:cNvSpPr/>
          <p:nvPr/>
        </p:nvSpPr>
        <p:spPr>
          <a:xfrm>
            <a:off x="853390" y="331715"/>
            <a:ext cx="81411" cy="81411"/>
          </a:xfrm>
          <a:prstGeom prst="ellipse">
            <a:avLst/>
          </a:prstGeom>
          <a:solidFill>
            <a:srgbClr val="0033A0"/>
          </a:solidFill>
          <a:ln/>
        </p:spPr>
        <p:txBody>
          <a:bodyPr/>
          <a:lstStyle/>
          <a:p>
            <a:endParaRPr lang="es-MX"/>
          </a:p>
        </p:txBody>
      </p:sp>
      <p:sp>
        <p:nvSpPr>
          <p:cNvPr id="4" name="s6-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6-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0:05 · 15 min</a:t>
            </a:r>
            <a:endParaRPr lang="en-US" sz="807" dirty="0"/>
          </a:p>
        </p:txBody>
      </p:sp>
      <p:sp>
        <p:nvSpPr>
          <p:cNvPr id="6" name="s6-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4.1 · OWASP TOP 10 FOR AGENTIC APPLICATIONS 2026</a:t>
            </a:r>
            <a:endParaRPr lang="en-US" sz="900" dirty="0"/>
          </a:p>
        </p:txBody>
      </p:sp>
      <p:sp>
        <p:nvSpPr>
          <p:cNvPr id="7" name="s6-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Los riesgos, dentro de tu fábrica</a:t>
            </a:r>
            <a:endParaRPr lang="en-US" sz="2879" dirty="0"/>
          </a:p>
        </p:txBody>
      </p:sp>
      <p:sp>
        <p:nvSpPr>
          <p:cNvPr id="8" name="s6-forma-7"/>
          <p:cNvSpPr/>
          <p:nvPr/>
        </p:nvSpPr>
        <p:spPr>
          <a:xfrm>
            <a:off x="1342572" y="2098929"/>
            <a:ext cx="2851894" cy="226202"/>
          </a:xfrm>
          <a:prstGeom prst="rect">
            <a:avLst/>
          </a:prstGeom>
          <a:ln/>
        </p:spPr>
        <p:txBody>
          <a:bodyPr/>
          <a:lstStyle/>
          <a:p>
            <a:endParaRPr lang="es-MX"/>
          </a:p>
        </p:txBody>
      </p:sp>
      <p:sp>
        <p:nvSpPr>
          <p:cNvPr id="9" name="s6-forma-8"/>
          <p:cNvSpPr/>
          <p:nvPr/>
        </p:nvSpPr>
        <p:spPr>
          <a:xfrm>
            <a:off x="1342572" y="2319418"/>
            <a:ext cx="2851894" cy="5713"/>
          </a:xfrm>
          <a:prstGeom prst="rect">
            <a:avLst/>
          </a:prstGeom>
          <a:solidFill>
            <a:srgbClr val="0033A0"/>
          </a:solidFill>
          <a:ln/>
        </p:spPr>
        <p:txBody>
          <a:bodyPr/>
          <a:lstStyle/>
          <a:p>
            <a:endParaRPr lang="es-MX"/>
          </a:p>
        </p:txBody>
      </p:sp>
      <p:sp>
        <p:nvSpPr>
          <p:cNvPr id="10" name="s6-texto-9"/>
          <p:cNvSpPr txBox="1"/>
          <p:nvPr/>
        </p:nvSpPr>
        <p:spPr>
          <a:xfrm>
            <a:off x="1418538" y="2147758"/>
            <a:ext cx="2861941"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RIESGO</a:t>
            </a:r>
            <a:endParaRPr lang="en-US" sz="855" dirty="0"/>
          </a:p>
        </p:txBody>
      </p:sp>
      <p:sp>
        <p:nvSpPr>
          <p:cNvPr id="11" name="s6-forma-10"/>
          <p:cNvSpPr/>
          <p:nvPr/>
        </p:nvSpPr>
        <p:spPr>
          <a:xfrm>
            <a:off x="4194466" y="2098929"/>
            <a:ext cx="3422309" cy="226202"/>
          </a:xfrm>
          <a:prstGeom prst="rect">
            <a:avLst/>
          </a:prstGeom>
          <a:ln/>
        </p:spPr>
        <p:txBody>
          <a:bodyPr/>
          <a:lstStyle/>
          <a:p>
            <a:endParaRPr lang="es-MX"/>
          </a:p>
        </p:txBody>
      </p:sp>
      <p:sp>
        <p:nvSpPr>
          <p:cNvPr id="12" name="s6-forma-11"/>
          <p:cNvSpPr/>
          <p:nvPr/>
        </p:nvSpPr>
        <p:spPr>
          <a:xfrm>
            <a:off x="4194466" y="2319418"/>
            <a:ext cx="3422309" cy="5713"/>
          </a:xfrm>
          <a:prstGeom prst="rect">
            <a:avLst/>
          </a:prstGeom>
          <a:solidFill>
            <a:srgbClr val="0033A0"/>
          </a:solidFill>
          <a:ln/>
        </p:spPr>
        <p:txBody>
          <a:bodyPr/>
          <a:lstStyle/>
          <a:p>
            <a:endParaRPr lang="es-MX"/>
          </a:p>
        </p:txBody>
      </p:sp>
      <p:sp>
        <p:nvSpPr>
          <p:cNvPr id="13" name="s6-texto-12"/>
          <p:cNvSpPr txBox="1"/>
          <p:nvPr/>
        </p:nvSpPr>
        <p:spPr>
          <a:xfrm>
            <a:off x="4270432" y="2147758"/>
            <a:ext cx="3466580"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DÓNDE APARECE</a:t>
            </a:r>
            <a:endParaRPr lang="en-US" sz="855" dirty="0"/>
          </a:p>
        </p:txBody>
      </p:sp>
      <p:sp>
        <p:nvSpPr>
          <p:cNvPr id="14" name="s6-forma-13"/>
          <p:cNvSpPr/>
          <p:nvPr/>
        </p:nvSpPr>
        <p:spPr>
          <a:xfrm>
            <a:off x="7616774" y="2098929"/>
            <a:ext cx="3232349" cy="226202"/>
          </a:xfrm>
          <a:prstGeom prst="rect">
            <a:avLst/>
          </a:prstGeom>
          <a:ln/>
        </p:spPr>
        <p:txBody>
          <a:bodyPr/>
          <a:lstStyle/>
          <a:p>
            <a:endParaRPr lang="es-MX"/>
          </a:p>
        </p:txBody>
      </p:sp>
      <p:sp>
        <p:nvSpPr>
          <p:cNvPr id="15" name="s6-forma-14"/>
          <p:cNvSpPr/>
          <p:nvPr/>
        </p:nvSpPr>
        <p:spPr>
          <a:xfrm>
            <a:off x="7616774" y="2319418"/>
            <a:ext cx="3232349" cy="5713"/>
          </a:xfrm>
          <a:prstGeom prst="rect">
            <a:avLst/>
          </a:prstGeom>
          <a:solidFill>
            <a:srgbClr val="0033A0"/>
          </a:solidFill>
          <a:ln/>
        </p:spPr>
        <p:txBody>
          <a:bodyPr/>
          <a:lstStyle/>
          <a:p>
            <a:endParaRPr lang="es-MX"/>
          </a:p>
        </p:txBody>
      </p:sp>
      <p:sp>
        <p:nvSpPr>
          <p:cNvPr id="16" name="s6-texto-15"/>
          <p:cNvSpPr txBox="1"/>
          <p:nvPr/>
        </p:nvSpPr>
        <p:spPr>
          <a:xfrm>
            <a:off x="7692740" y="2147758"/>
            <a:ext cx="3265223"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QUÉ LO MITIGA</a:t>
            </a:r>
            <a:endParaRPr lang="en-US" sz="855" dirty="0"/>
          </a:p>
        </p:txBody>
      </p:sp>
      <p:sp>
        <p:nvSpPr>
          <p:cNvPr id="17" name="s6-forma-16"/>
          <p:cNvSpPr/>
          <p:nvPr/>
        </p:nvSpPr>
        <p:spPr>
          <a:xfrm>
            <a:off x="1342572" y="2325131"/>
            <a:ext cx="9506551" cy="289046"/>
          </a:xfrm>
          <a:prstGeom prst="rect">
            <a:avLst/>
          </a:prstGeom>
          <a:solidFill>
            <a:srgbClr val="E2D3C2"/>
          </a:solidFill>
          <a:ln/>
        </p:spPr>
        <p:txBody>
          <a:bodyPr/>
          <a:lstStyle/>
          <a:p>
            <a:endParaRPr lang="es-MX"/>
          </a:p>
        </p:txBody>
      </p:sp>
      <p:sp>
        <p:nvSpPr>
          <p:cNvPr id="18" name="s6-forma-17"/>
          <p:cNvSpPr/>
          <p:nvPr/>
        </p:nvSpPr>
        <p:spPr>
          <a:xfrm>
            <a:off x="1342572" y="2325131"/>
            <a:ext cx="2851894" cy="289046"/>
          </a:xfrm>
          <a:prstGeom prst="rect">
            <a:avLst/>
          </a:prstGeom>
          <a:ln/>
        </p:spPr>
        <p:txBody>
          <a:bodyPr/>
          <a:lstStyle/>
          <a:p>
            <a:endParaRPr lang="es-MX"/>
          </a:p>
        </p:txBody>
      </p:sp>
      <p:sp>
        <p:nvSpPr>
          <p:cNvPr id="19" name="s6-forma-18"/>
          <p:cNvSpPr/>
          <p:nvPr/>
        </p:nvSpPr>
        <p:spPr>
          <a:xfrm>
            <a:off x="1342572" y="2608464"/>
            <a:ext cx="2851894" cy="5713"/>
          </a:xfrm>
          <a:prstGeom prst="rect">
            <a:avLst/>
          </a:prstGeom>
          <a:solidFill>
            <a:srgbClr val="DBD4C4"/>
          </a:solidFill>
          <a:ln/>
        </p:spPr>
        <p:txBody>
          <a:bodyPr/>
          <a:lstStyle/>
          <a:p>
            <a:endParaRPr lang="es-MX"/>
          </a:p>
        </p:txBody>
      </p:sp>
      <p:sp>
        <p:nvSpPr>
          <p:cNvPr id="20" name="s6-texto-19"/>
          <p:cNvSpPr txBox="1"/>
          <p:nvPr/>
        </p:nvSpPr>
        <p:spPr>
          <a:xfrm>
            <a:off x="1438534" y="2389671"/>
            <a:ext cx="2819550" cy="154253"/>
          </a:xfrm>
          <a:prstGeom prst="rect">
            <a:avLst/>
          </a:prstGeom>
          <a:noFill/>
          <a:ln/>
        </p:spPr>
        <p:txBody>
          <a:bodyPr wrap="none" lIns="0" tIns="0" rIns="0" bIns="0" rtlCol="0" anchor="t"/>
          <a:lstStyle/>
          <a:p>
            <a:pPr marL="0" indent="0" algn="l">
              <a:lnSpc>
                <a:spcPts val="1296"/>
              </a:lnSpc>
              <a:buNone/>
            </a:pPr>
            <a:r>
              <a:rPr lang="en-US" sz="1080" b="1" dirty="0">
                <a:solidFill>
                  <a:srgbClr val="0033A0"/>
                </a:solidFill>
                <a:latin typeface="Arial" pitchFamily="34" charset="0"/>
                <a:ea typeface="Arial" pitchFamily="34" charset="-122"/>
                <a:cs typeface="Arial" pitchFamily="34" charset="-120"/>
              </a:rPr>
              <a:t>ASI01</a:t>
            </a:r>
            <a:r>
              <a:rPr lang="en-US" sz="1080" dirty="0">
                <a:solidFill>
                  <a:srgbClr val="16181D"/>
                </a:solidFill>
                <a:latin typeface="Arial" pitchFamily="34" charset="0"/>
                <a:ea typeface="Arial" pitchFamily="34" charset="-122"/>
                <a:cs typeface="Arial" pitchFamily="34" charset="-120"/>
              </a:rPr>
              <a:t> Secuestro del objetivo</a:t>
            </a:r>
            <a:endParaRPr lang="en-US" sz="1080" dirty="0"/>
          </a:p>
        </p:txBody>
      </p:sp>
      <p:sp>
        <p:nvSpPr>
          <p:cNvPr id="21" name="s6-forma-20"/>
          <p:cNvSpPr/>
          <p:nvPr/>
        </p:nvSpPr>
        <p:spPr>
          <a:xfrm>
            <a:off x="4194466" y="2325131"/>
            <a:ext cx="3422309" cy="289046"/>
          </a:xfrm>
          <a:prstGeom prst="rect">
            <a:avLst/>
          </a:prstGeom>
          <a:ln/>
        </p:spPr>
        <p:txBody>
          <a:bodyPr/>
          <a:lstStyle/>
          <a:p>
            <a:endParaRPr lang="es-MX"/>
          </a:p>
        </p:txBody>
      </p:sp>
      <p:sp>
        <p:nvSpPr>
          <p:cNvPr id="22" name="s6-forma-21"/>
          <p:cNvSpPr/>
          <p:nvPr/>
        </p:nvSpPr>
        <p:spPr>
          <a:xfrm>
            <a:off x="4194466" y="2608464"/>
            <a:ext cx="3422309" cy="5713"/>
          </a:xfrm>
          <a:prstGeom prst="rect">
            <a:avLst/>
          </a:prstGeom>
          <a:solidFill>
            <a:srgbClr val="DBD4C4"/>
          </a:solidFill>
          <a:ln/>
        </p:spPr>
        <p:txBody>
          <a:bodyPr/>
          <a:lstStyle/>
          <a:p>
            <a:endParaRPr lang="es-MX"/>
          </a:p>
        </p:txBody>
      </p:sp>
      <p:sp>
        <p:nvSpPr>
          <p:cNvPr id="23" name="s6-texto-22"/>
          <p:cNvSpPr txBox="1"/>
          <p:nvPr/>
        </p:nvSpPr>
        <p:spPr>
          <a:xfrm>
            <a:off x="4290428" y="2389671"/>
            <a:ext cx="3424189"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Historia con órdenes ocultas</a:t>
            </a:r>
            <a:endParaRPr lang="en-US" sz="1080" dirty="0"/>
          </a:p>
        </p:txBody>
      </p:sp>
      <p:sp>
        <p:nvSpPr>
          <p:cNvPr id="24" name="s6-forma-23"/>
          <p:cNvSpPr/>
          <p:nvPr/>
        </p:nvSpPr>
        <p:spPr>
          <a:xfrm>
            <a:off x="7616774" y="2325131"/>
            <a:ext cx="3232349" cy="289046"/>
          </a:xfrm>
          <a:prstGeom prst="rect">
            <a:avLst/>
          </a:prstGeom>
          <a:ln/>
        </p:spPr>
        <p:txBody>
          <a:bodyPr/>
          <a:lstStyle/>
          <a:p>
            <a:endParaRPr lang="es-MX"/>
          </a:p>
        </p:txBody>
      </p:sp>
      <p:sp>
        <p:nvSpPr>
          <p:cNvPr id="25" name="s6-forma-24"/>
          <p:cNvSpPr/>
          <p:nvPr/>
        </p:nvSpPr>
        <p:spPr>
          <a:xfrm>
            <a:off x="7616774" y="2608464"/>
            <a:ext cx="3232349" cy="5713"/>
          </a:xfrm>
          <a:prstGeom prst="rect">
            <a:avLst/>
          </a:prstGeom>
          <a:solidFill>
            <a:srgbClr val="DBD4C4"/>
          </a:solidFill>
          <a:ln/>
        </p:spPr>
        <p:txBody>
          <a:bodyPr/>
          <a:lstStyle/>
          <a:p>
            <a:endParaRPr lang="es-MX"/>
          </a:p>
        </p:txBody>
      </p:sp>
      <p:sp>
        <p:nvSpPr>
          <p:cNvPr id="26" name="s6-texto-25"/>
          <p:cNvSpPr txBox="1"/>
          <p:nvPr/>
        </p:nvSpPr>
        <p:spPr>
          <a:xfrm>
            <a:off x="7712736" y="2389671"/>
            <a:ext cx="3222832"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filtrar_historia</a:t>
            </a:r>
            <a:endParaRPr lang="en-US" sz="1080" dirty="0"/>
          </a:p>
        </p:txBody>
      </p:sp>
      <p:sp>
        <p:nvSpPr>
          <p:cNvPr id="27" name="s6-forma-26"/>
          <p:cNvSpPr/>
          <p:nvPr/>
        </p:nvSpPr>
        <p:spPr>
          <a:xfrm>
            <a:off x="1342572" y="2614177"/>
            <a:ext cx="9506551" cy="289046"/>
          </a:xfrm>
          <a:prstGeom prst="rect">
            <a:avLst/>
          </a:prstGeom>
          <a:solidFill>
            <a:srgbClr val="E2D3C2"/>
          </a:solidFill>
          <a:ln/>
        </p:spPr>
        <p:txBody>
          <a:bodyPr/>
          <a:lstStyle/>
          <a:p>
            <a:endParaRPr lang="es-MX"/>
          </a:p>
        </p:txBody>
      </p:sp>
      <p:sp>
        <p:nvSpPr>
          <p:cNvPr id="28" name="s6-forma-27"/>
          <p:cNvSpPr/>
          <p:nvPr/>
        </p:nvSpPr>
        <p:spPr>
          <a:xfrm>
            <a:off x="1342572" y="2614177"/>
            <a:ext cx="2851894" cy="289046"/>
          </a:xfrm>
          <a:prstGeom prst="rect">
            <a:avLst/>
          </a:prstGeom>
          <a:ln/>
        </p:spPr>
        <p:txBody>
          <a:bodyPr/>
          <a:lstStyle/>
          <a:p>
            <a:endParaRPr lang="es-MX"/>
          </a:p>
        </p:txBody>
      </p:sp>
      <p:sp>
        <p:nvSpPr>
          <p:cNvPr id="29" name="s6-forma-28"/>
          <p:cNvSpPr/>
          <p:nvPr/>
        </p:nvSpPr>
        <p:spPr>
          <a:xfrm>
            <a:off x="1342572" y="2897509"/>
            <a:ext cx="2851894" cy="5713"/>
          </a:xfrm>
          <a:prstGeom prst="rect">
            <a:avLst/>
          </a:prstGeom>
          <a:solidFill>
            <a:srgbClr val="DBD4C4"/>
          </a:solidFill>
          <a:ln/>
        </p:spPr>
        <p:txBody>
          <a:bodyPr/>
          <a:lstStyle/>
          <a:p>
            <a:endParaRPr lang="es-MX"/>
          </a:p>
        </p:txBody>
      </p:sp>
      <p:sp>
        <p:nvSpPr>
          <p:cNvPr id="30" name="s6-texto-29"/>
          <p:cNvSpPr txBox="1"/>
          <p:nvPr/>
        </p:nvSpPr>
        <p:spPr>
          <a:xfrm>
            <a:off x="1438534" y="2678717"/>
            <a:ext cx="2819550" cy="154253"/>
          </a:xfrm>
          <a:prstGeom prst="rect">
            <a:avLst/>
          </a:prstGeom>
          <a:noFill/>
          <a:ln/>
        </p:spPr>
        <p:txBody>
          <a:bodyPr wrap="none" lIns="0" tIns="0" rIns="0" bIns="0" rtlCol="0" anchor="t"/>
          <a:lstStyle/>
          <a:p>
            <a:pPr marL="0" indent="0" algn="l">
              <a:lnSpc>
                <a:spcPts val="1296"/>
              </a:lnSpc>
              <a:buNone/>
            </a:pPr>
            <a:r>
              <a:rPr lang="en-US" sz="1080" b="1" dirty="0">
                <a:solidFill>
                  <a:srgbClr val="0033A0"/>
                </a:solidFill>
                <a:latin typeface="Arial" pitchFamily="34" charset="0"/>
                <a:ea typeface="Arial" pitchFamily="34" charset="-122"/>
                <a:cs typeface="Arial" pitchFamily="34" charset="-120"/>
              </a:rPr>
              <a:t>ASI02</a:t>
            </a:r>
            <a:r>
              <a:rPr lang="en-US" sz="1080" dirty="0">
                <a:solidFill>
                  <a:srgbClr val="16181D"/>
                </a:solidFill>
                <a:latin typeface="Arial" pitchFamily="34" charset="0"/>
                <a:ea typeface="Arial" pitchFamily="34" charset="-122"/>
                <a:cs typeface="Arial" pitchFamily="34" charset="-120"/>
              </a:rPr>
              <a:t> Mal uso de herramientas</a:t>
            </a:r>
            <a:endParaRPr lang="en-US" sz="1080" dirty="0"/>
          </a:p>
        </p:txBody>
      </p:sp>
      <p:sp>
        <p:nvSpPr>
          <p:cNvPr id="31" name="s6-forma-30"/>
          <p:cNvSpPr/>
          <p:nvPr/>
        </p:nvSpPr>
        <p:spPr>
          <a:xfrm>
            <a:off x="4194466" y="2614177"/>
            <a:ext cx="3422309" cy="289046"/>
          </a:xfrm>
          <a:prstGeom prst="rect">
            <a:avLst/>
          </a:prstGeom>
          <a:ln/>
        </p:spPr>
        <p:txBody>
          <a:bodyPr/>
          <a:lstStyle/>
          <a:p>
            <a:endParaRPr lang="es-MX"/>
          </a:p>
        </p:txBody>
      </p:sp>
      <p:sp>
        <p:nvSpPr>
          <p:cNvPr id="32" name="s6-forma-31"/>
          <p:cNvSpPr/>
          <p:nvPr/>
        </p:nvSpPr>
        <p:spPr>
          <a:xfrm>
            <a:off x="4194466" y="2897509"/>
            <a:ext cx="3422309" cy="5713"/>
          </a:xfrm>
          <a:prstGeom prst="rect">
            <a:avLst/>
          </a:prstGeom>
          <a:solidFill>
            <a:srgbClr val="DBD4C4"/>
          </a:solidFill>
          <a:ln/>
        </p:spPr>
        <p:txBody>
          <a:bodyPr/>
          <a:lstStyle/>
          <a:p>
            <a:endParaRPr lang="es-MX"/>
          </a:p>
        </p:txBody>
      </p:sp>
      <p:sp>
        <p:nvSpPr>
          <p:cNvPr id="33" name="s6-texto-32"/>
          <p:cNvSpPr txBox="1"/>
          <p:nvPr/>
        </p:nvSpPr>
        <p:spPr>
          <a:xfrm>
            <a:off x="4290428" y="2678717"/>
            <a:ext cx="3424189"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El desarrollador reescribe pruebas</a:t>
            </a:r>
            <a:endParaRPr lang="en-US" sz="1080" dirty="0"/>
          </a:p>
        </p:txBody>
      </p:sp>
      <p:sp>
        <p:nvSpPr>
          <p:cNvPr id="34" name="s6-forma-33"/>
          <p:cNvSpPr/>
          <p:nvPr/>
        </p:nvSpPr>
        <p:spPr>
          <a:xfrm>
            <a:off x="7616774" y="2614177"/>
            <a:ext cx="3232349" cy="289046"/>
          </a:xfrm>
          <a:prstGeom prst="rect">
            <a:avLst/>
          </a:prstGeom>
          <a:ln/>
        </p:spPr>
        <p:txBody>
          <a:bodyPr/>
          <a:lstStyle/>
          <a:p>
            <a:endParaRPr lang="es-MX"/>
          </a:p>
        </p:txBody>
      </p:sp>
      <p:sp>
        <p:nvSpPr>
          <p:cNvPr id="35" name="s6-forma-34"/>
          <p:cNvSpPr/>
          <p:nvPr/>
        </p:nvSpPr>
        <p:spPr>
          <a:xfrm>
            <a:off x="7616774" y="2897509"/>
            <a:ext cx="3232349" cy="5713"/>
          </a:xfrm>
          <a:prstGeom prst="rect">
            <a:avLst/>
          </a:prstGeom>
          <a:solidFill>
            <a:srgbClr val="DBD4C4"/>
          </a:solidFill>
          <a:ln/>
        </p:spPr>
        <p:txBody>
          <a:bodyPr/>
          <a:lstStyle/>
          <a:p>
            <a:endParaRPr lang="es-MX"/>
          </a:p>
        </p:txBody>
      </p:sp>
      <p:sp>
        <p:nvSpPr>
          <p:cNvPr id="36" name="s6-texto-35"/>
          <p:cNvSpPr txBox="1"/>
          <p:nvPr/>
        </p:nvSpPr>
        <p:spPr>
          <a:xfrm>
            <a:off x="7712736" y="2678717"/>
            <a:ext cx="3222832"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Hooks de rol</a:t>
            </a:r>
            <a:endParaRPr lang="en-US" sz="1080" dirty="0"/>
          </a:p>
        </p:txBody>
      </p:sp>
      <p:sp>
        <p:nvSpPr>
          <p:cNvPr id="37" name="s6-forma-36"/>
          <p:cNvSpPr/>
          <p:nvPr/>
        </p:nvSpPr>
        <p:spPr>
          <a:xfrm>
            <a:off x="1342572" y="2903222"/>
            <a:ext cx="9506551" cy="289046"/>
          </a:xfrm>
          <a:prstGeom prst="rect">
            <a:avLst/>
          </a:prstGeom>
          <a:solidFill>
            <a:srgbClr val="E2D3C2"/>
          </a:solidFill>
          <a:ln/>
        </p:spPr>
        <p:txBody>
          <a:bodyPr/>
          <a:lstStyle/>
          <a:p>
            <a:endParaRPr lang="es-MX"/>
          </a:p>
        </p:txBody>
      </p:sp>
      <p:sp>
        <p:nvSpPr>
          <p:cNvPr id="38" name="s6-forma-37"/>
          <p:cNvSpPr/>
          <p:nvPr/>
        </p:nvSpPr>
        <p:spPr>
          <a:xfrm>
            <a:off x="1342572" y="2903222"/>
            <a:ext cx="2851894" cy="289046"/>
          </a:xfrm>
          <a:prstGeom prst="rect">
            <a:avLst/>
          </a:prstGeom>
          <a:ln/>
        </p:spPr>
        <p:txBody>
          <a:bodyPr/>
          <a:lstStyle/>
          <a:p>
            <a:endParaRPr lang="es-MX"/>
          </a:p>
        </p:txBody>
      </p:sp>
      <p:sp>
        <p:nvSpPr>
          <p:cNvPr id="39" name="s6-forma-38"/>
          <p:cNvSpPr/>
          <p:nvPr/>
        </p:nvSpPr>
        <p:spPr>
          <a:xfrm>
            <a:off x="1342572" y="3186555"/>
            <a:ext cx="2851894" cy="5713"/>
          </a:xfrm>
          <a:prstGeom prst="rect">
            <a:avLst/>
          </a:prstGeom>
          <a:solidFill>
            <a:srgbClr val="DBD4C4"/>
          </a:solidFill>
          <a:ln/>
        </p:spPr>
        <p:txBody>
          <a:bodyPr/>
          <a:lstStyle/>
          <a:p>
            <a:endParaRPr lang="es-MX"/>
          </a:p>
        </p:txBody>
      </p:sp>
      <p:sp>
        <p:nvSpPr>
          <p:cNvPr id="40" name="s6-texto-39"/>
          <p:cNvSpPr txBox="1"/>
          <p:nvPr/>
        </p:nvSpPr>
        <p:spPr>
          <a:xfrm>
            <a:off x="1438534" y="2967762"/>
            <a:ext cx="2819550" cy="154253"/>
          </a:xfrm>
          <a:prstGeom prst="rect">
            <a:avLst/>
          </a:prstGeom>
          <a:noFill/>
          <a:ln/>
        </p:spPr>
        <p:txBody>
          <a:bodyPr wrap="none" lIns="0" tIns="0" rIns="0" bIns="0" rtlCol="0" anchor="t"/>
          <a:lstStyle/>
          <a:p>
            <a:pPr marL="0" indent="0" algn="l">
              <a:lnSpc>
                <a:spcPts val="1296"/>
              </a:lnSpc>
              <a:buNone/>
            </a:pPr>
            <a:r>
              <a:rPr lang="en-US" sz="1080" b="1" dirty="0">
                <a:solidFill>
                  <a:srgbClr val="0033A0"/>
                </a:solidFill>
                <a:latin typeface="Arial" pitchFamily="34" charset="0"/>
                <a:ea typeface="Arial" pitchFamily="34" charset="-122"/>
                <a:cs typeface="Arial" pitchFamily="34" charset="-120"/>
              </a:rPr>
              <a:t>ASI03</a:t>
            </a:r>
            <a:r>
              <a:rPr lang="en-US" sz="1080" dirty="0">
                <a:solidFill>
                  <a:srgbClr val="16181D"/>
                </a:solidFill>
                <a:latin typeface="Arial" pitchFamily="34" charset="0"/>
                <a:ea typeface="Arial" pitchFamily="34" charset="-122"/>
                <a:cs typeface="Arial" pitchFamily="34" charset="-120"/>
              </a:rPr>
              <a:t> Abuso de privilegios</a:t>
            </a:r>
            <a:endParaRPr lang="en-US" sz="1080" dirty="0"/>
          </a:p>
        </p:txBody>
      </p:sp>
      <p:sp>
        <p:nvSpPr>
          <p:cNvPr id="41" name="s6-forma-40"/>
          <p:cNvSpPr/>
          <p:nvPr/>
        </p:nvSpPr>
        <p:spPr>
          <a:xfrm>
            <a:off x="4194466" y="2903222"/>
            <a:ext cx="3422309" cy="289046"/>
          </a:xfrm>
          <a:prstGeom prst="rect">
            <a:avLst/>
          </a:prstGeom>
          <a:ln/>
        </p:spPr>
        <p:txBody>
          <a:bodyPr/>
          <a:lstStyle/>
          <a:p>
            <a:endParaRPr lang="es-MX"/>
          </a:p>
        </p:txBody>
      </p:sp>
      <p:sp>
        <p:nvSpPr>
          <p:cNvPr id="42" name="s6-forma-41"/>
          <p:cNvSpPr/>
          <p:nvPr/>
        </p:nvSpPr>
        <p:spPr>
          <a:xfrm>
            <a:off x="4194466" y="3186555"/>
            <a:ext cx="3422309" cy="5713"/>
          </a:xfrm>
          <a:prstGeom prst="rect">
            <a:avLst/>
          </a:prstGeom>
          <a:solidFill>
            <a:srgbClr val="DBD4C4"/>
          </a:solidFill>
          <a:ln/>
        </p:spPr>
        <p:txBody>
          <a:bodyPr/>
          <a:lstStyle/>
          <a:p>
            <a:endParaRPr lang="es-MX"/>
          </a:p>
        </p:txBody>
      </p:sp>
      <p:sp>
        <p:nvSpPr>
          <p:cNvPr id="43" name="s6-texto-42"/>
          <p:cNvSpPr txBox="1"/>
          <p:nvPr/>
        </p:nvSpPr>
        <p:spPr>
          <a:xfrm>
            <a:off x="4290428" y="2967762"/>
            <a:ext cx="3424189"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Un agente lee .env</a:t>
            </a:r>
            <a:endParaRPr lang="en-US" sz="1080" dirty="0"/>
          </a:p>
        </p:txBody>
      </p:sp>
      <p:sp>
        <p:nvSpPr>
          <p:cNvPr id="44" name="s6-forma-43"/>
          <p:cNvSpPr/>
          <p:nvPr/>
        </p:nvSpPr>
        <p:spPr>
          <a:xfrm>
            <a:off x="7616774" y="2903222"/>
            <a:ext cx="3232349" cy="289046"/>
          </a:xfrm>
          <a:prstGeom prst="rect">
            <a:avLst/>
          </a:prstGeom>
          <a:ln/>
        </p:spPr>
        <p:txBody>
          <a:bodyPr/>
          <a:lstStyle/>
          <a:p>
            <a:endParaRPr lang="es-MX"/>
          </a:p>
        </p:txBody>
      </p:sp>
      <p:sp>
        <p:nvSpPr>
          <p:cNvPr id="45" name="s6-forma-44"/>
          <p:cNvSpPr/>
          <p:nvPr/>
        </p:nvSpPr>
        <p:spPr>
          <a:xfrm>
            <a:off x="7616774" y="3186555"/>
            <a:ext cx="3232349" cy="5713"/>
          </a:xfrm>
          <a:prstGeom prst="rect">
            <a:avLst/>
          </a:prstGeom>
          <a:solidFill>
            <a:srgbClr val="DBD4C4"/>
          </a:solidFill>
          <a:ln/>
        </p:spPr>
        <p:txBody>
          <a:bodyPr/>
          <a:lstStyle/>
          <a:p>
            <a:endParaRPr lang="es-MX"/>
          </a:p>
        </p:txBody>
      </p:sp>
      <p:sp>
        <p:nvSpPr>
          <p:cNvPr id="46" name="s6-texto-45"/>
          <p:cNvSpPr txBox="1"/>
          <p:nvPr/>
        </p:nvSpPr>
        <p:spPr>
          <a:xfrm>
            <a:off x="7712736" y="2967762"/>
            <a:ext cx="3222832"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confinar_lectura</a:t>
            </a:r>
            <a:endParaRPr lang="en-US" sz="1080" dirty="0"/>
          </a:p>
        </p:txBody>
      </p:sp>
      <p:sp>
        <p:nvSpPr>
          <p:cNvPr id="47" name="s6-forma-46"/>
          <p:cNvSpPr/>
          <p:nvPr/>
        </p:nvSpPr>
        <p:spPr>
          <a:xfrm>
            <a:off x="1342572" y="3192268"/>
            <a:ext cx="2851894" cy="289046"/>
          </a:xfrm>
          <a:prstGeom prst="rect">
            <a:avLst/>
          </a:prstGeom>
          <a:ln/>
        </p:spPr>
        <p:txBody>
          <a:bodyPr/>
          <a:lstStyle/>
          <a:p>
            <a:endParaRPr lang="es-MX"/>
          </a:p>
        </p:txBody>
      </p:sp>
      <p:sp>
        <p:nvSpPr>
          <p:cNvPr id="48" name="s6-forma-47"/>
          <p:cNvSpPr/>
          <p:nvPr/>
        </p:nvSpPr>
        <p:spPr>
          <a:xfrm>
            <a:off x="1342572" y="3475601"/>
            <a:ext cx="2851894" cy="5713"/>
          </a:xfrm>
          <a:prstGeom prst="rect">
            <a:avLst/>
          </a:prstGeom>
          <a:solidFill>
            <a:srgbClr val="DBD4C4"/>
          </a:solidFill>
          <a:ln/>
        </p:spPr>
        <p:txBody>
          <a:bodyPr/>
          <a:lstStyle/>
          <a:p>
            <a:endParaRPr lang="es-MX"/>
          </a:p>
        </p:txBody>
      </p:sp>
      <p:sp>
        <p:nvSpPr>
          <p:cNvPr id="49" name="s6-texto-48"/>
          <p:cNvSpPr txBox="1"/>
          <p:nvPr/>
        </p:nvSpPr>
        <p:spPr>
          <a:xfrm>
            <a:off x="1438534" y="3256808"/>
            <a:ext cx="2819550" cy="154253"/>
          </a:xfrm>
          <a:prstGeom prst="rect">
            <a:avLst/>
          </a:prstGeom>
          <a:noFill/>
          <a:ln/>
        </p:spPr>
        <p:txBody>
          <a:bodyPr wrap="none" lIns="0" tIns="0" rIns="0" bIns="0" rtlCol="0" anchor="t"/>
          <a:lstStyle/>
          <a:p>
            <a:pPr marL="0" indent="0" algn="l">
              <a:lnSpc>
                <a:spcPts val="1296"/>
              </a:lnSpc>
              <a:buNone/>
            </a:pPr>
            <a:r>
              <a:rPr lang="en-US" sz="1080" b="1" dirty="0">
                <a:solidFill>
                  <a:srgbClr val="0033A0"/>
                </a:solidFill>
                <a:latin typeface="Arial" pitchFamily="34" charset="0"/>
                <a:ea typeface="Arial" pitchFamily="34" charset="-122"/>
                <a:cs typeface="Arial" pitchFamily="34" charset="-120"/>
              </a:rPr>
              <a:t>ASI04</a:t>
            </a:r>
            <a:r>
              <a:rPr lang="en-US" sz="1080" dirty="0">
                <a:solidFill>
                  <a:srgbClr val="16181D"/>
                </a:solidFill>
                <a:latin typeface="Arial" pitchFamily="34" charset="0"/>
                <a:ea typeface="Arial" pitchFamily="34" charset="-122"/>
                <a:cs typeface="Arial" pitchFamily="34" charset="-120"/>
              </a:rPr>
              <a:t> Cadena de suministro</a:t>
            </a:r>
            <a:endParaRPr lang="en-US" sz="1080" dirty="0"/>
          </a:p>
        </p:txBody>
      </p:sp>
      <p:sp>
        <p:nvSpPr>
          <p:cNvPr id="50" name="s6-forma-49"/>
          <p:cNvSpPr/>
          <p:nvPr/>
        </p:nvSpPr>
        <p:spPr>
          <a:xfrm>
            <a:off x="4194466" y="3192268"/>
            <a:ext cx="3422309" cy="289046"/>
          </a:xfrm>
          <a:prstGeom prst="rect">
            <a:avLst/>
          </a:prstGeom>
          <a:ln/>
        </p:spPr>
        <p:txBody>
          <a:bodyPr/>
          <a:lstStyle/>
          <a:p>
            <a:endParaRPr lang="es-MX"/>
          </a:p>
        </p:txBody>
      </p:sp>
      <p:sp>
        <p:nvSpPr>
          <p:cNvPr id="51" name="s6-forma-50"/>
          <p:cNvSpPr/>
          <p:nvPr/>
        </p:nvSpPr>
        <p:spPr>
          <a:xfrm>
            <a:off x="4194466" y="3475601"/>
            <a:ext cx="3422309" cy="5713"/>
          </a:xfrm>
          <a:prstGeom prst="rect">
            <a:avLst/>
          </a:prstGeom>
          <a:solidFill>
            <a:srgbClr val="DBD4C4"/>
          </a:solidFill>
          <a:ln/>
        </p:spPr>
        <p:txBody>
          <a:bodyPr/>
          <a:lstStyle/>
          <a:p>
            <a:endParaRPr lang="es-MX"/>
          </a:p>
        </p:txBody>
      </p:sp>
      <p:sp>
        <p:nvSpPr>
          <p:cNvPr id="52" name="s6-texto-51"/>
          <p:cNvSpPr txBox="1"/>
          <p:nvPr/>
        </p:nvSpPr>
        <p:spPr>
          <a:xfrm>
            <a:off x="4290428" y="3256808"/>
            <a:ext cx="3424189"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Un CLAUDE.md manipulado</a:t>
            </a:r>
            <a:endParaRPr lang="en-US" sz="1080" dirty="0"/>
          </a:p>
        </p:txBody>
      </p:sp>
      <p:sp>
        <p:nvSpPr>
          <p:cNvPr id="53" name="s6-forma-52"/>
          <p:cNvSpPr/>
          <p:nvPr/>
        </p:nvSpPr>
        <p:spPr>
          <a:xfrm>
            <a:off x="7616774" y="3192268"/>
            <a:ext cx="3232349" cy="289046"/>
          </a:xfrm>
          <a:prstGeom prst="rect">
            <a:avLst/>
          </a:prstGeom>
          <a:ln/>
        </p:spPr>
        <p:txBody>
          <a:bodyPr/>
          <a:lstStyle/>
          <a:p>
            <a:endParaRPr lang="es-MX"/>
          </a:p>
        </p:txBody>
      </p:sp>
      <p:sp>
        <p:nvSpPr>
          <p:cNvPr id="54" name="s6-forma-53"/>
          <p:cNvSpPr/>
          <p:nvPr/>
        </p:nvSpPr>
        <p:spPr>
          <a:xfrm>
            <a:off x="7616774" y="3475601"/>
            <a:ext cx="3232349" cy="5713"/>
          </a:xfrm>
          <a:prstGeom prst="rect">
            <a:avLst/>
          </a:prstGeom>
          <a:solidFill>
            <a:srgbClr val="DBD4C4"/>
          </a:solidFill>
          <a:ln/>
        </p:spPr>
        <p:txBody>
          <a:bodyPr/>
          <a:lstStyle/>
          <a:p>
            <a:endParaRPr lang="es-MX"/>
          </a:p>
        </p:txBody>
      </p:sp>
      <p:sp>
        <p:nvSpPr>
          <p:cNvPr id="55" name="s6-texto-54"/>
          <p:cNvSpPr txBox="1"/>
          <p:nvPr/>
        </p:nvSpPr>
        <p:spPr>
          <a:xfrm>
            <a:off x="7712736" y="3256808"/>
            <a:ext cx="3222832"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Plan revisado por una persona</a:t>
            </a:r>
            <a:endParaRPr lang="en-US" sz="1080" dirty="0"/>
          </a:p>
        </p:txBody>
      </p:sp>
      <p:sp>
        <p:nvSpPr>
          <p:cNvPr id="56" name="s6-forma-55"/>
          <p:cNvSpPr/>
          <p:nvPr/>
        </p:nvSpPr>
        <p:spPr>
          <a:xfrm>
            <a:off x="1342572" y="3481314"/>
            <a:ext cx="9506551" cy="289046"/>
          </a:xfrm>
          <a:prstGeom prst="rect">
            <a:avLst/>
          </a:prstGeom>
          <a:solidFill>
            <a:srgbClr val="E2D3C2"/>
          </a:solidFill>
          <a:ln/>
        </p:spPr>
        <p:txBody>
          <a:bodyPr/>
          <a:lstStyle/>
          <a:p>
            <a:endParaRPr lang="es-MX"/>
          </a:p>
        </p:txBody>
      </p:sp>
      <p:sp>
        <p:nvSpPr>
          <p:cNvPr id="57" name="s6-forma-56"/>
          <p:cNvSpPr/>
          <p:nvPr/>
        </p:nvSpPr>
        <p:spPr>
          <a:xfrm>
            <a:off x="1342572" y="3481314"/>
            <a:ext cx="2851894" cy="289046"/>
          </a:xfrm>
          <a:prstGeom prst="rect">
            <a:avLst/>
          </a:prstGeom>
          <a:ln/>
        </p:spPr>
        <p:txBody>
          <a:bodyPr/>
          <a:lstStyle/>
          <a:p>
            <a:endParaRPr lang="es-MX"/>
          </a:p>
        </p:txBody>
      </p:sp>
      <p:sp>
        <p:nvSpPr>
          <p:cNvPr id="58" name="s6-forma-57"/>
          <p:cNvSpPr/>
          <p:nvPr/>
        </p:nvSpPr>
        <p:spPr>
          <a:xfrm>
            <a:off x="1342572" y="3764647"/>
            <a:ext cx="2851894" cy="5713"/>
          </a:xfrm>
          <a:prstGeom prst="rect">
            <a:avLst/>
          </a:prstGeom>
          <a:solidFill>
            <a:srgbClr val="DBD4C4"/>
          </a:solidFill>
          <a:ln/>
        </p:spPr>
        <p:txBody>
          <a:bodyPr/>
          <a:lstStyle/>
          <a:p>
            <a:endParaRPr lang="es-MX"/>
          </a:p>
        </p:txBody>
      </p:sp>
      <p:sp>
        <p:nvSpPr>
          <p:cNvPr id="59" name="s6-texto-58"/>
          <p:cNvSpPr txBox="1"/>
          <p:nvPr/>
        </p:nvSpPr>
        <p:spPr>
          <a:xfrm>
            <a:off x="1438534" y="3545854"/>
            <a:ext cx="2819550" cy="154253"/>
          </a:xfrm>
          <a:prstGeom prst="rect">
            <a:avLst/>
          </a:prstGeom>
          <a:noFill/>
          <a:ln/>
        </p:spPr>
        <p:txBody>
          <a:bodyPr wrap="none" lIns="0" tIns="0" rIns="0" bIns="0" rtlCol="0" anchor="t"/>
          <a:lstStyle/>
          <a:p>
            <a:pPr marL="0" indent="0" algn="l">
              <a:lnSpc>
                <a:spcPts val="1296"/>
              </a:lnSpc>
              <a:buNone/>
            </a:pPr>
            <a:r>
              <a:rPr lang="en-US" sz="1080" b="1" dirty="0">
                <a:solidFill>
                  <a:srgbClr val="0033A0"/>
                </a:solidFill>
                <a:latin typeface="Arial" pitchFamily="34" charset="0"/>
                <a:ea typeface="Arial" pitchFamily="34" charset="-122"/>
                <a:cs typeface="Arial" pitchFamily="34" charset="-120"/>
              </a:rPr>
              <a:t>ASI05</a:t>
            </a:r>
            <a:r>
              <a:rPr lang="en-US" sz="1080" dirty="0">
                <a:solidFill>
                  <a:srgbClr val="16181D"/>
                </a:solidFill>
                <a:latin typeface="Arial" pitchFamily="34" charset="0"/>
                <a:ea typeface="Arial" pitchFamily="34" charset="-122"/>
                <a:cs typeface="Arial" pitchFamily="34" charset="-120"/>
              </a:rPr>
              <a:t> Ejecución inesperada</a:t>
            </a:r>
            <a:endParaRPr lang="en-US" sz="1080" dirty="0"/>
          </a:p>
        </p:txBody>
      </p:sp>
      <p:sp>
        <p:nvSpPr>
          <p:cNvPr id="60" name="s6-forma-59"/>
          <p:cNvSpPr/>
          <p:nvPr/>
        </p:nvSpPr>
        <p:spPr>
          <a:xfrm>
            <a:off x="4194466" y="3481314"/>
            <a:ext cx="3422309" cy="289046"/>
          </a:xfrm>
          <a:prstGeom prst="rect">
            <a:avLst/>
          </a:prstGeom>
          <a:ln/>
        </p:spPr>
        <p:txBody>
          <a:bodyPr/>
          <a:lstStyle/>
          <a:p>
            <a:endParaRPr lang="es-MX"/>
          </a:p>
        </p:txBody>
      </p:sp>
      <p:sp>
        <p:nvSpPr>
          <p:cNvPr id="61" name="s6-forma-60"/>
          <p:cNvSpPr/>
          <p:nvPr/>
        </p:nvSpPr>
        <p:spPr>
          <a:xfrm>
            <a:off x="4194466" y="3764647"/>
            <a:ext cx="3422309" cy="5713"/>
          </a:xfrm>
          <a:prstGeom prst="rect">
            <a:avLst/>
          </a:prstGeom>
          <a:solidFill>
            <a:srgbClr val="DBD4C4"/>
          </a:solidFill>
          <a:ln/>
        </p:spPr>
        <p:txBody>
          <a:bodyPr/>
          <a:lstStyle/>
          <a:p>
            <a:endParaRPr lang="es-MX"/>
          </a:p>
        </p:txBody>
      </p:sp>
      <p:sp>
        <p:nvSpPr>
          <p:cNvPr id="62" name="s6-texto-61"/>
          <p:cNvSpPr txBox="1"/>
          <p:nvPr/>
        </p:nvSpPr>
        <p:spPr>
          <a:xfrm>
            <a:off x="4290428" y="3545854"/>
            <a:ext cx="3424189"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La app y las pruebas generadas corren</a:t>
            </a:r>
            <a:endParaRPr lang="en-US" sz="1080" dirty="0"/>
          </a:p>
        </p:txBody>
      </p:sp>
      <p:sp>
        <p:nvSpPr>
          <p:cNvPr id="63" name="s6-forma-62"/>
          <p:cNvSpPr/>
          <p:nvPr/>
        </p:nvSpPr>
        <p:spPr>
          <a:xfrm>
            <a:off x="7616774" y="3481314"/>
            <a:ext cx="3232349" cy="289046"/>
          </a:xfrm>
          <a:prstGeom prst="rect">
            <a:avLst/>
          </a:prstGeom>
          <a:ln/>
        </p:spPr>
        <p:txBody>
          <a:bodyPr/>
          <a:lstStyle/>
          <a:p>
            <a:endParaRPr lang="es-MX"/>
          </a:p>
        </p:txBody>
      </p:sp>
      <p:sp>
        <p:nvSpPr>
          <p:cNvPr id="64" name="s6-forma-63"/>
          <p:cNvSpPr/>
          <p:nvPr/>
        </p:nvSpPr>
        <p:spPr>
          <a:xfrm>
            <a:off x="7616774" y="3764647"/>
            <a:ext cx="3232349" cy="5713"/>
          </a:xfrm>
          <a:prstGeom prst="rect">
            <a:avLst/>
          </a:prstGeom>
          <a:solidFill>
            <a:srgbClr val="DBD4C4"/>
          </a:solidFill>
          <a:ln/>
        </p:spPr>
        <p:txBody>
          <a:bodyPr/>
          <a:lstStyle/>
          <a:p>
            <a:endParaRPr lang="es-MX"/>
          </a:p>
        </p:txBody>
      </p:sp>
      <p:sp>
        <p:nvSpPr>
          <p:cNvPr id="65" name="s6-texto-64"/>
          <p:cNvSpPr txBox="1"/>
          <p:nvPr/>
        </p:nvSpPr>
        <p:spPr>
          <a:xfrm>
            <a:off x="7712736" y="3545854"/>
            <a:ext cx="3222832"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comandos_permitidos, contenedores</a:t>
            </a:r>
            <a:endParaRPr lang="en-US" sz="1080" dirty="0"/>
          </a:p>
        </p:txBody>
      </p:sp>
      <p:sp>
        <p:nvSpPr>
          <p:cNvPr id="66" name="s6-forma-65"/>
          <p:cNvSpPr/>
          <p:nvPr/>
        </p:nvSpPr>
        <p:spPr>
          <a:xfrm>
            <a:off x="1342572" y="3770360"/>
            <a:ext cx="2851894" cy="289046"/>
          </a:xfrm>
          <a:prstGeom prst="rect">
            <a:avLst/>
          </a:prstGeom>
          <a:ln/>
        </p:spPr>
        <p:txBody>
          <a:bodyPr/>
          <a:lstStyle/>
          <a:p>
            <a:endParaRPr lang="es-MX"/>
          </a:p>
        </p:txBody>
      </p:sp>
      <p:sp>
        <p:nvSpPr>
          <p:cNvPr id="67" name="s6-forma-66"/>
          <p:cNvSpPr/>
          <p:nvPr/>
        </p:nvSpPr>
        <p:spPr>
          <a:xfrm>
            <a:off x="1342572" y="4053692"/>
            <a:ext cx="2851894" cy="5713"/>
          </a:xfrm>
          <a:prstGeom prst="rect">
            <a:avLst/>
          </a:prstGeom>
          <a:solidFill>
            <a:srgbClr val="DBD4C4"/>
          </a:solidFill>
          <a:ln/>
        </p:spPr>
        <p:txBody>
          <a:bodyPr/>
          <a:lstStyle/>
          <a:p>
            <a:endParaRPr lang="es-MX"/>
          </a:p>
        </p:txBody>
      </p:sp>
      <p:sp>
        <p:nvSpPr>
          <p:cNvPr id="68" name="s6-texto-67"/>
          <p:cNvSpPr txBox="1"/>
          <p:nvPr/>
        </p:nvSpPr>
        <p:spPr>
          <a:xfrm>
            <a:off x="1438534" y="3834899"/>
            <a:ext cx="2819550" cy="154253"/>
          </a:xfrm>
          <a:prstGeom prst="rect">
            <a:avLst/>
          </a:prstGeom>
          <a:noFill/>
          <a:ln/>
        </p:spPr>
        <p:txBody>
          <a:bodyPr wrap="none" lIns="0" tIns="0" rIns="0" bIns="0" rtlCol="0" anchor="t"/>
          <a:lstStyle/>
          <a:p>
            <a:pPr marL="0" indent="0" algn="l">
              <a:lnSpc>
                <a:spcPts val="1296"/>
              </a:lnSpc>
              <a:buNone/>
            </a:pPr>
            <a:r>
              <a:rPr lang="en-US" sz="1080" b="1" dirty="0">
                <a:solidFill>
                  <a:srgbClr val="0033A0"/>
                </a:solidFill>
                <a:latin typeface="Arial" pitchFamily="34" charset="0"/>
                <a:ea typeface="Arial" pitchFamily="34" charset="-122"/>
                <a:cs typeface="Arial" pitchFamily="34" charset="-120"/>
              </a:rPr>
              <a:t>ASI06</a:t>
            </a:r>
            <a:r>
              <a:rPr lang="en-US" sz="1080" dirty="0">
                <a:solidFill>
                  <a:srgbClr val="16181D"/>
                </a:solidFill>
                <a:latin typeface="Arial" pitchFamily="34" charset="0"/>
                <a:ea typeface="Arial" pitchFamily="34" charset="-122"/>
                <a:cs typeface="Arial" pitchFamily="34" charset="-120"/>
              </a:rPr>
              <a:t> Contexto envenenado</a:t>
            </a:r>
            <a:endParaRPr lang="en-US" sz="1080" dirty="0"/>
          </a:p>
        </p:txBody>
      </p:sp>
      <p:sp>
        <p:nvSpPr>
          <p:cNvPr id="69" name="s6-forma-68"/>
          <p:cNvSpPr/>
          <p:nvPr/>
        </p:nvSpPr>
        <p:spPr>
          <a:xfrm>
            <a:off x="4194466" y="3770360"/>
            <a:ext cx="3422309" cy="289046"/>
          </a:xfrm>
          <a:prstGeom prst="rect">
            <a:avLst/>
          </a:prstGeom>
          <a:ln/>
        </p:spPr>
        <p:txBody>
          <a:bodyPr/>
          <a:lstStyle/>
          <a:p>
            <a:endParaRPr lang="es-MX"/>
          </a:p>
        </p:txBody>
      </p:sp>
      <p:sp>
        <p:nvSpPr>
          <p:cNvPr id="70" name="s6-forma-69"/>
          <p:cNvSpPr/>
          <p:nvPr/>
        </p:nvSpPr>
        <p:spPr>
          <a:xfrm>
            <a:off x="4194466" y="4053692"/>
            <a:ext cx="3422309" cy="5713"/>
          </a:xfrm>
          <a:prstGeom prst="rect">
            <a:avLst/>
          </a:prstGeom>
          <a:solidFill>
            <a:srgbClr val="DBD4C4"/>
          </a:solidFill>
          <a:ln/>
        </p:spPr>
        <p:txBody>
          <a:bodyPr/>
          <a:lstStyle/>
          <a:p>
            <a:endParaRPr lang="es-MX"/>
          </a:p>
        </p:txBody>
      </p:sp>
      <p:sp>
        <p:nvSpPr>
          <p:cNvPr id="71" name="s6-texto-70"/>
          <p:cNvSpPr txBox="1"/>
          <p:nvPr/>
        </p:nvSpPr>
        <p:spPr>
          <a:xfrm>
            <a:off x="4290428" y="3834899"/>
            <a:ext cx="3424189"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contexto/ con órdenes</a:t>
            </a:r>
            <a:endParaRPr lang="en-US" sz="1080" dirty="0"/>
          </a:p>
        </p:txBody>
      </p:sp>
      <p:sp>
        <p:nvSpPr>
          <p:cNvPr id="72" name="s6-forma-71"/>
          <p:cNvSpPr/>
          <p:nvPr/>
        </p:nvSpPr>
        <p:spPr>
          <a:xfrm>
            <a:off x="7616774" y="3770360"/>
            <a:ext cx="3232349" cy="289046"/>
          </a:xfrm>
          <a:prstGeom prst="rect">
            <a:avLst/>
          </a:prstGeom>
          <a:ln/>
        </p:spPr>
        <p:txBody>
          <a:bodyPr/>
          <a:lstStyle/>
          <a:p>
            <a:endParaRPr lang="es-MX"/>
          </a:p>
        </p:txBody>
      </p:sp>
      <p:sp>
        <p:nvSpPr>
          <p:cNvPr id="73" name="s6-forma-72"/>
          <p:cNvSpPr/>
          <p:nvPr/>
        </p:nvSpPr>
        <p:spPr>
          <a:xfrm>
            <a:off x="7616774" y="4053692"/>
            <a:ext cx="3232349" cy="5713"/>
          </a:xfrm>
          <a:prstGeom prst="rect">
            <a:avLst/>
          </a:prstGeom>
          <a:solidFill>
            <a:srgbClr val="DBD4C4"/>
          </a:solidFill>
          <a:ln/>
        </p:spPr>
        <p:txBody>
          <a:bodyPr/>
          <a:lstStyle/>
          <a:p>
            <a:endParaRPr lang="es-MX"/>
          </a:p>
        </p:txBody>
      </p:sp>
      <p:sp>
        <p:nvSpPr>
          <p:cNvPr id="74" name="s6-texto-73"/>
          <p:cNvSpPr txBox="1"/>
          <p:nvPr/>
        </p:nvSpPr>
        <p:spPr>
          <a:xfrm>
            <a:off x="7712736" y="3834899"/>
            <a:ext cx="3222832"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Revisar cambios en contexto/</a:t>
            </a:r>
            <a:endParaRPr lang="en-US" sz="1080" dirty="0"/>
          </a:p>
        </p:txBody>
      </p:sp>
      <p:sp>
        <p:nvSpPr>
          <p:cNvPr id="75" name="s6-forma-74"/>
          <p:cNvSpPr/>
          <p:nvPr/>
        </p:nvSpPr>
        <p:spPr>
          <a:xfrm>
            <a:off x="1342572" y="4059405"/>
            <a:ext cx="2851894" cy="289046"/>
          </a:xfrm>
          <a:prstGeom prst="rect">
            <a:avLst/>
          </a:prstGeom>
          <a:ln/>
        </p:spPr>
        <p:txBody>
          <a:bodyPr/>
          <a:lstStyle/>
          <a:p>
            <a:endParaRPr lang="es-MX"/>
          </a:p>
        </p:txBody>
      </p:sp>
      <p:sp>
        <p:nvSpPr>
          <p:cNvPr id="76" name="s6-forma-75"/>
          <p:cNvSpPr/>
          <p:nvPr/>
        </p:nvSpPr>
        <p:spPr>
          <a:xfrm>
            <a:off x="1342572" y="4342738"/>
            <a:ext cx="2851894" cy="5713"/>
          </a:xfrm>
          <a:prstGeom prst="rect">
            <a:avLst/>
          </a:prstGeom>
          <a:solidFill>
            <a:srgbClr val="DBD4C4"/>
          </a:solidFill>
          <a:ln/>
        </p:spPr>
        <p:txBody>
          <a:bodyPr/>
          <a:lstStyle/>
          <a:p>
            <a:endParaRPr lang="es-MX"/>
          </a:p>
        </p:txBody>
      </p:sp>
      <p:sp>
        <p:nvSpPr>
          <p:cNvPr id="77" name="s6-texto-76"/>
          <p:cNvSpPr txBox="1"/>
          <p:nvPr/>
        </p:nvSpPr>
        <p:spPr>
          <a:xfrm>
            <a:off x="1438534" y="4123945"/>
            <a:ext cx="2819550" cy="154253"/>
          </a:xfrm>
          <a:prstGeom prst="rect">
            <a:avLst/>
          </a:prstGeom>
          <a:noFill/>
          <a:ln/>
        </p:spPr>
        <p:txBody>
          <a:bodyPr wrap="none" lIns="0" tIns="0" rIns="0" bIns="0" rtlCol="0" anchor="t"/>
          <a:lstStyle/>
          <a:p>
            <a:pPr marL="0" indent="0" algn="l">
              <a:lnSpc>
                <a:spcPts val="1296"/>
              </a:lnSpc>
              <a:buNone/>
            </a:pPr>
            <a:r>
              <a:rPr lang="en-US" sz="1080" b="1" dirty="0">
                <a:solidFill>
                  <a:srgbClr val="0033A0"/>
                </a:solidFill>
                <a:latin typeface="Arial" pitchFamily="34" charset="0"/>
                <a:ea typeface="Arial" pitchFamily="34" charset="-122"/>
                <a:cs typeface="Arial" pitchFamily="34" charset="-120"/>
              </a:rPr>
              <a:t>ASI08</a:t>
            </a:r>
            <a:r>
              <a:rPr lang="en-US" sz="1080" dirty="0">
                <a:solidFill>
                  <a:srgbClr val="16181D"/>
                </a:solidFill>
                <a:latin typeface="Arial" pitchFamily="34" charset="0"/>
                <a:ea typeface="Arial" pitchFamily="34" charset="-122"/>
                <a:cs typeface="Arial" pitchFamily="34" charset="-120"/>
              </a:rPr>
              <a:t> Fallos en cascada</a:t>
            </a:r>
            <a:endParaRPr lang="en-US" sz="1080" dirty="0"/>
          </a:p>
        </p:txBody>
      </p:sp>
      <p:sp>
        <p:nvSpPr>
          <p:cNvPr id="78" name="s6-forma-77"/>
          <p:cNvSpPr/>
          <p:nvPr/>
        </p:nvSpPr>
        <p:spPr>
          <a:xfrm>
            <a:off x="4194466" y="4059405"/>
            <a:ext cx="3422309" cy="289046"/>
          </a:xfrm>
          <a:prstGeom prst="rect">
            <a:avLst/>
          </a:prstGeom>
          <a:ln/>
        </p:spPr>
        <p:txBody>
          <a:bodyPr/>
          <a:lstStyle/>
          <a:p>
            <a:endParaRPr lang="es-MX"/>
          </a:p>
        </p:txBody>
      </p:sp>
      <p:sp>
        <p:nvSpPr>
          <p:cNvPr id="79" name="s6-forma-78"/>
          <p:cNvSpPr/>
          <p:nvPr/>
        </p:nvSpPr>
        <p:spPr>
          <a:xfrm>
            <a:off x="4194466" y="4342738"/>
            <a:ext cx="3422309" cy="5713"/>
          </a:xfrm>
          <a:prstGeom prst="rect">
            <a:avLst/>
          </a:prstGeom>
          <a:solidFill>
            <a:srgbClr val="DBD4C4"/>
          </a:solidFill>
          <a:ln/>
        </p:spPr>
        <p:txBody>
          <a:bodyPr/>
          <a:lstStyle/>
          <a:p>
            <a:endParaRPr lang="es-MX"/>
          </a:p>
        </p:txBody>
      </p:sp>
      <p:sp>
        <p:nvSpPr>
          <p:cNvPr id="80" name="s6-texto-79"/>
          <p:cNvSpPr txBox="1"/>
          <p:nvPr/>
        </p:nvSpPr>
        <p:spPr>
          <a:xfrm>
            <a:off x="4290428" y="4123945"/>
            <a:ext cx="3424189"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Un criterio mal escrito llega a 3 agentes</a:t>
            </a:r>
            <a:endParaRPr lang="en-US" sz="1080" dirty="0"/>
          </a:p>
        </p:txBody>
      </p:sp>
      <p:sp>
        <p:nvSpPr>
          <p:cNvPr id="81" name="s6-forma-80"/>
          <p:cNvSpPr/>
          <p:nvPr/>
        </p:nvSpPr>
        <p:spPr>
          <a:xfrm>
            <a:off x="7616774" y="4059405"/>
            <a:ext cx="3232349" cy="289046"/>
          </a:xfrm>
          <a:prstGeom prst="rect">
            <a:avLst/>
          </a:prstGeom>
          <a:ln/>
        </p:spPr>
        <p:txBody>
          <a:bodyPr/>
          <a:lstStyle/>
          <a:p>
            <a:endParaRPr lang="es-MX"/>
          </a:p>
        </p:txBody>
      </p:sp>
      <p:sp>
        <p:nvSpPr>
          <p:cNvPr id="82" name="s6-forma-81"/>
          <p:cNvSpPr/>
          <p:nvPr/>
        </p:nvSpPr>
        <p:spPr>
          <a:xfrm>
            <a:off x="7616774" y="4342738"/>
            <a:ext cx="3232349" cy="5713"/>
          </a:xfrm>
          <a:prstGeom prst="rect">
            <a:avLst/>
          </a:prstGeom>
          <a:solidFill>
            <a:srgbClr val="DBD4C4"/>
          </a:solidFill>
          <a:ln/>
        </p:spPr>
        <p:txBody>
          <a:bodyPr/>
          <a:lstStyle/>
          <a:p>
            <a:endParaRPr lang="es-MX"/>
          </a:p>
        </p:txBody>
      </p:sp>
      <p:sp>
        <p:nvSpPr>
          <p:cNvPr id="83" name="s6-texto-82"/>
          <p:cNvSpPr txBox="1"/>
          <p:nvPr/>
        </p:nvSpPr>
        <p:spPr>
          <a:xfrm>
            <a:off x="7712736" y="4123945"/>
            <a:ext cx="3222832"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Validadores y límite de ciclos</a:t>
            </a:r>
            <a:endParaRPr lang="en-US" sz="1080" dirty="0"/>
          </a:p>
        </p:txBody>
      </p:sp>
      <p:sp>
        <p:nvSpPr>
          <p:cNvPr id="84" name="s6-texto-83"/>
          <p:cNvSpPr txBox="1"/>
          <p:nvPr/>
        </p:nvSpPr>
        <p:spPr>
          <a:xfrm>
            <a:off x="1438534" y="4412991"/>
            <a:ext cx="2819550" cy="154253"/>
          </a:xfrm>
          <a:prstGeom prst="rect">
            <a:avLst/>
          </a:prstGeom>
          <a:noFill/>
          <a:ln/>
        </p:spPr>
        <p:txBody>
          <a:bodyPr wrap="none" lIns="0" tIns="0" rIns="0" bIns="0" rtlCol="0" anchor="t"/>
          <a:lstStyle/>
          <a:p>
            <a:pPr marL="0" indent="0" algn="l">
              <a:lnSpc>
                <a:spcPts val="1296"/>
              </a:lnSpc>
              <a:buNone/>
            </a:pPr>
            <a:r>
              <a:rPr lang="en-US" sz="1080" b="1" dirty="0">
                <a:solidFill>
                  <a:srgbClr val="0033A0"/>
                </a:solidFill>
                <a:latin typeface="Arial" pitchFamily="34" charset="0"/>
                <a:ea typeface="Arial" pitchFamily="34" charset="-122"/>
                <a:cs typeface="Arial" pitchFamily="34" charset="-120"/>
              </a:rPr>
              <a:t>ASI09</a:t>
            </a:r>
            <a:r>
              <a:rPr lang="en-US" sz="1080" dirty="0">
                <a:solidFill>
                  <a:srgbClr val="16181D"/>
                </a:solidFill>
                <a:latin typeface="Arial" pitchFamily="34" charset="0"/>
                <a:ea typeface="Arial" pitchFamily="34" charset="-122"/>
                <a:cs typeface="Arial" pitchFamily="34" charset="-120"/>
              </a:rPr>
              <a:t> Confianza excesiva</a:t>
            </a:r>
            <a:endParaRPr lang="en-US" sz="1080" dirty="0"/>
          </a:p>
        </p:txBody>
      </p:sp>
      <p:sp>
        <p:nvSpPr>
          <p:cNvPr id="85" name="s6-texto-84"/>
          <p:cNvSpPr txBox="1"/>
          <p:nvPr/>
        </p:nvSpPr>
        <p:spPr>
          <a:xfrm>
            <a:off x="4290428" y="4412991"/>
            <a:ext cx="3424189"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Aprobar el plan sin leerlo</a:t>
            </a:r>
            <a:endParaRPr lang="en-US" sz="1080" dirty="0"/>
          </a:p>
        </p:txBody>
      </p:sp>
      <p:sp>
        <p:nvSpPr>
          <p:cNvPr id="86" name="s6-texto-85"/>
          <p:cNvSpPr txBox="1"/>
          <p:nvPr/>
        </p:nvSpPr>
        <p:spPr>
          <a:xfrm>
            <a:off x="7712736" y="4412991"/>
            <a:ext cx="3222832" cy="154253"/>
          </a:xfrm>
          <a:prstGeom prst="rect">
            <a:avLst/>
          </a:prstGeom>
          <a:noFill/>
          <a:ln/>
        </p:spPr>
        <p:txBody>
          <a:bodyPr wrap="none" lIns="0" tIns="0" rIns="0" bIns="0" rtlCol="0" anchor="t"/>
          <a:lstStyle/>
          <a:p>
            <a:pPr marL="0" indent="0" algn="l">
              <a:lnSpc>
                <a:spcPts val="1296"/>
              </a:lnSpc>
              <a:buNone/>
            </a:pPr>
            <a:r>
              <a:rPr lang="en-US" sz="1080" dirty="0">
                <a:solidFill>
                  <a:srgbClr val="16181D"/>
                </a:solidFill>
                <a:latin typeface="Arial" pitchFamily="34" charset="0"/>
                <a:ea typeface="Arial" pitchFamily="34" charset="-122"/>
                <a:cs typeface="Arial" pitchFamily="34" charset="-120"/>
              </a:rPr>
              <a:t>Plan completo y decisión en bitácora</a:t>
            </a:r>
            <a:endParaRPr lang="en-US" sz="1080" dirty="0"/>
          </a:p>
        </p:txBody>
      </p:sp>
      <p:sp>
        <p:nvSpPr>
          <p:cNvPr id="87" name="s6-texto-86"/>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Resaltados: los cuatro que se ven a fondo hoy · Fuente: OWASP GenAI Security Project, diciembre de 2025</a:t>
            </a:r>
            <a:endParaRPr lang="en-US" sz="1080" dirty="0"/>
          </a:p>
        </p:txBody>
      </p:sp>
      <p:sp>
        <p:nvSpPr>
          <p:cNvPr id="88" name="s6-forma-87"/>
          <p:cNvSpPr/>
          <p:nvPr/>
        </p:nvSpPr>
        <p:spPr>
          <a:xfrm>
            <a:off x="853390" y="6411138"/>
            <a:ext cx="10484915" cy="5713"/>
          </a:xfrm>
          <a:prstGeom prst="rect">
            <a:avLst/>
          </a:prstGeom>
          <a:solidFill>
            <a:srgbClr val="DBD4C4"/>
          </a:solidFill>
          <a:ln/>
        </p:spPr>
        <p:txBody>
          <a:bodyPr/>
          <a:lstStyle/>
          <a:p>
            <a:endParaRPr lang="es-MX"/>
          </a:p>
        </p:txBody>
      </p:sp>
      <p:pic>
        <p:nvPicPr>
          <p:cNvPr id="89" name="s6-logo-88" descr="preencoded.png"/>
          <p:cNvPicPr>
            <a:picLocks noChangeAspect="1"/>
          </p:cNvPicPr>
          <p:nvPr/>
        </p:nvPicPr>
        <p:blipFill>
          <a:blip r:embed="rId3"/>
          <a:stretch>
            <a:fillRect/>
          </a:stretch>
        </p:blipFill>
        <p:spPr>
          <a:xfrm>
            <a:off x="853390" y="6465055"/>
            <a:ext cx="687800" cy="212455"/>
          </a:xfrm>
          <a:prstGeom prst="rect">
            <a:avLst/>
          </a:prstGeom>
        </p:spPr>
      </p:pic>
      <p:sp>
        <p:nvSpPr>
          <p:cNvPr id="90" name="s6-forma-89"/>
          <p:cNvSpPr/>
          <p:nvPr/>
        </p:nvSpPr>
        <p:spPr>
          <a:xfrm>
            <a:off x="1659380" y="6519865"/>
            <a:ext cx="3578704" cy="102835"/>
          </a:xfrm>
          <a:prstGeom prst="rect">
            <a:avLst/>
          </a:prstGeom>
          <a:ln/>
        </p:spPr>
        <p:txBody>
          <a:bodyPr/>
          <a:lstStyle/>
          <a:p>
            <a:endParaRPr lang="es-MX"/>
          </a:p>
        </p:txBody>
      </p:sp>
      <p:sp>
        <p:nvSpPr>
          <p:cNvPr id="91" name="s6-forma-90"/>
          <p:cNvSpPr/>
          <p:nvPr/>
        </p:nvSpPr>
        <p:spPr>
          <a:xfrm>
            <a:off x="1659380" y="6519865"/>
            <a:ext cx="5713" cy="102835"/>
          </a:xfrm>
          <a:prstGeom prst="rect">
            <a:avLst/>
          </a:prstGeom>
          <a:solidFill>
            <a:srgbClr val="C6BFAE"/>
          </a:solidFill>
          <a:ln/>
        </p:spPr>
        <p:txBody>
          <a:bodyPr/>
          <a:lstStyle/>
          <a:p>
            <a:endParaRPr lang="es-MX"/>
          </a:p>
        </p:txBody>
      </p:sp>
      <p:sp>
        <p:nvSpPr>
          <p:cNvPr id="92" name="s6-texto-9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93" name="s6-texto-92"/>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6 / 22</a:t>
            </a:r>
            <a:endParaRPr lang="en-US" sz="745" dirty="0"/>
          </a:p>
        </p:txBody>
      </p:sp>
      <p:sp>
        <p:nvSpPr>
          <p:cNvPr id="94" name="s6-forma-93"/>
          <p:cNvSpPr/>
          <p:nvPr/>
        </p:nvSpPr>
        <p:spPr>
          <a:xfrm>
            <a:off x="0" y="0"/>
            <a:ext cx="3325008" cy="17139"/>
          </a:xfrm>
          <a:prstGeom prst="rect">
            <a:avLst/>
          </a:prstGeom>
          <a:solidFill>
            <a:srgbClr val="0033A0"/>
          </a:solidFill>
          <a:ln/>
        </p:spPr>
        <p:txBody>
          <a:bodyPr/>
          <a:lstStyle/>
          <a:p>
            <a:endParaRPr lang="es-MX"/>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8DC"/>
        </a:solidFill>
        <a:effectLst/>
      </p:bgPr>
    </p:bg>
    <p:spTree>
      <p:nvGrpSpPr>
        <p:cNvPr id="1" name=""/>
        <p:cNvGrpSpPr/>
        <p:nvPr/>
      </p:nvGrpSpPr>
      <p:grpSpPr>
        <a:xfrm>
          <a:off x="0" y="0"/>
          <a:ext cx="0" cy="0"/>
          <a:chOff x="0" y="0"/>
          <a:chExt cx="0" cy="0"/>
        </a:xfrm>
      </p:grpSpPr>
      <p:sp>
        <p:nvSpPr>
          <p:cNvPr id="2" name="s7-forma-1"/>
          <p:cNvSpPr/>
          <p:nvPr/>
        </p:nvSpPr>
        <p:spPr>
          <a:xfrm>
            <a:off x="853390" y="331715"/>
            <a:ext cx="81411" cy="81411"/>
          </a:xfrm>
          <a:prstGeom prst="ellipse">
            <a:avLst/>
          </a:prstGeom>
          <a:solidFill>
            <a:srgbClr val="0033A0"/>
          </a:solidFill>
          <a:ln/>
        </p:spPr>
        <p:txBody>
          <a:bodyPr/>
          <a:lstStyle/>
          <a:p>
            <a:endParaRPr lang="es-MX"/>
          </a:p>
        </p:txBody>
      </p:sp>
      <p:sp>
        <p:nvSpPr>
          <p:cNvPr id="3" name="s7-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7-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0:20 · 15 min</a:t>
            </a:r>
            <a:endParaRPr lang="en-US" sz="807" dirty="0"/>
          </a:p>
        </p:txBody>
      </p:sp>
      <p:sp>
        <p:nvSpPr>
          <p:cNvPr id="5" name="s7-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4.2</a:t>
            </a:r>
            <a:endParaRPr lang="en-US" sz="869" dirty="0"/>
          </a:p>
        </p:txBody>
      </p:sp>
      <p:sp>
        <p:nvSpPr>
          <p:cNvPr id="6" name="s7-forma-5"/>
          <p:cNvSpPr/>
          <p:nvPr/>
        </p:nvSpPr>
        <p:spPr>
          <a:xfrm>
            <a:off x="853390" y="4059138"/>
            <a:ext cx="722704" cy="22852"/>
          </a:xfrm>
          <a:prstGeom prst="rect">
            <a:avLst/>
          </a:prstGeom>
          <a:solidFill>
            <a:srgbClr val="0033A0"/>
          </a:solidFill>
          <a:ln/>
        </p:spPr>
        <p:txBody>
          <a:bodyPr/>
          <a:lstStyle/>
          <a:p>
            <a:endParaRPr lang="es-MX"/>
          </a:p>
        </p:txBody>
      </p:sp>
      <p:sp>
        <p:nvSpPr>
          <p:cNvPr id="7" name="s7-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Tríada letal y defensas por capas</a:t>
            </a:r>
            <a:endParaRPr lang="en-US" sz="4242" dirty="0"/>
          </a:p>
        </p:txBody>
      </p:sp>
      <p:sp>
        <p:nvSpPr>
          <p:cNvPr id="8" name="s7-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Diseñar para romper al menos una de las tres piezas.</a:t>
            </a:r>
            <a:endParaRPr lang="en-US" sz="1676" dirty="0"/>
          </a:p>
        </p:txBody>
      </p:sp>
      <p:pic>
        <p:nvPicPr>
          <p:cNvPr id="9" name="s7-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7-forma-9"/>
          <p:cNvSpPr/>
          <p:nvPr/>
        </p:nvSpPr>
        <p:spPr>
          <a:xfrm>
            <a:off x="1659380" y="6519865"/>
            <a:ext cx="3578704" cy="102835"/>
          </a:xfrm>
          <a:prstGeom prst="rect">
            <a:avLst/>
          </a:prstGeom>
          <a:ln/>
        </p:spPr>
        <p:txBody>
          <a:bodyPr/>
          <a:lstStyle/>
          <a:p>
            <a:endParaRPr lang="es-MX"/>
          </a:p>
        </p:txBody>
      </p:sp>
      <p:sp>
        <p:nvSpPr>
          <p:cNvPr id="11" name="s7-forma-10"/>
          <p:cNvSpPr/>
          <p:nvPr/>
        </p:nvSpPr>
        <p:spPr>
          <a:xfrm>
            <a:off x="1659380" y="6519865"/>
            <a:ext cx="5713" cy="102835"/>
          </a:xfrm>
          <a:prstGeom prst="rect">
            <a:avLst/>
          </a:prstGeom>
          <a:solidFill>
            <a:srgbClr val="C6BFAE"/>
          </a:solidFill>
          <a:ln/>
        </p:spPr>
        <p:txBody>
          <a:bodyPr/>
          <a:lstStyle/>
          <a:p>
            <a:endParaRPr lang="es-MX"/>
          </a:p>
        </p:txBody>
      </p:sp>
      <p:sp>
        <p:nvSpPr>
          <p:cNvPr id="12" name="s7-texto-1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3" name="s7-texto-12"/>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7 / 22</a:t>
            </a:r>
            <a:endParaRPr lang="en-US" sz="745" dirty="0"/>
          </a:p>
        </p:txBody>
      </p:sp>
      <p:sp>
        <p:nvSpPr>
          <p:cNvPr id="14" name="s7-forma-13"/>
          <p:cNvSpPr/>
          <p:nvPr/>
        </p:nvSpPr>
        <p:spPr>
          <a:xfrm>
            <a:off x="0" y="0"/>
            <a:ext cx="3879176" cy="17139"/>
          </a:xfrm>
          <a:prstGeom prst="rect">
            <a:avLst/>
          </a:prstGeom>
          <a:solidFill>
            <a:srgbClr val="0033A0"/>
          </a:solidFill>
          <a:ln/>
        </p:spPr>
        <p:txBody>
          <a:bodyPr/>
          <a:lstStyle/>
          <a:p>
            <a:endParaRPr lang="es-MX"/>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8DC"/>
        </a:solidFill>
        <a:effectLst/>
      </p:bgPr>
    </p:bg>
    <p:spTree>
      <p:nvGrpSpPr>
        <p:cNvPr id="1" name=""/>
        <p:cNvGrpSpPr/>
        <p:nvPr/>
      </p:nvGrpSpPr>
      <p:grpSpPr>
        <a:xfrm>
          <a:off x="0" y="0"/>
          <a:ext cx="0" cy="0"/>
          <a:chOff x="0" y="0"/>
          <a:chExt cx="0" cy="0"/>
        </a:xfrm>
      </p:grpSpPr>
      <p:sp>
        <p:nvSpPr>
          <p:cNvPr id="2" name="s8-forma-1"/>
          <p:cNvSpPr/>
          <p:nvPr/>
        </p:nvSpPr>
        <p:spPr>
          <a:xfrm>
            <a:off x="853390" y="520961"/>
            <a:ext cx="10484915" cy="5713"/>
          </a:xfrm>
          <a:prstGeom prst="rect">
            <a:avLst/>
          </a:prstGeom>
          <a:solidFill>
            <a:srgbClr val="C6BFAE"/>
          </a:solidFill>
          <a:ln/>
        </p:spPr>
        <p:txBody>
          <a:bodyPr/>
          <a:lstStyle/>
          <a:p>
            <a:endParaRPr lang="es-MX"/>
          </a:p>
        </p:txBody>
      </p:sp>
      <p:sp>
        <p:nvSpPr>
          <p:cNvPr id="3" name="s8-forma-2"/>
          <p:cNvSpPr/>
          <p:nvPr/>
        </p:nvSpPr>
        <p:spPr>
          <a:xfrm>
            <a:off x="853390" y="331715"/>
            <a:ext cx="81411" cy="81411"/>
          </a:xfrm>
          <a:prstGeom prst="ellipse">
            <a:avLst/>
          </a:prstGeom>
          <a:solidFill>
            <a:srgbClr val="0033A0"/>
          </a:solidFill>
          <a:ln/>
        </p:spPr>
        <p:txBody>
          <a:bodyPr/>
          <a:lstStyle/>
          <a:p>
            <a:endParaRPr lang="es-MX"/>
          </a:p>
        </p:txBody>
      </p:sp>
      <p:sp>
        <p:nvSpPr>
          <p:cNvPr id="4" name="s8-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8-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0:20 · 15 min</a:t>
            </a:r>
            <a:endParaRPr lang="en-US" sz="807" dirty="0"/>
          </a:p>
        </p:txBody>
      </p:sp>
      <p:sp>
        <p:nvSpPr>
          <p:cNvPr id="6" name="s8-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4.2 · INYECCIÓN INDIRECTA</a:t>
            </a:r>
            <a:endParaRPr lang="en-US" sz="900" dirty="0"/>
          </a:p>
        </p:txBody>
      </p:sp>
      <p:sp>
        <p:nvSpPr>
          <p:cNvPr id="7" name="s8-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La tríada letal</a:t>
            </a:r>
            <a:endParaRPr lang="en-US" sz="2879" dirty="0"/>
          </a:p>
        </p:txBody>
      </p:sp>
      <p:sp>
        <p:nvSpPr>
          <p:cNvPr id="8" name="s8-forma-7"/>
          <p:cNvSpPr/>
          <p:nvPr/>
        </p:nvSpPr>
        <p:spPr>
          <a:xfrm>
            <a:off x="1342572" y="2281747"/>
            <a:ext cx="2802262" cy="1661254"/>
          </a:xfrm>
          <a:prstGeom prst="rect">
            <a:avLst/>
          </a:prstGeom>
          <a:solidFill>
            <a:srgbClr val="C6BFAE"/>
          </a:solidFill>
          <a:ln w="5713">
            <a:solidFill>
              <a:srgbClr val="C6BFAE"/>
            </a:solidFill>
            <a:prstDash val="solid"/>
          </a:ln>
        </p:spPr>
        <p:txBody>
          <a:bodyPr/>
          <a:lstStyle/>
          <a:p>
            <a:endParaRPr lang="es-MX"/>
          </a:p>
        </p:txBody>
      </p:sp>
      <p:pic>
        <p:nvPicPr>
          <p:cNvPr id="9" name="s8-icono-8" descr="preencoded.png"/>
          <p:cNvPicPr>
            <a:picLocks noChangeAspect="1"/>
          </p:cNvPicPr>
          <p:nvPr/>
        </p:nvPicPr>
        <p:blipFill>
          <a:blip r:embed="rId3"/>
          <a:stretch>
            <a:fillRect/>
          </a:stretch>
        </p:blipFill>
        <p:spPr>
          <a:xfrm>
            <a:off x="1576808" y="2515983"/>
            <a:ext cx="319932" cy="319932"/>
          </a:xfrm>
          <a:prstGeom prst="rect">
            <a:avLst/>
          </a:prstGeom>
        </p:spPr>
      </p:pic>
      <p:sp>
        <p:nvSpPr>
          <p:cNvPr id="10" name="s8-texto-9"/>
          <p:cNvSpPr txBox="1"/>
          <p:nvPr/>
        </p:nvSpPr>
        <p:spPr>
          <a:xfrm>
            <a:off x="1576808" y="2927324"/>
            <a:ext cx="2473817"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DATOS PRIVADOS</a:t>
            </a:r>
            <a:endParaRPr lang="en-US" sz="1799" dirty="0"/>
          </a:p>
        </p:txBody>
      </p:sp>
      <p:sp>
        <p:nvSpPr>
          <p:cNvPr id="11" name="s8-texto-10"/>
          <p:cNvSpPr txBox="1"/>
          <p:nvPr/>
        </p:nvSpPr>
        <p:spPr>
          <a:xfrm>
            <a:off x="1576808" y="3310100"/>
            <a:ext cx="2473817"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Archivos, claves, variables de entorno.</a:t>
            </a:r>
            <a:endParaRPr lang="en-US" sz="1170" dirty="0"/>
          </a:p>
        </p:txBody>
      </p:sp>
      <p:sp>
        <p:nvSpPr>
          <p:cNvPr id="12" name="s8-texto-11"/>
          <p:cNvSpPr txBox="1"/>
          <p:nvPr/>
        </p:nvSpPr>
        <p:spPr>
          <a:xfrm>
            <a:off x="4281947" y="2898134"/>
            <a:ext cx="321360" cy="428480"/>
          </a:xfrm>
          <a:prstGeom prst="rect">
            <a:avLst/>
          </a:prstGeom>
          <a:noFill/>
          <a:ln/>
        </p:spPr>
        <p:txBody>
          <a:bodyPr wrap="none" lIns="0" tIns="0" rIns="0" bIns="0" rtlCol="0" anchor="t"/>
          <a:lstStyle/>
          <a:p>
            <a:pPr marL="0" indent="0" algn="l">
              <a:lnSpc>
                <a:spcPts val="3455"/>
              </a:lnSpc>
              <a:buNone/>
            </a:pPr>
            <a:r>
              <a:rPr lang="en-US" sz="2879" b="1" dirty="0">
                <a:solidFill>
                  <a:srgbClr val="AC321E"/>
                </a:solidFill>
                <a:latin typeface="Georgia" pitchFamily="34" charset="0"/>
                <a:ea typeface="Georgia" pitchFamily="34" charset="-122"/>
                <a:cs typeface="Georgia" pitchFamily="34" charset="-120"/>
              </a:rPr>
              <a:t>+</a:t>
            </a:r>
            <a:endParaRPr lang="en-US" sz="2879" dirty="0"/>
          </a:p>
        </p:txBody>
      </p:sp>
      <p:sp>
        <p:nvSpPr>
          <p:cNvPr id="13" name="s8-forma-12"/>
          <p:cNvSpPr/>
          <p:nvPr/>
        </p:nvSpPr>
        <p:spPr>
          <a:xfrm>
            <a:off x="4694717" y="2144634"/>
            <a:ext cx="2802262" cy="1935482"/>
          </a:xfrm>
          <a:prstGeom prst="rect">
            <a:avLst/>
          </a:prstGeom>
          <a:solidFill>
            <a:srgbClr val="C6BFAE"/>
          </a:solidFill>
          <a:ln w="5713">
            <a:solidFill>
              <a:srgbClr val="C6BFAE"/>
            </a:solidFill>
            <a:prstDash val="solid"/>
          </a:ln>
        </p:spPr>
        <p:txBody>
          <a:bodyPr/>
          <a:lstStyle/>
          <a:p>
            <a:endParaRPr lang="es-MX"/>
          </a:p>
        </p:txBody>
      </p:sp>
      <p:pic>
        <p:nvPicPr>
          <p:cNvPr id="14" name="s8-icono-13" descr="preencoded.png"/>
          <p:cNvPicPr>
            <a:picLocks noChangeAspect="1"/>
          </p:cNvPicPr>
          <p:nvPr/>
        </p:nvPicPr>
        <p:blipFill>
          <a:blip r:embed="rId4"/>
          <a:stretch>
            <a:fillRect/>
          </a:stretch>
        </p:blipFill>
        <p:spPr>
          <a:xfrm>
            <a:off x="4928953" y="2378870"/>
            <a:ext cx="319932" cy="319932"/>
          </a:xfrm>
          <a:prstGeom prst="rect">
            <a:avLst/>
          </a:prstGeom>
        </p:spPr>
      </p:pic>
      <p:sp>
        <p:nvSpPr>
          <p:cNvPr id="15" name="s8-texto-14"/>
          <p:cNvSpPr txBox="1"/>
          <p:nvPr/>
        </p:nvSpPr>
        <p:spPr>
          <a:xfrm>
            <a:off x="4928953" y="2790211"/>
            <a:ext cx="2473817" cy="542742"/>
          </a:xfrm>
          <a:prstGeom prst="rect">
            <a:avLst/>
          </a:prstGeom>
          <a:noFill/>
          <a:ln/>
        </p:spPr>
        <p:txBody>
          <a:bodyPr wrap="squar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CONTENIDO NO CONFIABLE</a:t>
            </a:r>
            <a:endParaRPr lang="en-US" sz="1799" dirty="0"/>
          </a:p>
        </p:txBody>
      </p:sp>
      <p:sp>
        <p:nvSpPr>
          <p:cNvPr id="16" name="s8-texto-15"/>
          <p:cNvSpPr txBox="1"/>
          <p:nvPr/>
        </p:nvSpPr>
        <p:spPr>
          <a:xfrm>
            <a:off x="4928953" y="3447214"/>
            <a:ext cx="2473817"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Historias de usuario, web, PDF, resultados de herramientas.</a:t>
            </a:r>
            <a:endParaRPr lang="en-US" sz="1170" dirty="0"/>
          </a:p>
        </p:txBody>
      </p:sp>
      <p:sp>
        <p:nvSpPr>
          <p:cNvPr id="17" name="s8-texto-16"/>
          <p:cNvSpPr txBox="1"/>
          <p:nvPr/>
        </p:nvSpPr>
        <p:spPr>
          <a:xfrm>
            <a:off x="7634092" y="2898134"/>
            <a:ext cx="321360" cy="428480"/>
          </a:xfrm>
          <a:prstGeom prst="rect">
            <a:avLst/>
          </a:prstGeom>
          <a:noFill/>
          <a:ln/>
        </p:spPr>
        <p:txBody>
          <a:bodyPr wrap="none" lIns="0" tIns="0" rIns="0" bIns="0" rtlCol="0" anchor="t"/>
          <a:lstStyle/>
          <a:p>
            <a:pPr marL="0" indent="0" algn="l">
              <a:lnSpc>
                <a:spcPts val="3455"/>
              </a:lnSpc>
              <a:buNone/>
            </a:pPr>
            <a:r>
              <a:rPr lang="en-US" sz="2879" b="1" dirty="0">
                <a:solidFill>
                  <a:srgbClr val="AC321E"/>
                </a:solidFill>
                <a:latin typeface="Georgia" pitchFamily="34" charset="0"/>
                <a:ea typeface="Georgia" pitchFamily="34" charset="-122"/>
                <a:cs typeface="Georgia" pitchFamily="34" charset="-120"/>
              </a:rPr>
              <a:t>+</a:t>
            </a:r>
            <a:endParaRPr lang="en-US" sz="2879" dirty="0"/>
          </a:p>
        </p:txBody>
      </p:sp>
      <p:sp>
        <p:nvSpPr>
          <p:cNvPr id="18" name="s8-forma-17"/>
          <p:cNvSpPr/>
          <p:nvPr/>
        </p:nvSpPr>
        <p:spPr>
          <a:xfrm>
            <a:off x="8046862" y="2144634"/>
            <a:ext cx="2802262" cy="1935482"/>
          </a:xfrm>
          <a:prstGeom prst="rect">
            <a:avLst/>
          </a:prstGeom>
          <a:solidFill>
            <a:srgbClr val="C6BFAE"/>
          </a:solidFill>
          <a:ln w="5713">
            <a:solidFill>
              <a:srgbClr val="C6BFAE"/>
            </a:solidFill>
            <a:prstDash val="solid"/>
          </a:ln>
        </p:spPr>
        <p:txBody>
          <a:bodyPr/>
          <a:lstStyle/>
          <a:p>
            <a:endParaRPr lang="es-MX"/>
          </a:p>
        </p:txBody>
      </p:sp>
      <p:pic>
        <p:nvPicPr>
          <p:cNvPr id="19" name="s8-icono-18" descr="preencoded.png"/>
          <p:cNvPicPr>
            <a:picLocks noChangeAspect="1"/>
          </p:cNvPicPr>
          <p:nvPr/>
        </p:nvPicPr>
        <p:blipFill>
          <a:blip r:embed="rId5"/>
          <a:stretch>
            <a:fillRect/>
          </a:stretch>
        </p:blipFill>
        <p:spPr>
          <a:xfrm>
            <a:off x="8281098" y="2378870"/>
            <a:ext cx="319932" cy="319932"/>
          </a:xfrm>
          <a:prstGeom prst="rect">
            <a:avLst/>
          </a:prstGeom>
        </p:spPr>
      </p:pic>
      <p:sp>
        <p:nvSpPr>
          <p:cNvPr id="20" name="s8-texto-19"/>
          <p:cNvSpPr txBox="1"/>
          <p:nvPr/>
        </p:nvSpPr>
        <p:spPr>
          <a:xfrm>
            <a:off x="8281098" y="2790211"/>
            <a:ext cx="2473817" cy="542742"/>
          </a:xfrm>
          <a:prstGeom prst="rect">
            <a:avLst/>
          </a:prstGeom>
          <a:noFill/>
          <a:ln/>
        </p:spPr>
        <p:txBody>
          <a:bodyPr wrap="squar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COMUNICACIÓN EXTERNA</a:t>
            </a:r>
            <a:endParaRPr lang="en-US" sz="1799" dirty="0"/>
          </a:p>
        </p:txBody>
      </p:sp>
      <p:sp>
        <p:nvSpPr>
          <p:cNvPr id="21" name="s8-texto-20"/>
          <p:cNvSpPr txBox="1"/>
          <p:nvPr/>
        </p:nvSpPr>
        <p:spPr>
          <a:xfrm>
            <a:off x="8281098" y="3447214"/>
            <a:ext cx="2473817"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En tu fábrica: desactivada, sin WebFetch ni WebSearch.</a:t>
            </a:r>
            <a:endParaRPr lang="en-US" sz="1170" dirty="0"/>
          </a:p>
        </p:txBody>
      </p:sp>
      <p:sp>
        <p:nvSpPr>
          <p:cNvPr id="22" name="s8-texto-21"/>
          <p:cNvSpPr txBox="1"/>
          <p:nvPr/>
        </p:nvSpPr>
        <p:spPr>
          <a:xfrm>
            <a:off x="1342572" y="4377195"/>
            <a:ext cx="10076945" cy="217097"/>
          </a:xfrm>
          <a:prstGeom prst="rect">
            <a:avLst/>
          </a:prstGeom>
          <a:noFill/>
          <a:ln/>
        </p:spPr>
        <p:txBody>
          <a:bodyPr wrap="none" lIns="0" tIns="0" rIns="0" bIns="0" rtlCol="0" anchor="t"/>
          <a:lstStyle/>
          <a:p>
            <a:pPr marL="0" indent="0" algn="l">
              <a:lnSpc>
                <a:spcPts val="2141"/>
              </a:lnSpc>
              <a:buNone/>
            </a:pPr>
            <a:r>
              <a:rPr lang="en-US" sz="1530" dirty="0">
                <a:solidFill>
                  <a:srgbClr val="16181D"/>
                </a:solidFill>
                <a:latin typeface="Arial" pitchFamily="34" charset="0"/>
                <a:ea typeface="Arial" pitchFamily="34" charset="-122"/>
                <a:cs typeface="Arial" pitchFamily="34" charset="-120"/>
              </a:rPr>
              <a:t>Con las tres presentes, una inyección puede exfiltrar datos. </a:t>
            </a:r>
            <a:r>
              <a:rPr lang="en-US" sz="1530" b="1" dirty="0">
                <a:solidFill>
                  <a:srgbClr val="0033A0"/>
                </a:solidFill>
                <a:latin typeface="Arial" pitchFamily="34" charset="0"/>
                <a:ea typeface="Arial" pitchFamily="34" charset="-122"/>
                <a:cs typeface="Arial" pitchFamily="34" charset="-120"/>
              </a:rPr>
              <a:t>Diseña para romper al menos una.</a:t>
            </a:r>
            <a:endParaRPr lang="en-US" sz="1530" dirty="0"/>
          </a:p>
        </p:txBody>
      </p:sp>
      <p:sp>
        <p:nvSpPr>
          <p:cNvPr id="23" name="s8-texto-22"/>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Concepto: Simon Willison, «The lethal trifecta for AI agents», 2025</a:t>
            </a:r>
            <a:endParaRPr lang="en-US" sz="1080" dirty="0"/>
          </a:p>
        </p:txBody>
      </p:sp>
      <p:sp>
        <p:nvSpPr>
          <p:cNvPr id="24" name="s8-forma-23"/>
          <p:cNvSpPr/>
          <p:nvPr/>
        </p:nvSpPr>
        <p:spPr>
          <a:xfrm>
            <a:off x="853390" y="6411138"/>
            <a:ext cx="10484915" cy="5713"/>
          </a:xfrm>
          <a:prstGeom prst="rect">
            <a:avLst/>
          </a:prstGeom>
          <a:solidFill>
            <a:srgbClr val="DBD4C4"/>
          </a:solidFill>
          <a:ln/>
        </p:spPr>
        <p:txBody>
          <a:bodyPr/>
          <a:lstStyle/>
          <a:p>
            <a:endParaRPr lang="es-MX"/>
          </a:p>
        </p:txBody>
      </p:sp>
      <p:pic>
        <p:nvPicPr>
          <p:cNvPr id="25" name="s8-logo-24" descr="preencoded.png"/>
          <p:cNvPicPr>
            <a:picLocks noChangeAspect="1"/>
          </p:cNvPicPr>
          <p:nvPr/>
        </p:nvPicPr>
        <p:blipFill>
          <a:blip r:embed="rId6"/>
          <a:stretch>
            <a:fillRect/>
          </a:stretch>
        </p:blipFill>
        <p:spPr>
          <a:xfrm>
            <a:off x="853390" y="6465055"/>
            <a:ext cx="687800" cy="212455"/>
          </a:xfrm>
          <a:prstGeom prst="rect">
            <a:avLst/>
          </a:prstGeom>
        </p:spPr>
      </p:pic>
      <p:sp>
        <p:nvSpPr>
          <p:cNvPr id="26" name="s8-forma-25"/>
          <p:cNvSpPr/>
          <p:nvPr/>
        </p:nvSpPr>
        <p:spPr>
          <a:xfrm>
            <a:off x="1659380" y="6519865"/>
            <a:ext cx="3578704" cy="102835"/>
          </a:xfrm>
          <a:prstGeom prst="rect">
            <a:avLst/>
          </a:prstGeom>
          <a:ln/>
        </p:spPr>
        <p:txBody>
          <a:bodyPr/>
          <a:lstStyle/>
          <a:p>
            <a:endParaRPr lang="es-MX"/>
          </a:p>
        </p:txBody>
      </p:sp>
      <p:sp>
        <p:nvSpPr>
          <p:cNvPr id="27" name="s8-forma-26"/>
          <p:cNvSpPr/>
          <p:nvPr/>
        </p:nvSpPr>
        <p:spPr>
          <a:xfrm>
            <a:off x="1659380" y="6519865"/>
            <a:ext cx="5713" cy="102835"/>
          </a:xfrm>
          <a:prstGeom prst="rect">
            <a:avLst/>
          </a:prstGeom>
          <a:solidFill>
            <a:srgbClr val="C6BFAE"/>
          </a:solidFill>
          <a:ln/>
        </p:spPr>
        <p:txBody>
          <a:bodyPr/>
          <a:lstStyle/>
          <a:p>
            <a:endParaRPr lang="es-MX"/>
          </a:p>
        </p:txBody>
      </p:sp>
      <p:sp>
        <p:nvSpPr>
          <p:cNvPr id="28" name="s8-texto-27"/>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29" name="s8-texto-28"/>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8 / 22</a:t>
            </a:r>
            <a:endParaRPr lang="en-US" sz="745" dirty="0"/>
          </a:p>
        </p:txBody>
      </p:sp>
      <p:sp>
        <p:nvSpPr>
          <p:cNvPr id="30" name="s8-forma-29"/>
          <p:cNvSpPr/>
          <p:nvPr/>
        </p:nvSpPr>
        <p:spPr>
          <a:xfrm>
            <a:off x="0" y="0"/>
            <a:ext cx="4433344" cy="17139"/>
          </a:xfrm>
          <a:prstGeom prst="rect">
            <a:avLst/>
          </a:prstGeom>
          <a:solidFill>
            <a:srgbClr val="0033A0"/>
          </a:solidFill>
          <a:ln/>
        </p:spPr>
        <p:txBody>
          <a:bodyPr/>
          <a:lstStyle/>
          <a:p>
            <a:endParaRPr lang="es-MX"/>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8DC"/>
        </a:solidFill>
        <a:effectLst/>
      </p:bgPr>
    </p:bg>
    <p:spTree>
      <p:nvGrpSpPr>
        <p:cNvPr id="1" name=""/>
        <p:cNvGrpSpPr/>
        <p:nvPr/>
      </p:nvGrpSpPr>
      <p:grpSpPr>
        <a:xfrm>
          <a:off x="0" y="0"/>
          <a:ext cx="0" cy="0"/>
          <a:chOff x="0" y="0"/>
          <a:chExt cx="0" cy="0"/>
        </a:xfrm>
      </p:grpSpPr>
      <p:sp>
        <p:nvSpPr>
          <p:cNvPr id="2" name="s9-forma-1"/>
          <p:cNvSpPr/>
          <p:nvPr/>
        </p:nvSpPr>
        <p:spPr>
          <a:xfrm>
            <a:off x="853390" y="520961"/>
            <a:ext cx="10484915" cy="5713"/>
          </a:xfrm>
          <a:prstGeom prst="rect">
            <a:avLst/>
          </a:prstGeom>
          <a:solidFill>
            <a:srgbClr val="C6BFAE"/>
          </a:solidFill>
          <a:ln/>
        </p:spPr>
        <p:txBody>
          <a:bodyPr/>
          <a:lstStyle/>
          <a:p>
            <a:endParaRPr lang="es-MX"/>
          </a:p>
        </p:txBody>
      </p:sp>
      <p:sp>
        <p:nvSpPr>
          <p:cNvPr id="3" name="s9-forma-2"/>
          <p:cNvSpPr/>
          <p:nvPr/>
        </p:nvSpPr>
        <p:spPr>
          <a:xfrm>
            <a:off x="853390" y="331715"/>
            <a:ext cx="81411" cy="81411"/>
          </a:xfrm>
          <a:prstGeom prst="ellipse">
            <a:avLst/>
          </a:prstGeom>
          <a:solidFill>
            <a:srgbClr val="0033A0"/>
          </a:solidFill>
          <a:ln/>
        </p:spPr>
        <p:txBody>
          <a:bodyPr/>
          <a:lstStyle/>
          <a:p>
            <a:endParaRPr lang="es-MX"/>
          </a:p>
        </p:txBody>
      </p:sp>
      <p:sp>
        <p:nvSpPr>
          <p:cNvPr id="4" name="s9-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0:20 · 15 min</a:t>
            </a:r>
            <a:endParaRPr lang="en-US" sz="807" dirty="0"/>
          </a:p>
        </p:txBody>
      </p:sp>
      <p:sp>
        <p:nvSpPr>
          <p:cNvPr id="6" name="s9-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4.2 · DEFENSAS POR CAPAS</a:t>
            </a:r>
            <a:endParaRPr lang="en-US" sz="900" dirty="0"/>
          </a:p>
        </p:txBody>
      </p:sp>
      <p:sp>
        <p:nvSpPr>
          <p:cNvPr id="7" name="s9-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Siete capas que ya tiene tu fábrica</a:t>
            </a:r>
            <a:endParaRPr lang="en-US" sz="2879" dirty="0"/>
          </a:p>
        </p:txBody>
      </p:sp>
      <p:sp>
        <p:nvSpPr>
          <p:cNvPr id="8" name="s9-forma-7"/>
          <p:cNvSpPr/>
          <p:nvPr/>
        </p:nvSpPr>
        <p:spPr>
          <a:xfrm>
            <a:off x="1342572" y="2098929"/>
            <a:ext cx="9506551" cy="382776"/>
          </a:xfrm>
          <a:prstGeom prst="rect">
            <a:avLst/>
          </a:prstGeom>
          <a:ln/>
        </p:spPr>
        <p:txBody>
          <a:bodyPr/>
          <a:lstStyle/>
          <a:p>
            <a:endParaRPr lang="es-MX"/>
          </a:p>
        </p:txBody>
      </p:sp>
      <p:sp>
        <p:nvSpPr>
          <p:cNvPr id="9" name="s9-forma-8"/>
          <p:cNvSpPr/>
          <p:nvPr/>
        </p:nvSpPr>
        <p:spPr>
          <a:xfrm>
            <a:off x="1342572" y="2475992"/>
            <a:ext cx="9506551" cy="5713"/>
          </a:xfrm>
          <a:prstGeom prst="rect">
            <a:avLst/>
          </a:prstGeom>
          <a:solidFill>
            <a:srgbClr val="C6BFAE"/>
          </a:solidFill>
          <a:ln/>
        </p:spPr>
        <p:txBody>
          <a:bodyPr/>
          <a:lstStyle/>
          <a:p>
            <a:endParaRPr lang="es-MX"/>
          </a:p>
        </p:txBody>
      </p:sp>
      <p:sp>
        <p:nvSpPr>
          <p:cNvPr id="10" name="s9-texto-9"/>
          <p:cNvSpPr txBox="1"/>
          <p:nvPr/>
        </p:nvSpPr>
        <p:spPr>
          <a:xfrm>
            <a:off x="1342572" y="2178912"/>
            <a:ext cx="365637" cy="217097"/>
          </a:xfrm>
          <a:prstGeom prst="rect">
            <a:avLst/>
          </a:prstGeom>
          <a:noFill/>
          <a:ln/>
        </p:spPr>
        <p:txBody>
          <a:bodyPr wrap="none" lIns="0" tIns="0" rIns="0" bIns="0" rtlCol="0" anchor="t"/>
          <a:lstStyle/>
          <a:p>
            <a:pPr marL="0" indent="0" algn="l">
              <a:lnSpc>
                <a:spcPts val="1727"/>
              </a:lnSpc>
              <a:buNone/>
            </a:pPr>
            <a:r>
              <a:rPr lang="en-US" sz="1440" b="1" dirty="0">
                <a:solidFill>
                  <a:srgbClr val="984514"/>
                </a:solidFill>
                <a:latin typeface="Georgia" pitchFamily="34" charset="0"/>
                <a:ea typeface="Georgia" pitchFamily="34" charset="-122"/>
                <a:cs typeface="Georgia" pitchFamily="34" charset="-120"/>
              </a:rPr>
              <a:t>1</a:t>
            </a:r>
            <a:endParaRPr lang="en-US" sz="1440" dirty="0"/>
          </a:p>
        </p:txBody>
      </p:sp>
      <p:sp>
        <p:nvSpPr>
          <p:cNvPr id="11" name="s9-texto-10"/>
          <p:cNvSpPr txBox="1"/>
          <p:nvPr/>
        </p:nvSpPr>
        <p:spPr>
          <a:xfrm>
            <a:off x="1845322" y="2207477"/>
            <a:ext cx="254346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Mínima agencia</a:t>
            </a:r>
            <a:endParaRPr lang="en-US" sz="1260" dirty="0"/>
          </a:p>
        </p:txBody>
      </p:sp>
      <p:sp>
        <p:nvSpPr>
          <p:cNvPr id="12" name="s9-texto-11"/>
          <p:cNvSpPr txBox="1"/>
          <p:nvPr/>
        </p:nvSpPr>
        <p:spPr>
          <a:xfrm>
            <a:off x="4427631" y="2207477"/>
            <a:ext cx="3562830" cy="177105"/>
          </a:xfrm>
          <a:prstGeom prst="rect">
            <a:avLst/>
          </a:prstGeom>
          <a:noFill/>
          <a:ln/>
        </p:spPr>
        <p:txBody>
          <a:bodyPr wrap="none" lIns="0" tIns="0" rIns="0" bIns="0" rtlCol="0" anchor="t"/>
          <a:lstStyle/>
          <a:p>
            <a:pPr marL="0" indent="0" algn="l">
              <a:lnSpc>
                <a:spcPts val="1512"/>
              </a:lnSpc>
              <a:buNone/>
            </a:pPr>
            <a:r>
              <a:rPr lang="en-US" sz="1260" dirty="0">
                <a:solidFill>
                  <a:srgbClr val="585E6F"/>
                </a:solidFill>
                <a:latin typeface="Arial" pitchFamily="34" charset="0"/>
                <a:ea typeface="Arial" pitchFamily="34" charset="-122"/>
                <a:cs typeface="Arial" pitchFamily="34" charset="-120"/>
              </a:rPr>
              <a:t>Cada agente escribe solo los archivos de su rol</a:t>
            </a:r>
            <a:endParaRPr lang="en-US" sz="1260" dirty="0"/>
          </a:p>
        </p:txBody>
      </p:sp>
      <p:sp>
        <p:nvSpPr>
          <p:cNvPr id="13" name="s9-forma-12"/>
          <p:cNvSpPr/>
          <p:nvPr/>
        </p:nvSpPr>
        <p:spPr>
          <a:xfrm>
            <a:off x="1342572" y="2481705"/>
            <a:ext cx="9506551" cy="382776"/>
          </a:xfrm>
          <a:prstGeom prst="rect">
            <a:avLst/>
          </a:prstGeom>
          <a:ln/>
        </p:spPr>
        <p:txBody>
          <a:bodyPr/>
          <a:lstStyle/>
          <a:p>
            <a:endParaRPr lang="es-MX"/>
          </a:p>
        </p:txBody>
      </p:sp>
      <p:sp>
        <p:nvSpPr>
          <p:cNvPr id="14" name="s9-forma-13"/>
          <p:cNvSpPr/>
          <p:nvPr/>
        </p:nvSpPr>
        <p:spPr>
          <a:xfrm>
            <a:off x="1342572" y="2858768"/>
            <a:ext cx="9506551" cy="5713"/>
          </a:xfrm>
          <a:prstGeom prst="rect">
            <a:avLst/>
          </a:prstGeom>
          <a:solidFill>
            <a:srgbClr val="C6BFAE"/>
          </a:solidFill>
          <a:ln/>
        </p:spPr>
        <p:txBody>
          <a:bodyPr/>
          <a:lstStyle/>
          <a:p>
            <a:endParaRPr lang="es-MX"/>
          </a:p>
        </p:txBody>
      </p:sp>
      <p:sp>
        <p:nvSpPr>
          <p:cNvPr id="15" name="s9-texto-14"/>
          <p:cNvSpPr txBox="1"/>
          <p:nvPr/>
        </p:nvSpPr>
        <p:spPr>
          <a:xfrm>
            <a:off x="1342572" y="2561688"/>
            <a:ext cx="365637" cy="217097"/>
          </a:xfrm>
          <a:prstGeom prst="rect">
            <a:avLst/>
          </a:prstGeom>
          <a:noFill/>
          <a:ln/>
        </p:spPr>
        <p:txBody>
          <a:bodyPr wrap="none" lIns="0" tIns="0" rIns="0" bIns="0" rtlCol="0" anchor="t"/>
          <a:lstStyle/>
          <a:p>
            <a:pPr marL="0" indent="0" algn="l">
              <a:lnSpc>
                <a:spcPts val="1727"/>
              </a:lnSpc>
              <a:buNone/>
            </a:pPr>
            <a:r>
              <a:rPr lang="en-US" sz="1440" b="1" dirty="0">
                <a:solidFill>
                  <a:srgbClr val="984514"/>
                </a:solidFill>
                <a:latin typeface="Georgia" pitchFamily="34" charset="0"/>
                <a:ea typeface="Georgia" pitchFamily="34" charset="-122"/>
                <a:cs typeface="Georgia" pitchFamily="34" charset="-120"/>
              </a:rPr>
              <a:t>2</a:t>
            </a:r>
            <a:endParaRPr lang="en-US" sz="1440" dirty="0"/>
          </a:p>
        </p:txBody>
      </p:sp>
      <p:sp>
        <p:nvSpPr>
          <p:cNvPr id="16" name="s9-texto-15"/>
          <p:cNvSpPr txBox="1"/>
          <p:nvPr/>
        </p:nvSpPr>
        <p:spPr>
          <a:xfrm>
            <a:off x="1845322" y="2590253"/>
            <a:ext cx="254346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Aislamiento</a:t>
            </a:r>
            <a:endParaRPr lang="en-US" sz="1260" dirty="0"/>
          </a:p>
        </p:txBody>
      </p:sp>
      <p:sp>
        <p:nvSpPr>
          <p:cNvPr id="17" name="s9-texto-16"/>
          <p:cNvSpPr txBox="1"/>
          <p:nvPr/>
        </p:nvSpPr>
        <p:spPr>
          <a:xfrm>
            <a:off x="4427631" y="2590253"/>
            <a:ext cx="4496757" cy="177105"/>
          </a:xfrm>
          <a:prstGeom prst="rect">
            <a:avLst/>
          </a:prstGeom>
          <a:noFill/>
          <a:ln/>
        </p:spPr>
        <p:txBody>
          <a:bodyPr wrap="none" lIns="0" tIns="0" rIns="0" bIns="0" rtlCol="0" anchor="t"/>
          <a:lstStyle/>
          <a:p>
            <a:pPr marL="0" indent="0" algn="l">
              <a:lnSpc>
                <a:spcPts val="1512"/>
              </a:lnSpc>
              <a:buNone/>
            </a:pPr>
            <a:r>
              <a:rPr lang="en-US" sz="1260" dirty="0">
                <a:solidFill>
                  <a:srgbClr val="585E6F"/>
                </a:solidFill>
                <a:latin typeface="Arial" pitchFamily="34" charset="0"/>
                <a:ea typeface="Arial" pitchFamily="34" charset="-122"/>
                <a:cs typeface="Arial" pitchFamily="34" charset="-120"/>
              </a:rPr>
              <a:t>Los agentes trabajan en app/; la app corre en contenedores</a:t>
            </a:r>
            <a:endParaRPr lang="en-US" sz="1260" dirty="0"/>
          </a:p>
        </p:txBody>
      </p:sp>
      <p:sp>
        <p:nvSpPr>
          <p:cNvPr id="18" name="s9-forma-17"/>
          <p:cNvSpPr/>
          <p:nvPr/>
        </p:nvSpPr>
        <p:spPr>
          <a:xfrm>
            <a:off x="1342572" y="2864481"/>
            <a:ext cx="9506551" cy="382776"/>
          </a:xfrm>
          <a:prstGeom prst="rect">
            <a:avLst/>
          </a:prstGeom>
          <a:ln/>
        </p:spPr>
        <p:txBody>
          <a:bodyPr/>
          <a:lstStyle/>
          <a:p>
            <a:endParaRPr lang="es-MX"/>
          </a:p>
        </p:txBody>
      </p:sp>
      <p:sp>
        <p:nvSpPr>
          <p:cNvPr id="19" name="s9-forma-18"/>
          <p:cNvSpPr/>
          <p:nvPr/>
        </p:nvSpPr>
        <p:spPr>
          <a:xfrm>
            <a:off x="1342572" y="3241543"/>
            <a:ext cx="9506551" cy="5713"/>
          </a:xfrm>
          <a:prstGeom prst="rect">
            <a:avLst/>
          </a:prstGeom>
          <a:solidFill>
            <a:srgbClr val="C6BFAE"/>
          </a:solidFill>
          <a:ln/>
        </p:spPr>
        <p:txBody>
          <a:bodyPr/>
          <a:lstStyle/>
          <a:p>
            <a:endParaRPr lang="es-MX"/>
          </a:p>
        </p:txBody>
      </p:sp>
      <p:sp>
        <p:nvSpPr>
          <p:cNvPr id="20" name="s9-texto-19"/>
          <p:cNvSpPr txBox="1"/>
          <p:nvPr/>
        </p:nvSpPr>
        <p:spPr>
          <a:xfrm>
            <a:off x="1342572" y="2944464"/>
            <a:ext cx="365637" cy="217097"/>
          </a:xfrm>
          <a:prstGeom prst="rect">
            <a:avLst/>
          </a:prstGeom>
          <a:noFill/>
          <a:ln/>
        </p:spPr>
        <p:txBody>
          <a:bodyPr wrap="none" lIns="0" tIns="0" rIns="0" bIns="0" rtlCol="0" anchor="t"/>
          <a:lstStyle/>
          <a:p>
            <a:pPr marL="0" indent="0" algn="l">
              <a:lnSpc>
                <a:spcPts val="1727"/>
              </a:lnSpc>
              <a:buNone/>
            </a:pPr>
            <a:r>
              <a:rPr lang="en-US" sz="1440" b="1" dirty="0">
                <a:solidFill>
                  <a:srgbClr val="984514"/>
                </a:solidFill>
                <a:latin typeface="Georgia" pitchFamily="34" charset="0"/>
                <a:ea typeface="Georgia" pitchFamily="34" charset="-122"/>
                <a:cs typeface="Georgia" pitchFamily="34" charset="-120"/>
              </a:rPr>
              <a:t>3</a:t>
            </a:r>
            <a:endParaRPr lang="en-US" sz="1440" dirty="0"/>
          </a:p>
        </p:txBody>
      </p:sp>
      <p:sp>
        <p:nvSpPr>
          <p:cNvPr id="21" name="s9-texto-20"/>
          <p:cNvSpPr txBox="1"/>
          <p:nvPr/>
        </p:nvSpPr>
        <p:spPr>
          <a:xfrm>
            <a:off x="1845322" y="2973029"/>
            <a:ext cx="254346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Credenciales</a:t>
            </a:r>
            <a:endParaRPr lang="en-US" sz="1260" dirty="0"/>
          </a:p>
        </p:txBody>
      </p:sp>
      <p:sp>
        <p:nvSpPr>
          <p:cNvPr id="22" name="s9-texto-21"/>
          <p:cNvSpPr txBox="1"/>
          <p:nvPr/>
        </p:nvSpPr>
        <p:spPr>
          <a:xfrm>
            <a:off x="4427631" y="2973029"/>
            <a:ext cx="3525644" cy="177105"/>
          </a:xfrm>
          <a:prstGeom prst="rect">
            <a:avLst/>
          </a:prstGeom>
          <a:noFill/>
          <a:ln/>
        </p:spPr>
        <p:txBody>
          <a:bodyPr wrap="none" lIns="0" tIns="0" rIns="0" bIns="0" rtlCol="0" anchor="t"/>
          <a:lstStyle/>
          <a:p>
            <a:pPr marL="0" indent="0" algn="l">
              <a:lnSpc>
                <a:spcPts val="1512"/>
              </a:lnSpc>
              <a:buNone/>
            </a:pPr>
            <a:r>
              <a:rPr lang="en-US" sz="1260" dirty="0">
                <a:solidFill>
                  <a:srgbClr val="585E6F"/>
                </a:solidFill>
                <a:latin typeface="Arial" pitchFamily="34" charset="0"/>
                <a:ea typeface="Arial" pitchFamily="34" charset="-122"/>
                <a:cs typeface="Arial" pitchFamily="34" charset="-120"/>
              </a:rPr>
              <a:t>.env fuera de Git y bloqueado para los agentes</a:t>
            </a:r>
            <a:endParaRPr lang="en-US" sz="1260" dirty="0"/>
          </a:p>
        </p:txBody>
      </p:sp>
      <p:sp>
        <p:nvSpPr>
          <p:cNvPr id="23" name="s9-forma-22"/>
          <p:cNvSpPr/>
          <p:nvPr/>
        </p:nvSpPr>
        <p:spPr>
          <a:xfrm>
            <a:off x="1342572" y="3247256"/>
            <a:ext cx="9506551" cy="382776"/>
          </a:xfrm>
          <a:prstGeom prst="rect">
            <a:avLst/>
          </a:prstGeom>
          <a:ln/>
        </p:spPr>
        <p:txBody>
          <a:bodyPr/>
          <a:lstStyle/>
          <a:p>
            <a:endParaRPr lang="es-MX"/>
          </a:p>
        </p:txBody>
      </p:sp>
      <p:sp>
        <p:nvSpPr>
          <p:cNvPr id="24" name="s9-forma-23"/>
          <p:cNvSpPr/>
          <p:nvPr/>
        </p:nvSpPr>
        <p:spPr>
          <a:xfrm>
            <a:off x="1342572" y="3624319"/>
            <a:ext cx="9506551" cy="5713"/>
          </a:xfrm>
          <a:prstGeom prst="rect">
            <a:avLst/>
          </a:prstGeom>
          <a:solidFill>
            <a:srgbClr val="C6BFAE"/>
          </a:solidFill>
          <a:ln/>
        </p:spPr>
        <p:txBody>
          <a:bodyPr/>
          <a:lstStyle/>
          <a:p>
            <a:endParaRPr lang="es-MX"/>
          </a:p>
        </p:txBody>
      </p:sp>
      <p:sp>
        <p:nvSpPr>
          <p:cNvPr id="25" name="s9-texto-24"/>
          <p:cNvSpPr txBox="1"/>
          <p:nvPr/>
        </p:nvSpPr>
        <p:spPr>
          <a:xfrm>
            <a:off x="1342572" y="3327239"/>
            <a:ext cx="365637" cy="217097"/>
          </a:xfrm>
          <a:prstGeom prst="rect">
            <a:avLst/>
          </a:prstGeom>
          <a:noFill/>
          <a:ln/>
        </p:spPr>
        <p:txBody>
          <a:bodyPr wrap="none" lIns="0" tIns="0" rIns="0" bIns="0" rtlCol="0" anchor="t"/>
          <a:lstStyle/>
          <a:p>
            <a:pPr marL="0" indent="0" algn="l">
              <a:lnSpc>
                <a:spcPts val="1727"/>
              </a:lnSpc>
              <a:buNone/>
            </a:pPr>
            <a:r>
              <a:rPr lang="en-US" sz="1440" b="1" dirty="0">
                <a:solidFill>
                  <a:srgbClr val="984514"/>
                </a:solidFill>
                <a:latin typeface="Georgia" pitchFamily="34" charset="0"/>
                <a:ea typeface="Georgia" pitchFamily="34" charset="-122"/>
                <a:cs typeface="Georgia" pitchFamily="34" charset="-120"/>
              </a:rPr>
              <a:t>4</a:t>
            </a:r>
            <a:endParaRPr lang="en-US" sz="1440" dirty="0"/>
          </a:p>
        </p:txBody>
      </p:sp>
      <p:sp>
        <p:nvSpPr>
          <p:cNvPr id="26" name="s9-texto-25"/>
          <p:cNvSpPr txBox="1"/>
          <p:nvPr/>
        </p:nvSpPr>
        <p:spPr>
          <a:xfrm>
            <a:off x="1845322" y="3355805"/>
            <a:ext cx="254346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Guardrails</a:t>
            </a:r>
            <a:endParaRPr lang="en-US" sz="1260" dirty="0"/>
          </a:p>
        </p:txBody>
      </p:sp>
      <p:sp>
        <p:nvSpPr>
          <p:cNvPr id="27" name="s9-texto-26"/>
          <p:cNvSpPr txBox="1"/>
          <p:nvPr/>
        </p:nvSpPr>
        <p:spPr>
          <a:xfrm>
            <a:off x="4427631" y="3355805"/>
            <a:ext cx="3788979" cy="177105"/>
          </a:xfrm>
          <a:prstGeom prst="rect">
            <a:avLst/>
          </a:prstGeom>
          <a:noFill/>
          <a:ln/>
        </p:spPr>
        <p:txBody>
          <a:bodyPr wrap="none" lIns="0" tIns="0" rIns="0" bIns="0" rtlCol="0" anchor="t"/>
          <a:lstStyle/>
          <a:p>
            <a:pPr marL="0" indent="0" algn="l">
              <a:lnSpc>
                <a:spcPts val="1512"/>
              </a:lnSpc>
              <a:buNone/>
            </a:pPr>
            <a:r>
              <a:rPr lang="en-US" sz="1260" dirty="0">
                <a:solidFill>
                  <a:srgbClr val="585E6F"/>
                </a:solidFill>
                <a:latin typeface="Arial" pitchFamily="34" charset="0"/>
                <a:ea typeface="Arial" pitchFamily="34" charset="-122"/>
                <a:cs typeface="Arial" pitchFamily="34" charset="-120"/>
              </a:rPr>
              <a:t>Filtro de la historia y validadores de cada artefacto</a:t>
            </a:r>
            <a:endParaRPr lang="en-US" sz="1260" dirty="0"/>
          </a:p>
        </p:txBody>
      </p:sp>
      <p:sp>
        <p:nvSpPr>
          <p:cNvPr id="28" name="s9-forma-27"/>
          <p:cNvSpPr/>
          <p:nvPr/>
        </p:nvSpPr>
        <p:spPr>
          <a:xfrm>
            <a:off x="1342572" y="3630032"/>
            <a:ext cx="9506551" cy="382776"/>
          </a:xfrm>
          <a:prstGeom prst="rect">
            <a:avLst/>
          </a:prstGeom>
          <a:ln/>
        </p:spPr>
        <p:txBody>
          <a:bodyPr/>
          <a:lstStyle/>
          <a:p>
            <a:endParaRPr lang="es-MX"/>
          </a:p>
        </p:txBody>
      </p:sp>
      <p:sp>
        <p:nvSpPr>
          <p:cNvPr id="29" name="s9-forma-28"/>
          <p:cNvSpPr/>
          <p:nvPr/>
        </p:nvSpPr>
        <p:spPr>
          <a:xfrm>
            <a:off x="1342572" y="4007095"/>
            <a:ext cx="9506551" cy="5713"/>
          </a:xfrm>
          <a:prstGeom prst="rect">
            <a:avLst/>
          </a:prstGeom>
          <a:solidFill>
            <a:srgbClr val="C6BFAE"/>
          </a:solidFill>
          <a:ln/>
        </p:spPr>
        <p:txBody>
          <a:bodyPr/>
          <a:lstStyle/>
          <a:p>
            <a:endParaRPr lang="es-MX"/>
          </a:p>
        </p:txBody>
      </p:sp>
      <p:sp>
        <p:nvSpPr>
          <p:cNvPr id="30" name="s9-texto-29"/>
          <p:cNvSpPr txBox="1"/>
          <p:nvPr/>
        </p:nvSpPr>
        <p:spPr>
          <a:xfrm>
            <a:off x="1342572" y="3710015"/>
            <a:ext cx="365637" cy="217097"/>
          </a:xfrm>
          <a:prstGeom prst="rect">
            <a:avLst/>
          </a:prstGeom>
          <a:noFill/>
          <a:ln/>
        </p:spPr>
        <p:txBody>
          <a:bodyPr wrap="none" lIns="0" tIns="0" rIns="0" bIns="0" rtlCol="0" anchor="t"/>
          <a:lstStyle/>
          <a:p>
            <a:pPr marL="0" indent="0" algn="l">
              <a:lnSpc>
                <a:spcPts val="1727"/>
              </a:lnSpc>
              <a:buNone/>
            </a:pPr>
            <a:r>
              <a:rPr lang="en-US" sz="1440" b="1" dirty="0">
                <a:solidFill>
                  <a:srgbClr val="984514"/>
                </a:solidFill>
                <a:latin typeface="Georgia" pitchFamily="34" charset="0"/>
                <a:ea typeface="Georgia" pitchFamily="34" charset="-122"/>
                <a:cs typeface="Georgia" pitchFamily="34" charset="-120"/>
              </a:rPr>
              <a:t>5</a:t>
            </a:r>
            <a:endParaRPr lang="en-US" sz="1440" dirty="0"/>
          </a:p>
        </p:txBody>
      </p:sp>
      <p:sp>
        <p:nvSpPr>
          <p:cNvPr id="31" name="s9-texto-30"/>
          <p:cNvSpPr txBox="1"/>
          <p:nvPr/>
        </p:nvSpPr>
        <p:spPr>
          <a:xfrm>
            <a:off x="1845322" y="3738581"/>
            <a:ext cx="254346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Humano en el bucle</a:t>
            </a:r>
            <a:endParaRPr lang="en-US" sz="1260" dirty="0"/>
          </a:p>
        </p:txBody>
      </p:sp>
      <p:sp>
        <p:nvSpPr>
          <p:cNvPr id="32" name="s9-texto-31"/>
          <p:cNvSpPr txBox="1"/>
          <p:nvPr/>
        </p:nvSpPr>
        <p:spPr>
          <a:xfrm>
            <a:off x="4427631" y="3738581"/>
            <a:ext cx="3582039" cy="177105"/>
          </a:xfrm>
          <a:prstGeom prst="rect">
            <a:avLst/>
          </a:prstGeom>
          <a:noFill/>
          <a:ln/>
        </p:spPr>
        <p:txBody>
          <a:bodyPr wrap="none" lIns="0" tIns="0" rIns="0" bIns="0" rtlCol="0" anchor="t"/>
          <a:lstStyle/>
          <a:p>
            <a:pPr marL="0" indent="0" algn="l">
              <a:lnSpc>
                <a:spcPts val="1512"/>
              </a:lnSpc>
              <a:buNone/>
            </a:pPr>
            <a:r>
              <a:rPr lang="en-US" sz="1260" dirty="0">
                <a:solidFill>
                  <a:srgbClr val="585E6F"/>
                </a:solidFill>
                <a:latin typeface="Arial" pitchFamily="34" charset="0"/>
                <a:ea typeface="Arial" pitchFamily="34" charset="-122"/>
                <a:cs typeface="Arial" pitchFamily="34" charset="-120"/>
              </a:rPr>
              <a:t>Aprobación del plan y de las preguntas abiertas</a:t>
            </a:r>
            <a:endParaRPr lang="en-US" sz="1260" dirty="0"/>
          </a:p>
        </p:txBody>
      </p:sp>
      <p:sp>
        <p:nvSpPr>
          <p:cNvPr id="33" name="s9-forma-32"/>
          <p:cNvSpPr/>
          <p:nvPr/>
        </p:nvSpPr>
        <p:spPr>
          <a:xfrm>
            <a:off x="1342572" y="4012808"/>
            <a:ext cx="9506551" cy="382776"/>
          </a:xfrm>
          <a:prstGeom prst="rect">
            <a:avLst/>
          </a:prstGeom>
          <a:ln/>
        </p:spPr>
        <p:txBody>
          <a:bodyPr/>
          <a:lstStyle/>
          <a:p>
            <a:endParaRPr lang="es-MX"/>
          </a:p>
        </p:txBody>
      </p:sp>
      <p:sp>
        <p:nvSpPr>
          <p:cNvPr id="34" name="s9-forma-33"/>
          <p:cNvSpPr/>
          <p:nvPr/>
        </p:nvSpPr>
        <p:spPr>
          <a:xfrm>
            <a:off x="1342572" y="4389871"/>
            <a:ext cx="9506551" cy="5713"/>
          </a:xfrm>
          <a:prstGeom prst="rect">
            <a:avLst/>
          </a:prstGeom>
          <a:solidFill>
            <a:srgbClr val="C6BFAE"/>
          </a:solidFill>
          <a:ln/>
        </p:spPr>
        <p:txBody>
          <a:bodyPr/>
          <a:lstStyle/>
          <a:p>
            <a:endParaRPr lang="es-MX"/>
          </a:p>
        </p:txBody>
      </p:sp>
      <p:sp>
        <p:nvSpPr>
          <p:cNvPr id="35" name="s9-texto-34"/>
          <p:cNvSpPr txBox="1"/>
          <p:nvPr/>
        </p:nvSpPr>
        <p:spPr>
          <a:xfrm>
            <a:off x="1342572" y="4092791"/>
            <a:ext cx="365637" cy="217097"/>
          </a:xfrm>
          <a:prstGeom prst="rect">
            <a:avLst/>
          </a:prstGeom>
          <a:noFill/>
          <a:ln/>
        </p:spPr>
        <p:txBody>
          <a:bodyPr wrap="none" lIns="0" tIns="0" rIns="0" bIns="0" rtlCol="0" anchor="t"/>
          <a:lstStyle/>
          <a:p>
            <a:pPr marL="0" indent="0" algn="l">
              <a:lnSpc>
                <a:spcPts val="1727"/>
              </a:lnSpc>
              <a:buNone/>
            </a:pPr>
            <a:r>
              <a:rPr lang="en-US" sz="1440" b="1" dirty="0">
                <a:solidFill>
                  <a:srgbClr val="984514"/>
                </a:solidFill>
                <a:latin typeface="Georgia" pitchFamily="34" charset="0"/>
                <a:ea typeface="Georgia" pitchFamily="34" charset="-122"/>
                <a:cs typeface="Georgia" pitchFamily="34" charset="-120"/>
              </a:rPr>
              <a:t>6</a:t>
            </a:r>
            <a:endParaRPr lang="en-US" sz="1440" dirty="0"/>
          </a:p>
        </p:txBody>
      </p:sp>
      <p:sp>
        <p:nvSpPr>
          <p:cNvPr id="36" name="s9-texto-35"/>
          <p:cNvSpPr txBox="1"/>
          <p:nvPr/>
        </p:nvSpPr>
        <p:spPr>
          <a:xfrm>
            <a:off x="1845322" y="4121356"/>
            <a:ext cx="254346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Auditoría</a:t>
            </a:r>
            <a:endParaRPr lang="en-US" sz="1260" dirty="0"/>
          </a:p>
        </p:txBody>
      </p:sp>
      <p:sp>
        <p:nvSpPr>
          <p:cNvPr id="37" name="s9-texto-36"/>
          <p:cNvSpPr txBox="1"/>
          <p:nvPr/>
        </p:nvSpPr>
        <p:spPr>
          <a:xfrm>
            <a:off x="4427631" y="4121356"/>
            <a:ext cx="3987403" cy="177105"/>
          </a:xfrm>
          <a:prstGeom prst="rect">
            <a:avLst/>
          </a:prstGeom>
          <a:noFill/>
          <a:ln/>
        </p:spPr>
        <p:txBody>
          <a:bodyPr wrap="none" lIns="0" tIns="0" rIns="0" bIns="0" rtlCol="0" anchor="t"/>
          <a:lstStyle/>
          <a:p>
            <a:pPr marL="0" indent="0" algn="l">
              <a:lnSpc>
                <a:spcPts val="1512"/>
              </a:lnSpc>
              <a:buNone/>
            </a:pPr>
            <a:r>
              <a:rPr lang="en-US" sz="1260" dirty="0">
                <a:solidFill>
                  <a:srgbClr val="585E6F"/>
                </a:solidFill>
                <a:latin typeface="Arial" pitchFamily="34" charset="0"/>
                <a:ea typeface="Arial" pitchFamily="34" charset="-122"/>
                <a:cs typeface="Arial" pitchFamily="34" charset="-120"/>
              </a:rPr>
              <a:t>Cada llamada a herramienta queda en auditoria.jsonl</a:t>
            </a:r>
            <a:endParaRPr lang="en-US" sz="1260" dirty="0"/>
          </a:p>
        </p:txBody>
      </p:sp>
      <p:sp>
        <p:nvSpPr>
          <p:cNvPr id="38" name="s9-texto-37"/>
          <p:cNvSpPr txBox="1"/>
          <p:nvPr/>
        </p:nvSpPr>
        <p:spPr>
          <a:xfrm>
            <a:off x="1342572" y="4475567"/>
            <a:ext cx="365637" cy="217097"/>
          </a:xfrm>
          <a:prstGeom prst="rect">
            <a:avLst/>
          </a:prstGeom>
          <a:noFill/>
          <a:ln/>
        </p:spPr>
        <p:txBody>
          <a:bodyPr wrap="none" lIns="0" tIns="0" rIns="0" bIns="0" rtlCol="0" anchor="t"/>
          <a:lstStyle/>
          <a:p>
            <a:pPr marL="0" indent="0" algn="l">
              <a:lnSpc>
                <a:spcPts val="1727"/>
              </a:lnSpc>
              <a:buNone/>
            </a:pPr>
            <a:r>
              <a:rPr lang="en-US" sz="1440" b="1" dirty="0">
                <a:solidFill>
                  <a:srgbClr val="984514"/>
                </a:solidFill>
                <a:latin typeface="Georgia" pitchFamily="34" charset="0"/>
                <a:ea typeface="Georgia" pitchFamily="34" charset="-122"/>
                <a:cs typeface="Georgia" pitchFamily="34" charset="-120"/>
              </a:rPr>
              <a:t>7</a:t>
            </a:r>
            <a:endParaRPr lang="en-US" sz="1440" dirty="0"/>
          </a:p>
        </p:txBody>
      </p:sp>
      <p:sp>
        <p:nvSpPr>
          <p:cNvPr id="39" name="s9-texto-38"/>
          <p:cNvSpPr txBox="1"/>
          <p:nvPr/>
        </p:nvSpPr>
        <p:spPr>
          <a:xfrm>
            <a:off x="1845322" y="4504132"/>
            <a:ext cx="2543460" cy="177105"/>
          </a:xfrm>
          <a:prstGeom prst="rect">
            <a:avLst/>
          </a:prstGeom>
          <a:noFill/>
          <a:ln/>
        </p:spPr>
        <p:txBody>
          <a:bodyPr wrap="none" lIns="0" tIns="0" rIns="0" bIns="0" rtlCol="0" anchor="t"/>
          <a:lstStyle/>
          <a:p>
            <a:pPr marL="0" indent="0" algn="l">
              <a:lnSpc>
                <a:spcPts val="1512"/>
              </a:lnSpc>
              <a:buNone/>
            </a:pPr>
            <a:r>
              <a:rPr lang="en-US" sz="1260" b="1" dirty="0">
                <a:solidFill>
                  <a:srgbClr val="16181D"/>
                </a:solidFill>
                <a:latin typeface="Arial" pitchFamily="34" charset="0"/>
                <a:ea typeface="Arial" pitchFamily="34" charset="-122"/>
                <a:cs typeface="Arial" pitchFamily="34" charset="-120"/>
              </a:rPr>
              <a:t>Límites</a:t>
            </a:r>
            <a:endParaRPr lang="en-US" sz="1260" dirty="0"/>
          </a:p>
        </p:txBody>
      </p:sp>
      <p:sp>
        <p:nvSpPr>
          <p:cNvPr id="40" name="s9-texto-39"/>
          <p:cNvSpPr txBox="1"/>
          <p:nvPr/>
        </p:nvSpPr>
        <p:spPr>
          <a:xfrm>
            <a:off x="4427631" y="4504132"/>
            <a:ext cx="3157561" cy="177105"/>
          </a:xfrm>
          <a:prstGeom prst="rect">
            <a:avLst/>
          </a:prstGeom>
          <a:noFill/>
          <a:ln/>
        </p:spPr>
        <p:txBody>
          <a:bodyPr wrap="none" lIns="0" tIns="0" rIns="0" bIns="0" rtlCol="0" anchor="t"/>
          <a:lstStyle/>
          <a:p>
            <a:pPr marL="0" indent="0" algn="l">
              <a:lnSpc>
                <a:spcPts val="1512"/>
              </a:lnSpc>
              <a:buNone/>
            </a:pPr>
            <a:r>
              <a:rPr lang="en-US" sz="1260" dirty="0">
                <a:solidFill>
                  <a:srgbClr val="585E6F"/>
                </a:solidFill>
                <a:latin typeface="Arial" pitchFamily="34" charset="0"/>
                <a:ea typeface="Arial" pitchFamily="34" charset="-122"/>
                <a:cs typeface="Arial" pitchFamily="34" charset="-120"/>
              </a:rPr>
              <a:t>Pasos, intentos, ciclos y max_budget_usd</a:t>
            </a:r>
            <a:endParaRPr lang="en-US" sz="1260" dirty="0"/>
          </a:p>
        </p:txBody>
      </p:sp>
      <p:sp>
        <p:nvSpPr>
          <p:cNvPr id="41" name="s9-texto-40"/>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Las capas 1, 3 y 6 viven en seguridad/hooks.py · DEFENSAS=0 apaga las de seguridad, solo en clase</a:t>
            </a:r>
            <a:endParaRPr lang="en-US" sz="1080" dirty="0"/>
          </a:p>
        </p:txBody>
      </p:sp>
      <p:sp>
        <p:nvSpPr>
          <p:cNvPr id="42" name="s9-forma-41"/>
          <p:cNvSpPr/>
          <p:nvPr/>
        </p:nvSpPr>
        <p:spPr>
          <a:xfrm>
            <a:off x="853390" y="6411138"/>
            <a:ext cx="10484915" cy="5713"/>
          </a:xfrm>
          <a:prstGeom prst="rect">
            <a:avLst/>
          </a:prstGeom>
          <a:solidFill>
            <a:srgbClr val="DBD4C4"/>
          </a:solidFill>
          <a:ln/>
        </p:spPr>
        <p:txBody>
          <a:bodyPr/>
          <a:lstStyle/>
          <a:p>
            <a:endParaRPr lang="es-MX"/>
          </a:p>
        </p:txBody>
      </p:sp>
      <p:pic>
        <p:nvPicPr>
          <p:cNvPr id="43" name="s9-logo-42" descr="preencoded.png"/>
          <p:cNvPicPr>
            <a:picLocks noChangeAspect="1"/>
          </p:cNvPicPr>
          <p:nvPr/>
        </p:nvPicPr>
        <p:blipFill>
          <a:blip r:embed="rId3"/>
          <a:stretch>
            <a:fillRect/>
          </a:stretch>
        </p:blipFill>
        <p:spPr>
          <a:xfrm>
            <a:off x="853390" y="6465055"/>
            <a:ext cx="687800" cy="212455"/>
          </a:xfrm>
          <a:prstGeom prst="rect">
            <a:avLst/>
          </a:prstGeom>
        </p:spPr>
      </p:pic>
      <p:sp>
        <p:nvSpPr>
          <p:cNvPr id="44" name="s9-forma-43"/>
          <p:cNvSpPr/>
          <p:nvPr/>
        </p:nvSpPr>
        <p:spPr>
          <a:xfrm>
            <a:off x="1659380" y="6519865"/>
            <a:ext cx="3578704" cy="102835"/>
          </a:xfrm>
          <a:prstGeom prst="rect">
            <a:avLst/>
          </a:prstGeom>
          <a:ln/>
        </p:spPr>
        <p:txBody>
          <a:bodyPr/>
          <a:lstStyle/>
          <a:p>
            <a:endParaRPr lang="es-MX"/>
          </a:p>
        </p:txBody>
      </p:sp>
      <p:sp>
        <p:nvSpPr>
          <p:cNvPr id="45" name="s9-forma-44"/>
          <p:cNvSpPr/>
          <p:nvPr/>
        </p:nvSpPr>
        <p:spPr>
          <a:xfrm>
            <a:off x="1659380" y="6519865"/>
            <a:ext cx="5713" cy="102835"/>
          </a:xfrm>
          <a:prstGeom prst="rect">
            <a:avLst/>
          </a:prstGeom>
          <a:solidFill>
            <a:srgbClr val="C6BFAE"/>
          </a:solidFill>
          <a:ln/>
        </p:spPr>
        <p:txBody>
          <a:bodyPr/>
          <a:lstStyle/>
          <a:p>
            <a:endParaRPr lang="es-MX"/>
          </a:p>
        </p:txBody>
      </p:sp>
      <p:sp>
        <p:nvSpPr>
          <p:cNvPr id="46" name="s9-texto-45"/>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47" name="s9-texto-46"/>
          <p:cNvSpPr txBox="1"/>
          <p:nvPr/>
        </p:nvSpPr>
        <p:spPr>
          <a:xfrm>
            <a:off x="10941157" y="6517008"/>
            <a:ext cx="442852"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9 / 22</a:t>
            </a:r>
            <a:endParaRPr lang="en-US" sz="745" dirty="0"/>
          </a:p>
        </p:txBody>
      </p:sp>
      <p:sp>
        <p:nvSpPr>
          <p:cNvPr id="48" name="s9-forma-47"/>
          <p:cNvSpPr/>
          <p:nvPr/>
        </p:nvSpPr>
        <p:spPr>
          <a:xfrm>
            <a:off x="0" y="0"/>
            <a:ext cx="4987512" cy="17139"/>
          </a:xfrm>
          <a:prstGeom prst="rect">
            <a:avLst/>
          </a:prstGeom>
          <a:solidFill>
            <a:srgbClr val="0033A0"/>
          </a:solidFill>
          <a:ln/>
        </p:spPr>
        <p:txBody>
          <a:bodyPr/>
          <a:lstStyle/>
          <a:p>
            <a:endParaRPr lang="es-MX"/>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8DC"/>
        </a:solidFill>
        <a:effectLst/>
      </p:bgPr>
    </p:bg>
    <p:spTree>
      <p:nvGrpSpPr>
        <p:cNvPr id="1" name=""/>
        <p:cNvGrpSpPr/>
        <p:nvPr/>
      </p:nvGrpSpPr>
      <p:grpSpPr>
        <a:xfrm>
          <a:off x="0" y="0"/>
          <a:ext cx="0" cy="0"/>
          <a:chOff x="0" y="0"/>
          <a:chExt cx="0" cy="0"/>
        </a:xfrm>
      </p:grpSpPr>
      <p:sp>
        <p:nvSpPr>
          <p:cNvPr id="2" name="s10-forma-1"/>
          <p:cNvSpPr/>
          <p:nvPr/>
        </p:nvSpPr>
        <p:spPr>
          <a:xfrm>
            <a:off x="853390" y="520961"/>
            <a:ext cx="10484915" cy="5713"/>
          </a:xfrm>
          <a:prstGeom prst="rect">
            <a:avLst/>
          </a:prstGeom>
          <a:solidFill>
            <a:srgbClr val="C6BFAE"/>
          </a:solidFill>
          <a:ln/>
        </p:spPr>
        <p:txBody>
          <a:bodyPr/>
          <a:lstStyle/>
          <a:p>
            <a:endParaRPr lang="es-MX"/>
          </a:p>
        </p:txBody>
      </p:sp>
      <p:sp>
        <p:nvSpPr>
          <p:cNvPr id="3" name="s10-forma-2"/>
          <p:cNvSpPr/>
          <p:nvPr/>
        </p:nvSpPr>
        <p:spPr>
          <a:xfrm>
            <a:off x="853390" y="331715"/>
            <a:ext cx="81411" cy="81411"/>
          </a:xfrm>
          <a:prstGeom prst="ellipse">
            <a:avLst/>
          </a:prstGeom>
          <a:solidFill>
            <a:srgbClr val="0033A0"/>
          </a:solidFill>
          <a:ln/>
        </p:spPr>
        <p:txBody>
          <a:bodyPr/>
          <a:lstStyle/>
          <a:p>
            <a:endParaRPr lang="es-MX"/>
          </a:p>
        </p:txBody>
      </p:sp>
      <p:sp>
        <p:nvSpPr>
          <p:cNvPr id="4" name="s10-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0-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0:20 · 15 min</a:t>
            </a:r>
            <a:endParaRPr lang="en-US" sz="807" dirty="0"/>
          </a:p>
        </p:txBody>
      </p:sp>
      <p:sp>
        <p:nvSpPr>
          <p:cNvPr id="6" name="s10-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SEGURIDAD/HOOKS.PY</a:t>
            </a:r>
            <a:endParaRPr lang="en-US" sz="900" dirty="0"/>
          </a:p>
        </p:txBody>
      </p:sp>
      <p:sp>
        <p:nvSpPr>
          <p:cNvPr id="7" name="s10-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Un hook bloquea antes de actuar</a:t>
            </a:r>
            <a:endParaRPr lang="en-US" sz="2879" dirty="0"/>
          </a:p>
        </p:txBody>
      </p:sp>
      <p:sp>
        <p:nvSpPr>
          <p:cNvPr id="8" name="s10-forma-7"/>
          <p:cNvSpPr/>
          <p:nvPr/>
        </p:nvSpPr>
        <p:spPr>
          <a:xfrm>
            <a:off x="1342572" y="2098929"/>
            <a:ext cx="9506551" cy="3050780"/>
          </a:xfrm>
          <a:prstGeom prst="rect">
            <a:avLst/>
          </a:prstGeom>
          <a:solidFill>
            <a:srgbClr val="E8E2D5"/>
          </a:solidFill>
          <a:ln/>
        </p:spPr>
        <p:txBody>
          <a:bodyPr/>
          <a:lstStyle/>
          <a:p>
            <a:endParaRPr lang="es-MX"/>
          </a:p>
        </p:txBody>
      </p:sp>
      <p:sp>
        <p:nvSpPr>
          <p:cNvPr id="9" name="s10-forma-8"/>
          <p:cNvSpPr/>
          <p:nvPr/>
        </p:nvSpPr>
        <p:spPr>
          <a:xfrm>
            <a:off x="1342572" y="2098929"/>
            <a:ext cx="9506551" cy="5713"/>
          </a:xfrm>
          <a:prstGeom prst="rect">
            <a:avLst/>
          </a:prstGeom>
          <a:solidFill>
            <a:srgbClr val="DBD4C4"/>
          </a:solidFill>
          <a:ln/>
        </p:spPr>
        <p:txBody>
          <a:bodyPr/>
          <a:lstStyle/>
          <a:p>
            <a:endParaRPr lang="es-MX"/>
          </a:p>
        </p:txBody>
      </p:sp>
      <p:sp>
        <p:nvSpPr>
          <p:cNvPr id="10" name="s10-forma-9"/>
          <p:cNvSpPr/>
          <p:nvPr/>
        </p:nvSpPr>
        <p:spPr>
          <a:xfrm>
            <a:off x="1342572" y="5143996"/>
            <a:ext cx="9506551" cy="5713"/>
          </a:xfrm>
          <a:prstGeom prst="rect">
            <a:avLst/>
          </a:prstGeom>
          <a:solidFill>
            <a:srgbClr val="DBD4C4"/>
          </a:solidFill>
          <a:ln/>
        </p:spPr>
        <p:txBody>
          <a:bodyPr/>
          <a:lstStyle/>
          <a:p>
            <a:endParaRPr lang="es-MX"/>
          </a:p>
        </p:txBody>
      </p:sp>
      <p:sp>
        <p:nvSpPr>
          <p:cNvPr id="11" name="s10-forma-10"/>
          <p:cNvSpPr/>
          <p:nvPr/>
        </p:nvSpPr>
        <p:spPr>
          <a:xfrm>
            <a:off x="1342572" y="2098929"/>
            <a:ext cx="17139" cy="3050780"/>
          </a:xfrm>
          <a:prstGeom prst="rect">
            <a:avLst/>
          </a:prstGeom>
          <a:solidFill>
            <a:srgbClr val="C6BFAE"/>
          </a:solidFill>
          <a:ln/>
        </p:spPr>
        <p:txBody>
          <a:bodyPr/>
          <a:lstStyle/>
          <a:p>
            <a:endParaRPr lang="es-MX"/>
          </a:p>
        </p:txBody>
      </p:sp>
      <p:sp>
        <p:nvSpPr>
          <p:cNvPr id="12" name="s10-forma-11"/>
          <p:cNvSpPr/>
          <p:nvPr/>
        </p:nvSpPr>
        <p:spPr>
          <a:xfrm>
            <a:off x="10843410" y="2098929"/>
            <a:ext cx="5713" cy="3050780"/>
          </a:xfrm>
          <a:prstGeom prst="rect">
            <a:avLst/>
          </a:prstGeom>
          <a:solidFill>
            <a:srgbClr val="DBD4C4"/>
          </a:solidFill>
          <a:ln/>
        </p:spPr>
        <p:txBody>
          <a:bodyPr/>
          <a:lstStyle/>
          <a:p>
            <a:endParaRPr lang="es-MX"/>
          </a:p>
        </p:txBody>
      </p:sp>
      <p:sp>
        <p:nvSpPr>
          <p:cNvPr id="13" name="s10-texto-12"/>
          <p:cNvSpPr txBox="1"/>
          <p:nvPr/>
        </p:nvSpPr>
        <p:spPr>
          <a:xfrm>
            <a:off x="1588234" y="2310313"/>
            <a:ext cx="9568253" cy="2622300"/>
          </a:xfrm>
          <a:prstGeom prst="rect">
            <a:avLst/>
          </a:prstGeom>
          <a:noFill/>
          <a:ln/>
        </p:spPr>
        <p:txBody>
          <a:bodyPr wrap="square" lIns="0" tIns="0" rIns="0" bIns="0" rtlCol="0" anchor="t"/>
          <a:lstStyle/>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def comandos_permitidos(base: Path, programas: set[str]):</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async def hook(input_data, tool_use_id, context):</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comando = input_data["tool_input"].get("command", "")</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if "`" in comando or "$(" in comando: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return _denegar(input_data, "Sustitución de comandos no permitida")</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if any(p in comando.lower() for p in PALABRAS_SECRETAS):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return _denegar(input_data, "El comando menciona secretos")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for tramo in re.split(r"&amp;&amp;|\|\||;|\|", comando):</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partes = tramo.strip().split()</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if partes and partes[0] not in programas:</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return _denegar(input_data, f"Programa no permitido: {partes[0]}")</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return {}</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    return hook</a:t>
            </a:r>
            <a:endParaRPr lang="en-US" sz="1080" dirty="0"/>
          </a:p>
        </p:txBody>
      </p:sp>
      <p:sp>
        <p:nvSpPr>
          <p:cNvPr id="14" name="s10-texto-13"/>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Pregunta: ¿por qué esto es más confiable que una frase en el prompt?</a:t>
            </a:r>
            <a:endParaRPr lang="en-US" sz="1080" dirty="0"/>
          </a:p>
        </p:txBody>
      </p:sp>
      <p:sp>
        <p:nvSpPr>
          <p:cNvPr id="15" name="s10-forma-14"/>
          <p:cNvSpPr/>
          <p:nvPr/>
        </p:nvSpPr>
        <p:spPr>
          <a:xfrm>
            <a:off x="853390" y="6411138"/>
            <a:ext cx="10484915" cy="5713"/>
          </a:xfrm>
          <a:prstGeom prst="rect">
            <a:avLst/>
          </a:prstGeom>
          <a:solidFill>
            <a:srgbClr val="DBD4C4"/>
          </a:solidFill>
          <a:ln/>
        </p:spPr>
        <p:txBody>
          <a:bodyPr/>
          <a:lstStyle/>
          <a:p>
            <a:endParaRPr lang="es-MX"/>
          </a:p>
        </p:txBody>
      </p:sp>
      <p:pic>
        <p:nvPicPr>
          <p:cNvPr id="16" name="s10-logo-15" descr="preencoded.png"/>
          <p:cNvPicPr>
            <a:picLocks noChangeAspect="1"/>
          </p:cNvPicPr>
          <p:nvPr/>
        </p:nvPicPr>
        <p:blipFill>
          <a:blip r:embed="rId3"/>
          <a:stretch>
            <a:fillRect/>
          </a:stretch>
        </p:blipFill>
        <p:spPr>
          <a:xfrm>
            <a:off x="853390" y="6465055"/>
            <a:ext cx="687800" cy="212455"/>
          </a:xfrm>
          <a:prstGeom prst="rect">
            <a:avLst/>
          </a:prstGeom>
        </p:spPr>
      </p:pic>
      <p:sp>
        <p:nvSpPr>
          <p:cNvPr id="17" name="s10-forma-16"/>
          <p:cNvSpPr/>
          <p:nvPr/>
        </p:nvSpPr>
        <p:spPr>
          <a:xfrm>
            <a:off x="1659380" y="6519865"/>
            <a:ext cx="3578704" cy="102835"/>
          </a:xfrm>
          <a:prstGeom prst="rect">
            <a:avLst/>
          </a:prstGeom>
          <a:ln/>
        </p:spPr>
        <p:txBody>
          <a:bodyPr/>
          <a:lstStyle/>
          <a:p>
            <a:endParaRPr lang="es-MX"/>
          </a:p>
        </p:txBody>
      </p:sp>
      <p:sp>
        <p:nvSpPr>
          <p:cNvPr id="18" name="s10-forma-17"/>
          <p:cNvSpPr/>
          <p:nvPr/>
        </p:nvSpPr>
        <p:spPr>
          <a:xfrm>
            <a:off x="1659380" y="6519865"/>
            <a:ext cx="5713" cy="102835"/>
          </a:xfrm>
          <a:prstGeom prst="rect">
            <a:avLst/>
          </a:prstGeom>
          <a:solidFill>
            <a:srgbClr val="C6BFAE"/>
          </a:solidFill>
          <a:ln/>
        </p:spPr>
        <p:txBody>
          <a:bodyPr/>
          <a:lstStyle/>
          <a:p>
            <a:endParaRPr lang="es-MX"/>
          </a:p>
        </p:txBody>
      </p:sp>
      <p:sp>
        <p:nvSpPr>
          <p:cNvPr id="19" name="s10-texto-18"/>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20" name="s10-texto-19"/>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10 / 22</a:t>
            </a:r>
            <a:endParaRPr lang="en-US" sz="745" dirty="0"/>
          </a:p>
        </p:txBody>
      </p:sp>
      <p:sp>
        <p:nvSpPr>
          <p:cNvPr id="21" name="s10-forma-20"/>
          <p:cNvSpPr/>
          <p:nvPr/>
        </p:nvSpPr>
        <p:spPr>
          <a:xfrm>
            <a:off x="0" y="0"/>
            <a:ext cx="5541680" cy="17139"/>
          </a:xfrm>
          <a:prstGeom prst="rect">
            <a:avLst/>
          </a:prstGeom>
          <a:solidFill>
            <a:srgbClr val="0033A0"/>
          </a:solidFill>
          <a:ln/>
        </p:spPr>
        <p:txBody>
          <a:bodyPr/>
          <a:lstStyle/>
          <a:p>
            <a:endParaRPr lang="es-MX"/>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8DC"/>
        </a:solidFill>
        <a:effectLst/>
      </p:bgPr>
    </p:bg>
    <p:spTree>
      <p:nvGrpSpPr>
        <p:cNvPr id="1" name=""/>
        <p:cNvGrpSpPr/>
        <p:nvPr/>
      </p:nvGrpSpPr>
      <p:grpSpPr>
        <a:xfrm>
          <a:off x="0" y="0"/>
          <a:ext cx="0" cy="0"/>
          <a:chOff x="0" y="0"/>
          <a:chExt cx="0" cy="0"/>
        </a:xfrm>
      </p:grpSpPr>
      <p:sp>
        <p:nvSpPr>
          <p:cNvPr id="2" name="s11-forma-1"/>
          <p:cNvSpPr/>
          <p:nvPr/>
        </p:nvSpPr>
        <p:spPr>
          <a:xfrm>
            <a:off x="853390" y="331715"/>
            <a:ext cx="81411" cy="81411"/>
          </a:xfrm>
          <a:prstGeom prst="ellipse">
            <a:avLst/>
          </a:prstGeom>
          <a:solidFill>
            <a:srgbClr val="0033A0"/>
          </a:solidFill>
          <a:ln/>
        </p:spPr>
        <p:txBody>
          <a:bodyPr/>
          <a:lstStyle/>
          <a:p>
            <a:endParaRPr lang="es-MX"/>
          </a:p>
        </p:txBody>
      </p:sp>
      <p:sp>
        <p:nvSpPr>
          <p:cNvPr id="3" name="s11-texto-2"/>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4" name="s11-texto-3"/>
          <p:cNvSpPr txBox="1"/>
          <p:nvPr/>
        </p:nvSpPr>
        <p:spPr>
          <a:xfrm>
            <a:off x="10477327" y="315290"/>
            <a:ext cx="912636"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0:35 · 8 min</a:t>
            </a:r>
            <a:endParaRPr lang="en-US" sz="807" dirty="0"/>
          </a:p>
        </p:txBody>
      </p:sp>
      <p:sp>
        <p:nvSpPr>
          <p:cNvPr id="5" name="s11-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BLOQUE 4.3</a:t>
            </a:r>
            <a:endParaRPr lang="en-US" sz="869" dirty="0"/>
          </a:p>
        </p:txBody>
      </p:sp>
      <p:sp>
        <p:nvSpPr>
          <p:cNvPr id="6" name="s11-forma-5"/>
          <p:cNvSpPr/>
          <p:nvPr/>
        </p:nvSpPr>
        <p:spPr>
          <a:xfrm>
            <a:off x="853390" y="3768306"/>
            <a:ext cx="722704" cy="22852"/>
          </a:xfrm>
          <a:prstGeom prst="rect">
            <a:avLst/>
          </a:prstGeom>
          <a:solidFill>
            <a:srgbClr val="0033A0"/>
          </a:solidFill>
          <a:ln/>
        </p:spPr>
        <p:txBody>
          <a:bodyPr/>
          <a:lstStyle/>
          <a:p>
            <a:endParaRPr lang="es-MX"/>
          </a:p>
        </p:txBody>
      </p:sp>
      <p:sp>
        <p:nvSpPr>
          <p:cNvPr id="7" name="s11-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El flujo end to end</a:t>
            </a:r>
            <a:endParaRPr lang="en-US" sz="4242" dirty="0"/>
          </a:p>
        </p:txBody>
      </p:sp>
      <p:sp>
        <p:nvSpPr>
          <p:cNvPr id="8" name="s11-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Si una prueba falla, el triage decide quién corrige.</a:t>
            </a:r>
            <a:endParaRPr lang="en-US" sz="1676" dirty="0"/>
          </a:p>
        </p:txBody>
      </p:sp>
      <p:pic>
        <p:nvPicPr>
          <p:cNvPr id="9" name="s11-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1-forma-9"/>
          <p:cNvSpPr/>
          <p:nvPr/>
        </p:nvSpPr>
        <p:spPr>
          <a:xfrm>
            <a:off x="1659380" y="6519865"/>
            <a:ext cx="3578704" cy="102835"/>
          </a:xfrm>
          <a:prstGeom prst="rect">
            <a:avLst/>
          </a:prstGeom>
          <a:ln/>
        </p:spPr>
        <p:txBody>
          <a:bodyPr/>
          <a:lstStyle/>
          <a:p>
            <a:endParaRPr lang="es-MX"/>
          </a:p>
        </p:txBody>
      </p:sp>
      <p:sp>
        <p:nvSpPr>
          <p:cNvPr id="11" name="s11-forma-10"/>
          <p:cNvSpPr/>
          <p:nvPr/>
        </p:nvSpPr>
        <p:spPr>
          <a:xfrm>
            <a:off x="1659380" y="6519865"/>
            <a:ext cx="5713" cy="102835"/>
          </a:xfrm>
          <a:prstGeom prst="rect">
            <a:avLst/>
          </a:prstGeom>
          <a:solidFill>
            <a:srgbClr val="C6BFAE"/>
          </a:solidFill>
          <a:ln/>
        </p:spPr>
        <p:txBody>
          <a:bodyPr/>
          <a:lstStyle/>
          <a:p>
            <a:endParaRPr lang="es-MX"/>
          </a:p>
        </p:txBody>
      </p:sp>
      <p:sp>
        <p:nvSpPr>
          <p:cNvPr id="12" name="s11-texto-1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3" name="s11-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11 / 22</a:t>
            </a:r>
            <a:endParaRPr lang="en-US" sz="745" dirty="0"/>
          </a:p>
        </p:txBody>
      </p:sp>
      <p:sp>
        <p:nvSpPr>
          <p:cNvPr id="14" name="s11-forma-13"/>
          <p:cNvSpPr/>
          <p:nvPr/>
        </p:nvSpPr>
        <p:spPr>
          <a:xfrm>
            <a:off x="0" y="0"/>
            <a:ext cx="6095848" cy="17139"/>
          </a:xfrm>
          <a:prstGeom prst="rect">
            <a:avLst/>
          </a:prstGeom>
          <a:solidFill>
            <a:srgbClr val="0033A0"/>
          </a:solidFill>
          <a:ln/>
        </p:spPr>
        <p:txBody>
          <a:bodyPr/>
          <a:lstStyle/>
          <a:p>
            <a:endParaRPr lang="es-MX"/>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8DC"/>
        </a:solidFill>
        <a:effectLst/>
      </p:bgPr>
    </p:bg>
    <p:spTree>
      <p:nvGrpSpPr>
        <p:cNvPr id="1" name=""/>
        <p:cNvGrpSpPr/>
        <p:nvPr/>
      </p:nvGrpSpPr>
      <p:grpSpPr>
        <a:xfrm>
          <a:off x="0" y="0"/>
          <a:ext cx="0" cy="0"/>
          <a:chOff x="0" y="0"/>
          <a:chExt cx="0" cy="0"/>
        </a:xfrm>
      </p:grpSpPr>
      <p:sp>
        <p:nvSpPr>
          <p:cNvPr id="2" name="s12-forma-1"/>
          <p:cNvSpPr/>
          <p:nvPr/>
        </p:nvSpPr>
        <p:spPr>
          <a:xfrm>
            <a:off x="853390" y="520961"/>
            <a:ext cx="10484915" cy="5713"/>
          </a:xfrm>
          <a:prstGeom prst="rect">
            <a:avLst/>
          </a:prstGeom>
          <a:solidFill>
            <a:srgbClr val="C6BFAE"/>
          </a:solidFill>
          <a:ln/>
        </p:spPr>
        <p:txBody>
          <a:bodyPr/>
          <a:lstStyle/>
          <a:p>
            <a:endParaRPr lang="es-MX"/>
          </a:p>
        </p:txBody>
      </p:sp>
      <p:sp>
        <p:nvSpPr>
          <p:cNvPr id="3" name="s12-forma-2"/>
          <p:cNvSpPr/>
          <p:nvPr/>
        </p:nvSpPr>
        <p:spPr>
          <a:xfrm>
            <a:off x="853390" y="331715"/>
            <a:ext cx="81411" cy="81411"/>
          </a:xfrm>
          <a:prstGeom prst="ellipse">
            <a:avLst/>
          </a:prstGeom>
          <a:solidFill>
            <a:srgbClr val="0033A0"/>
          </a:solidFill>
          <a:ln/>
        </p:spPr>
        <p:txBody>
          <a:bodyPr/>
          <a:lstStyle/>
          <a:p>
            <a:endParaRPr lang="es-MX"/>
          </a:p>
        </p:txBody>
      </p:sp>
      <p:sp>
        <p:nvSpPr>
          <p:cNvPr id="4" name="s12-texto-3"/>
          <p:cNvSpPr txBox="1"/>
          <p:nvPr/>
        </p:nvSpPr>
        <p:spPr>
          <a:xfrm>
            <a:off x="1007018" y="315290"/>
            <a:ext cx="450619"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033A0"/>
                </a:solidFill>
                <a:latin typeface="Courier New" pitchFamily="34" charset="0"/>
                <a:ea typeface="Courier New" pitchFamily="34" charset="-122"/>
                <a:cs typeface="Courier New" pitchFamily="34" charset="-120"/>
              </a:rPr>
              <a:t>NUTRE</a:t>
            </a:r>
            <a:endParaRPr lang="en-US" sz="807" dirty="0"/>
          </a:p>
        </p:txBody>
      </p:sp>
      <p:sp>
        <p:nvSpPr>
          <p:cNvPr id="5" name="s12-texto-4"/>
          <p:cNvSpPr txBox="1"/>
          <p:nvPr/>
        </p:nvSpPr>
        <p:spPr>
          <a:xfrm>
            <a:off x="10477327" y="315290"/>
            <a:ext cx="912636"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0:35 · 8 min</a:t>
            </a:r>
            <a:endParaRPr lang="en-US" sz="807" dirty="0"/>
          </a:p>
        </p:txBody>
      </p:sp>
      <p:sp>
        <p:nvSpPr>
          <p:cNvPr id="6" name="s12-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4.3 · AGENTE 6 · FLUJO END TO END</a:t>
            </a:r>
            <a:endParaRPr lang="en-US" sz="900" dirty="0"/>
          </a:p>
        </p:txBody>
      </p:sp>
      <p:sp>
        <p:nvSpPr>
          <p:cNvPr id="7" name="s12-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Si una prueba falla, el triage decide</a:t>
            </a:r>
            <a:endParaRPr lang="en-US" sz="2879" dirty="0"/>
          </a:p>
        </p:txBody>
      </p:sp>
      <p:sp>
        <p:nvSpPr>
          <p:cNvPr id="8" name="s12-forma-7"/>
          <p:cNvSpPr/>
          <p:nvPr/>
        </p:nvSpPr>
        <p:spPr>
          <a:xfrm>
            <a:off x="1342572" y="2228098"/>
            <a:ext cx="1828183" cy="628438"/>
          </a:xfrm>
          <a:prstGeom prst="rect">
            <a:avLst/>
          </a:prstGeom>
          <a:solidFill>
            <a:srgbClr val="E3DCCB"/>
          </a:solidFill>
          <a:ln w="5713">
            <a:solidFill>
              <a:srgbClr val="585E6F"/>
            </a:solidFill>
            <a:prstDash val="solid"/>
          </a:ln>
        </p:spPr>
        <p:txBody>
          <a:bodyPr/>
          <a:lstStyle/>
          <a:p>
            <a:endParaRPr lang="es-MX"/>
          </a:p>
        </p:txBody>
      </p:sp>
      <p:sp>
        <p:nvSpPr>
          <p:cNvPr id="9" name="s12-texto-8"/>
          <p:cNvSpPr txBox="1"/>
          <p:nvPr/>
        </p:nvSpPr>
        <p:spPr>
          <a:xfrm>
            <a:off x="1931554" y="2359499"/>
            <a:ext cx="65013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Reporte</a:t>
            </a:r>
            <a:endParaRPr lang="en-US" sz="1260" dirty="0"/>
          </a:p>
        </p:txBody>
      </p:sp>
      <p:sp>
        <p:nvSpPr>
          <p:cNvPr id="10" name="s12-texto-9"/>
          <p:cNvSpPr txBox="1"/>
          <p:nvPr/>
        </p:nvSpPr>
        <p:spPr>
          <a:xfrm>
            <a:off x="1644076" y="2565169"/>
            <a:ext cx="1225175"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LISTA o ESCALAR</a:t>
            </a:r>
            <a:endParaRPr lang="en-US" sz="1080" dirty="0"/>
          </a:p>
        </p:txBody>
      </p:sp>
      <p:sp>
        <p:nvSpPr>
          <p:cNvPr id="11" name="s12-forma-10"/>
          <p:cNvSpPr/>
          <p:nvPr/>
        </p:nvSpPr>
        <p:spPr>
          <a:xfrm>
            <a:off x="1342572" y="3484974"/>
            <a:ext cx="1828183" cy="685569"/>
          </a:xfrm>
          <a:prstGeom prst="rect">
            <a:avLst/>
          </a:prstGeom>
          <a:solidFill>
            <a:srgbClr val="DCE3F2"/>
          </a:solidFill>
          <a:ln w="5713">
            <a:solidFill>
              <a:srgbClr val="0033A0"/>
            </a:solidFill>
            <a:prstDash val="solid"/>
          </a:ln>
        </p:spPr>
        <p:txBody>
          <a:bodyPr/>
          <a:lstStyle/>
          <a:p>
            <a:endParaRPr lang="es-MX"/>
          </a:p>
        </p:txBody>
      </p:sp>
      <p:sp>
        <p:nvSpPr>
          <p:cNvPr id="12" name="s12-texto-11"/>
          <p:cNvSpPr txBox="1"/>
          <p:nvPr/>
        </p:nvSpPr>
        <p:spPr>
          <a:xfrm>
            <a:off x="1738228" y="3644940"/>
            <a:ext cx="1036781"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Pruebas E2E</a:t>
            </a:r>
            <a:endParaRPr lang="en-US" sz="1260" dirty="0"/>
          </a:p>
        </p:txBody>
      </p:sp>
      <p:sp>
        <p:nvSpPr>
          <p:cNvPr id="13" name="s12-texto-12"/>
          <p:cNvSpPr txBox="1"/>
          <p:nvPr/>
        </p:nvSpPr>
        <p:spPr>
          <a:xfrm>
            <a:off x="1644738" y="3850610"/>
            <a:ext cx="1223851"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pytest + Playwright</a:t>
            </a:r>
            <a:endParaRPr lang="en-US" sz="1080" dirty="0"/>
          </a:p>
        </p:txBody>
      </p:sp>
      <p:sp>
        <p:nvSpPr>
          <p:cNvPr id="14" name="s12-forma-13"/>
          <p:cNvSpPr/>
          <p:nvPr/>
        </p:nvSpPr>
        <p:spPr>
          <a:xfrm>
            <a:off x="4153403" y="3484974"/>
            <a:ext cx="1828183" cy="685569"/>
          </a:xfrm>
          <a:prstGeom prst="rect">
            <a:avLst/>
          </a:prstGeom>
          <a:solidFill>
            <a:srgbClr val="E2D3C2"/>
          </a:solidFill>
          <a:ln w="5713">
            <a:solidFill>
              <a:srgbClr val="984514"/>
            </a:solidFill>
            <a:prstDash val="solid"/>
          </a:ln>
        </p:spPr>
        <p:txBody>
          <a:bodyPr/>
          <a:lstStyle/>
          <a:p>
            <a:endParaRPr lang="es-MX"/>
          </a:p>
        </p:txBody>
      </p:sp>
      <p:sp>
        <p:nvSpPr>
          <p:cNvPr id="15" name="s12-texto-14"/>
          <p:cNvSpPr txBox="1"/>
          <p:nvPr/>
        </p:nvSpPr>
        <p:spPr>
          <a:xfrm>
            <a:off x="4808978" y="3644940"/>
            <a:ext cx="516944"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Triage</a:t>
            </a:r>
            <a:endParaRPr lang="en-US" sz="1260" dirty="0"/>
          </a:p>
        </p:txBody>
      </p:sp>
      <p:sp>
        <p:nvSpPr>
          <p:cNvPr id="16" name="s12-texto-15"/>
          <p:cNvSpPr txBox="1"/>
          <p:nvPr/>
        </p:nvSpPr>
        <p:spPr>
          <a:xfrm>
            <a:off x="4497868" y="3850610"/>
            <a:ext cx="1139163"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enruta, no corrige</a:t>
            </a:r>
            <a:endParaRPr lang="en-US" sz="1080" dirty="0"/>
          </a:p>
        </p:txBody>
      </p:sp>
      <p:sp>
        <p:nvSpPr>
          <p:cNvPr id="17" name="s12-forma-16"/>
          <p:cNvSpPr/>
          <p:nvPr/>
        </p:nvSpPr>
        <p:spPr>
          <a:xfrm>
            <a:off x="7466985" y="2399490"/>
            <a:ext cx="2056706" cy="628438"/>
          </a:xfrm>
          <a:prstGeom prst="rect">
            <a:avLst/>
          </a:prstGeom>
          <a:solidFill>
            <a:srgbClr val="E3DCCB"/>
          </a:solidFill>
          <a:ln w="5713">
            <a:solidFill>
              <a:srgbClr val="585E6F"/>
            </a:solidFill>
            <a:prstDash val="solid"/>
          </a:ln>
        </p:spPr>
        <p:txBody>
          <a:bodyPr/>
          <a:lstStyle/>
          <a:p>
            <a:endParaRPr lang="es-MX"/>
          </a:p>
        </p:txBody>
      </p:sp>
      <p:sp>
        <p:nvSpPr>
          <p:cNvPr id="18" name="s12-texto-17"/>
          <p:cNvSpPr txBox="1"/>
          <p:nvPr/>
        </p:nvSpPr>
        <p:spPr>
          <a:xfrm>
            <a:off x="8197008" y="2530891"/>
            <a:ext cx="596570"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Código</a:t>
            </a:r>
            <a:endParaRPr lang="en-US" sz="1260" dirty="0"/>
          </a:p>
        </p:txBody>
      </p:sp>
      <p:sp>
        <p:nvSpPr>
          <p:cNvPr id="19" name="s12-texto-18"/>
          <p:cNvSpPr txBox="1"/>
          <p:nvPr/>
        </p:nvSpPr>
        <p:spPr>
          <a:xfrm>
            <a:off x="7970090" y="2736561"/>
            <a:ext cx="1050407"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agente 3 corrige</a:t>
            </a:r>
            <a:endParaRPr lang="en-US" sz="1080" dirty="0"/>
          </a:p>
        </p:txBody>
      </p:sp>
      <p:sp>
        <p:nvSpPr>
          <p:cNvPr id="20" name="s12-forma-19"/>
          <p:cNvSpPr/>
          <p:nvPr/>
        </p:nvSpPr>
        <p:spPr>
          <a:xfrm>
            <a:off x="7466985" y="3513539"/>
            <a:ext cx="2056706" cy="628438"/>
          </a:xfrm>
          <a:prstGeom prst="rect">
            <a:avLst/>
          </a:prstGeom>
          <a:solidFill>
            <a:srgbClr val="E3DCCB"/>
          </a:solidFill>
          <a:ln w="5713">
            <a:solidFill>
              <a:srgbClr val="585E6F"/>
            </a:solidFill>
            <a:prstDash val="solid"/>
          </a:ln>
        </p:spPr>
        <p:txBody>
          <a:bodyPr/>
          <a:lstStyle/>
          <a:p>
            <a:endParaRPr lang="es-MX"/>
          </a:p>
        </p:txBody>
      </p:sp>
      <p:sp>
        <p:nvSpPr>
          <p:cNvPr id="21" name="s12-texto-20"/>
          <p:cNvSpPr txBox="1"/>
          <p:nvPr/>
        </p:nvSpPr>
        <p:spPr>
          <a:xfrm>
            <a:off x="8156838" y="3644940"/>
            <a:ext cx="676999"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Pruebas</a:t>
            </a:r>
            <a:endParaRPr lang="en-US" sz="1260" dirty="0"/>
          </a:p>
        </p:txBody>
      </p:sp>
      <p:sp>
        <p:nvSpPr>
          <p:cNvPr id="22" name="s12-texto-21"/>
          <p:cNvSpPr txBox="1"/>
          <p:nvPr/>
        </p:nvSpPr>
        <p:spPr>
          <a:xfrm>
            <a:off x="7970090" y="3850610"/>
            <a:ext cx="1050407"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agente 5 corrige</a:t>
            </a:r>
            <a:endParaRPr lang="en-US" sz="1080" dirty="0"/>
          </a:p>
        </p:txBody>
      </p:sp>
      <p:sp>
        <p:nvSpPr>
          <p:cNvPr id="23" name="s12-forma-22"/>
          <p:cNvSpPr/>
          <p:nvPr/>
        </p:nvSpPr>
        <p:spPr>
          <a:xfrm>
            <a:off x="7466985" y="4627588"/>
            <a:ext cx="2056706" cy="628438"/>
          </a:xfrm>
          <a:prstGeom prst="rect">
            <a:avLst/>
          </a:prstGeom>
          <a:solidFill>
            <a:srgbClr val="E3DCCB"/>
          </a:solidFill>
          <a:ln w="5713">
            <a:solidFill>
              <a:srgbClr val="585E6F"/>
            </a:solidFill>
            <a:prstDash val="solid"/>
          </a:ln>
        </p:spPr>
        <p:txBody>
          <a:bodyPr/>
          <a:lstStyle/>
          <a:p>
            <a:endParaRPr lang="es-MX"/>
          </a:p>
        </p:txBody>
      </p:sp>
      <p:sp>
        <p:nvSpPr>
          <p:cNvPr id="24" name="s12-texto-23"/>
          <p:cNvSpPr txBox="1"/>
          <p:nvPr/>
        </p:nvSpPr>
        <p:spPr>
          <a:xfrm>
            <a:off x="8042949" y="4758989"/>
            <a:ext cx="904688" cy="177105"/>
          </a:xfrm>
          <a:prstGeom prst="rect">
            <a:avLst/>
          </a:prstGeom>
          <a:noFill/>
          <a:ln/>
        </p:spPr>
        <p:txBody>
          <a:bodyPr wrap="none" lIns="0" tIns="0" rIns="0" bIns="0" rtlCol="0" anchor="t"/>
          <a:lstStyle/>
          <a:p>
            <a:pPr marL="0" indent="0" algn="ctr">
              <a:lnSpc>
                <a:spcPts val="1512"/>
              </a:lnSpc>
              <a:buNone/>
            </a:pPr>
            <a:r>
              <a:rPr lang="en-US" sz="1260" b="1" dirty="0">
                <a:solidFill>
                  <a:srgbClr val="16181D"/>
                </a:solidFill>
                <a:latin typeface="Arial" pitchFamily="34" charset="0"/>
                <a:ea typeface="Arial" pitchFamily="34" charset="-122"/>
                <a:cs typeface="Arial" pitchFamily="34" charset="-120"/>
              </a:rPr>
              <a:t>Despliegue</a:t>
            </a:r>
            <a:endParaRPr lang="en-US" sz="1260" dirty="0"/>
          </a:p>
        </p:txBody>
      </p:sp>
      <p:sp>
        <p:nvSpPr>
          <p:cNvPr id="25" name="s12-texto-24"/>
          <p:cNvSpPr txBox="1"/>
          <p:nvPr/>
        </p:nvSpPr>
        <p:spPr>
          <a:xfrm>
            <a:off x="7970090" y="4964659"/>
            <a:ext cx="1050407" cy="154253"/>
          </a:xfrm>
          <a:prstGeom prst="rect">
            <a:avLst/>
          </a:prstGeom>
          <a:noFill/>
          <a:ln/>
        </p:spPr>
        <p:txBody>
          <a:bodyPr wrap="none" lIns="0" tIns="0" rIns="0" bIns="0" rtlCol="0" anchor="t"/>
          <a:lstStyle/>
          <a:p>
            <a:pPr marL="0" indent="0" algn="ctr">
              <a:lnSpc>
                <a:spcPts val="1296"/>
              </a:lnSpc>
              <a:buNone/>
            </a:pPr>
            <a:r>
              <a:rPr lang="en-US" sz="1080" dirty="0">
                <a:solidFill>
                  <a:srgbClr val="585E6F"/>
                </a:solidFill>
                <a:latin typeface="Arial" pitchFamily="34" charset="0"/>
                <a:ea typeface="Arial" pitchFamily="34" charset="-122"/>
                <a:cs typeface="Arial" pitchFamily="34" charset="-120"/>
              </a:rPr>
              <a:t>agente 4 corrige</a:t>
            </a:r>
            <a:endParaRPr lang="en-US" sz="1080" dirty="0"/>
          </a:p>
        </p:txBody>
      </p:sp>
      <p:sp>
        <p:nvSpPr>
          <p:cNvPr id="26" name="s12-texto-25"/>
          <p:cNvSpPr txBox="1"/>
          <p:nvPr/>
        </p:nvSpPr>
        <p:spPr>
          <a:xfrm>
            <a:off x="2348073" y="3062206"/>
            <a:ext cx="731273"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pasan</a:t>
            </a:r>
            <a:endParaRPr lang="en-US" sz="1080" dirty="0"/>
          </a:p>
        </p:txBody>
      </p:sp>
      <p:sp>
        <p:nvSpPr>
          <p:cNvPr id="27" name="s12-texto-26"/>
          <p:cNvSpPr txBox="1"/>
          <p:nvPr/>
        </p:nvSpPr>
        <p:spPr>
          <a:xfrm>
            <a:off x="3296442" y="3542105"/>
            <a:ext cx="847820"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fallan</a:t>
            </a:r>
            <a:endParaRPr lang="en-US" sz="1080" dirty="0"/>
          </a:p>
        </p:txBody>
      </p:sp>
      <p:sp>
        <p:nvSpPr>
          <p:cNvPr id="28" name="s12-texto-27"/>
          <p:cNvSpPr txBox="1"/>
          <p:nvPr/>
        </p:nvSpPr>
        <p:spPr>
          <a:xfrm>
            <a:off x="4153403" y="5233174"/>
            <a:ext cx="3391279" cy="154253"/>
          </a:xfrm>
          <a:prstGeom prst="rect">
            <a:avLst/>
          </a:prstGeom>
          <a:noFill/>
          <a:ln/>
        </p:spPr>
        <p:txBody>
          <a:bodyPr wrap="none" lIns="0" tIns="0" rIns="0" bIns="0" rtlCol="0" anchor="t"/>
          <a:lstStyle/>
          <a:p>
            <a:pPr marL="0" indent="0" algn="l">
              <a:lnSpc>
                <a:spcPts val="1296"/>
              </a:lnSpc>
              <a:buNone/>
            </a:pPr>
            <a:r>
              <a:rPr lang="en-US" sz="1080" dirty="0">
                <a:solidFill>
                  <a:srgbClr val="984514"/>
                </a:solidFill>
                <a:latin typeface="Arial" pitchFamily="34" charset="0"/>
                <a:ea typeface="Arial" pitchFamily="34" charset="-122"/>
                <a:cs typeface="Arial" pitchFamily="34" charset="-120"/>
              </a:rPr>
              <a:t>vuelve a probar · máximo 2 ciclos</a:t>
            </a:r>
            <a:endParaRPr lang="en-US" sz="1080" dirty="0"/>
          </a:p>
        </p:txBody>
      </p:sp>
      <p:sp>
        <p:nvSpPr>
          <p:cNvPr id="29" name="s12-texto-2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flujos/flujo_s4.py · agentes/triage.py · el criterio de aceptación decide quién tiene razón</a:t>
            </a:r>
            <a:endParaRPr lang="en-US" sz="1080" dirty="0"/>
          </a:p>
        </p:txBody>
      </p:sp>
      <p:sp>
        <p:nvSpPr>
          <p:cNvPr id="30" name="s12-linea-29-0"/>
          <p:cNvSpPr/>
          <p:nvPr/>
        </p:nvSpPr>
        <p:spPr>
          <a:xfrm flipV="1">
            <a:off x="2256663" y="2856536"/>
            <a:ext cx="0" cy="628438"/>
          </a:xfrm>
          <a:prstGeom prst="line">
            <a:avLst/>
          </a:prstGeom>
          <a:noFill/>
          <a:ln w="17140">
            <a:solidFill>
              <a:srgbClr val="585E6F"/>
            </a:solidFill>
            <a:prstDash val="solid"/>
            <a:tailEnd type="triangle"/>
          </a:ln>
        </p:spPr>
        <p:txBody>
          <a:bodyPr/>
          <a:lstStyle/>
          <a:p>
            <a:endParaRPr lang="es-MX"/>
          </a:p>
        </p:txBody>
      </p:sp>
      <p:sp>
        <p:nvSpPr>
          <p:cNvPr id="31" name="s12-linea-30-0"/>
          <p:cNvSpPr/>
          <p:nvPr/>
        </p:nvSpPr>
        <p:spPr>
          <a:xfrm>
            <a:off x="3170755" y="3827758"/>
            <a:ext cx="982648" cy="0"/>
          </a:xfrm>
          <a:prstGeom prst="line">
            <a:avLst/>
          </a:prstGeom>
          <a:noFill/>
          <a:ln w="17140">
            <a:solidFill>
              <a:srgbClr val="585E6F"/>
            </a:solidFill>
            <a:prstDash val="solid"/>
            <a:tailEnd type="triangle"/>
          </a:ln>
        </p:spPr>
        <p:txBody>
          <a:bodyPr/>
          <a:lstStyle/>
          <a:p>
            <a:endParaRPr lang="es-MX"/>
          </a:p>
        </p:txBody>
      </p:sp>
      <p:sp>
        <p:nvSpPr>
          <p:cNvPr id="32" name="s12-linea-31-0"/>
          <p:cNvSpPr/>
          <p:nvPr/>
        </p:nvSpPr>
        <p:spPr>
          <a:xfrm>
            <a:off x="5981586" y="3827758"/>
            <a:ext cx="742699" cy="0"/>
          </a:xfrm>
          <a:prstGeom prst="line">
            <a:avLst/>
          </a:prstGeom>
          <a:noFill/>
          <a:ln w="17140">
            <a:solidFill>
              <a:srgbClr val="585E6F"/>
            </a:solidFill>
            <a:prstDash val="solid"/>
          </a:ln>
        </p:spPr>
        <p:txBody>
          <a:bodyPr/>
          <a:lstStyle/>
          <a:p>
            <a:endParaRPr lang="es-MX"/>
          </a:p>
        </p:txBody>
      </p:sp>
      <p:sp>
        <p:nvSpPr>
          <p:cNvPr id="33" name="s12-linea-31-1"/>
          <p:cNvSpPr/>
          <p:nvPr/>
        </p:nvSpPr>
        <p:spPr>
          <a:xfrm flipV="1">
            <a:off x="6724285" y="2713709"/>
            <a:ext cx="0" cy="1114049"/>
          </a:xfrm>
          <a:prstGeom prst="line">
            <a:avLst/>
          </a:prstGeom>
          <a:noFill/>
          <a:ln w="17140">
            <a:solidFill>
              <a:srgbClr val="585E6F"/>
            </a:solidFill>
            <a:prstDash val="solid"/>
          </a:ln>
        </p:spPr>
        <p:txBody>
          <a:bodyPr/>
          <a:lstStyle/>
          <a:p>
            <a:endParaRPr lang="es-MX"/>
          </a:p>
        </p:txBody>
      </p:sp>
      <p:sp>
        <p:nvSpPr>
          <p:cNvPr id="34" name="s12-linea-31-2"/>
          <p:cNvSpPr/>
          <p:nvPr/>
        </p:nvSpPr>
        <p:spPr>
          <a:xfrm>
            <a:off x="6724285" y="2713709"/>
            <a:ext cx="742699" cy="0"/>
          </a:xfrm>
          <a:prstGeom prst="line">
            <a:avLst/>
          </a:prstGeom>
          <a:noFill/>
          <a:ln w="17140">
            <a:solidFill>
              <a:srgbClr val="585E6F"/>
            </a:solidFill>
            <a:prstDash val="solid"/>
            <a:tailEnd type="triangle"/>
          </a:ln>
        </p:spPr>
        <p:txBody>
          <a:bodyPr/>
          <a:lstStyle/>
          <a:p>
            <a:endParaRPr lang="es-MX"/>
          </a:p>
        </p:txBody>
      </p:sp>
      <p:sp>
        <p:nvSpPr>
          <p:cNvPr id="35" name="s12-linea-32-0"/>
          <p:cNvSpPr/>
          <p:nvPr/>
        </p:nvSpPr>
        <p:spPr>
          <a:xfrm>
            <a:off x="5981586" y="3827758"/>
            <a:ext cx="1485399" cy="0"/>
          </a:xfrm>
          <a:prstGeom prst="line">
            <a:avLst/>
          </a:prstGeom>
          <a:noFill/>
          <a:ln w="17140">
            <a:solidFill>
              <a:srgbClr val="585E6F"/>
            </a:solidFill>
            <a:prstDash val="solid"/>
            <a:tailEnd type="triangle"/>
          </a:ln>
        </p:spPr>
        <p:txBody>
          <a:bodyPr/>
          <a:lstStyle/>
          <a:p>
            <a:endParaRPr lang="es-MX"/>
          </a:p>
        </p:txBody>
      </p:sp>
      <p:sp>
        <p:nvSpPr>
          <p:cNvPr id="36" name="s12-linea-33-0"/>
          <p:cNvSpPr/>
          <p:nvPr/>
        </p:nvSpPr>
        <p:spPr>
          <a:xfrm>
            <a:off x="5981586" y="3827758"/>
            <a:ext cx="742699" cy="0"/>
          </a:xfrm>
          <a:prstGeom prst="line">
            <a:avLst/>
          </a:prstGeom>
          <a:noFill/>
          <a:ln w="17140">
            <a:solidFill>
              <a:srgbClr val="585E6F"/>
            </a:solidFill>
            <a:prstDash val="solid"/>
          </a:ln>
        </p:spPr>
        <p:txBody>
          <a:bodyPr/>
          <a:lstStyle/>
          <a:p>
            <a:endParaRPr lang="es-MX"/>
          </a:p>
        </p:txBody>
      </p:sp>
      <p:sp>
        <p:nvSpPr>
          <p:cNvPr id="37" name="s12-linea-33-1"/>
          <p:cNvSpPr/>
          <p:nvPr/>
        </p:nvSpPr>
        <p:spPr>
          <a:xfrm>
            <a:off x="6724285" y="3827758"/>
            <a:ext cx="0" cy="1114049"/>
          </a:xfrm>
          <a:prstGeom prst="line">
            <a:avLst/>
          </a:prstGeom>
          <a:noFill/>
          <a:ln w="17140">
            <a:solidFill>
              <a:srgbClr val="585E6F"/>
            </a:solidFill>
            <a:prstDash val="solid"/>
          </a:ln>
        </p:spPr>
        <p:txBody>
          <a:bodyPr/>
          <a:lstStyle/>
          <a:p>
            <a:endParaRPr lang="es-MX"/>
          </a:p>
        </p:txBody>
      </p:sp>
      <p:sp>
        <p:nvSpPr>
          <p:cNvPr id="38" name="s12-linea-33-2"/>
          <p:cNvSpPr/>
          <p:nvPr/>
        </p:nvSpPr>
        <p:spPr>
          <a:xfrm>
            <a:off x="6724285" y="4941807"/>
            <a:ext cx="742699" cy="0"/>
          </a:xfrm>
          <a:prstGeom prst="line">
            <a:avLst/>
          </a:prstGeom>
          <a:noFill/>
          <a:ln w="17140">
            <a:solidFill>
              <a:srgbClr val="585E6F"/>
            </a:solidFill>
            <a:prstDash val="solid"/>
            <a:tailEnd type="triangle"/>
          </a:ln>
        </p:spPr>
        <p:txBody>
          <a:bodyPr/>
          <a:lstStyle/>
          <a:p>
            <a:endParaRPr lang="es-MX"/>
          </a:p>
        </p:txBody>
      </p:sp>
      <p:sp>
        <p:nvSpPr>
          <p:cNvPr id="39" name="s12-linea-34-0"/>
          <p:cNvSpPr/>
          <p:nvPr/>
        </p:nvSpPr>
        <p:spPr>
          <a:xfrm>
            <a:off x="9523691" y="2713709"/>
            <a:ext cx="457046" cy="0"/>
          </a:xfrm>
          <a:prstGeom prst="line">
            <a:avLst/>
          </a:prstGeom>
          <a:noFill/>
          <a:ln w="17140">
            <a:solidFill>
              <a:srgbClr val="984514"/>
            </a:solidFill>
            <a:prstDash val="dash"/>
          </a:ln>
        </p:spPr>
        <p:txBody>
          <a:bodyPr/>
          <a:lstStyle/>
          <a:p>
            <a:endParaRPr lang="es-MX"/>
          </a:p>
        </p:txBody>
      </p:sp>
      <p:sp>
        <p:nvSpPr>
          <p:cNvPr id="40" name="s12-linea-35-0"/>
          <p:cNvSpPr/>
          <p:nvPr/>
        </p:nvSpPr>
        <p:spPr>
          <a:xfrm>
            <a:off x="9523691" y="3827758"/>
            <a:ext cx="457046" cy="0"/>
          </a:xfrm>
          <a:prstGeom prst="line">
            <a:avLst/>
          </a:prstGeom>
          <a:noFill/>
          <a:ln w="17140">
            <a:solidFill>
              <a:srgbClr val="984514"/>
            </a:solidFill>
            <a:prstDash val="dash"/>
          </a:ln>
        </p:spPr>
        <p:txBody>
          <a:bodyPr/>
          <a:lstStyle/>
          <a:p>
            <a:endParaRPr lang="es-MX"/>
          </a:p>
        </p:txBody>
      </p:sp>
      <p:sp>
        <p:nvSpPr>
          <p:cNvPr id="41" name="s12-linea-36-0"/>
          <p:cNvSpPr/>
          <p:nvPr/>
        </p:nvSpPr>
        <p:spPr>
          <a:xfrm>
            <a:off x="9523691" y="4941807"/>
            <a:ext cx="457046" cy="0"/>
          </a:xfrm>
          <a:prstGeom prst="line">
            <a:avLst/>
          </a:prstGeom>
          <a:noFill/>
          <a:ln w="17140">
            <a:solidFill>
              <a:srgbClr val="984514"/>
            </a:solidFill>
            <a:prstDash val="dash"/>
          </a:ln>
        </p:spPr>
        <p:txBody>
          <a:bodyPr/>
          <a:lstStyle/>
          <a:p>
            <a:endParaRPr lang="es-MX"/>
          </a:p>
        </p:txBody>
      </p:sp>
      <p:sp>
        <p:nvSpPr>
          <p:cNvPr id="42" name="s12-linea-37-0"/>
          <p:cNvSpPr/>
          <p:nvPr/>
        </p:nvSpPr>
        <p:spPr>
          <a:xfrm>
            <a:off x="9980736" y="2713709"/>
            <a:ext cx="0" cy="2827971"/>
          </a:xfrm>
          <a:prstGeom prst="line">
            <a:avLst/>
          </a:prstGeom>
          <a:noFill/>
          <a:ln w="17140">
            <a:solidFill>
              <a:srgbClr val="984514"/>
            </a:solidFill>
            <a:prstDash val="dash"/>
          </a:ln>
        </p:spPr>
        <p:txBody>
          <a:bodyPr/>
          <a:lstStyle/>
          <a:p>
            <a:endParaRPr lang="es-MX"/>
          </a:p>
        </p:txBody>
      </p:sp>
      <p:sp>
        <p:nvSpPr>
          <p:cNvPr id="43" name="s12-linea-38-0"/>
          <p:cNvSpPr/>
          <p:nvPr/>
        </p:nvSpPr>
        <p:spPr>
          <a:xfrm flipH="1">
            <a:off x="2256663" y="5541680"/>
            <a:ext cx="7724073" cy="0"/>
          </a:xfrm>
          <a:prstGeom prst="line">
            <a:avLst/>
          </a:prstGeom>
          <a:noFill/>
          <a:ln w="17140">
            <a:solidFill>
              <a:srgbClr val="984514"/>
            </a:solidFill>
            <a:prstDash val="dash"/>
          </a:ln>
        </p:spPr>
        <p:txBody>
          <a:bodyPr/>
          <a:lstStyle/>
          <a:p>
            <a:endParaRPr lang="es-MX"/>
          </a:p>
        </p:txBody>
      </p:sp>
      <p:sp>
        <p:nvSpPr>
          <p:cNvPr id="44" name="s12-linea-39-0"/>
          <p:cNvSpPr/>
          <p:nvPr/>
        </p:nvSpPr>
        <p:spPr>
          <a:xfrm flipV="1">
            <a:off x="2256663" y="4170542"/>
            <a:ext cx="0" cy="1371137"/>
          </a:xfrm>
          <a:prstGeom prst="line">
            <a:avLst/>
          </a:prstGeom>
          <a:noFill/>
          <a:ln w="17140">
            <a:solidFill>
              <a:srgbClr val="984514"/>
            </a:solidFill>
            <a:prstDash val="dash"/>
            <a:tailEnd type="triangle"/>
          </a:ln>
        </p:spPr>
        <p:txBody>
          <a:bodyPr/>
          <a:lstStyle/>
          <a:p>
            <a:endParaRPr lang="es-MX"/>
          </a:p>
        </p:txBody>
      </p:sp>
      <p:sp>
        <p:nvSpPr>
          <p:cNvPr id="45" name="s12-forma-40"/>
          <p:cNvSpPr/>
          <p:nvPr/>
        </p:nvSpPr>
        <p:spPr>
          <a:xfrm>
            <a:off x="853390" y="6411138"/>
            <a:ext cx="10484915" cy="5713"/>
          </a:xfrm>
          <a:prstGeom prst="rect">
            <a:avLst/>
          </a:prstGeom>
          <a:solidFill>
            <a:srgbClr val="DBD4C4"/>
          </a:solidFill>
          <a:ln/>
        </p:spPr>
        <p:txBody>
          <a:bodyPr/>
          <a:lstStyle/>
          <a:p>
            <a:endParaRPr lang="es-MX"/>
          </a:p>
        </p:txBody>
      </p:sp>
      <p:pic>
        <p:nvPicPr>
          <p:cNvPr id="46" name="s12-logo-41" descr="preencoded.png"/>
          <p:cNvPicPr>
            <a:picLocks noChangeAspect="1"/>
          </p:cNvPicPr>
          <p:nvPr/>
        </p:nvPicPr>
        <p:blipFill>
          <a:blip r:embed="rId3"/>
          <a:stretch>
            <a:fillRect/>
          </a:stretch>
        </p:blipFill>
        <p:spPr>
          <a:xfrm>
            <a:off x="853390" y="6465055"/>
            <a:ext cx="687800" cy="212455"/>
          </a:xfrm>
          <a:prstGeom prst="rect">
            <a:avLst/>
          </a:prstGeom>
        </p:spPr>
      </p:pic>
      <p:sp>
        <p:nvSpPr>
          <p:cNvPr id="47" name="s12-forma-42"/>
          <p:cNvSpPr/>
          <p:nvPr/>
        </p:nvSpPr>
        <p:spPr>
          <a:xfrm>
            <a:off x="1659380" y="6519865"/>
            <a:ext cx="3578704" cy="102835"/>
          </a:xfrm>
          <a:prstGeom prst="rect">
            <a:avLst/>
          </a:prstGeom>
          <a:ln/>
        </p:spPr>
        <p:txBody>
          <a:bodyPr/>
          <a:lstStyle/>
          <a:p>
            <a:endParaRPr lang="es-MX"/>
          </a:p>
        </p:txBody>
      </p:sp>
      <p:sp>
        <p:nvSpPr>
          <p:cNvPr id="48" name="s12-forma-43"/>
          <p:cNvSpPr/>
          <p:nvPr/>
        </p:nvSpPr>
        <p:spPr>
          <a:xfrm>
            <a:off x="1659380" y="6519865"/>
            <a:ext cx="5713" cy="102835"/>
          </a:xfrm>
          <a:prstGeom prst="rect">
            <a:avLst/>
          </a:prstGeom>
          <a:solidFill>
            <a:srgbClr val="C6BFAE"/>
          </a:solidFill>
          <a:ln/>
        </p:spPr>
        <p:txBody>
          <a:bodyPr/>
          <a:lstStyle/>
          <a:p>
            <a:endParaRPr lang="es-MX"/>
          </a:p>
        </p:txBody>
      </p:sp>
      <p:sp>
        <p:nvSpPr>
          <p:cNvPr id="49" name="s12-texto-44"/>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50" name="s12-texto-45"/>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12 / 22</a:t>
            </a:r>
            <a:endParaRPr lang="en-US" sz="745" dirty="0"/>
          </a:p>
        </p:txBody>
      </p:sp>
      <p:sp>
        <p:nvSpPr>
          <p:cNvPr id="51" name="s12-forma-46"/>
          <p:cNvSpPr/>
          <p:nvPr/>
        </p:nvSpPr>
        <p:spPr>
          <a:xfrm>
            <a:off x="0" y="0"/>
            <a:ext cx="6650016" cy="17139"/>
          </a:xfrm>
          <a:prstGeom prst="rect">
            <a:avLst/>
          </a:prstGeom>
          <a:solidFill>
            <a:srgbClr val="0033A0"/>
          </a:solidFill>
          <a:ln/>
        </p:spPr>
        <p:txBody>
          <a:bodyPr/>
          <a:lstStyle/>
          <a:p>
            <a:endParaRPr lang="es-MX"/>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8DC"/>
        </a:solidFill>
        <a:effectLst/>
      </p:bgPr>
    </p:bg>
    <p:spTree>
      <p:nvGrpSpPr>
        <p:cNvPr id="1" name=""/>
        <p:cNvGrpSpPr/>
        <p:nvPr/>
      </p:nvGrpSpPr>
      <p:grpSpPr>
        <a:xfrm>
          <a:off x="0" y="0"/>
          <a:ext cx="0" cy="0"/>
          <a:chOff x="0" y="0"/>
          <a:chExt cx="0" cy="0"/>
        </a:xfrm>
      </p:grpSpPr>
      <p:sp>
        <p:nvSpPr>
          <p:cNvPr id="2" name="s13-forma-1"/>
          <p:cNvSpPr/>
          <p:nvPr/>
        </p:nvSpPr>
        <p:spPr>
          <a:xfrm>
            <a:off x="853390" y="520961"/>
            <a:ext cx="10484915" cy="5713"/>
          </a:xfrm>
          <a:prstGeom prst="rect">
            <a:avLst/>
          </a:prstGeom>
          <a:solidFill>
            <a:srgbClr val="C6BFAE"/>
          </a:solidFill>
          <a:ln/>
        </p:spPr>
        <p:txBody>
          <a:bodyPr/>
          <a:lstStyle/>
          <a:p>
            <a:endParaRPr lang="es-MX"/>
          </a:p>
        </p:txBody>
      </p:sp>
      <p:sp>
        <p:nvSpPr>
          <p:cNvPr id="3" name="s13-forma-2"/>
          <p:cNvSpPr/>
          <p:nvPr/>
        </p:nvSpPr>
        <p:spPr>
          <a:xfrm>
            <a:off x="853390" y="331715"/>
            <a:ext cx="81411" cy="81411"/>
          </a:xfrm>
          <a:prstGeom prst="ellipse">
            <a:avLst/>
          </a:prstGeom>
          <a:solidFill>
            <a:srgbClr val="0E6871"/>
          </a:solidFill>
          <a:ln/>
        </p:spPr>
        <p:txBody>
          <a:bodyPr/>
          <a:lstStyle/>
          <a:p>
            <a:endParaRPr lang="es-MX"/>
          </a:p>
        </p:txBody>
      </p:sp>
      <p:sp>
        <p:nvSpPr>
          <p:cNvPr id="4" name="s13-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0E6871"/>
                </a:solidFill>
                <a:latin typeface="Courier New" pitchFamily="34" charset="0"/>
                <a:ea typeface="Courier New" pitchFamily="34" charset="-122"/>
                <a:cs typeface="Courier New" pitchFamily="34" charset="-120"/>
              </a:rPr>
              <a:t>ACOMPAÑA</a:t>
            </a:r>
            <a:endParaRPr lang="en-US" sz="807" dirty="0"/>
          </a:p>
        </p:txBody>
      </p:sp>
      <p:sp>
        <p:nvSpPr>
          <p:cNvPr id="5" name="s13-texto-4"/>
          <p:cNvSpPr txBox="1"/>
          <p:nvPr/>
        </p:nvSpPr>
        <p:spPr>
          <a:xfrm>
            <a:off x="10477327" y="315290"/>
            <a:ext cx="912636"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0:43 · 5 min</a:t>
            </a:r>
            <a:endParaRPr lang="en-US" sz="807" dirty="0"/>
          </a:p>
        </p:txBody>
      </p:sp>
      <p:sp>
        <p:nvSpPr>
          <p:cNvPr id="6" name="s13-forma-5"/>
          <p:cNvSpPr/>
          <p:nvPr/>
        </p:nvSpPr>
        <p:spPr>
          <a:xfrm>
            <a:off x="5885535" y="2400561"/>
            <a:ext cx="420446" cy="17139"/>
          </a:xfrm>
          <a:prstGeom prst="rect">
            <a:avLst/>
          </a:prstGeom>
          <a:solidFill>
            <a:srgbClr val="0033A0"/>
          </a:solidFill>
          <a:ln/>
        </p:spPr>
        <p:txBody>
          <a:bodyPr/>
          <a:lstStyle/>
          <a:p>
            <a:endParaRPr lang="es-MX"/>
          </a:p>
        </p:txBody>
      </p:sp>
      <p:sp>
        <p:nvSpPr>
          <p:cNvPr id="7" name="s13-texto-6"/>
          <p:cNvSpPr txBox="1"/>
          <p:nvPr/>
        </p:nvSpPr>
        <p:spPr>
          <a:xfrm>
            <a:off x="538843" y="2543388"/>
            <a:ext cx="11114010" cy="377063"/>
          </a:xfrm>
          <a:prstGeom prst="rect">
            <a:avLst/>
          </a:prstGeom>
          <a:noFill/>
          <a:ln/>
        </p:spPr>
        <p:txBody>
          <a:bodyPr wrap="none" lIns="0" tIns="0" rIns="0" bIns="0" rtlCol="0" anchor="t"/>
          <a:lstStyle/>
          <a:p>
            <a:pPr marL="0" indent="0" algn="ctr">
              <a:lnSpc>
                <a:spcPts val="2890"/>
              </a:lnSpc>
              <a:buNone/>
            </a:pPr>
            <a:r>
              <a:rPr lang="en-US" sz="2535" b="1" kern="0" spc="-38" dirty="0">
                <a:solidFill>
                  <a:srgbClr val="16181D"/>
                </a:solidFill>
                <a:latin typeface="Georgia" pitchFamily="34" charset="0"/>
                <a:ea typeface="Georgia" pitchFamily="34" charset="-122"/>
                <a:cs typeface="Georgia" pitchFamily="34" charset="-120"/>
              </a:rPr>
              <a:t>DESCANSO</a:t>
            </a:r>
            <a:endParaRPr lang="en-US" sz="2535" dirty="0"/>
          </a:p>
        </p:txBody>
      </p:sp>
      <p:sp>
        <p:nvSpPr>
          <p:cNvPr id="8" name="s13-texto-7"/>
          <p:cNvSpPr txBox="1"/>
          <p:nvPr/>
        </p:nvSpPr>
        <p:spPr>
          <a:xfrm>
            <a:off x="538843" y="3270644"/>
            <a:ext cx="11114010" cy="816969"/>
          </a:xfrm>
          <a:prstGeom prst="rect">
            <a:avLst/>
          </a:prstGeom>
          <a:noFill/>
          <a:ln/>
        </p:spPr>
        <p:txBody>
          <a:bodyPr wrap="none" lIns="0" tIns="0" rIns="0" bIns="0" rtlCol="0" anchor="t"/>
          <a:lstStyle/>
          <a:p>
            <a:pPr marL="0" indent="0" algn="ctr">
              <a:lnSpc>
                <a:spcPts val="6829"/>
              </a:lnSpc>
              <a:buNone/>
            </a:pPr>
            <a:r>
              <a:rPr lang="en-US" sz="5691" b="1" dirty="0">
                <a:solidFill>
                  <a:srgbClr val="0E6871"/>
                </a:solidFill>
                <a:latin typeface="Courier New" pitchFamily="34" charset="0"/>
                <a:ea typeface="Courier New" pitchFamily="34" charset="-122"/>
                <a:cs typeface="Courier New" pitchFamily="34" charset="-120"/>
              </a:rPr>
              <a:t>5:00</a:t>
            </a:r>
            <a:endParaRPr lang="en-US" sz="5691" dirty="0"/>
          </a:p>
        </p:txBody>
      </p:sp>
      <p:sp>
        <p:nvSpPr>
          <p:cNvPr id="9" name="s13-texto-8"/>
          <p:cNvSpPr txBox="1"/>
          <p:nvPr/>
        </p:nvSpPr>
        <p:spPr>
          <a:xfrm>
            <a:off x="538843" y="4305782"/>
            <a:ext cx="11114010" cy="177105"/>
          </a:xfrm>
          <a:prstGeom prst="rect">
            <a:avLst/>
          </a:prstGeom>
          <a:noFill/>
          <a:ln/>
        </p:spPr>
        <p:txBody>
          <a:bodyPr wrap="none" lIns="0" tIns="0" rIns="0" bIns="0" rtlCol="0" anchor="t"/>
          <a:lstStyle/>
          <a:p>
            <a:pPr marL="0" indent="0" algn="ctr">
              <a:lnSpc>
                <a:spcPts val="1987"/>
              </a:lnSpc>
              <a:buNone/>
            </a:pPr>
            <a:r>
              <a:rPr lang="en-US" sz="1242" dirty="0">
                <a:solidFill>
                  <a:srgbClr val="585E6F"/>
                </a:solidFill>
                <a:latin typeface="Arial" pitchFamily="34" charset="0"/>
                <a:ea typeface="Arial" pitchFamily="34" charset="-122"/>
                <a:cs typeface="Arial" pitchFamily="34" charset="-120"/>
              </a:rPr>
              <a:t>Volvemos con el Lab 4: probar todo, atacar y defender.</a:t>
            </a:r>
            <a:endParaRPr lang="en-US" sz="1242" dirty="0"/>
          </a:p>
        </p:txBody>
      </p:sp>
      <p:sp>
        <p:nvSpPr>
          <p:cNvPr id="10" name="s13-forma-9"/>
          <p:cNvSpPr/>
          <p:nvPr/>
        </p:nvSpPr>
        <p:spPr>
          <a:xfrm>
            <a:off x="853390" y="6411138"/>
            <a:ext cx="10484915" cy="5713"/>
          </a:xfrm>
          <a:prstGeom prst="rect">
            <a:avLst/>
          </a:prstGeom>
          <a:solidFill>
            <a:srgbClr val="DBD4C4"/>
          </a:solidFill>
          <a:ln/>
        </p:spPr>
        <p:txBody>
          <a:bodyPr/>
          <a:lstStyle/>
          <a:p>
            <a:endParaRPr lang="es-MX"/>
          </a:p>
        </p:txBody>
      </p:sp>
      <p:pic>
        <p:nvPicPr>
          <p:cNvPr id="11" name="s13-logo-10" descr="preencoded.png"/>
          <p:cNvPicPr>
            <a:picLocks noChangeAspect="1"/>
          </p:cNvPicPr>
          <p:nvPr/>
        </p:nvPicPr>
        <p:blipFill>
          <a:blip r:embed="rId3"/>
          <a:stretch>
            <a:fillRect/>
          </a:stretch>
        </p:blipFill>
        <p:spPr>
          <a:xfrm>
            <a:off x="853390" y="6465055"/>
            <a:ext cx="687800" cy="212455"/>
          </a:xfrm>
          <a:prstGeom prst="rect">
            <a:avLst/>
          </a:prstGeom>
        </p:spPr>
      </p:pic>
      <p:sp>
        <p:nvSpPr>
          <p:cNvPr id="12" name="s13-forma-11"/>
          <p:cNvSpPr/>
          <p:nvPr/>
        </p:nvSpPr>
        <p:spPr>
          <a:xfrm>
            <a:off x="1659380" y="6519865"/>
            <a:ext cx="3578704" cy="102835"/>
          </a:xfrm>
          <a:prstGeom prst="rect">
            <a:avLst/>
          </a:prstGeom>
          <a:ln/>
        </p:spPr>
        <p:txBody>
          <a:bodyPr/>
          <a:lstStyle/>
          <a:p>
            <a:endParaRPr lang="es-MX"/>
          </a:p>
        </p:txBody>
      </p:sp>
      <p:sp>
        <p:nvSpPr>
          <p:cNvPr id="13" name="s13-forma-12"/>
          <p:cNvSpPr/>
          <p:nvPr/>
        </p:nvSpPr>
        <p:spPr>
          <a:xfrm>
            <a:off x="1659380" y="6519865"/>
            <a:ext cx="5713" cy="102835"/>
          </a:xfrm>
          <a:prstGeom prst="rect">
            <a:avLst/>
          </a:prstGeom>
          <a:solidFill>
            <a:srgbClr val="C6BFAE"/>
          </a:solidFill>
          <a:ln/>
        </p:spPr>
        <p:txBody>
          <a:bodyPr/>
          <a:lstStyle/>
          <a:p>
            <a:endParaRPr lang="es-MX"/>
          </a:p>
        </p:txBody>
      </p:sp>
      <p:sp>
        <p:nvSpPr>
          <p:cNvPr id="14" name="s13-texto-13"/>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5" name="s13-texto-1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13 / 22</a:t>
            </a:r>
            <a:endParaRPr lang="en-US" sz="745" dirty="0"/>
          </a:p>
        </p:txBody>
      </p:sp>
      <p:sp>
        <p:nvSpPr>
          <p:cNvPr id="16" name="s13-forma-15"/>
          <p:cNvSpPr/>
          <p:nvPr/>
        </p:nvSpPr>
        <p:spPr>
          <a:xfrm>
            <a:off x="0" y="0"/>
            <a:ext cx="7204184" cy="17139"/>
          </a:xfrm>
          <a:prstGeom prst="rect">
            <a:avLst/>
          </a:prstGeom>
          <a:solidFill>
            <a:srgbClr val="0033A0"/>
          </a:solidFill>
          <a:ln/>
        </p:spPr>
        <p:txBody>
          <a:bodyPr/>
          <a:lstStyle/>
          <a:p>
            <a:endParaRPr lang="es-MX"/>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8DC"/>
        </a:solidFill>
        <a:effectLst/>
      </p:bgPr>
    </p:bg>
    <p:spTree>
      <p:nvGrpSpPr>
        <p:cNvPr id="1" name=""/>
        <p:cNvGrpSpPr/>
        <p:nvPr/>
      </p:nvGrpSpPr>
      <p:grpSpPr>
        <a:xfrm>
          <a:off x="0" y="0"/>
          <a:ext cx="0" cy="0"/>
          <a:chOff x="0" y="0"/>
          <a:chExt cx="0" cy="0"/>
        </a:xfrm>
      </p:grpSpPr>
      <p:sp>
        <p:nvSpPr>
          <p:cNvPr id="2" name="s14-forma-1"/>
          <p:cNvSpPr/>
          <p:nvPr/>
        </p:nvSpPr>
        <p:spPr>
          <a:xfrm>
            <a:off x="853390" y="331715"/>
            <a:ext cx="81411" cy="81411"/>
          </a:xfrm>
          <a:prstGeom prst="ellipse">
            <a:avLst/>
          </a:prstGeom>
          <a:solidFill>
            <a:srgbClr val="1B6A43"/>
          </a:solidFill>
          <a:ln/>
        </p:spPr>
        <p:txBody>
          <a:bodyPr/>
          <a:lstStyle/>
          <a:p>
            <a:endParaRPr lang="es-MX"/>
          </a:p>
        </p:txBody>
      </p:sp>
      <p:sp>
        <p:nvSpPr>
          <p:cNvPr id="3" name="s14-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14-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0:48 · 25 min</a:t>
            </a:r>
            <a:endParaRPr lang="en-US" sz="807" dirty="0"/>
          </a:p>
        </p:txBody>
      </p:sp>
      <p:sp>
        <p:nvSpPr>
          <p:cNvPr id="5" name="s14-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4A</a:t>
            </a:r>
            <a:endParaRPr lang="en-US" sz="869" dirty="0"/>
          </a:p>
        </p:txBody>
      </p:sp>
      <p:sp>
        <p:nvSpPr>
          <p:cNvPr id="6" name="s14-forma-5"/>
          <p:cNvSpPr/>
          <p:nvPr/>
        </p:nvSpPr>
        <p:spPr>
          <a:xfrm>
            <a:off x="853390" y="4059138"/>
            <a:ext cx="722704" cy="22852"/>
          </a:xfrm>
          <a:prstGeom prst="rect">
            <a:avLst/>
          </a:prstGeom>
          <a:solidFill>
            <a:srgbClr val="0033A0"/>
          </a:solidFill>
          <a:ln/>
        </p:spPr>
        <p:txBody>
          <a:bodyPr/>
          <a:lstStyle/>
          <a:p>
            <a:endParaRPr lang="es-MX"/>
          </a:p>
        </p:txBody>
      </p:sp>
      <p:sp>
        <p:nvSpPr>
          <p:cNvPr id="7" name="s14-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La fábrica completa con HU-03</a:t>
            </a:r>
            <a:endParaRPr lang="en-US" sz="4242" dirty="0"/>
          </a:p>
        </p:txBody>
      </p:sp>
      <p:sp>
        <p:nvSpPr>
          <p:cNvPr id="8" name="s14-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Seis agentes de punta a punta y el reporte E2E.</a:t>
            </a:r>
            <a:endParaRPr lang="en-US" sz="1676" dirty="0"/>
          </a:p>
        </p:txBody>
      </p:sp>
      <p:pic>
        <p:nvPicPr>
          <p:cNvPr id="9" name="s14-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4-forma-9"/>
          <p:cNvSpPr/>
          <p:nvPr/>
        </p:nvSpPr>
        <p:spPr>
          <a:xfrm>
            <a:off x="1659380" y="6519865"/>
            <a:ext cx="3578704" cy="102835"/>
          </a:xfrm>
          <a:prstGeom prst="rect">
            <a:avLst/>
          </a:prstGeom>
          <a:ln/>
        </p:spPr>
        <p:txBody>
          <a:bodyPr/>
          <a:lstStyle/>
          <a:p>
            <a:endParaRPr lang="es-MX"/>
          </a:p>
        </p:txBody>
      </p:sp>
      <p:sp>
        <p:nvSpPr>
          <p:cNvPr id="11" name="s14-forma-10"/>
          <p:cNvSpPr/>
          <p:nvPr/>
        </p:nvSpPr>
        <p:spPr>
          <a:xfrm>
            <a:off x="1659380" y="6519865"/>
            <a:ext cx="5713" cy="102835"/>
          </a:xfrm>
          <a:prstGeom prst="rect">
            <a:avLst/>
          </a:prstGeom>
          <a:solidFill>
            <a:srgbClr val="C6BFAE"/>
          </a:solidFill>
          <a:ln/>
        </p:spPr>
        <p:txBody>
          <a:bodyPr/>
          <a:lstStyle/>
          <a:p>
            <a:endParaRPr lang="es-MX"/>
          </a:p>
        </p:txBody>
      </p:sp>
      <p:sp>
        <p:nvSpPr>
          <p:cNvPr id="12" name="s14-texto-1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3" name="s14-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14 / 22</a:t>
            </a:r>
            <a:endParaRPr lang="en-US" sz="745" dirty="0"/>
          </a:p>
        </p:txBody>
      </p:sp>
      <p:sp>
        <p:nvSpPr>
          <p:cNvPr id="14" name="s14-forma-13"/>
          <p:cNvSpPr/>
          <p:nvPr/>
        </p:nvSpPr>
        <p:spPr>
          <a:xfrm>
            <a:off x="0" y="0"/>
            <a:ext cx="7758351" cy="17139"/>
          </a:xfrm>
          <a:prstGeom prst="rect">
            <a:avLst/>
          </a:prstGeom>
          <a:solidFill>
            <a:srgbClr val="0033A0"/>
          </a:solidFill>
          <a:ln/>
        </p:spPr>
        <p:txBody>
          <a:bodyPr/>
          <a:lstStyle/>
          <a:p>
            <a:endParaRPr lang="es-MX"/>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8DC"/>
        </a:solidFill>
        <a:effectLst/>
      </p:bgPr>
    </p:bg>
    <p:spTree>
      <p:nvGrpSpPr>
        <p:cNvPr id="1" name=""/>
        <p:cNvGrpSpPr/>
        <p:nvPr/>
      </p:nvGrpSpPr>
      <p:grpSpPr>
        <a:xfrm>
          <a:off x="0" y="0"/>
          <a:ext cx="0" cy="0"/>
          <a:chOff x="0" y="0"/>
          <a:chExt cx="0" cy="0"/>
        </a:xfrm>
      </p:grpSpPr>
      <p:sp>
        <p:nvSpPr>
          <p:cNvPr id="2" name="s15-forma-1"/>
          <p:cNvSpPr/>
          <p:nvPr/>
        </p:nvSpPr>
        <p:spPr>
          <a:xfrm>
            <a:off x="853390" y="520961"/>
            <a:ext cx="10484915" cy="5713"/>
          </a:xfrm>
          <a:prstGeom prst="rect">
            <a:avLst/>
          </a:prstGeom>
          <a:solidFill>
            <a:srgbClr val="C6BFAE"/>
          </a:solidFill>
          <a:ln/>
        </p:spPr>
        <p:txBody>
          <a:bodyPr/>
          <a:lstStyle/>
          <a:p>
            <a:endParaRPr lang="es-MX"/>
          </a:p>
        </p:txBody>
      </p:sp>
      <p:sp>
        <p:nvSpPr>
          <p:cNvPr id="3" name="s15-forma-2"/>
          <p:cNvSpPr/>
          <p:nvPr/>
        </p:nvSpPr>
        <p:spPr>
          <a:xfrm>
            <a:off x="853390" y="331715"/>
            <a:ext cx="81411" cy="81411"/>
          </a:xfrm>
          <a:prstGeom prst="ellipse">
            <a:avLst/>
          </a:prstGeom>
          <a:solidFill>
            <a:srgbClr val="1B6A43"/>
          </a:solidFill>
          <a:ln/>
        </p:spPr>
        <p:txBody>
          <a:bodyPr/>
          <a:lstStyle/>
          <a:p>
            <a:endParaRPr lang="es-MX"/>
          </a:p>
        </p:txBody>
      </p:sp>
      <p:sp>
        <p:nvSpPr>
          <p:cNvPr id="4" name="s15-texto-3"/>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5" name="s15-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0:48 · 25 min</a:t>
            </a:r>
            <a:endParaRPr lang="en-US" sz="807" dirty="0"/>
          </a:p>
        </p:txBody>
      </p:sp>
      <p:sp>
        <p:nvSpPr>
          <p:cNvPr id="6" name="s15-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LAB 4 · 45 MIN · INDIVIDUAL</a:t>
            </a:r>
            <a:endParaRPr lang="en-US" sz="900" dirty="0"/>
          </a:p>
        </p:txBody>
      </p:sp>
      <p:sp>
        <p:nvSpPr>
          <p:cNvPr id="7" name="s15-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Probar todo, atacar y defender</a:t>
            </a:r>
            <a:endParaRPr lang="en-US" sz="2879" dirty="0"/>
          </a:p>
        </p:txBody>
      </p:sp>
      <p:sp>
        <p:nvSpPr>
          <p:cNvPr id="8" name="s15-forma-7"/>
          <p:cNvSpPr/>
          <p:nvPr/>
        </p:nvSpPr>
        <p:spPr>
          <a:xfrm>
            <a:off x="1342572" y="2144634"/>
            <a:ext cx="3046942" cy="1646257"/>
          </a:xfrm>
          <a:prstGeom prst="rect">
            <a:avLst/>
          </a:prstGeom>
          <a:solidFill>
            <a:srgbClr val="EDE8DC"/>
          </a:solidFill>
          <a:ln w="5713">
            <a:solidFill>
              <a:srgbClr val="C6BFAE"/>
            </a:solidFill>
            <a:prstDash val="solid"/>
          </a:ln>
        </p:spPr>
        <p:txBody>
          <a:bodyPr/>
          <a:lstStyle/>
          <a:p>
            <a:endParaRPr lang="es-MX"/>
          </a:p>
        </p:txBody>
      </p:sp>
      <p:sp>
        <p:nvSpPr>
          <p:cNvPr id="9" name="s15-texto-8"/>
          <p:cNvSpPr txBox="1"/>
          <p:nvPr/>
        </p:nvSpPr>
        <p:spPr>
          <a:xfrm>
            <a:off x="155395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4A · 25 MIN</a:t>
            </a:r>
            <a:endParaRPr lang="en-US" sz="900" dirty="0"/>
          </a:p>
        </p:txBody>
      </p:sp>
      <p:sp>
        <p:nvSpPr>
          <p:cNvPr id="10" name="s15-texto-9"/>
          <p:cNvSpPr txBox="1"/>
          <p:nvPr/>
        </p:nvSpPr>
        <p:spPr>
          <a:xfrm>
            <a:off x="155395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FÁBRICA COMPLETA</a:t>
            </a:r>
            <a:endParaRPr lang="en-US" sz="1619" dirty="0"/>
          </a:p>
        </p:txBody>
      </p:sp>
      <p:sp>
        <p:nvSpPr>
          <p:cNvPr id="11" name="s15-texto-10"/>
          <p:cNvSpPr txBox="1"/>
          <p:nvPr/>
        </p:nvSpPr>
        <p:spPr>
          <a:xfrm>
            <a:off x="155395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HU-03 con los seis agentes. Lee cada decisión del triage.</a:t>
            </a:r>
            <a:endParaRPr lang="en-US" sz="1170" dirty="0"/>
          </a:p>
        </p:txBody>
      </p:sp>
      <p:sp>
        <p:nvSpPr>
          <p:cNvPr id="12" name="s15-forma-11"/>
          <p:cNvSpPr/>
          <p:nvPr/>
        </p:nvSpPr>
        <p:spPr>
          <a:xfrm>
            <a:off x="4572332" y="2144634"/>
            <a:ext cx="3046942" cy="1646257"/>
          </a:xfrm>
          <a:prstGeom prst="rect">
            <a:avLst/>
          </a:prstGeom>
          <a:solidFill>
            <a:srgbClr val="EDE8DC"/>
          </a:solidFill>
          <a:ln w="5713">
            <a:solidFill>
              <a:srgbClr val="984514"/>
            </a:solidFill>
            <a:prstDash val="solid"/>
          </a:ln>
        </p:spPr>
        <p:txBody>
          <a:bodyPr/>
          <a:lstStyle/>
          <a:p>
            <a:endParaRPr lang="es-MX"/>
          </a:p>
        </p:txBody>
      </p:sp>
      <p:sp>
        <p:nvSpPr>
          <p:cNvPr id="13" name="s15-texto-12"/>
          <p:cNvSpPr txBox="1"/>
          <p:nvPr/>
        </p:nvSpPr>
        <p:spPr>
          <a:xfrm>
            <a:off x="478371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4B · 20 MIN</a:t>
            </a:r>
            <a:endParaRPr lang="en-US" sz="900" dirty="0"/>
          </a:p>
        </p:txBody>
      </p:sp>
      <p:sp>
        <p:nvSpPr>
          <p:cNvPr id="14" name="s15-texto-13"/>
          <p:cNvSpPr txBox="1"/>
          <p:nvPr/>
        </p:nvSpPr>
        <p:spPr>
          <a:xfrm>
            <a:off x="4783716" y="2578827"/>
            <a:ext cx="2781625" cy="239949"/>
          </a:xfrm>
          <a:prstGeom prst="rect">
            <a:avLst/>
          </a:prstGeom>
          <a:noFill/>
          <a:ln/>
        </p:spPr>
        <p:txBody>
          <a:bodyPr wrap="non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ATACAR Y DEFENDER</a:t>
            </a:r>
            <a:endParaRPr lang="en-US" sz="1619" dirty="0"/>
          </a:p>
        </p:txBody>
      </p:sp>
      <p:sp>
        <p:nvSpPr>
          <p:cNvPr id="15" name="s15-texto-14"/>
          <p:cNvSpPr txBox="1"/>
          <p:nvPr/>
        </p:nvSpPr>
        <p:spPr>
          <a:xfrm>
            <a:off x="4783716" y="2934109"/>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HU-99, la historia envenenada, con y sin defensas.</a:t>
            </a:r>
            <a:endParaRPr lang="en-US" sz="1170" dirty="0"/>
          </a:p>
        </p:txBody>
      </p:sp>
      <p:sp>
        <p:nvSpPr>
          <p:cNvPr id="16" name="s15-forma-15"/>
          <p:cNvSpPr/>
          <p:nvPr/>
        </p:nvSpPr>
        <p:spPr>
          <a:xfrm>
            <a:off x="7802092" y="2144634"/>
            <a:ext cx="3046942" cy="1646257"/>
          </a:xfrm>
          <a:prstGeom prst="rect">
            <a:avLst/>
          </a:prstGeom>
          <a:solidFill>
            <a:srgbClr val="E3DCCB"/>
          </a:solidFill>
          <a:ln w="5713">
            <a:solidFill>
              <a:srgbClr val="585E6F"/>
            </a:solidFill>
            <a:prstDash val="dash"/>
          </a:ln>
        </p:spPr>
        <p:txBody>
          <a:bodyPr/>
          <a:lstStyle/>
          <a:p>
            <a:endParaRPr lang="es-MX"/>
          </a:p>
        </p:txBody>
      </p:sp>
      <p:sp>
        <p:nvSpPr>
          <p:cNvPr id="17" name="s15-texto-16"/>
          <p:cNvSpPr txBox="1"/>
          <p:nvPr/>
        </p:nvSpPr>
        <p:spPr>
          <a:xfrm>
            <a:off x="8013476" y="2356017"/>
            <a:ext cx="2781625" cy="131401"/>
          </a:xfrm>
          <a:prstGeom prst="rect">
            <a:avLst/>
          </a:prstGeom>
          <a:noFill/>
          <a:ln/>
        </p:spPr>
        <p:txBody>
          <a:bodyPr wrap="none" lIns="0" tIns="0" rIns="0" bIns="0" rtlCol="0" anchor="t"/>
          <a:lstStyle/>
          <a:p>
            <a:pPr marL="0" indent="0" algn="l">
              <a:lnSpc>
                <a:spcPts val="1080"/>
              </a:lnSpc>
              <a:buNone/>
            </a:pPr>
            <a:r>
              <a:rPr lang="en-US" sz="900" b="1" kern="0" spc="90" dirty="0">
                <a:solidFill>
                  <a:srgbClr val="0033A0"/>
                </a:solidFill>
                <a:latin typeface="Courier New" pitchFamily="34" charset="0"/>
                <a:ea typeface="Courier New" pitchFamily="34" charset="-122"/>
                <a:cs typeface="Courier New" pitchFamily="34" charset="-120"/>
              </a:rPr>
              <a:t>DESPUÉS DE CLASE</a:t>
            </a:r>
            <a:endParaRPr lang="en-US" sz="900" dirty="0"/>
          </a:p>
        </p:txBody>
      </p:sp>
      <p:sp>
        <p:nvSpPr>
          <p:cNvPr id="18" name="s15-texto-17"/>
          <p:cNvSpPr txBox="1"/>
          <p:nvPr/>
        </p:nvSpPr>
        <p:spPr>
          <a:xfrm>
            <a:off x="8013476" y="2578827"/>
            <a:ext cx="2781625" cy="486682"/>
          </a:xfrm>
          <a:prstGeom prst="rect">
            <a:avLst/>
          </a:prstGeom>
          <a:noFill/>
          <a:ln/>
        </p:spPr>
        <p:txBody>
          <a:bodyPr wrap="square" lIns="0" tIns="0" rIns="0" bIns="0" rtlCol="0" anchor="t"/>
          <a:lstStyle/>
          <a:p>
            <a:pPr marL="0" indent="0" algn="l">
              <a:lnSpc>
                <a:spcPts val="1943"/>
              </a:lnSpc>
              <a:buNone/>
            </a:pPr>
            <a:r>
              <a:rPr lang="en-US" sz="1619" b="1" kern="0" spc="-16" dirty="0">
                <a:solidFill>
                  <a:srgbClr val="16181D"/>
                </a:solidFill>
                <a:latin typeface="Georgia" pitchFamily="34" charset="0"/>
                <a:ea typeface="Georgia" pitchFamily="34" charset="-122"/>
                <a:cs typeface="Georgia" pitchFamily="34" charset="-120"/>
              </a:rPr>
              <a:t>REPORTE DE SEGURIDAD</a:t>
            </a:r>
            <a:endParaRPr lang="en-US" sz="1619" dirty="0"/>
          </a:p>
        </p:txBody>
      </p:sp>
      <p:sp>
        <p:nvSpPr>
          <p:cNvPr id="19" name="s15-texto-18"/>
          <p:cNvSpPr txBox="1"/>
          <p:nvPr/>
        </p:nvSpPr>
        <p:spPr>
          <a:xfrm>
            <a:off x="8013476" y="3180842"/>
            <a:ext cx="2781625"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salida/seguridad.md, con el reto. Opcional: el contexto envenenado.</a:t>
            </a:r>
            <a:endParaRPr lang="en-US" sz="1170" dirty="0"/>
          </a:p>
        </p:txBody>
      </p:sp>
      <p:sp>
        <p:nvSpPr>
          <p:cNvPr id="20" name="s15-forma-19"/>
          <p:cNvSpPr/>
          <p:nvPr/>
        </p:nvSpPr>
        <p:spPr>
          <a:xfrm>
            <a:off x="1342572" y="4065118"/>
            <a:ext cx="9506551" cy="948370"/>
          </a:xfrm>
          <a:prstGeom prst="rect">
            <a:avLst/>
          </a:prstGeom>
          <a:solidFill>
            <a:srgbClr val="E8E2D5"/>
          </a:solidFill>
          <a:ln/>
        </p:spPr>
        <p:txBody>
          <a:bodyPr/>
          <a:lstStyle/>
          <a:p>
            <a:endParaRPr lang="es-MX"/>
          </a:p>
        </p:txBody>
      </p:sp>
      <p:sp>
        <p:nvSpPr>
          <p:cNvPr id="21" name="s15-forma-20"/>
          <p:cNvSpPr/>
          <p:nvPr/>
        </p:nvSpPr>
        <p:spPr>
          <a:xfrm>
            <a:off x="1342572" y="4065118"/>
            <a:ext cx="9506551" cy="5713"/>
          </a:xfrm>
          <a:prstGeom prst="rect">
            <a:avLst/>
          </a:prstGeom>
          <a:solidFill>
            <a:srgbClr val="DBD4C4"/>
          </a:solidFill>
          <a:ln/>
        </p:spPr>
        <p:txBody>
          <a:bodyPr/>
          <a:lstStyle/>
          <a:p>
            <a:endParaRPr lang="es-MX"/>
          </a:p>
        </p:txBody>
      </p:sp>
      <p:sp>
        <p:nvSpPr>
          <p:cNvPr id="22" name="s15-forma-21"/>
          <p:cNvSpPr/>
          <p:nvPr/>
        </p:nvSpPr>
        <p:spPr>
          <a:xfrm>
            <a:off x="1342572" y="5007775"/>
            <a:ext cx="9506551" cy="5713"/>
          </a:xfrm>
          <a:prstGeom prst="rect">
            <a:avLst/>
          </a:prstGeom>
          <a:solidFill>
            <a:srgbClr val="DBD4C4"/>
          </a:solidFill>
          <a:ln/>
        </p:spPr>
        <p:txBody>
          <a:bodyPr/>
          <a:lstStyle/>
          <a:p>
            <a:endParaRPr lang="es-MX"/>
          </a:p>
        </p:txBody>
      </p:sp>
      <p:sp>
        <p:nvSpPr>
          <p:cNvPr id="23" name="s15-forma-22"/>
          <p:cNvSpPr/>
          <p:nvPr/>
        </p:nvSpPr>
        <p:spPr>
          <a:xfrm>
            <a:off x="1342572" y="4065118"/>
            <a:ext cx="17139" cy="948370"/>
          </a:xfrm>
          <a:prstGeom prst="rect">
            <a:avLst/>
          </a:prstGeom>
          <a:solidFill>
            <a:srgbClr val="C6BFAE"/>
          </a:solidFill>
          <a:ln/>
        </p:spPr>
        <p:txBody>
          <a:bodyPr/>
          <a:lstStyle/>
          <a:p>
            <a:endParaRPr lang="es-MX"/>
          </a:p>
        </p:txBody>
      </p:sp>
      <p:sp>
        <p:nvSpPr>
          <p:cNvPr id="24" name="s15-forma-23"/>
          <p:cNvSpPr/>
          <p:nvPr/>
        </p:nvSpPr>
        <p:spPr>
          <a:xfrm>
            <a:off x="10843410" y="4065118"/>
            <a:ext cx="5713" cy="948370"/>
          </a:xfrm>
          <a:prstGeom prst="rect">
            <a:avLst/>
          </a:prstGeom>
          <a:solidFill>
            <a:srgbClr val="DBD4C4"/>
          </a:solidFill>
          <a:ln/>
        </p:spPr>
        <p:txBody>
          <a:bodyPr/>
          <a:lstStyle/>
          <a:p>
            <a:endParaRPr lang="es-MX"/>
          </a:p>
        </p:txBody>
      </p:sp>
      <p:sp>
        <p:nvSpPr>
          <p:cNvPr id="25" name="s15-texto-24"/>
          <p:cNvSpPr txBox="1"/>
          <p:nvPr/>
        </p:nvSpPr>
        <p:spPr>
          <a:xfrm>
            <a:off x="1588234" y="4253650"/>
            <a:ext cx="9568253" cy="565594"/>
          </a:xfrm>
          <a:prstGeom prst="rect">
            <a:avLst/>
          </a:prstGeom>
          <a:noFill/>
          <a:ln/>
        </p:spPr>
        <p:txBody>
          <a:bodyPr wrap="square" lIns="0" tIns="0" rIns="0" bIns="0" rtlCol="0" anchor="t"/>
          <a:lstStyle/>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flujos.flujo_s4 historias/HU-03-editar-dar-baja.md</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agentes.analista historias/HU-99-envenenada.md   </a:t>
            </a:r>
            <a:r>
              <a:rPr lang="en-US" sz="1080" dirty="0">
                <a:solidFill>
                  <a:srgbClr val="585E6F"/>
                </a:solidFill>
                <a:latin typeface="Courier New" pitchFamily="34" charset="0"/>
                <a:ea typeface="Courier New" pitchFamily="34" charset="-122"/>
                <a:cs typeface="Courier New" pitchFamily="34" charset="-120"/>
              </a:rPr>
              <a:t># ¿la orden llega?</a:t>
            </a:r>
            <a:endParaRPr lang="en-US" sz="1080" dirty="0"/>
          </a:p>
          <a:p>
            <a:pPr marL="0" indent="0" algn="l">
              <a:lnSpc>
                <a:spcPts val="1619"/>
              </a:lnSpc>
              <a:buNone/>
            </a:pPr>
            <a:r>
              <a:rPr lang="en-US" sz="1080" dirty="0">
                <a:solidFill>
                  <a:srgbClr val="16181D"/>
                </a:solidFill>
                <a:latin typeface="Courier New" pitchFamily="34" charset="0"/>
                <a:ea typeface="Courier New" pitchFamily="34" charset="-122"/>
                <a:cs typeface="Courier New" pitchFamily="34" charset="-120"/>
              </a:rPr>
              <a:t>python -m flujos.flujo_s4 historias/HU-99-envenenada.md    </a:t>
            </a:r>
            <a:r>
              <a:rPr lang="en-US" sz="1080" dirty="0">
                <a:solidFill>
                  <a:srgbClr val="585E6F"/>
                </a:solidFill>
                <a:latin typeface="Courier New" pitchFamily="34" charset="0"/>
                <a:ea typeface="Courier New" pitchFamily="34" charset="-122"/>
                <a:cs typeface="Courier New" pitchFamily="34" charset="-120"/>
              </a:rPr>
              <a:t># ¿se bloquea?</a:t>
            </a:r>
            <a:endParaRPr lang="en-US" sz="1080" dirty="0"/>
          </a:p>
        </p:txBody>
      </p:sp>
      <p:sp>
        <p:nvSpPr>
          <p:cNvPr id="26" name="s15-texto-25"/>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Regla: los ataques apuntan solo a secretos_demo.txt, nunca al .env real</a:t>
            </a:r>
            <a:endParaRPr lang="en-US" sz="1080" dirty="0"/>
          </a:p>
        </p:txBody>
      </p:sp>
      <p:sp>
        <p:nvSpPr>
          <p:cNvPr id="27" name="s15-forma-26"/>
          <p:cNvSpPr/>
          <p:nvPr/>
        </p:nvSpPr>
        <p:spPr>
          <a:xfrm>
            <a:off x="853390" y="6411138"/>
            <a:ext cx="10484915" cy="5713"/>
          </a:xfrm>
          <a:prstGeom prst="rect">
            <a:avLst/>
          </a:prstGeom>
          <a:solidFill>
            <a:srgbClr val="DBD4C4"/>
          </a:solidFill>
          <a:ln/>
        </p:spPr>
        <p:txBody>
          <a:bodyPr/>
          <a:lstStyle/>
          <a:p>
            <a:endParaRPr lang="es-MX"/>
          </a:p>
        </p:txBody>
      </p:sp>
      <p:pic>
        <p:nvPicPr>
          <p:cNvPr id="28" name="s15-logo-27" descr="preencoded.png"/>
          <p:cNvPicPr>
            <a:picLocks noChangeAspect="1"/>
          </p:cNvPicPr>
          <p:nvPr/>
        </p:nvPicPr>
        <p:blipFill>
          <a:blip r:embed="rId3"/>
          <a:stretch>
            <a:fillRect/>
          </a:stretch>
        </p:blipFill>
        <p:spPr>
          <a:xfrm>
            <a:off x="853390" y="6465055"/>
            <a:ext cx="687800" cy="212455"/>
          </a:xfrm>
          <a:prstGeom prst="rect">
            <a:avLst/>
          </a:prstGeom>
        </p:spPr>
      </p:pic>
      <p:sp>
        <p:nvSpPr>
          <p:cNvPr id="29" name="s15-forma-28"/>
          <p:cNvSpPr/>
          <p:nvPr/>
        </p:nvSpPr>
        <p:spPr>
          <a:xfrm>
            <a:off x="1659380" y="6519865"/>
            <a:ext cx="3578704" cy="102835"/>
          </a:xfrm>
          <a:prstGeom prst="rect">
            <a:avLst/>
          </a:prstGeom>
          <a:ln/>
        </p:spPr>
        <p:txBody>
          <a:bodyPr/>
          <a:lstStyle/>
          <a:p>
            <a:endParaRPr lang="es-MX"/>
          </a:p>
        </p:txBody>
      </p:sp>
      <p:sp>
        <p:nvSpPr>
          <p:cNvPr id="30" name="s15-forma-29"/>
          <p:cNvSpPr/>
          <p:nvPr/>
        </p:nvSpPr>
        <p:spPr>
          <a:xfrm>
            <a:off x="1659380" y="6519865"/>
            <a:ext cx="5713" cy="102835"/>
          </a:xfrm>
          <a:prstGeom prst="rect">
            <a:avLst/>
          </a:prstGeom>
          <a:solidFill>
            <a:srgbClr val="C6BFAE"/>
          </a:solidFill>
          <a:ln/>
        </p:spPr>
        <p:txBody>
          <a:bodyPr/>
          <a:lstStyle/>
          <a:p>
            <a:endParaRPr lang="es-MX"/>
          </a:p>
        </p:txBody>
      </p:sp>
      <p:sp>
        <p:nvSpPr>
          <p:cNvPr id="31" name="s15-texto-30"/>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32" name="s15-texto-31"/>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15 / 22</a:t>
            </a:r>
            <a:endParaRPr lang="en-US" sz="745" dirty="0"/>
          </a:p>
        </p:txBody>
      </p:sp>
      <p:sp>
        <p:nvSpPr>
          <p:cNvPr id="33" name="s15-forma-32"/>
          <p:cNvSpPr/>
          <p:nvPr/>
        </p:nvSpPr>
        <p:spPr>
          <a:xfrm>
            <a:off x="0" y="0"/>
            <a:ext cx="8312519" cy="17139"/>
          </a:xfrm>
          <a:prstGeom prst="rect">
            <a:avLst/>
          </a:prstGeom>
          <a:solidFill>
            <a:srgbClr val="0033A0"/>
          </a:solidFill>
          <a:ln/>
        </p:spPr>
        <p:txBody>
          <a:bodyPr/>
          <a:lstStyle/>
          <a:p>
            <a:endParaRPr lang="es-MX"/>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8DC"/>
        </a:solidFill>
        <a:effectLst/>
      </p:bgPr>
    </p:bg>
    <p:spTree>
      <p:nvGrpSpPr>
        <p:cNvPr id="1" name=""/>
        <p:cNvGrpSpPr/>
        <p:nvPr/>
      </p:nvGrpSpPr>
      <p:grpSpPr>
        <a:xfrm>
          <a:off x="0" y="0"/>
          <a:ext cx="0" cy="0"/>
          <a:chOff x="0" y="0"/>
          <a:chExt cx="0" cy="0"/>
        </a:xfrm>
      </p:grpSpPr>
      <p:sp>
        <p:nvSpPr>
          <p:cNvPr id="2" name="s16-forma-1"/>
          <p:cNvSpPr/>
          <p:nvPr/>
        </p:nvSpPr>
        <p:spPr>
          <a:xfrm>
            <a:off x="853390" y="331715"/>
            <a:ext cx="81411" cy="81411"/>
          </a:xfrm>
          <a:prstGeom prst="ellipse">
            <a:avLst/>
          </a:prstGeom>
          <a:solidFill>
            <a:srgbClr val="1B6A43"/>
          </a:solidFill>
          <a:ln/>
        </p:spPr>
        <p:txBody>
          <a:bodyPr/>
          <a:lstStyle/>
          <a:p>
            <a:endParaRPr lang="es-MX"/>
          </a:p>
        </p:txBody>
      </p:sp>
      <p:sp>
        <p:nvSpPr>
          <p:cNvPr id="3" name="s16-texto-2"/>
          <p:cNvSpPr txBox="1"/>
          <p:nvPr/>
        </p:nvSpPr>
        <p:spPr>
          <a:xfrm>
            <a:off x="1007018" y="315290"/>
            <a:ext cx="693513"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1B6A43"/>
                </a:solidFill>
                <a:latin typeface="Courier New" pitchFamily="34" charset="0"/>
                <a:ea typeface="Courier New" pitchFamily="34" charset="-122"/>
                <a:cs typeface="Courier New" pitchFamily="34" charset="-120"/>
              </a:rPr>
              <a:t>PRACTICA</a:t>
            </a:r>
            <a:endParaRPr lang="en-US" sz="807" dirty="0"/>
          </a:p>
        </p:txBody>
      </p:sp>
      <p:sp>
        <p:nvSpPr>
          <p:cNvPr id="4" name="s16-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1:13 · 20 min</a:t>
            </a:r>
            <a:endParaRPr lang="en-US" sz="807" dirty="0"/>
          </a:p>
        </p:txBody>
      </p:sp>
      <p:sp>
        <p:nvSpPr>
          <p:cNvPr id="5" name="s16-texto-4"/>
          <p:cNvSpPr txBox="1"/>
          <p:nvPr/>
        </p:nvSpPr>
        <p:spPr>
          <a:xfrm>
            <a:off x="853390" y="267987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LABORATORIO 4B</a:t>
            </a:r>
            <a:endParaRPr lang="en-US" sz="869" dirty="0"/>
          </a:p>
        </p:txBody>
      </p:sp>
      <p:sp>
        <p:nvSpPr>
          <p:cNvPr id="6" name="s16-forma-5"/>
          <p:cNvSpPr/>
          <p:nvPr/>
        </p:nvSpPr>
        <p:spPr>
          <a:xfrm>
            <a:off x="853390" y="3768306"/>
            <a:ext cx="722704" cy="22852"/>
          </a:xfrm>
          <a:prstGeom prst="rect">
            <a:avLst/>
          </a:prstGeom>
          <a:solidFill>
            <a:srgbClr val="0033A0"/>
          </a:solidFill>
          <a:ln/>
        </p:spPr>
        <p:txBody>
          <a:bodyPr/>
          <a:lstStyle/>
          <a:p>
            <a:endParaRPr lang="es-MX"/>
          </a:p>
        </p:txBody>
      </p:sp>
      <p:sp>
        <p:nvSpPr>
          <p:cNvPr id="7" name="s16-texto-6"/>
          <p:cNvSpPr txBox="1"/>
          <p:nvPr/>
        </p:nvSpPr>
        <p:spPr>
          <a:xfrm>
            <a:off x="853390" y="2960889"/>
            <a:ext cx="7149222" cy="634151"/>
          </a:xfrm>
          <a:prstGeom prst="rect">
            <a:avLst/>
          </a:prstGeom>
          <a:noFill/>
          <a:ln/>
        </p:spPr>
        <p:txBody>
          <a:bodyPr wrap="non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Atacar y defender</a:t>
            </a:r>
            <a:endParaRPr lang="en-US" sz="4242" dirty="0"/>
          </a:p>
        </p:txBody>
      </p:sp>
      <p:sp>
        <p:nvSpPr>
          <p:cNvPr id="8" name="s16-texto-7"/>
          <p:cNvSpPr txBox="1"/>
          <p:nvPr/>
        </p:nvSpPr>
        <p:spPr>
          <a:xfrm>
            <a:off x="853390" y="3969960"/>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HU-99, la historia envenenada, con y sin defensas.</a:t>
            </a:r>
            <a:endParaRPr lang="en-US" sz="1676" dirty="0"/>
          </a:p>
        </p:txBody>
      </p:sp>
      <p:pic>
        <p:nvPicPr>
          <p:cNvPr id="9" name="s16-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6-forma-9"/>
          <p:cNvSpPr/>
          <p:nvPr/>
        </p:nvSpPr>
        <p:spPr>
          <a:xfrm>
            <a:off x="1659380" y="6519865"/>
            <a:ext cx="3578704" cy="102835"/>
          </a:xfrm>
          <a:prstGeom prst="rect">
            <a:avLst/>
          </a:prstGeom>
          <a:ln/>
        </p:spPr>
        <p:txBody>
          <a:bodyPr/>
          <a:lstStyle/>
          <a:p>
            <a:endParaRPr lang="es-MX"/>
          </a:p>
        </p:txBody>
      </p:sp>
      <p:sp>
        <p:nvSpPr>
          <p:cNvPr id="11" name="s16-forma-10"/>
          <p:cNvSpPr/>
          <p:nvPr/>
        </p:nvSpPr>
        <p:spPr>
          <a:xfrm>
            <a:off x="1659380" y="6519865"/>
            <a:ext cx="5713" cy="102835"/>
          </a:xfrm>
          <a:prstGeom prst="rect">
            <a:avLst/>
          </a:prstGeom>
          <a:solidFill>
            <a:srgbClr val="C6BFAE"/>
          </a:solidFill>
          <a:ln/>
        </p:spPr>
        <p:txBody>
          <a:bodyPr/>
          <a:lstStyle/>
          <a:p>
            <a:endParaRPr lang="es-MX"/>
          </a:p>
        </p:txBody>
      </p:sp>
      <p:sp>
        <p:nvSpPr>
          <p:cNvPr id="12" name="s16-texto-1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3" name="s16-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16 / 22</a:t>
            </a:r>
            <a:endParaRPr lang="en-US" sz="745" dirty="0"/>
          </a:p>
        </p:txBody>
      </p:sp>
      <p:sp>
        <p:nvSpPr>
          <p:cNvPr id="14" name="s16-forma-13"/>
          <p:cNvSpPr/>
          <p:nvPr/>
        </p:nvSpPr>
        <p:spPr>
          <a:xfrm>
            <a:off x="0" y="0"/>
            <a:ext cx="8866687" cy="17139"/>
          </a:xfrm>
          <a:prstGeom prst="rect">
            <a:avLst/>
          </a:prstGeom>
          <a:solidFill>
            <a:srgbClr val="0033A0"/>
          </a:solidFill>
          <a:ln/>
        </p:spPr>
        <p:txBody>
          <a:bodyPr/>
          <a:lstStyle/>
          <a:p>
            <a:endParaRPr lang="es-MX"/>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8DC"/>
        </a:solidFill>
        <a:effectLst/>
      </p:bgPr>
    </p:bg>
    <p:spTree>
      <p:nvGrpSpPr>
        <p:cNvPr id="1" name=""/>
        <p:cNvGrpSpPr/>
        <p:nvPr/>
      </p:nvGrpSpPr>
      <p:grpSpPr>
        <a:xfrm>
          <a:off x="0" y="0"/>
          <a:ext cx="0" cy="0"/>
          <a:chOff x="0" y="0"/>
          <a:chExt cx="0" cy="0"/>
        </a:xfrm>
      </p:grpSpPr>
      <p:sp>
        <p:nvSpPr>
          <p:cNvPr id="2" name="s17-forma-1"/>
          <p:cNvSpPr/>
          <p:nvPr/>
        </p:nvSpPr>
        <p:spPr>
          <a:xfrm>
            <a:off x="853390" y="331715"/>
            <a:ext cx="81411" cy="81411"/>
          </a:xfrm>
          <a:prstGeom prst="ellipse">
            <a:avLst/>
          </a:prstGeom>
          <a:solidFill>
            <a:srgbClr val="984514"/>
          </a:solidFill>
          <a:ln/>
        </p:spPr>
        <p:txBody>
          <a:bodyPr/>
          <a:lstStyle/>
          <a:p>
            <a:endParaRPr lang="es-MX"/>
          </a:p>
        </p:txBody>
      </p:sp>
      <p:sp>
        <p:nvSpPr>
          <p:cNvPr id="3" name="s17-texto-2"/>
          <p:cNvSpPr txBox="1"/>
          <p:nvPr/>
        </p:nvSpPr>
        <p:spPr>
          <a:xfrm>
            <a:off x="1007018" y="315290"/>
            <a:ext cx="369654"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984514"/>
                </a:solidFill>
                <a:latin typeface="Courier New" pitchFamily="34" charset="0"/>
                <a:ea typeface="Courier New" pitchFamily="34" charset="-122"/>
                <a:cs typeface="Courier New" pitchFamily="34" charset="-120"/>
              </a:rPr>
              <a:t>RETA</a:t>
            </a:r>
            <a:endParaRPr lang="en-US" sz="807" dirty="0"/>
          </a:p>
        </p:txBody>
      </p:sp>
      <p:sp>
        <p:nvSpPr>
          <p:cNvPr id="4" name="s17-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1:33 · 12 min</a:t>
            </a:r>
            <a:endParaRPr lang="en-US" sz="807" dirty="0"/>
          </a:p>
        </p:txBody>
      </p:sp>
      <p:sp>
        <p:nvSpPr>
          <p:cNvPr id="5" name="s17-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EVALUACIÓN</a:t>
            </a:r>
            <a:endParaRPr lang="en-US" sz="869" dirty="0"/>
          </a:p>
        </p:txBody>
      </p:sp>
      <p:sp>
        <p:nvSpPr>
          <p:cNvPr id="6" name="s17-forma-5"/>
          <p:cNvSpPr/>
          <p:nvPr/>
        </p:nvSpPr>
        <p:spPr>
          <a:xfrm>
            <a:off x="853390" y="4059138"/>
            <a:ext cx="722704" cy="22852"/>
          </a:xfrm>
          <a:prstGeom prst="rect">
            <a:avLst/>
          </a:prstGeom>
          <a:solidFill>
            <a:srgbClr val="0033A0"/>
          </a:solidFill>
          <a:ln/>
        </p:spPr>
        <p:txBody>
          <a:bodyPr/>
          <a:lstStyle/>
          <a:p>
            <a:endParaRPr lang="es-MX"/>
          </a:p>
        </p:txBody>
      </p:sp>
      <p:sp>
        <p:nvSpPr>
          <p:cNvPr id="7" name="s17-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Reto HU-10 y examen en línea</a:t>
            </a:r>
            <a:endParaRPr lang="en-US" sz="4242" dirty="0"/>
          </a:p>
        </p:txBody>
      </p:sp>
      <p:sp>
        <p:nvSpPr>
          <p:cNvPr id="8" name="s17-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El reporte de seguridad se entrega con el reto.</a:t>
            </a:r>
            <a:endParaRPr lang="en-US" sz="1676" dirty="0"/>
          </a:p>
        </p:txBody>
      </p:sp>
      <p:pic>
        <p:nvPicPr>
          <p:cNvPr id="9" name="s17-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17-forma-9"/>
          <p:cNvSpPr/>
          <p:nvPr/>
        </p:nvSpPr>
        <p:spPr>
          <a:xfrm>
            <a:off x="1659380" y="6519865"/>
            <a:ext cx="3578704" cy="102835"/>
          </a:xfrm>
          <a:prstGeom prst="rect">
            <a:avLst/>
          </a:prstGeom>
          <a:ln/>
        </p:spPr>
        <p:txBody>
          <a:bodyPr/>
          <a:lstStyle/>
          <a:p>
            <a:endParaRPr lang="es-MX"/>
          </a:p>
        </p:txBody>
      </p:sp>
      <p:sp>
        <p:nvSpPr>
          <p:cNvPr id="11" name="s17-forma-10"/>
          <p:cNvSpPr/>
          <p:nvPr/>
        </p:nvSpPr>
        <p:spPr>
          <a:xfrm>
            <a:off x="1659380" y="6519865"/>
            <a:ext cx="5713" cy="102835"/>
          </a:xfrm>
          <a:prstGeom prst="rect">
            <a:avLst/>
          </a:prstGeom>
          <a:solidFill>
            <a:srgbClr val="C6BFAE"/>
          </a:solidFill>
          <a:ln/>
        </p:spPr>
        <p:txBody>
          <a:bodyPr/>
          <a:lstStyle/>
          <a:p>
            <a:endParaRPr lang="es-MX"/>
          </a:p>
        </p:txBody>
      </p:sp>
      <p:sp>
        <p:nvSpPr>
          <p:cNvPr id="12" name="s17-texto-1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3" name="s17-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17 / 22</a:t>
            </a:r>
            <a:endParaRPr lang="en-US" sz="745" dirty="0"/>
          </a:p>
        </p:txBody>
      </p:sp>
      <p:sp>
        <p:nvSpPr>
          <p:cNvPr id="14" name="s17-forma-13"/>
          <p:cNvSpPr/>
          <p:nvPr/>
        </p:nvSpPr>
        <p:spPr>
          <a:xfrm>
            <a:off x="0" y="0"/>
            <a:ext cx="9420855" cy="17139"/>
          </a:xfrm>
          <a:prstGeom prst="rect">
            <a:avLst/>
          </a:prstGeom>
          <a:solidFill>
            <a:srgbClr val="0033A0"/>
          </a:solidFill>
          <a:ln/>
        </p:spPr>
        <p:txBody>
          <a:bodyPr/>
          <a:lstStyle/>
          <a:p>
            <a:endParaRPr lang="es-MX"/>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8DC"/>
        </a:solidFill>
        <a:effectLst/>
      </p:bgPr>
    </p:bg>
    <p:spTree>
      <p:nvGrpSpPr>
        <p:cNvPr id="1" name=""/>
        <p:cNvGrpSpPr/>
        <p:nvPr/>
      </p:nvGrpSpPr>
      <p:grpSpPr>
        <a:xfrm>
          <a:off x="0" y="0"/>
          <a:ext cx="0" cy="0"/>
          <a:chOff x="0" y="0"/>
          <a:chExt cx="0" cy="0"/>
        </a:xfrm>
      </p:grpSpPr>
      <p:sp>
        <p:nvSpPr>
          <p:cNvPr id="2" name="s18-forma-1"/>
          <p:cNvSpPr/>
          <p:nvPr/>
        </p:nvSpPr>
        <p:spPr>
          <a:xfrm>
            <a:off x="853390" y="520961"/>
            <a:ext cx="10484915" cy="5713"/>
          </a:xfrm>
          <a:prstGeom prst="rect">
            <a:avLst/>
          </a:prstGeom>
          <a:solidFill>
            <a:srgbClr val="C6BFAE"/>
          </a:solidFill>
          <a:ln/>
        </p:spPr>
        <p:txBody>
          <a:bodyPr/>
          <a:lstStyle/>
          <a:p>
            <a:endParaRPr lang="es-MX"/>
          </a:p>
        </p:txBody>
      </p:sp>
      <p:sp>
        <p:nvSpPr>
          <p:cNvPr id="3" name="s18-forma-2"/>
          <p:cNvSpPr/>
          <p:nvPr/>
        </p:nvSpPr>
        <p:spPr>
          <a:xfrm>
            <a:off x="853390" y="331715"/>
            <a:ext cx="81411" cy="81411"/>
          </a:xfrm>
          <a:prstGeom prst="ellipse">
            <a:avLst/>
          </a:prstGeom>
          <a:solidFill>
            <a:srgbClr val="984514"/>
          </a:solidFill>
          <a:ln/>
        </p:spPr>
        <p:txBody>
          <a:bodyPr/>
          <a:lstStyle/>
          <a:p>
            <a:endParaRPr lang="es-MX"/>
          </a:p>
        </p:txBody>
      </p:sp>
      <p:sp>
        <p:nvSpPr>
          <p:cNvPr id="4" name="s18-texto-3"/>
          <p:cNvSpPr txBox="1"/>
          <p:nvPr/>
        </p:nvSpPr>
        <p:spPr>
          <a:xfrm>
            <a:off x="1007018" y="315290"/>
            <a:ext cx="369654"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984514"/>
                </a:solidFill>
                <a:latin typeface="Courier New" pitchFamily="34" charset="0"/>
                <a:ea typeface="Courier New" pitchFamily="34" charset="-122"/>
                <a:cs typeface="Courier New" pitchFamily="34" charset="-120"/>
              </a:rPr>
              <a:t>RETA</a:t>
            </a:r>
            <a:endParaRPr lang="en-US" sz="807" dirty="0"/>
          </a:p>
        </p:txBody>
      </p:sp>
      <p:sp>
        <p:nvSpPr>
          <p:cNvPr id="5" name="s18-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1:33 · 12 min</a:t>
            </a:r>
            <a:endParaRPr lang="en-US" sz="807" dirty="0"/>
          </a:p>
        </p:txBody>
      </p:sp>
      <p:sp>
        <p:nvSpPr>
          <p:cNvPr id="6" name="s18-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EVALUACIÓN INDIVIDUAL</a:t>
            </a:r>
            <a:endParaRPr lang="en-US" sz="900" dirty="0"/>
          </a:p>
        </p:txBody>
      </p:sp>
      <p:sp>
        <p:nvSpPr>
          <p:cNvPr id="7" name="s18-texto-6"/>
          <p:cNvSpPr txBox="1"/>
          <p:nvPr/>
        </p:nvSpPr>
        <p:spPr>
          <a:xfrm>
            <a:off x="1342572" y="1451120"/>
            <a:ext cx="10076945" cy="394202"/>
          </a:xfrm>
          <a:prstGeom prst="rect">
            <a:avLst/>
          </a:prstGeom>
          <a:noFill/>
          <a:ln/>
        </p:spPr>
        <p:txBody>
          <a:bodyPr wrap="none" lIns="0" tIns="0" rIns="0" bIns="0" rtlCol="0" anchor="t"/>
          <a:lstStyle/>
          <a:p>
            <a:pPr marL="0" indent="0" algn="l">
              <a:lnSpc>
                <a:spcPts val="2920"/>
              </a:lnSpc>
              <a:buNone/>
            </a:pPr>
            <a:r>
              <a:rPr lang="en-US" sz="2654" b="1" kern="0" spc="-27" dirty="0">
                <a:solidFill>
                  <a:srgbClr val="16181D"/>
                </a:solidFill>
                <a:latin typeface="Georgia" pitchFamily="34" charset="0"/>
                <a:ea typeface="Georgia" pitchFamily="34" charset="-122"/>
                <a:cs typeface="Georgia" pitchFamily="34" charset="-120"/>
              </a:rPr>
              <a:t>Un examen de conceptos y un reto que los aplica</a:t>
            </a:r>
            <a:endParaRPr lang="en-US" sz="2654" dirty="0"/>
          </a:p>
        </p:txBody>
      </p:sp>
      <p:sp>
        <p:nvSpPr>
          <p:cNvPr id="8" name="s18-forma-7"/>
          <p:cNvSpPr/>
          <p:nvPr/>
        </p:nvSpPr>
        <p:spPr>
          <a:xfrm>
            <a:off x="1342572" y="2113212"/>
            <a:ext cx="4616162" cy="2363783"/>
          </a:xfrm>
          <a:prstGeom prst="rect">
            <a:avLst/>
          </a:prstGeom>
          <a:solidFill>
            <a:srgbClr val="E3DCCB"/>
          </a:solidFill>
          <a:ln w="5713">
            <a:solidFill>
              <a:srgbClr val="C6BFAE"/>
            </a:solidFill>
            <a:prstDash val="solid"/>
          </a:ln>
        </p:spPr>
        <p:txBody>
          <a:bodyPr/>
          <a:lstStyle/>
          <a:p>
            <a:endParaRPr lang="es-MX"/>
          </a:p>
        </p:txBody>
      </p:sp>
      <p:sp>
        <p:nvSpPr>
          <p:cNvPr id="9" name="s18-texto-8"/>
          <p:cNvSpPr txBox="1"/>
          <p:nvPr/>
        </p:nvSpPr>
        <p:spPr>
          <a:xfrm>
            <a:off x="1576808" y="2296030"/>
            <a:ext cx="4396552" cy="645577"/>
          </a:xfrm>
          <a:prstGeom prst="rect">
            <a:avLst/>
          </a:prstGeom>
          <a:noFill/>
          <a:ln/>
        </p:spPr>
        <p:txBody>
          <a:bodyPr wrap="none" lIns="0" tIns="0" rIns="0" bIns="0" rtlCol="0" anchor="t"/>
          <a:lstStyle/>
          <a:p>
            <a:pPr marL="0" indent="0" algn="l">
              <a:lnSpc>
                <a:spcPts val="4319"/>
              </a:lnSpc>
              <a:buNone/>
            </a:pPr>
            <a:r>
              <a:rPr lang="en-US" sz="4319" b="1" dirty="0">
                <a:solidFill>
                  <a:srgbClr val="585E6F"/>
                </a:solidFill>
                <a:latin typeface="Georgia" pitchFamily="34" charset="0"/>
              </a:rPr>
              <a:t>35 </a:t>
            </a:r>
            <a:r>
              <a:rPr lang="en-US" sz="2000" b="1" dirty="0">
                <a:solidFill>
                  <a:srgbClr val="585E6F"/>
                </a:solidFill>
                <a:latin typeface="Georgia" pitchFamily="34" charset="0"/>
              </a:rPr>
              <a:t>puntos</a:t>
            </a:r>
            <a:endParaRPr lang="en-US" sz="4319" dirty="0"/>
          </a:p>
        </p:txBody>
      </p:sp>
      <p:sp>
        <p:nvSpPr>
          <p:cNvPr id="10" name="s18-texto-9"/>
          <p:cNvSpPr txBox="1"/>
          <p:nvPr/>
        </p:nvSpPr>
        <p:spPr>
          <a:xfrm>
            <a:off x="1576808" y="2987312"/>
            <a:ext cx="4396552"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EXAMEN DE CONCEPTOS</a:t>
            </a:r>
            <a:endParaRPr lang="en-US" sz="1799" dirty="0"/>
          </a:p>
        </p:txBody>
      </p:sp>
      <p:sp>
        <p:nvSpPr>
          <p:cNvPr id="11" name="s18-texto-10"/>
          <p:cNvSpPr txBox="1"/>
          <p:nvPr/>
        </p:nvSpPr>
        <p:spPr>
          <a:xfrm>
            <a:off x="1576808" y="3370087"/>
            <a:ext cx="4396552" cy="848748"/>
          </a:xfrm>
          <a:prstGeom prst="rect">
            <a:avLst/>
          </a:prstGeom>
          <a:noFill/>
          <a:ln/>
        </p:spPr>
        <p:txBody>
          <a:bodyPr wrap="square" lIns="0" tIns="0" rIns="0" bIns="0" rtlCol="0" anchor="t"/>
          <a:lstStyle/>
          <a:p>
            <a:pPr marL="0" indent="0" algn="l">
              <a:lnSpc>
                <a:spcPts val="1763"/>
              </a:lnSpc>
              <a:buNone/>
            </a:pPr>
            <a:r>
              <a:rPr lang="en-US" sz="1260" dirty="0" err="1">
                <a:solidFill>
                  <a:srgbClr val="585E6F"/>
                </a:solidFill>
                <a:latin typeface="Arial" pitchFamily="34" charset="0"/>
                <a:ea typeface="Arial" pitchFamily="34" charset="-122"/>
                <a:cs typeface="Arial" pitchFamily="34" charset="-120"/>
              </a:rPr>
              <a:t>Preguntas</a:t>
            </a:r>
            <a:r>
              <a:rPr lang="en-US" sz="1260" dirty="0">
                <a:solidFill>
                  <a:srgbClr val="585E6F"/>
                </a:solidFill>
                <a:latin typeface="Arial" pitchFamily="34" charset="0"/>
                <a:ea typeface="Arial" pitchFamily="34" charset="-122"/>
                <a:cs typeface="Arial" pitchFamily="34" charset="-120"/>
              </a:rPr>
              <a:t> de opción múltiple en 30 minutos sobre agentes, salidas estructuradas, orquestación y humano, arquitecturas y seguridad.</a:t>
            </a:r>
            <a:endParaRPr lang="en-US" sz="1260" dirty="0"/>
          </a:p>
        </p:txBody>
      </p:sp>
      <p:sp>
        <p:nvSpPr>
          <p:cNvPr id="12" name="s18-forma-11"/>
          <p:cNvSpPr/>
          <p:nvPr/>
        </p:nvSpPr>
        <p:spPr>
          <a:xfrm>
            <a:off x="6232961" y="2113212"/>
            <a:ext cx="4616162" cy="2363783"/>
          </a:xfrm>
          <a:prstGeom prst="rect">
            <a:avLst/>
          </a:prstGeom>
          <a:solidFill>
            <a:srgbClr val="E2D3C2"/>
          </a:solidFill>
          <a:ln w="5713">
            <a:solidFill>
              <a:srgbClr val="984514"/>
            </a:solidFill>
            <a:prstDash val="solid"/>
          </a:ln>
        </p:spPr>
        <p:txBody>
          <a:bodyPr/>
          <a:lstStyle/>
          <a:p>
            <a:endParaRPr lang="es-MX"/>
          </a:p>
        </p:txBody>
      </p:sp>
      <p:sp>
        <p:nvSpPr>
          <p:cNvPr id="13" name="s18-texto-12"/>
          <p:cNvSpPr txBox="1"/>
          <p:nvPr/>
        </p:nvSpPr>
        <p:spPr>
          <a:xfrm>
            <a:off x="6467197" y="2296030"/>
            <a:ext cx="4396552" cy="645577"/>
          </a:xfrm>
          <a:prstGeom prst="rect">
            <a:avLst/>
          </a:prstGeom>
          <a:noFill/>
          <a:ln/>
        </p:spPr>
        <p:txBody>
          <a:bodyPr wrap="none" lIns="0" tIns="0" rIns="0" bIns="0" rtlCol="0" anchor="t"/>
          <a:lstStyle/>
          <a:p>
            <a:pPr marL="0" indent="0" algn="l">
              <a:lnSpc>
                <a:spcPts val="4319"/>
              </a:lnSpc>
              <a:buNone/>
            </a:pPr>
            <a:r>
              <a:rPr lang="en-US" sz="4319" b="1" dirty="0">
                <a:solidFill>
                  <a:srgbClr val="984514"/>
                </a:solidFill>
                <a:latin typeface="Georgia" pitchFamily="34" charset="0"/>
                <a:ea typeface="Georgia" pitchFamily="34" charset="-122"/>
                <a:cs typeface="Georgia" pitchFamily="34" charset="-120"/>
              </a:rPr>
              <a:t>35 </a:t>
            </a:r>
            <a:r>
              <a:rPr lang="en-US" sz="2000" b="1" dirty="0">
                <a:solidFill>
                  <a:srgbClr val="984514"/>
                </a:solidFill>
                <a:latin typeface="Georgia" pitchFamily="34" charset="0"/>
                <a:ea typeface="Georgia" pitchFamily="34" charset="-122"/>
                <a:cs typeface="Georgia" pitchFamily="34" charset="-120"/>
              </a:rPr>
              <a:t>puntos</a:t>
            </a:r>
            <a:endParaRPr lang="en-US" sz="2000" dirty="0"/>
          </a:p>
        </p:txBody>
      </p:sp>
      <p:sp>
        <p:nvSpPr>
          <p:cNvPr id="14" name="s18-texto-13"/>
          <p:cNvSpPr txBox="1"/>
          <p:nvPr/>
        </p:nvSpPr>
        <p:spPr>
          <a:xfrm>
            <a:off x="6467197" y="2987312"/>
            <a:ext cx="4396552" cy="268514"/>
          </a:xfrm>
          <a:prstGeom prst="rect">
            <a:avLst/>
          </a:prstGeom>
          <a:noFill/>
          <a:ln/>
        </p:spPr>
        <p:txBody>
          <a:bodyPr wrap="none" lIns="0" tIns="0" rIns="0" bIns="0" rtlCol="0" anchor="t"/>
          <a:lstStyle/>
          <a:p>
            <a:pPr marL="0" indent="0" algn="l">
              <a:lnSpc>
                <a:spcPts val="2159"/>
              </a:lnSpc>
              <a:buNone/>
            </a:pPr>
            <a:r>
              <a:rPr lang="en-US" sz="1799" b="1" kern="0" spc="-18" dirty="0">
                <a:solidFill>
                  <a:srgbClr val="16181D"/>
                </a:solidFill>
                <a:latin typeface="Georgia" pitchFamily="34" charset="0"/>
                <a:ea typeface="Georgia" pitchFamily="34" charset="-122"/>
                <a:cs typeface="Georgia" pitchFamily="34" charset="-120"/>
              </a:rPr>
              <a:t>RETO EN CÓDIGO</a:t>
            </a:r>
            <a:endParaRPr lang="en-US" sz="1799" dirty="0"/>
          </a:p>
        </p:txBody>
      </p:sp>
      <p:sp>
        <p:nvSpPr>
          <p:cNvPr id="15" name="s18-texto-14"/>
          <p:cNvSpPr txBox="1"/>
          <p:nvPr/>
        </p:nvSpPr>
        <p:spPr>
          <a:xfrm>
            <a:off x="6467197" y="3370087"/>
            <a:ext cx="4396552" cy="624867"/>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Tu fábrica de los labs procesa una historia nueva, </a:t>
            </a:r>
            <a:r>
              <a:rPr lang="en-US" sz="1260" b="1" dirty="0">
                <a:solidFill>
                  <a:srgbClr val="0033A0"/>
                </a:solidFill>
                <a:latin typeface="Arial" pitchFamily="34" charset="0"/>
                <a:ea typeface="Arial" pitchFamily="34" charset="-122"/>
                <a:cs typeface="Arial" pitchFamily="34" charset="-120"/>
              </a:rPr>
              <a:t>HU-10 Solicitar vacaciones</a:t>
            </a:r>
            <a:r>
              <a:rPr lang="en-US" sz="1260" dirty="0">
                <a:solidFill>
                  <a:srgbClr val="16181D"/>
                </a:solidFill>
                <a:latin typeface="Arial" pitchFamily="34" charset="0"/>
                <a:ea typeface="Arial" pitchFamily="34" charset="-122"/>
                <a:cs typeface="Arial" pitchFamily="34" charset="-120"/>
              </a:rPr>
              <a:t>, de los criterios a las pruebas, más tu reporte de </a:t>
            </a:r>
            <a:r>
              <a:rPr lang="en-US" sz="1260" dirty="0" err="1">
                <a:solidFill>
                  <a:srgbClr val="16181D"/>
                </a:solidFill>
                <a:latin typeface="Arial" pitchFamily="34" charset="0"/>
                <a:ea typeface="Arial" pitchFamily="34" charset="-122"/>
                <a:cs typeface="Arial" pitchFamily="34" charset="-120"/>
              </a:rPr>
              <a:t>seguridad</a:t>
            </a:r>
            <a:r>
              <a:rPr lang="en-US" sz="1260" dirty="0">
                <a:solidFill>
                  <a:srgbClr val="16181D"/>
                </a:solidFill>
                <a:latin typeface="Arial" pitchFamily="34" charset="0"/>
                <a:ea typeface="Arial" pitchFamily="34" charset="-122"/>
                <a:cs typeface="Arial" pitchFamily="34" charset="-120"/>
              </a:rPr>
              <a:t>.</a:t>
            </a:r>
            <a:endParaRPr lang="en-US" sz="1260" dirty="0"/>
          </a:p>
        </p:txBody>
      </p:sp>
      <p:sp>
        <p:nvSpPr>
          <p:cNvPr id="16" name="s18-texto-15"/>
          <p:cNvSpPr txBox="1"/>
          <p:nvPr/>
        </p:nvSpPr>
        <p:spPr>
          <a:xfrm>
            <a:off x="1342572" y="4774075"/>
            <a:ext cx="10076945" cy="177105"/>
          </a:xfrm>
          <a:prstGeom prst="rect">
            <a:avLst/>
          </a:prstGeom>
          <a:noFill/>
          <a:ln/>
        </p:spPr>
        <p:txBody>
          <a:bodyPr wrap="non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Los entregables y quizzes de cada sesión son práctica: preparan el examen y el reto.</a:t>
            </a:r>
            <a:endParaRPr lang="en-US" sz="1260" dirty="0"/>
          </a:p>
        </p:txBody>
      </p:sp>
      <p:sp>
        <p:nvSpPr>
          <p:cNvPr id="17" name="s18-texto-16"/>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Integridad: nada en app/ ni en salida/ se edita a mano; la bitácora y la auditoría lo muestran</a:t>
            </a:r>
            <a:endParaRPr lang="en-US" sz="1080" dirty="0"/>
          </a:p>
        </p:txBody>
      </p:sp>
      <p:sp>
        <p:nvSpPr>
          <p:cNvPr id="18" name="s18-forma-17"/>
          <p:cNvSpPr/>
          <p:nvPr/>
        </p:nvSpPr>
        <p:spPr>
          <a:xfrm>
            <a:off x="853390" y="6411138"/>
            <a:ext cx="10484915" cy="5713"/>
          </a:xfrm>
          <a:prstGeom prst="rect">
            <a:avLst/>
          </a:prstGeom>
          <a:solidFill>
            <a:srgbClr val="DBD4C4"/>
          </a:solidFill>
          <a:ln/>
        </p:spPr>
        <p:txBody>
          <a:bodyPr/>
          <a:lstStyle/>
          <a:p>
            <a:endParaRPr lang="es-MX"/>
          </a:p>
        </p:txBody>
      </p:sp>
      <p:pic>
        <p:nvPicPr>
          <p:cNvPr id="19" name="s18-logo-18" descr="preencoded.png"/>
          <p:cNvPicPr>
            <a:picLocks noChangeAspect="1"/>
          </p:cNvPicPr>
          <p:nvPr/>
        </p:nvPicPr>
        <p:blipFill>
          <a:blip r:embed="rId3"/>
          <a:stretch>
            <a:fillRect/>
          </a:stretch>
        </p:blipFill>
        <p:spPr>
          <a:xfrm>
            <a:off x="853390" y="6465055"/>
            <a:ext cx="687800" cy="212455"/>
          </a:xfrm>
          <a:prstGeom prst="rect">
            <a:avLst/>
          </a:prstGeom>
        </p:spPr>
      </p:pic>
      <p:sp>
        <p:nvSpPr>
          <p:cNvPr id="20" name="s18-forma-19"/>
          <p:cNvSpPr/>
          <p:nvPr/>
        </p:nvSpPr>
        <p:spPr>
          <a:xfrm>
            <a:off x="1659380" y="6519865"/>
            <a:ext cx="3578704" cy="102835"/>
          </a:xfrm>
          <a:prstGeom prst="rect">
            <a:avLst/>
          </a:prstGeom>
          <a:ln/>
        </p:spPr>
        <p:txBody>
          <a:bodyPr/>
          <a:lstStyle/>
          <a:p>
            <a:endParaRPr lang="es-MX"/>
          </a:p>
        </p:txBody>
      </p:sp>
      <p:sp>
        <p:nvSpPr>
          <p:cNvPr id="21" name="s18-forma-20"/>
          <p:cNvSpPr/>
          <p:nvPr/>
        </p:nvSpPr>
        <p:spPr>
          <a:xfrm>
            <a:off x="1659380" y="6519865"/>
            <a:ext cx="5713" cy="102835"/>
          </a:xfrm>
          <a:prstGeom prst="rect">
            <a:avLst/>
          </a:prstGeom>
          <a:solidFill>
            <a:srgbClr val="C6BFAE"/>
          </a:solidFill>
          <a:ln/>
        </p:spPr>
        <p:txBody>
          <a:bodyPr/>
          <a:lstStyle/>
          <a:p>
            <a:endParaRPr lang="es-MX"/>
          </a:p>
        </p:txBody>
      </p:sp>
      <p:sp>
        <p:nvSpPr>
          <p:cNvPr id="22" name="s18-texto-2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23" name="s18-texto-2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18 / 22</a:t>
            </a:r>
            <a:endParaRPr lang="en-US" sz="745" dirty="0"/>
          </a:p>
        </p:txBody>
      </p:sp>
      <p:sp>
        <p:nvSpPr>
          <p:cNvPr id="24" name="s18-forma-23"/>
          <p:cNvSpPr/>
          <p:nvPr/>
        </p:nvSpPr>
        <p:spPr>
          <a:xfrm>
            <a:off x="0" y="0"/>
            <a:ext cx="9975023" cy="17139"/>
          </a:xfrm>
          <a:prstGeom prst="rect">
            <a:avLst/>
          </a:prstGeom>
          <a:solidFill>
            <a:srgbClr val="0033A0"/>
          </a:solidFill>
          <a:ln/>
        </p:spPr>
        <p:txBody>
          <a:bodyPr/>
          <a:lstStyle/>
          <a:p>
            <a:endParaRPr lang="es-MX"/>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8DC"/>
        </a:solidFill>
        <a:effectLst/>
      </p:bgPr>
    </p:bg>
    <p:spTree>
      <p:nvGrpSpPr>
        <p:cNvPr id="1" name=""/>
        <p:cNvGrpSpPr/>
        <p:nvPr/>
      </p:nvGrpSpPr>
      <p:grpSpPr>
        <a:xfrm>
          <a:off x="0" y="0"/>
          <a:ext cx="0" cy="0"/>
          <a:chOff x="0" y="0"/>
          <a:chExt cx="0" cy="0"/>
        </a:xfrm>
      </p:grpSpPr>
      <p:sp>
        <p:nvSpPr>
          <p:cNvPr id="2" name="s19-forma-1"/>
          <p:cNvSpPr/>
          <p:nvPr/>
        </p:nvSpPr>
        <p:spPr>
          <a:xfrm>
            <a:off x="853390" y="520961"/>
            <a:ext cx="10484915" cy="5713"/>
          </a:xfrm>
          <a:prstGeom prst="rect">
            <a:avLst/>
          </a:prstGeom>
          <a:solidFill>
            <a:srgbClr val="C6BFAE"/>
          </a:solidFill>
          <a:ln/>
        </p:spPr>
        <p:txBody>
          <a:bodyPr/>
          <a:lstStyle/>
          <a:p>
            <a:endParaRPr lang="es-MX"/>
          </a:p>
        </p:txBody>
      </p:sp>
      <p:sp>
        <p:nvSpPr>
          <p:cNvPr id="3" name="s19-forma-2"/>
          <p:cNvSpPr/>
          <p:nvPr/>
        </p:nvSpPr>
        <p:spPr>
          <a:xfrm>
            <a:off x="853390" y="331715"/>
            <a:ext cx="81411" cy="81411"/>
          </a:xfrm>
          <a:prstGeom prst="ellipse">
            <a:avLst/>
          </a:prstGeom>
          <a:solidFill>
            <a:srgbClr val="984514"/>
          </a:solidFill>
          <a:ln/>
        </p:spPr>
        <p:txBody>
          <a:bodyPr/>
          <a:lstStyle/>
          <a:p>
            <a:endParaRPr lang="es-MX"/>
          </a:p>
        </p:txBody>
      </p:sp>
      <p:sp>
        <p:nvSpPr>
          <p:cNvPr id="4" name="s19-texto-3"/>
          <p:cNvSpPr txBox="1"/>
          <p:nvPr/>
        </p:nvSpPr>
        <p:spPr>
          <a:xfrm>
            <a:off x="1007018" y="315290"/>
            <a:ext cx="369654"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984514"/>
                </a:solidFill>
                <a:latin typeface="Courier New" pitchFamily="34" charset="0"/>
                <a:ea typeface="Courier New" pitchFamily="34" charset="-122"/>
                <a:cs typeface="Courier New" pitchFamily="34" charset="-120"/>
              </a:rPr>
              <a:t>RETA</a:t>
            </a:r>
            <a:endParaRPr lang="en-US" sz="807" dirty="0"/>
          </a:p>
        </p:txBody>
      </p:sp>
      <p:sp>
        <p:nvSpPr>
          <p:cNvPr id="5" name="s19-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1:33 · 12 min</a:t>
            </a:r>
            <a:endParaRPr lang="en-US" sz="807" dirty="0"/>
          </a:p>
        </p:txBody>
      </p:sp>
      <p:sp>
        <p:nvSpPr>
          <p:cNvPr id="6" name="s19-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RETO EN CÓDIGO · 60 %</a:t>
            </a:r>
            <a:endParaRPr lang="en-US" sz="900" dirty="0"/>
          </a:p>
        </p:txBody>
      </p:sp>
      <p:sp>
        <p:nvSpPr>
          <p:cNvPr id="7" name="s19-texto-6"/>
          <p:cNvSpPr txBox="1"/>
          <p:nvPr/>
        </p:nvSpPr>
        <p:spPr>
          <a:xfrm>
            <a:off x="1342572" y="1451120"/>
            <a:ext cx="10076945" cy="394202"/>
          </a:xfrm>
          <a:prstGeom prst="rect">
            <a:avLst/>
          </a:prstGeom>
          <a:noFill/>
          <a:ln/>
        </p:spPr>
        <p:txBody>
          <a:bodyPr wrap="none" lIns="0" tIns="0" rIns="0" bIns="0" rtlCol="0" anchor="t"/>
          <a:lstStyle/>
          <a:p>
            <a:pPr marL="0" indent="0" algn="l">
              <a:lnSpc>
                <a:spcPts val="2920"/>
              </a:lnSpc>
              <a:buNone/>
            </a:pPr>
            <a:r>
              <a:rPr lang="en-US" sz="2654" b="1" kern="0" spc="-27" dirty="0">
                <a:solidFill>
                  <a:srgbClr val="16181D"/>
                </a:solidFill>
                <a:latin typeface="Georgia" pitchFamily="34" charset="0"/>
                <a:ea typeface="Georgia" pitchFamily="34" charset="-122"/>
                <a:cs typeface="Georgia" pitchFamily="34" charset="-120"/>
              </a:rPr>
              <a:t>HU-10 Solicitar vacaciones, por toda tu fábrica</a:t>
            </a:r>
            <a:endParaRPr lang="en-US" sz="2654" dirty="0"/>
          </a:p>
        </p:txBody>
      </p:sp>
      <p:sp>
        <p:nvSpPr>
          <p:cNvPr id="8" name="s19-forma-7"/>
          <p:cNvSpPr/>
          <p:nvPr/>
        </p:nvSpPr>
        <p:spPr>
          <a:xfrm>
            <a:off x="1342572" y="2113212"/>
            <a:ext cx="3077382" cy="1112799"/>
          </a:xfrm>
          <a:prstGeom prst="rect">
            <a:avLst/>
          </a:prstGeom>
          <a:solidFill>
            <a:srgbClr val="E3DCCB"/>
          </a:solidFill>
          <a:ln w="5713">
            <a:solidFill>
              <a:srgbClr val="C6BFAE"/>
            </a:solidFill>
            <a:prstDash val="solid"/>
          </a:ln>
        </p:spPr>
        <p:txBody>
          <a:bodyPr/>
          <a:lstStyle/>
          <a:p>
            <a:endParaRPr lang="es-MX"/>
          </a:p>
        </p:txBody>
      </p:sp>
      <p:sp>
        <p:nvSpPr>
          <p:cNvPr id="9" name="s19-texto-8"/>
          <p:cNvSpPr txBox="1"/>
          <p:nvPr/>
        </p:nvSpPr>
        <p:spPr>
          <a:xfrm>
            <a:off x="1531103" y="2301743"/>
            <a:ext cx="2862338" cy="228523"/>
          </a:xfrm>
          <a:prstGeom prst="rect">
            <a:avLst/>
          </a:prstGeom>
          <a:noFill/>
          <a:ln/>
        </p:spPr>
        <p:txBody>
          <a:bodyPr wrap="none" lIns="0" tIns="0" rIns="0" bIns="0" rtlCol="0" anchor="t"/>
          <a:lstStyle/>
          <a:p>
            <a:pPr marL="0" indent="0" algn="l">
              <a:lnSpc>
                <a:spcPts val="1835"/>
              </a:lnSpc>
              <a:buNone/>
            </a:pPr>
            <a:r>
              <a:rPr lang="en-US" sz="1530" b="1" kern="0" spc="-15" dirty="0">
                <a:solidFill>
                  <a:srgbClr val="16181D"/>
                </a:solidFill>
                <a:latin typeface="Georgia" pitchFamily="34" charset="0"/>
                <a:ea typeface="Georgia" pitchFamily="34" charset="-122"/>
                <a:cs typeface="Georgia" pitchFamily="34" charset="-120"/>
              </a:rPr>
              <a:t>ANTIGÜEDAD</a:t>
            </a:r>
            <a:endParaRPr lang="en-US" sz="1530" dirty="0"/>
          </a:p>
        </p:txBody>
      </p:sp>
      <p:sp>
        <p:nvSpPr>
          <p:cNvPr id="10" name="s19-texto-9"/>
          <p:cNvSpPr txBox="1"/>
          <p:nvPr/>
        </p:nvSpPr>
        <p:spPr>
          <a:xfrm>
            <a:off x="1531103" y="2638814"/>
            <a:ext cx="2862338"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Al menos un año cumplido a la fecha de inicio de las vacaciones</a:t>
            </a:r>
            <a:endParaRPr lang="en-US" sz="1170" dirty="0"/>
          </a:p>
        </p:txBody>
      </p:sp>
      <p:sp>
        <p:nvSpPr>
          <p:cNvPr id="11" name="s19-forma-10"/>
          <p:cNvSpPr/>
          <p:nvPr/>
        </p:nvSpPr>
        <p:spPr>
          <a:xfrm>
            <a:off x="4557067" y="2113212"/>
            <a:ext cx="3077471" cy="1112799"/>
          </a:xfrm>
          <a:prstGeom prst="rect">
            <a:avLst/>
          </a:prstGeom>
          <a:solidFill>
            <a:srgbClr val="E3DCCB"/>
          </a:solidFill>
          <a:ln w="5713">
            <a:solidFill>
              <a:srgbClr val="C6BFAE"/>
            </a:solidFill>
            <a:prstDash val="solid"/>
          </a:ln>
        </p:spPr>
        <p:txBody>
          <a:bodyPr/>
          <a:lstStyle/>
          <a:p>
            <a:endParaRPr lang="es-MX"/>
          </a:p>
        </p:txBody>
      </p:sp>
      <p:sp>
        <p:nvSpPr>
          <p:cNvPr id="12" name="s19-texto-11"/>
          <p:cNvSpPr txBox="1"/>
          <p:nvPr/>
        </p:nvSpPr>
        <p:spPr>
          <a:xfrm>
            <a:off x="4745599" y="2301743"/>
            <a:ext cx="2862433" cy="228523"/>
          </a:xfrm>
          <a:prstGeom prst="rect">
            <a:avLst/>
          </a:prstGeom>
          <a:noFill/>
          <a:ln/>
        </p:spPr>
        <p:txBody>
          <a:bodyPr wrap="none" lIns="0" tIns="0" rIns="0" bIns="0" rtlCol="0" anchor="t"/>
          <a:lstStyle/>
          <a:p>
            <a:pPr marL="0" indent="0" algn="l">
              <a:lnSpc>
                <a:spcPts val="1835"/>
              </a:lnSpc>
              <a:buNone/>
            </a:pPr>
            <a:r>
              <a:rPr lang="en-US" sz="1530" b="1" kern="0" spc="-15" dirty="0">
                <a:solidFill>
                  <a:srgbClr val="16181D"/>
                </a:solidFill>
                <a:latin typeface="Georgia" pitchFamily="34" charset="0"/>
                <a:ea typeface="Georgia" pitchFamily="34" charset="-122"/>
                <a:cs typeface="Georgia" pitchFamily="34" charset="-120"/>
              </a:rPr>
              <a:t>TOPE ANUAL</a:t>
            </a:r>
            <a:endParaRPr lang="en-US" sz="1530" dirty="0"/>
          </a:p>
        </p:txBody>
      </p:sp>
      <p:sp>
        <p:nvSpPr>
          <p:cNvPr id="13" name="s19-texto-12"/>
          <p:cNvSpPr txBox="1"/>
          <p:nvPr/>
        </p:nvSpPr>
        <p:spPr>
          <a:xfrm>
            <a:off x="4745599" y="2638814"/>
            <a:ext cx="2862433"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12 días hábiles por año calendario; se puede usar exactamente lo que queda</a:t>
            </a:r>
            <a:endParaRPr lang="en-US" sz="1170" dirty="0"/>
          </a:p>
        </p:txBody>
      </p:sp>
      <p:sp>
        <p:nvSpPr>
          <p:cNvPr id="14" name="s19-forma-13"/>
          <p:cNvSpPr/>
          <p:nvPr/>
        </p:nvSpPr>
        <p:spPr>
          <a:xfrm>
            <a:off x="7771652" y="2113212"/>
            <a:ext cx="3077471" cy="1112799"/>
          </a:xfrm>
          <a:prstGeom prst="rect">
            <a:avLst/>
          </a:prstGeom>
          <a:solidFill>
            <a:srgbClr val="E3DCCB"/>
          </a:solidFill>
          <a:ln w="5713">
            <a:solidFill>
              <a:srgbClr val="C6BFAE"/>
            </a:solidFill>
            <a:prstDash val="solid"/>
          </a:ln>
        </p:spPr>
        <p:txBody>
          <a:bodyPr/>
          <a:lstStyle/>
          <a:p>
            <a:endParaRPr lang="es-MX"/>
          </a:p>
        </p:txBody>
      </p:sp>
      <p:sp>
        <p:nvSpPr>
          <p:cNvPr id="15" name="s19-texto-14"/>
          <p:cNvSpPr txBox="1"/>
          <p:nvPr/>
        </p:nvSpPr>
        <p:spPr>
          <a:xfrm>
            <a:off x="7960184" y="2301743"/>
            <a:ext cx="2862433" cy="228523"/>
          </a:xfrm>
          <a:prstGeom prst="rect">
            <a:avLst/>
          </a:prstGeom>
          <a:noFill/>
          <a:ln/>
        </p:spPr>
        <p:txBody>
          <a:bodyPr wrap="none" lIns="0" tIns="0" rIns="0" bIns="0" rtlCol="0" anchor="t"/>
          <a:lstStyle/>
          <a:p>
            <a:pPr marL="0" indent="0" algn="l">
              <a:lnSpc>
                <a:spcPts val="1835"/>
              </a:lnSpc>
              <a:buNone/>
            </a:pPr>
            <a:r>
              <a:rPr lang="en-US" sz="1530" b="1" kern="0" spc="-15" dirty="0">
                <a:solidFill>
                  <a:srgbClr val="16181D"/>
                </a:solidFill>
                <a:latin typeface="Georgia" pitchFamily="34" charset="0"/>
                <a:ea typeface="Georgia" pitchFamily="34" charset="-122"/>
                <a:cs typeface="Georgia" pitchFamily="34" charset="-120"/>
              </a:rPr>
              <a:t>DÍAS HÁBILES</a:t>
            </a:r>
            <a:endParaRPr lang="en-US" sz="1530" dirty="0"/>
          </a:p>
        </p:txBody>
      </p:sp>
      <p:sp>
        <p:nvSpPr>
          <p:cNvPr id="16" name="s19-texto-15"/>
          <p:cNvSpPr txBox="1"/>
          <p:nvPr/>
        </p:nvSpPr>
        <p:spPr>
          <a:xfrm>
            <a:off x="7960184" y="2638814"/>
            <a:ext cx="2862433" cy="379294"/>
          </a:xfrm>
          <a:prstGeom prst="rect">
            <a:avLst/>
          </a:prstGeom>
          <a:noFill/>
          <a:ln/>
        </p:spPr>
        <p:txBody>
          <a:bodyPr wrap="square" lIns="0" tIns="0" rIns="0" bIns="0" rtlCol="0" anchor="t"/>
          <a:lstStyle/>
          <a:p>
            <a:pPr marL="0" indent="0" algn="l">
              <a:lnSpc>
                <a:spcPts val="1637"/>
              </a:lnSpc>
              <a:buNone/>
            </a:pPr>
            <a:r>
              <a:rPr lang="en-US" sz="1170" dirty="0">
                <a:solidFill>
                  <a:srgbClr val="585E6F"/>
                </a:solidFill>
                <a:latin typeface="Arial" pitchFamily="34" charset="0"/>
                <a:ea typeface="Arial" pitchFamily="34" charset="-122"/>
                <a:cs typeface="Arial" pitchFamily="34" charset="-120"/>
              </a:rPr>
              <a:t>No cuentan sábados, domingos ni festivos oficiales (LFT, art. 74)</a:t>
            </a:r>
            <a:endParaRPr lang="en-US" sz="1170" dirty="0"/>
          </a:p>
        </p:txBody>
      </p:sp>
      <p:sp>
        <p:nvSpPr>
          <p:cNvPr id="17" name="s19-forma-16"/>
          <p:cNvSpPr/>
          <p:nvPr/>
        </p:nvSpPr>
        <p:spPr>
          <a:xfrm>
            <a:off x="1342572" y="3500238"/>
            <a:ext cx="1508251" cy="542742"/>
          </a:xfrm>
          <a:prstGeom prst="rect">
            <a:avLst/>
          </a:prstGeom>
          <a:solidFill>
            <a:srgbClr val="E8E2D5"/>
          </a:solidFill>
          <a:ln/>
        </p:spPr>
        <p:txBody>
          <a:bodyPr/>
          <a:lstStyle/>
          <a:p>
            <a:endParaRPr lang="es-MX"/>
          </a:p>
        </p:txBody>
      </p:sp>
      <p:sp>
        <p:nvSpPr>
          <p:cNvPr id="18" name="s19-forma-17"/>
          <p:cNvSpPr/>
          <p:nvPr/>
        </p:nvSpPr>
        <p:spPr>
          <a:xfrm>
            <a:off x="1342572" y="3500238"/>
            <a:ext cx="1508251" cy="5713"/>
          </a:xfrm>
          <a:prstGeom prst="rect">
            <a:avLst/>
          </a:prstGeom>
          <a:solidFill>
            <a:srgbClr val="DBD4C4"/>
          </a:solidFill>
          <a:ln/>
        </p:spPr>
        <p:txBody>
          <a:bodyPr/>
          <a:lstStyle/>
          <a:p>
            <a:endParaRPr lang="es-MX"/>
          </a:p>
        </p:txBody>
      </p:sp>
      <p:sp>
        <p:nvSpPr>
          <p:cNvPr id="19" name="s19-forma-18"/>
          <p:cNvSpPr/>
          <p:nvPr/>
        </p:nvSpPr>
        <p:spPr>
          <a:xfrm>
            <a:off x="1342572" y="4037267"/>
            <a:ext cx="1508251" cy="5713"/>
          </a:xfrm>
          <a:prstGeom prst="rect">
            <a:avLst/>
          </a:prstGeom>
          <a:solidFill>
            <a:srgbClr val="DBD4C4"/>
          </a:solidFill>
          <a:ln/>
        </p:spPr>
        <p:txBody>
          <a:bodyPr/>
          <a:lstStyle/>
          <a:p>
            <a:endParaRPr lang="es-MX"/>
          </a:p>
        </p:txBody>
      </p:sp>
      <p:sp>
        <p:nvSpPr>
          <p:cNvPr id="20" name="s19-forma-19"/>
          <p:cNvSpPr/>
          <p:nvPr/>
        </p:nvSpPr>
        <p:spPr>
          <a:xfrm>
            <a:off x="1342572" y="3500238"/>
            <a:ext cx="17139" cy="542742"/>
          </a:xfrm>
          <a:prstGeom prst="rect">
            <a:avLst/>
          </a:prstGeom>
          <a:solidFill>
            <a:srgbClr val="C6BFAE"/>
          </a:solidFill>
          <a:ln/>
        </p:spPr>
        <p:txBody>
          <a:bodyPr/>
          <a:lstStyle/>
          <a:p>
            <a:endParaRPr lang="es-MX"/>
          </a:p>
        </p:txBody>
      </p:sp>
      <p:sp>
        <p:nvSpPr>
          <p:cNvPr id="21" name="s19-forma-20"/>
          <p:cNvSpPr/>
          <p:nvPr/>
        </p:nvSpPr>
        <p:spPr>
          <a:xfrm>
            <a:off x="2845110" y="3500238"/>
            <a:ext cx="5713" cy="542742"/>
          </a:xfrm>
          <a:prstGeom prst="rect">
            <a:avLst/>
          </a:prstGeom>
          <a:solidFill>
            <a:srgbClr val="DBD4C4"/>
          </a:solidFill>
          <a:ln/>
        </p:spPr>
        <p:txBody>
          <a:bodyPr/>
          <a:lstStyle/>
          <a:p>
            <a:endParaRPr lang="es-MX"/>
          </a:p>
        </p:txBody>
      </p:sp>
      <p:sp>
        <p:nvSpPr>
          <p:cNvPr id="22" name="s19-texto-21"/>
          <p:cNvSpPr txBox="1"/>
          <p:nvPr/>
        </p:nvSpPr>
        <p:spPr>
          <a:xfrm>
            <a:off x="2067418" y="3597361"/>
            <a:ext cx="115690" cy="142827"/>
          </a:xfrm>
          <a:prstGeom prst="rect">
            <a:avLst/>
          </a:prstGeom>
          <a:noFill/>
          <a:ln/>
        </p:spPr>
        <p:txBody>
          <a:bodyPr wrap="none" lIns="0" tIns="0" rIns="0" bIns="0" rtlCol="0" anchor="t"/>
          <a:lstStyle/>
          <a:p>
            <a:pPr marL="0" indent="0" algn="l">
              <a:lnSpc>
                <a:spcPts val="1188"/>
              </a:lnSpc>
              <a:buNone/>
            </a:pPr>
            <a:r>
              <a:rPr lang="en-US" sz="990" b="1" dirty="0">
                <a:solidFill>
                  <a:srgbClr val="AC321E"/>
                </a:solidFill>
                <a:latin typeface="Arial" pitchFamily="34" charset="0"/>
                <a:ea typeface="Arial" pitchFamily="34" charset="-122"/>
                <a:cs typeface="Arial" pitchFamily="34" charset="-120"/>
              </a:rPr>
              <a:t>1</a:t>
            </a:r>
            <a:endParaRPr lang="en-US" sz="990" dirty="0"/>
          </a:p>
        </p:txBody>
      </p:sp>
      <p:sp>
        <p:nvSpPr>
          <p:cNvPr id="23" name="s19-texto-22"/>
          <p:cNvSpPr txBox="1"/>
          <p:nvPr/>
        </p:nvSpPr>
        <p:spPr>
          <a:xfrm>
            <a:off x="1825862" y="3768753"/>
            <a:ext cx="598712"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Criterios</a:t>
            </a:r>
            <a:endParaRPr lang="en-US" sz="1170" dirty="0"/>
          </a:p>
        </p:txBody>
      </p:sp>
      <p:sp>
        <p:nvSpPr>
          <p:cNvPr id="24" name="s19-forma-23"/>
          <p:cNvSpPr/>
          <p:nvPr/>
        </p:nvSpPr>
        <p:spPr>
          <a:xfrm>
            <a:off x="2942232" y="3500238"/>
            <a:ext cx="1508251" cy="542742"/>
          </a:xfrm>
          <a:prstGeom prst="rect">
            <a:avLst/>
          </a:prstGeom>
          <a:solidFill>
            <a:srgbClr val="E8E2D5"/>
          </a:solidFill>
          <a:ln/>
        </p:spPr>
        <p:txBody>
          <a:bodyPr/>
          <a:lstStyle/>
          <a:p>
            <a:endParaRPr lang="es-MX"/>
          </a:p>
        </p:txBody>
      </p:sp>
      <p:sp>
        <p:nvSpPr>
          <p:cNvPr id="25" name="s19-forma-24"/>
          <p:cNvSpPr/>
          <p:nvPr/>
        </p:nvSpPr>
        <p:spPr>
          <a:xfrm>
            <a:off x="2942232" y="3500238"/>
            <a:ext cx="1508251" cy="5713"/>
          </a:xfrm>
          <a:prstGeom prst="rect">
            <a:avLst/>
          </a:prstGeom>
          <a:solidFill>
            <a:srgbClr val="DBD4C4"/>
          </a:solidFill>
          <a:ln/>
        </p:spPr>
        <p:txBody>
          <a:bodyPr/>
          <a:lstStyle/>
          <a:p>
            <a:endParaRPr lang="es-MX"/>
          </a:p>
        </p:txBody>
      </p:sp>
      <p:sp>
        <p:nvSpPr>
          <p:cNvPr id="26" name="s19-forma-25"/>
          <p:cNvSpPr/>
          <p:nvPr/>
        </p:nvSpPr>
        <p:spPr>
          <a:xfrm>
            <a:off x="2942232" y="4037267"/>
            <a:ext cx="1508251" cy="5713"/>
          </a:xfrm>
          <a:prstGeom prst="rect">
            <a:avLst/>
          </a:prstGeom>
          <a:solidFill>
            <a:srgbClr val="DBD4C4"/>
          </a:solidFill>
          <a:ln/>
        </p:spPr>
        <p:txBody>
          <a:bodyPr/>
          <a:lstStyle/>
          <a:p>
            <a:endParaRPr lang="es-MX"/>
          </a:p>
        </p:txBody>
      </p:sp>
      <p:sp>
        <p:nvSpPr>
          <p:cNvPr id="27" name="s19-forma-26"/>
          <p:cNvSpPr/>
          <p:nvPr/>
        </p:nvSpPr>
        <p:spPr>
          <a:xfrm>
            <a:off x="2942232" y="3500238"/>
            <a:ext cx="17139" cy="542742"/>
          </a:xfrm>
          <a:prstGeom prst="rect">
            <a:avLst/>
          </a:prstGeom>
          <a:solidFill>
            <a:srgbClr val="C6BFAE"/>
          </a:solidFill>
          <a:ln/>
        </p:spPr>
        <p:txBody>
          <a:bodyPr/>
          <a:lstStyle/>
          <a:p>
            <a:endParaRPr lang="es-MX"/>
          </a:p>
        </p:txBody>
      </p:sp>
      <p:sp>
        <p:nvSpPr>
          <p:cNvPr id="28" name="s19-forma-27"/>
          <p:cNvSpPr/>
          <p:nvPr/>
        </p:nvSpPr>
        <p:spPr>
          <a:xfrm>
            <a:off x="4444770" y="3500238"/>
            <a:ext cx="5713" cy="542742"/>
          </a:xfrm>
          <a:prstGeom prst="rect">
            <a:avLst/>
          </a:prstGeom>
          <a:solidFill>
            <a:srgbClr val="DBD4C4"/>
          </a:solidFill>
          <a:ln/>
        </p:spPr>
        <p:txBody>
          <a:bodyPr/>
          <a:lstStyle/>
          <a:p>
            <a:endParaRPr lang="es-MX"/>
          </a:p>
        </p:txBody>
      </p:sp>
      <p:sp>
        <p:nvSpPr>
          <p:cNvPr id="29" name="s19-texto-28"/>
          <p:cNvSpPr txBox="1"/>
          <p:nvPr/>
        </p:nvSpPr>
        <p:spPr>
          <a:xfrm>
            <a:off x="3667078" y="3597361"/>
            <a:ext cx="115690" cy="142827"/>
          </a:xfrm>
          <a:prstGeom prst="rect">
            <a:avLst/>
          </a:prstGeom>
          <a:noFill/>
          <a:ln/>
        </p:spPr>
        <p:txBody>
          <a:bodyPr wrap="none" lIns="0" tIns="0" rIns="0" bIns="0" rtlCol="0" anchor="t"/>
          <a:lstStyle/>
          <a:p>
            <a:pPr marL="0" indent="0" algn="l">
              <a:lnSpc>
                <a:spcPts val="1188"/>
              </a:lnSpc>
              <a:buNone/>
            </a:pPr>
            <a:r>
              <a:rPr lang="en-US" sz="990" b="1" dirty="0">
                <a:solidFill>
                  <a:srgbClr val="AC321E"/>
                </a:solidFill>
                <a:latin typeface="Arial" pitchFamily="34" charset="0"/>
                <a:ea typeface="Arial" pitchFamily="34" charset="-122"/>
                <a:cs typeface="Arial" pitchFamily="34" charset="-120"/>
              </a:rPr>
              <a:t>2</a:t>
            </a:r>
            <a:endParaRPr lang="en-US" sz="990" dirty="0"/>
          </a:p>
        </p:txBody>
      </p:sp>
      <p:sp>
        <p:nvSpPr>
          <p:cNvPr id="30" name="s19-texto-29"/>
          <p:cNvSpPr txBox="1"/>
          <p:nvPr/>
        </p:nvSpPr>
        <p:spPr>
          <a:xfrm>
            <a:off x="3491490" y="3768753"/>
            <a:ext cx="466776"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Casos</a:t>
            </a:r>
            <a:endParaRPr lang="en-US" sz="1170" dirty="0"/>
          </a:p>
        </p:txBody>
      </p:sp>
      <p:sp>
        <p:nvSpPr>
          <p:cNvPr id="31" name="s19-forma-30"/>
          <p:cNvSpPr/>
          <p:nvPr/>
        </p:nvSpPr>
        <p:spPr>
          <a:xfrm>
            <a:off x="4541892" y="3500238"/>
            <a:ext cx="1508251" cy="542742"/>
          </a:xfrm>
          <a:prstGeom prst="rect">
            <a:avLst/>
          </a:prstGeom>
          <a:solidFill>
            <a:srgbClr val="E8E2D5"/>
          </a:solidFill>
          <a:ln/>
        </p:spPr>
        <p:txBody>
          <a:bodyPr/>
          <a:lstStyle/>
          <a:p>
            <a:endParaRPr lang="es-MX"/>
          </a:p>
        </p:txBody>
      </p:sp>
      <p:sp>
        <p:nvSpPr>
          <p:cNvPr id="32" name="s19-forma-31"/>
          <p:cNvSpPr/>
          <p:nvPr/>
        </p:nvSpPr>
        <p:spPr>
          <a:xfrm>
            <a:off x="4541892" y="3500238"/>
            <a:ext cx="1508251" cy="5713"/>
          </a:xfrm>
          <a:prstGeom prst="rect">
            <a:avLst/>
          </a:prstGeom>
          <a:solidFill>
            <a:srgbClr val="DBD4C4"/>
          </a:solidFill>
          <a:ln/>
        </p:spPr>
        <p:txBody>
          <a:bodyPr/>
          <a:lstStyle/>
          <a:p>
            <a:endParaRPr lang="es-MX"/>
          </a:p>
        </p:txBody>
      </p:sp>
      <p:sp>
        <p:nvSpPr>
          <p:cNvPr id="33" name="s19-forma-32"/>
          <p:cNvSpPr/>
          <p:nvPr/>
        </p:nvSpPr>
        <p:spPr>
          <a:xfrm>
            <a:off x="4541892" y="4037267"/>
            <a:ext cx="1508251" cy="5713"/>
          </a:xfrm>
          <a:prstGeom prst="rect">
            <a:avLst/>
          </a:prstGeom>
          <a:solidFill>
            <a:srgbClr val="DBD4C4"/>
          </a:solidFill>
          <a:ln/>
        </p:spPr>
        <p:txBody>
          <a:bodyPr/>
          <a:lstStyle/>
          <a:p>
            <a:endParaRPr lang="es-MX"/>
          </a:p>
        </p:txBody>
      </p:sp>
      <p:sp>
        <p:nvSpPr>
          <p:cNvPr id="34" name="s19-forma-33"/>
          <p:cNvSpPr/>
          <p:nvPr/>
        </p:nvSpPr>
        <p:spPr>
          <a:xfrm>
            <a:off x="4541892" y="3500238"/>
            <a:ext cx="17139" cy="542742"/>
          </a:xfrm>
          <a:prstGeom prst="rect">
            <a:avLst/>
          </a:prstGeom>
          <a:solidFill>
            <a:srgbClr val="C6BFAE"/>
          </a:solidFill>
          <a:ln/>
        </p:spPr>
        <p:txBody>
          <a:bodyPr/>
          <a:lstStyle/>
          <a:p>
            <a:endParaRPr lang="es-MX"/>
          </a:p>
        </p:txBody>
      </p:sp>
      <p:sp>
        <p:nvSpPr>
          <p:cNvPr id="35" name="s19-forma-34"/>
          <p:cNvSpPr/>
          <p:nvPr/>
        </p:nvSpPr>
        <p:spPr>
          <a:xfrm>
            <a:off x="6044430" y="3500238"/>
            <a:ext cx="5713" cy="542742"/>
          </a:xfrm>
          <a:prstGeom prst="rect">
            <a:avLst/>
          </a:prstGeom>
          <a:solidFill>
            <a:srgbClr val="DBD4C4"/>
          </a:solidFill>
          <a:ln/>
        </p:spPr>
        <p:txBody>
          <a:bodyPr/>
          <a:lstStyle/>
          <a:p>
            <a:endParaRPr lang="es-MX"/>
          </a:p>
        </p:txBody>
      </p:sp>
      <p:sp>
        <p:nvSpPr>
          <p:cNvPr id="36" name="s19-texto-35"/>
          <p:cNvSpPr txBox="1"/>
          <p:nvPr/>
        </p:nvSpPr>
        <p:spPr>
          <a:xfrm>
            <a:off x="5266738" y="3597361"/>
            <a:ext cx="115690" cy="142827"/>
          </a:xfrm>
          <a:prstGeom prst="rect">
            <a:avLst/>
          </a:prstGeom>
          <a:noFill/>
          <a:ln/>
        </p:spPr>
        <p:txBody>
          <a:bodyPr wrap="none" lIns="0" tIns="0" rIns="0" bIns="0" rtlCol="0" anchor="t"/>
          <a:lstStyle/>
          <a:p>
            <a:pPr marL="0" indent="0" algn="l">
              <a:lnSpc>
                <a:spcPts val="1188"/>
              </a:lnSpc>
              <a:buNone/>
            </a:pPr>
            <a:r>
              <a:rPr lang="en-US" sz="990" b="1" dirty="0">
                <a:solidFill>
                  <a:srgbClr val="AC321E"/>
                </a:solidFill>
                <a:latin typeface="Arial" pitchFamily="34" charset="0"/>
                <a:ea typeface="Arial" pitchFamily="34" charset="-122"/>
                <a:cs typeface="Arial" pitchFamily="34" charset="-120"/>
              </a:rPr>
              <a:t>3</a:t>
            </a:r>
            <a:endParaRPr lang="en-US" sz="990" dirty="0"/>
          </a:p>
        </p:txBody>
      </p:sp>
      <p:sp>
        <p:nvSpPr>
          <p:cNvPr id="37" name="s19-texto-36"/>
          <p:cNvSpPr txBox="1"/>
          <p:nvPr/>
        </p:nvSpPr>
        <p:spPr>
          <a:xfrm>
            <a:off x="5066334" y="3768753"/>
            <a:ext cx="516497"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Código</a:t>
            </a:r>
            <a:endParaRPr lang="en-US" sz="1170" dirty="0"/>
          </a:p>
        </p:txBody>
      </p:sp>
      <p:sp>
        <p:nvSpPr>
          <p:cNvPr id="38" name="s19-forma-37"/>
          <p:cNvSpPr/>
          <p:nvPr/>
        </p:nvSpPr>
        <p:spPr>
          <a:xfrm>
            <a:off x="6141552" y="3500238"/>
            <a:ext cx="1508251" cy="542742"/>
          </a:xfrm>
          <a:prstGeom prst="rect">
            <a:avLst/>
          </a:prstGeom>
          <a:solidFill>
            <a:srgbClr val="E8E2D5"/>
          </a:solidFill>
          <a:ln/>
        </p:spPr>
        <p:txBody>
          <a:bodyPr/>
          <a:lstStyle/>
          <a:p>
            <a:endParaRPr lang="es-MX"/>
          </a:p>
        </p:txBody>
      </p:sp>
      <p:sp>
        <p:nvSpPr>
          <p:cNvPr id="39" name="s19-forma-38"/>
          <p:cNvSpPr/>
          <p:nvPr/>
        </p:nvSpPr>
        <p:spPr>
          <a:xfrm>
            <a:off x="6141552" y="3500238"/>
            <a:ext cx="1508251" cy="5713"/>
          </a:xfrm>
          <a:prstGeom prst="rect">
            <a:avLst/>
          </a:prstGeom>
          <a:solidFill>
            <a:srgbClr val="DBD4C4"/>
          </a:solidFill>
          <a:ln/>
        </p:spPr>
        <p:txBody>
          <a:bodyPr/>
          <a:lstStyle/>
          <a:p>
            <a:endParaRPr lang="es-MX"/>
          </a:p>
        </p:txBody>
      </p:sp>
      <p:sp>
        <p:nvSpPr>
          <p:cNvPr id="40" name="s19-forma-39"/>
          <p:cNvSpPr/>
          <p:nvPr/>
        </p:nvSpPr>
        <p:spPr>
          <a:xfrm>
            <a:off x="6141552" y="4037267"/>
            <a:ext cx="1508251" cy="5713"/>
          </a:xfrm>
          <a:prstGeom prst="rect">
            <a:avLst/>
          </a:prstGeom>
          <a:solidFill>
            <a:srgbClr val="DBD4C4"/>
          </a:solidFill>
          <a:ln/>
        </p:spPr>
        <p:txBody>
          <a:bodyPr/>
          <a:lstStyle/>
          <a:p>
            <a:endParaRPr lang="es-MX"/>
          </a:p>
        </p:txBody>
      </p:sp>
      <p:sp>
        <p:nvSpPr>
          <p:cNvPr id="41" name="s19-forma-40"/>
          <p:cNvSpPr/>
          <p:nvPr/>
        </p:nvSpPr>
        <p:spPr>
          <a:xfrm>
            <a:off x="6141552" y="3500238"/>
            <a:ext cx="17139" cy="542742"/>
          </a:xfrm>
          <a:prstGeom prst="rect">
            <a:avLst/>
          </a:prstGeom>
          <a:solidFill>
            <a:srgbClr val="C6BFAE"/>
          </a:solidFill>
          <a:ln/>
        </p:spPr>
        <p:txBody>
          <a:bodyPr/>
          <a:lstStyle/>
          <a:p>
            <a:endParaRPr lang="es-MX"/>
          </a:p>
        </p:txBody>
      </p:sp>
      <p:sp>
        <p:nvSpPr>
          <p:cNvPr id="42" name="s19-forma-41"/>
          <p:cNvSpPr/>
          <p:nvPr/>
        </p:nvSpPr>
        <p:spPr>
          <a:xfrm>
            <a:off x="7644090" y="3500238"/>
            <a:ext cx="5713" cy="542742"/>
          </a:xfrm>
          <a:prstGeom prst="rect">
            <a:avLst/>
          </a:prstGeom>
          <a:solidFill>
            <a:srgbClr val="DBD4C4"/>
          </a:solidFill>
          <a:ln/>
        </p:spPr>
        <p:txBody>
          <a:bodyPr/>
          <a:lstStyle/>
          <a:p>
            <a:endParaRPr lang="es-MX"/>
          </a:p>
        </p:txBody>
      </p:sp>
      <p:sp>
        <p:nvSpPr>
          <p:cNvPr id="43" name="s19-texto-42"/>
          <p:cNvSpPr txBox="1"/>
          <p:nvPr/>
        </p:nvSpPr>
        <p:spPr>
          <a:xfrm>
            <a:off x="6866398" y="3597361"/>
            <a:ext cx="115690" cy="142827"/>
          </a:xfrm>
          <a:prstGeom prst="rect">
            <a:avLst/>
          </a:prstGeom>
          <a:noFill/>
          <a:ln/>
        </p:spPr>
        <p:txBody>
          <a:bodyPr wrap="none" lIns="0" tIns="0" rIns="0" bIns="0" rtlCol="0" anchor="t"/>
          <a:lstStyle/>
          <a:p>
            <a:pPr marL="0" indent="0" algn="l">
              <a:lnSpc>
                <a:spcPts val="1188"/>
              </a:lnSpc>
              <a:buNone/>
            </a:pPr>
            <a:r>
              <a:rPr lang="en-US" sz="990" b="1" dirty="0">
                <a:solidFill>
                  <a:srgbClr val="AC321E"/>
                </a:solidFill>
                <a:latin typeface="Arial" pitchFamily="34" charset="0"/>
                <a:ea typeface="Arial" pitchFamily="34" charset="-122"/>
                <a:cs typeface="Arial" pitchFamily="34" charset="-120"/>
              </a:rPr>
              <a:t>4</a:t>
            </a:r>
            <a:endParaRPr lang="en-US" sz="990" dirty="0"/>
          </a:p>
        </p:txBody>
      </p:sp>
      <p:sp>
        <p:nvSpPr>
          <p:cNvPr id="44" name="s19-texto-43"/>
          <p:cNvSpPr txBox="1"/>
          <p:nvPr/>
        </p:nvSpPr>
        <p:spPr>
          <a:xfrm>
            <a:off x="6529773" y="3768753"/>
            <a:ext cx="788940"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Despliegue</a:t>
            </a:r>
            <a:endParaRPr lang="en-US" sz="1170" dirty="0"/>
          </a:p>
        </p:txBody>
      </p:sp>
      <p:sp>
        <p:nvSpPr>
          <p:cNvPr id="45" name="s19-forma-44"/>
          <p:cNvSpPr/>
          <p:nvPr/>
        </p:nvSpPr>
        <p:spPr>
          <a:xfrm>
            <a:off x="7741212" y="3500238"/>
            <a:ext cx="1508251" cy="542742"/>
          </a:xfrm>
          <a:prstGeom prst="rect">
            <a:avLst/>
          </a:prstGeom>
          <a:solidFill>
            <a:srgbClr val="E8E2D5"/>
          </a:solidFill>
          <a:ln/>
        </p:spPr>
        <p:txBody>
          <a:bodyPr/>
          <a:lstStyle/>
          <a:p>
            <a:endParaRPr lang="es-MX"/>
          </a:p>
        </p:txBody>
      </p:sp>
      <p:sp>
        <p:nvSpPr>
          <p:cNvPr id="46" name="s19-forma-45"/>
          <p:cNvSpPr/>
          <p:nvPr/>
        </p:nvSpPr>
        <p:spPr>
          <a:xfrm>
            <a:off x="7741212" y="3500238"/>
            <a:ext cx="1508251" cy="5713"/>
          </a:xfrm>
          <a:prstGeom prst="rect">
            <a:avLst/>
          </a:prstGeom>
          <a:solidFill>
            <a:srgbClr val="DBD4C4"/>
          </a:solidFill>
          <a:ln/>
        </p:spPr>
        <p:txBody>
          <a:bodyPr/>
          <a:lstStyle/>
          <a:p>
            <a:endParaRPr lang="es-MX"/>
          </a:p>
        </p:txBody>
      </p:sp>
      <p:sp>
        <p:nvSpPr>
          <p:cNvPr id="47" name="s19-forma-46"/>
          <p:cNvSpPr/>
          <p:nvPr/>
        </p:nvSpPr>
        <p:spPr>
          <a:xfrm>
            <a:off x="7741212" y="4037267"/>
            <a:ext cx="1508251" cy="5713"/>
          </a:xfrm>
          <a:prstGeom prst="rect">
            <a:avLst/>
          </a:prstGeom>
          <a:solidFill>
            <a:srgbClr val="DBD4C4"/>
          </a:solidFill>
          <a:ln/>
        </p:spPr>
        <p:txBody>
          <a:bodyPr/>
          <a:lstStyle/>
          <a:p>
            <a:endParaRPr lang="es-MX"/>
          </a:p>
        </p:txBody>
      </p:sp>
      <p:sp>
        <p:nvSpPr>
          <p:cNvPr id="48" name="s19-forma-47"/>
          <p:cNvSpPr/>
          <p:nvPr/>
        </p:nvSpPr>
        <p:spPr>
          <a:xfrm>
            <a:off x="7741212" y="3500238"/>
            <a:ext cx="17139" cy="542742"/>
          </a:xfrm>
          <a:prstGeom prst="rect">
            <a:avLst/>
          </a:prstGeom>
          <a:solidFill>
            <a:srgbClr val="C6BFAE"/>
          </a:solidFill>
          <a:ln/>
        </p:spPr>
        <p:txBody>
          <a:bodyPr/>
          <a:lstStyle/>
          <a:p>
            <a:endParaRPr lang="es-MX"/>
          </a:p>
        </p:txBody>
      </p:sp>
      <p:sp>
        <p:nvSpPr>
          <p:cNvPr id="49" name="s19-forma-48"/>
          <p:cNvSpPr/>
          <p:nvPr/>
        </p:nvSpPr>
        <p:spPr>
          <a:xfrm>
            <a:off x="9243750" y="3500238"/>
            <a:ext cx="5713" cy="542742"/>
          </a:xfrm>
          <a:prstGeom prst="rect">
            <a:avLst/>
          </a:prstGeom>
          <a:solidFill>
            <a:srgbClr val="DBD4C4"/>
          </a:solidFill>
          <a:ln/>
        </p:spPr>
        <p:txBody>
          <a:bodyPr/>
          <a:lstStyle/>
          <a:p>
            <a:endParaRPr lang="es-MX"/>
          </a:p>
        </p:txBody>
      </p:sp>
      <p:sp>
        <p:nvSpPr>
          <p:cNvPr id="50" name="s19-texto-49"/>
          <p:cNvSpPr txBox="1"/>
          <p:nvPr/>
        </p:nvSpPr>
        <p:spPr>
          <a:xfrm>
            <a:off x="8466058" y="3597361"/>
            <a:ext cx="115690" cy="142827"/>
          </a:xfrm>
          <a:prstGeom prst="rect">
            <a:avLst/>
          </a:prstGeom>
          <a:noFill/>
          <a:ln/>
        </p:spPr>
        <p:txBody>
          <a:bodyPr wrap="none" lIns="0" tIns="0" rIns="0" bIns="0" rtlCol="0" anchor="t"/>
          <a:lstStyle/>
          <a:p>
            <a:pPr marL="0" indent="0" algn="l">
              <a:lnSpc>
                <a:spcPts val="1188"/>
              </a:lnSpc>
              <a:buNone/>
            </a:pPr>
            <a:r>
              <a:rPr lang="en-US" sz="990" b="1" dirty="0">
                <a:solidFill>
                  <a:srgbClr val="AC321E"/>
                </a:solidFill>
                <a:latin typeface="Arial" pitchFamily="34" charset="0"/>
                <a:ea typeface="Arial" pitchFamily="34" charset="-122"/>
                <a:cs typeface="Arial" pitchFamily="34" charset="-120"/>
              </a:rPr>
              <a:t>5</a:t>
            </a:r>
            <a:endParaRPr lang="en-US" sz="990" dirty="0"/>
          </a:p>
        </p:txBody>
      </p:sp>
      <p:sp>
        <p:nvSpPr>
          <p:cNvPr id="51" name="s19-texto-50"/>
          <p:cNvSpPr txBox="1"/>
          <p:nvPr/>
        </p:nvSpPr>
        <p:spPr>
          <a:xfrm>
            <a:off x="8224413" y="3768753"/>
            <a:ext cx="598980"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Pruebas</a:t>
            </a:r>
            <a:endParaRPr lang="en-US" sz="1170" dirty="0"/>
          </a:p>
        </p:txBody>
      </p:sp>
      <p:sp>
        <p:nvSpPr>
          <p:cNvPr id="52" name="s19-forma-51"/>
          <p:cNvSpPr/>
          <p:nvPr/>
        </p:nvSpPr>
        <p:spPr>
          <a:xfrm>
            <a:off x="9340872" y="3500238"/>
            <a:ext cx="1508251" cy="542742"/>
          </a:xfrm>
          <a:prstGeom prst="rect">
            <a:avLst/>
          </a:prstGeom>
          <a:solidFill>
            <a:srgbClr val="E8E2D5"/>
          </a:solidFill>
          <a:ln/>
        </p:spPr>
        <p:txBody>
          <a:bodyPr/>
          <a:lstStyle/>
          <a:p>
            <a:endParaRPr lang="es-MX"/>
          </a:p>
        </p:txBody>
      </p:sp>
      <p:sp>
        <p:nvSpPr>
          <p:cNvPr id="53" name="s19-forma-52"/>
          <p:cNvSpPr/>
          <p:nvPr/>
        </p:nvSpPr>
        <p:spPr>
          <a:xfrm>
            <a:off x="9340872" y="3500238"/>
            <a:ext cx="1508251" cy="5713"/>
          </a:xfrm>
          <a:prstGeom prst="rect">
            <a:avLst/>
          </a:prstGeom>
          <a:solidFill>
            <a:srgbClr val="DBD4C4"/>
          </a:solidFill>
          <a:ln/>
        </p:spPr>
        <p:txBody>
          <a:bodyPr/>
          <a:lstStyle/>
          <a:p>
            <a:endParaRPr lang="es-MX"/>
          </a:p>
        </p:txBody>
      </p:sp>
      <p:sp>
        <p:nvSpPr>
          <p:cNvPr id="54" name="s19-forma-53"/>
          <p:cNvSpPr/>
          <p:nvPr/>
        </p:nvSpPr>
        <p:spPr>
          <a:xfrm>
            <a:off x="9340872" y="4037267"/>
            <a:ext cx="1508251" cy="5713"/>
          </a:xfrm>
          <a:prstGeom prst="rect">
            <a:avLst/>
          </a:prstGeom>
          <a:solidFill>
            <a:srgbClr val="DBD4C4"/>
          </a:solidFill>
          <a:ln/>
        </p:spPr>
        <p:txBody>
          <a:bodyPr/>
          <a:lstStyle/>
          <a:p>
            <a:endParaRPr lang="es-MX"/>
          </a:p>
        </p:txBody>
      </p:sp>
      <p:sp>
        <p:nvSpPr>
          <p:cNvPr id="55" name="s19-forma-54"/>
          <p:cNvSpPr/>
          <p:nvPr/>
        </p:nvSpPr>
        <p:spPr>
          <a:xfrm>
            <a:off x="9340872" y="3500238"/>
            <a:ext cx="17139" cy="542742"/>
          </a:xfrm>
          <a:prstGeom prst="rect">
            <a:avLst/>
          </a:prstGeom>
          <a:solidFill>
            <a:srgbClr val="C6BFAE"/>
          </a:solidFill>
          <a:ln/>
        </p:spPr>
        <p:txBody>
          <a:bodyPr/>
          <a:lstStyle/>
          <a:p>
            <a:endParaRPr lang="es-MX"/>
          </a:p>
        </p:txBody>
      </p:sp>
      <p:sp>
        <p:nvSpPr>
          <p:cNvPr id="56" name="s19-forma-55"/>
          <p:cNvSpPr/>
          <p:nvPr/>
        </p:nvSpPr>
        <p:spPr>
          <a:xfrm>
            <a:off x="10843410" y="3500238"/>
            <a:ext cx="5713" cy="542742"/>
          </a:xfrm>
          <a:prstGeom prst="rect">
            <a:avLst/>
          </a:prstGeom>
          <a:solidFill>
            <a:srgbClr val="DBD4C4"/>
          </a:solidFill>
          <a:ln/>
        </p:spPr>
        <p:txBody>
          <a:bodyPr/>
          <a:lstStyle/>
          <a:p>
            <a:endParaRPr lang="es-MX"/>
          </a:p>
        </p:txBody>
      </p:sp>
      <p:sp>
        <p:nvSpPr>
          <p:cNvPr id="57" name="s19-texto-56"/>
          <p:cNvSpPr txBox="1"/>
          <p:nvPr/>
        </p:nvSpPr>
        <p:spPr>
          <a:xfrm>
            <a:off x="10065718" y="3597361"/>
            <a:ext cx="115690" cy="142827"/>
          </a:xfrm>
          <a:prstGeom prst="rect">
            <a:avLst/>
          </a:prstGeom>
          <a:noFill/>
          <a:ln/>
        </p:spPr>
        <p:txBody>
          <a:bodyPr wrap="none" lIns="0" tIns="0" rIns="0" bIns="0" rtlCol="0" anchor="t"/>
          <a:lstStyle/>
          <a:p>
            <a:pPr marL="0" indent="0" algn="l">
              <a:lnSpc>
                <a:spcPts val="1188"/>
              </a:lnSpc>
              <a:buNone/>
            </a:pPr>
            <a:r>
              <a:rPr lang="en-US" sz="990" b="1" dirty="0">
                <a:solidFill>
                  <a:srgbClr val="AC321E"/>
                </a:solidFill>
                <a:latin typeface="Arial" pitchFamily="34" charset="0"/>
                <a:ea typeface="Arial" pitchFamily="34" charset="-122"/>
                <a:cs typeface="Arial" pitchFamily="34" charset="-120"/>
              </a:rPr>
              <a:t>6</a:t>
            </a:r>
            <a:endParaRPr lang="en-US" sz="990" dirty="0"/>
          </a:p>
        </p:txBody>
      </p:sp>
      <p:sp>
        <p:nvSpPr>
          <p:cNvPr id="58" name="s19-texto-57"/>
          <p:cNvSpPr txBox="1"/>
          <p:nvPr/>
        </p:nvSpPr>
        <p:spPr>
          <a:xfrm>
            <a:off x="9675444" y="3768753"/>
            <a:ext cx="901566" cy="171392"/>
          </a:xfrm>
          <a:prstGeom prst="rect">
            <a:avLst/>
          </a:prstGeom>
          <a:noFill/>
          <a:ln/>
        </p:spPr>
        <p:txBody>
          <a:bodyPr wrap="none" lIns="0" tIns="0" rIns="0" bIns="0" rtlCol="0" anchor="t"/>
          <a:lstStyle/>
          <a:p>
            <a:pPr marL="0" indent="0" algn="l">
              <a:lnSpc>
                <a:spcPts val="1404"/>
              </a:lnSpc>
              <a:buNone/>
            </a:pPr>
            <a:r>
              <a:rPr lang="en-US" sz="1170" dirty="0">
                <a:solidFill>
                  <a:srgbClr val="16181D"/>
                </a:solidFill>
                <a:latin typeface="Arial" pitchFamily="34" charset="0"/>
                <a:ea typeface="Arial" pitchFamily="34" charset="-122"/>
                <a:cs typeface="Arial" pitchFamily="34" charset="-120"/>
              </a:rPr>
              <a:t>Reporte E2E</a:t>
            </a:r>
            <a:endParaRPr lang="en-US" sz="1170" dirty="0"/>
          </a:p>
        </p:txBody>
      </p:sp>
      <p:sp>
        <p:nvSpPr>
          <p:cNvPr id="59" name="s19-texto-58"/>
          <p:cNvSpPr txBox="1"/>
          <p:nvPr/>
        </p:nvSpPr>
        <p:spPr>
          <a:xfrm>
            <a:off x="1342572" y="4340060"/>
            <a:ext cx="10076945" cy="400986"/>
          </a:xfrm>
          <a:prstGeom prst="rect">
            <a:avLst/>
          </a:prstGeom>
          <a:noFill/>
          <a:ln/>
        </p:spPr>
        <p:txBody>
          <a:bodyPr wrap="squar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Cada etapa deja su evidencia. Si un agente se equivoca, </a:t>
            </a:r>
            <a:r>
              <a:rPr lang="en-US" sz="1260" b="1" dirty="0">
                <a:solidFill>
                  <a:srgbClr val="0033A0"/>
                </a:solidFill>
                <a:latin typeface="Arial" pitchFamily="34" charset="0"/>
                <a:ea typeface="Arial" pitchFamily="34" charset="-122"/>
                <a:cs typeface="Arial" pitchFamily="34" charset="-120"/>
              </a:rPr>
              <a:t>corriges al agente</a:t>
            </a:r>
            <a:r>
              <a:rPr lang="en-US" sz="1260" dirty="0">
                <a:solidFill>
                  <a:srgbClr val="16181D"/>
                </a:solidFill>
                <a:latin typeface="Arial" pitchFamily="34" charset="0"/>
                <a:ea typeface="Arial" pitchFamily="34" charset="-122"/>
                <a:cs typeface="Arial" pitchFamily="34" charset="-120"/>
              </a:rPr>
              <a:t>, no su resultado. Y explicas tus decisiones en </a:t>
            </a:r>
            <a:r>
              <a:rPr lang="en-US" sz="1260" b="1" dirty="0">
                <a:solidFill>
                  <a:srgbClr val="0033A0"/>
                </a:solidFill>
                <a:latin typeface="Arial" pitchFamily="34" charset="0"/>
                <a:ea typeface="Arial" pitchFamily="34" charset="-122"/>
                <a:cs typeface="Arial" pitchFamily="34" charset="-120"/>
              </a:rPr>
              <a:t>decisiones.md</a:t>
            </a:r>
            <a:r>
              <a:rPr lang="en-US" sz="1260" dirty="0">
                <a:solidFill>
                  <a:srgbClr val="16181D"/>
                </a:solidFill>
                <a:latin typeface="Arial" pitchFamily="34" charset="0"/>
                <a:ea typeface="Arial" pitchFamily="34" charset="-122"/>
                <a:cs typeface="Arial" pitchFamily="34" charset="-120"/>
              </a:rPr>
              <a:t> y tu reporte en </a:t>
            </a:r>
            <a:r>
              <a:rPr lang="en-US" sz="1260" b="1" dirty="0">
                <a:solidFill>
                  <a:srgbClr val="0033A0"/>
                </a:solidFill>
                <a:latin typeface="Arial" pitchFamily="34" charset="0"/>
                <a:ea typeface="Arial" pitchFamily="34" charset="-122"/>
                <a:cs typeface="Arial" pitchFamily="34" charset="-120"/>
              </a:rPr>
              <a:t>seguridad.md</a:t>
            </a:r>
            <a:r>
              <a:rPr lang="en-US" sz="1260" dirty="0">
                <a:solidFill>
                  <a:srgbClr val="16181D"/>
                </a:solidFill>
                <a:latin typeface="Arial" pitchFamily="34" charset="0"/>
                <a:ea typeface="Arial" pitchFamily="34" charset="-122"/>
                <a:cs typeface="Arial" pitchFamily="34" charset="-120"/>
              </a:rPr>
              <a:t>.</a:t>
            </a:r>
            <a:endParaRPr lang="en-US" sz="1260" dirty="0"/>
          </a:p>
        </p:txBody>
      </p:sp>
      <p:sp>
        <p:nvSpPr>
          <p:cNvPr id="60" name="s19-texto-5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python -m flujos.flujo_s4 historias/HU-10-solicitar-vacaciones.md</a:t>
            </a:r>
            <a:endParaRPr lang="en-US" sz="1080" dirty="0"/>
          </a:p>
        </p:txBody>
      </p:sp>
      <p:sp>
        <p:nvSpPr>
          <p:cNvPr id="61" name="s19-forma-60"/>
          <p:cNvSpPr/>
          <p:nvPr/>
        </p:nvSpPr>
        <p:spPr>
          <a:xfrm>
            <a:off x="853390" y="6411138"/>
            <a:ext cx="10484915" cy="5713"/>
          </a:xfrm>
          <a:prstGeom prst="rect">
            <a:avLst/>
          </a:prstGeom>
          <a:solidFill>
            <a:srgbClr val="DBD4C4"/>
          </a:solidFill>
          <a:ln/>
        </p:spPr>
        <p:txBody>
          <a:bodyPr/>
          <a:lstStyle/>
          <a:p>
            <a:endParaRPr lang="es-MX"/>
          </a:p>
        </p:txBody>
      </p:sp>
      <p:pic>
        <p:nvPicPr>
          <p:cNvPr id="62" name="s19-logo-61" descr="preencoded.png"/>
          <p:cNvPicPr>
            <a:picLocks noChangeAspect="1"/>
          </p:cNvPicPr>
          <p:nvPr/>
        </p:nvPicPr>
        <p:blipFill>
          <a:blip r:embed="rId3"/>
          <a:stretch>
            <a:fillRect/>
          </a:stretch>
        </p:blipFill>
        <p:spPr>
          <a:xfrm>
            <a:off x="853390" y="6465055"/>
            <a:ext cx="687800" cy="212455"/>
          </a:xfrm>
          <a:prstGeom prst="rect">
            <a:avLst/>
          </a:prstGeom>
        </p:spPr>
      </p:pic>
      <p:sp>
        <p:nvSpPr>
          <p:cNvPr id="63" name="s19-forma-62"/>
          <p:cNvSpPr/>
          <p:nvPr/>
        </p:nvSpPr>
        <p:spPr>
          <a:xfrm>
            <a:off x="1659380" y="6519865"/>
            <a:ext cx="3578704" cy="102835"/>
          </a:xfrm>
          <a:prstGeom prst="rect">
            <a:avLst/>
          </a:prstGeom>
          <a:ln/>
        </p:spPr>
        <p:txBody>
          <a:bodyPr/>
          <a:lstStyle/>
          <a:p>
            <a:endParaRPr lang="es-MX"/>
          </a:p>
        </p:txBody>
      </p:sp>
      <p:sp>
        <p:nvSpPr>
          <p:cNvPr id="64" name="s19-forma-63"/>
          <p:cNvSpPr/>
          <p:nvPr/>
        </p:nvSpPr>
        <p:spPr>
          <a:xfrm>
            <a:off x="1659380" y="6519865"/>
            <a:ext cx="5713" cy="102835"/>
          </a:xfrm>
          <a:prstGeom prst="rect">
            <a:avLst/>
          </a:prstGeom>
          <a:solidFill>
            <a:srgbClr val="C6BFAE"/>
          </a:solidFill>
          <a:ln/>
        </p:spPr>
        <p:txBody>
          <a:bodyPr/>
          <a:lstStyle/>
          <a:p>
            <a:endParaRPr lang="es-MX"/>
          </a:p>
        </p:txBody>
      </p:sp>
      <p:sp>
        <p:nvSpPr>
          <p:cNvPr id="65" name="s19-texto-64"/>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66" name="s19-texto-65"/>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19 / 22</a:t>
            </a:r>
            <a:endParaRPr lang="en-US" sz="745" dirty="0"/>
          </a:p>
        </p:txBody>
      </p:sp>
      <p:sp>
        <p:nvSpPr>
          <p:cNvPr id="67" name="s19-forma-66"/>
          <p:cNvSpPr/>
          <p:nvPr/>
        </p:nvSpPr>
        <p:spPr>
          <a:xfrm>
            <a:off x="0" y="0"/>
            <a:ext cx="10529191" cy="17139"/>
          </a:xfrm>
          <a:prstGeom prst="rect">
            <a:avLst/>
          </a:prstGeom>
          <a:solidFill>
            <a:srgbClr val="0033A0"/>
          </a:solidFill>
          <a:ln/>
        </p:spPr>
        <p:txBody>
          <a:bodyPr/>
          <a:lstStyle/>
          <a:p>
            <a:endParaRPr lang="es-MX"/>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E8DC"/>
        </a:solidFill>
        <a:effectLst/>
      </p:bgPr>
    </p:bg>
    <p:spTree>
      <p:nvGrpSpPr>
        <p:cNvPr id="1" name=""/>
        <p:cNvGrpSpPr/>
        <p:nvPr/>
      </p:nvGrpSpPr>
      <p:grpSpPr>
        <a:xfrm>
          <a:off x="0" y="0"/>
          <a:ext cx="0" cy="0"/>
          <a:chOff x="0" y="0"/>
          <a:chExt cx="0" cy="0"/>
        </a:xfrm>
      </p:grpSpPr>
      <p:sp>
        <p:nvSpPr>
          <p:cNvPr id="2" name="s20-forma-1"/>
          <p:cNvSpPr/>
          <p:nvPr/>
        </p:nvSpPr>
        <p:spPr>
          <a:xfrm>
            <a:off x="853390" y="520961"/>
            <a:ext cx="10484915" cy="5713"/>
          </a:xfrm>
          <a:prstGeom prst="rect">
            <a:avLst/>
          </a:prstGeom>
          <a:solidFill>
            <a:srgbClr val="C6BFAE"/>
          </a:solidFill>
          <a:ln/>
        </p:spPr>
        <p:txBody>
          <a:bodyPr/>
          <a:lstStyle/>
          <a:p>
            <a:endParaRPr lang="es-MX"/>
          </a:p>
        </p:txBody>
      </p:sp>
      <p:sp>
        <p:nvSpPr>
          <p:cNvPr id="3" name="s20-forma-2"/>
          <p:cNvSpPr/>
          <p:nvPr/>
        </p:nvSpPr>
        <p:spPr>
          <a:xfrm>
            <a:off x="853390" y="331715"/>
            <a:ext cx="81411" cy="81411"/>
          </a:xfrm>
          <a:prstGeom prst="ellipse">
            <a:avLst/>
          </a:prstGeom>
          <a:solidFill>
            <a:srgbClr val="984514"/>
          </a:solidFill>
          <a:ln/>
        </p:spPr>
        <p:txBody>
          <a:bodyPr/>
          <a:lstStyle/>
          <a:p>
            <a:endParaRPr lang="es-MX"/>
          </a:p>
        </p:txBody>
      </p:sp>
      <p:sp>
        <p:nvSpPr>
          <p:cNvPr id="4" name="s20-texto-3"/>
          <p:cNvSpPr txBox="1"/>
          <p:nvPr/>
        </p:nvSpPr>
        <p:spPr>
          <a:xfrm>
            <a:off x="1007018" y="315290"/>
            <a:ext cx="369654"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984514"/>
                </a:solidFill>
                <a:latin typeface="Courier New" pitchFamily="34" charset="0"/>
                <a:ea typeface="Courier New" pitchFamily="34" charset="-122"/>
                <a:cs typeface="Courier New" pitchFamily="34" charset="-120"/>
              </a:rPr>
              <a:t>RETA</a:t>
            </a:r>
            <a:endParaRPr lang="en-US" sz="807" dirty="0"/>
          </a:p>
        </p:txBody>
      </p:sp>
      <p:sp>
        <p:nvSpPr>
          <p:cNvPr id="5" name="s20-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1:33 · 12 min</a:t>
            </a:r>
            <a:endParaRPr lang="en-US" sz="807" dirty="0"/>
          </a:p>
        </p:txBody>
      </p:sp>
      <p:sp>
        <p:nvSpPr>
          <p:cNvPr id="6" name="s20-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RÚBRICA DEL RETO</a:t>
            </a:r>
            <a:endParaRPr lang="en-US" sz="900" dirty="0"/>
          </a:p>
        </p:txBody>
      </p:sp>
      <p:sp>
        <p:nvSpPr>
          <p:cNvPr id="7" name="s20-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Cómo se califica el reto</a:t>
            </a:r>
            <a:endParaRPr lang="en-US" sz="2879" dirty="0"/>
          </a:p>
        </p:txBody>
      </p:sp>
      <p:sp>
        <p:nvSpPr>
          <p:cNvPr id="8" name="s20-forma-7"/>
          <p:cNvSpPr/>
          <p:nvPr/>
        </p:nvSpPr>
        <p:spPr>
          <a:xfrm>
            <a:off x="1342572" y="2144634"/>
            <a:ext cx="3042032" cy="226202"/>
          </a:xfrm>
          <a:prstGeom prst="rect">
            <a:avLst/>
          </a:prstGeom>
          <a:ln/>
        </p:spPr>
        <p:txBody>
          <a:bodyPr/>
          <a:lstStyle/>
          <a:p>
            <a:endParaRPr lang="es-MX"/>
          </a:p>
        </p:txBody>
      </p:sp>
      <p:sp>
        <p:nvSpPr>
          <p:cNvPr id="9" name="s20-forma-8"/>
          <p:cNvSpPr/>
          <p:nvPr/>
        </p:nvSpPr>
        <p:spPr>
          <a:xfrm>
            <a:off x="1342572" y="2365122"/>
            <a:ext cx="3042032" cy="5713"/>
          </a:xfrm>
          <a:prstGeom prst="rect">
            <a:avLst/>
          </a:prstGeom>
          <a:solidFill>
            <a:srgbClr val="0033A0"/>
          </a:solidFill>
          <a:ln/>
        </p:spPr>
        <p:txBody>
          <a:bodyPr/>
          <a:lstStyle/>
          <a:p>
            <a:endParaRPr lang="es-MX"/>
          </a:p>
        </p:txBody>
      </p:sp>
      <p:sp>
        <p:nvSpPr>
          <p:cNvPr id="10" name="s20-texto-9"/>
          <p:cNvSpPr txBox="1"/>
          <p:nvPr/>
        </p:nvSpPr>
        <p:spPr>
          <a:xfrm>
            <a:off x="1418538" y="2193463"/>
            <a:ext cx="3063487"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CRITERIO</a:t>
            </a:r>
            <a:endParaRPr lang="en-US" sz="855" dirty="0"/>
          </a:p>
        </p:txBody>
      </p:sp>
      <p:sp>
        <p:nvSpPr>
          <p:cNvPr id="11" name="s20-forma-10"/>
          <p:cNvSpPr/>
          <p:nvPr/>
        </p:nvSpPr>
        <p:spPr>
          <a:xfrm>
            <a:off x="4384604" y="2144634"/>
            <a:ext cx="950602" cy="226202"/>
          </a:xfrm>
          <a:prstGeom prst="rect">
            <a:avLst/>
          </a:prstGeom>
          <a:ln/>
        </p:spPr>
        <p:txBody>
          <a:bodyPr/>
          <a:lstStyle/>
          <a:p>
            <a:endParaRPr lang="es-MX"/>
          </a:p>
        </p:txBody>
      </p:sp>
      <p:sp>
        <p:nvSpPr>
          <p:cNvPr id="12" name="s20-forma-11"/>
          <p:cNvSpPr/>
          <p:nvPr/>
        </p:nvSpPr>
        <p:spPr>
          <a:xfrm>
            <a:off x="4384604" y="2365122"/>
            <a:ext cx="950602" cy="5713"/>
          </a:xfrm>
          <a:prstGeom prst="rect">
            <a:avLst/>
          </a:prstGeom>
          <a:solidFill>
            <a:srgbClr val="0033A0"/>
          </a:solidFill>
          <a:ln/>
        </p:spPr>
        <p:txBody>
          <a:bodyPr/>
          <a:lstStyle/>
          <a:p>
            <a:endParaRPr lang="es-MX"/>
          </a:p>
        </p:txBody>
      </p:sp>
      <p:sp>
        <p:nvSpPr>
          <p:cNvPr id="13" name="s20-texto-12"/>
          <p:cNvSpPr txBox="1"/>
          <p:nvPr/>
        </p:nvSpPr>
        <p:spPr>
          <a:xfrm>
            <a:off x="4412670" y="2193463"/>
            <a:ext cx="846552" cy="125688"/>
          </a:xfrm>
          <a:prstGeom prst="rect">
            <a:avLst/>
          </a:prstGeom>
          <a:noFill/>
          <a:ln/>
        </p:spPr>
        <p:txBody>
          <a:bodyPr wrap="none" lIns="0" tIns="0" rIns="0" bIns="0" rtlCol="0" anchor="t"/>
          <a:lstStyle/>
          <a:p>
            <a:pPr marL="0" indent="0" algn="r">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PESO</a:t>
            </a:r>
            <a:endParaRPr lang="en-US" sz="855" dirty="0"/>
          </a:p>
        </p:txBody>
      </p:sp>
      <p:sp>
        <p:nvSpPr>
          <p:cNvPr id="14" name="s20-forma-13"/>
          <p:cNvSpPr/>
          <p:nvPr/>
        </p:nvSpPr>
        <p:spPr>
          <a:xfrm>
            <a:off x="5335206" y="2144634"/>
            <a:ext cx="5513918" cy="226202"/>
          </a:xfrm>
          <a:prstGeom prst="rect">
            <a:avLst/>
          </a:prstGeom>
          <a:ln/>
        </p:spPr>
        <p:txBody>
          <a:bodyPr/>
          <a:lstStyle/>
          <a:p>
            <a:endParaRPr lang="es-MX"/>
          </a:p>
        </p:txBody>
      </p:sp>
      <p:sp>
        <p:nvSpPr>
          <p:cNvPr id="15" name="s20-forma-14"/>
          <p:cNvSpPr/>
          <p:nvPr/>
        </p:nvSpPr>
        <p:spPr>
          <a:xfrm>
            <a:off x="5335206" y="2365122"/>
            <a:ext cx="5513918" cy="5713"/>
          </a:xfrm>
          <a:prstGeom prst="rect">
            <a:avLst/>
          </a:prstGeom>
          <a:solidFill>
            <a:srgbClr val="0033A0"/>
          </a:solidFill>
          <a:ln/>
        </p:spPr>
        <p:txBody>
          <a:bodyPr/>
          <a:lstStyle/>
          <a:p>
            <a:endParaRPr lang="es-MX"/>
          </a:p>
        </p:txBody>
      </p:sp>
      <p:sp>
        <p:nvSpPr>
          <p:cNvPr id="16" name="s20-texto-15"/>
          <p:cNvSpPr txBox="1"/>
          <p:nvPr/>
        </p:nvSpPr>
        <p:spPr>
          <a:xfrm>
            <a:off x="5411172" y="2193463"/>
            <a:ext cx="5683686" cy="125688"/>
          </a:xfrm>
          <a:prstGeom prst="rect">
            <a:avLst/>
          </a:prstGeom>
          <a:noFill/>
          <a:ln/>
        </p:spPr>
        <p:txBody>
          <a:bodyPr wrap="none" lIns="0" tIns="0" rIns="0" bIns="0" rtlCol="0" anchor="t"/>
          <a:lstStyle/>
          <a:p>
            <a:pPr marL="0" indent="0" algn="l">
              <a:lnSpc>
                <a:spcPts val="1026"/>
              </a:lnSpc>
              <a:buNone/>
            </a:pPr>
            <a:r>
              <a:rPr lang="en-US" sz="855" b="1" kern="0" spc="111" dirty="0">
                <a:solidFill>
                  <a:srgbClr val="0033A0"/>
                </a:solidFill>
                <a:latin typeface="Courier New" pitchFamily="34" charset="0"/>
                <a:ea typeface="Courier New" pitchFamily="34" charset="-122"/>
                <a:cs typeface="Courier New" pitchFamily="34" charset="-120"/>
              </a:rPr>
              <a:t>QUÉ SE REVISA</a:t>
            </a:r>
            <a:endParaRPr lang="en-US" sz="855" dirty="0"/>
          </a:p>
        </p:txBody>
      </p:sp>
      <p:sp>
        <p:nvSpPr>
          <p:cNvPr id="17" name="s20-forma-16"/>
          <p:cNvSpPr/>
          <p:nvPr/>
        </p:nvSpPr>
        <p:spPr>
          <a:xfrm>
            <a:off x="1342572" y="2370836"/>
            <a:ext cx="9506551" cy="332429"/>
          </a:xfrm>
          <a:prstGeom prst="rect">
            <a:avLst/>
          </a:prstGeom>
          <a:solidFill>
            <a:srgbClr val="E2D3C2"/>
          </a:solidFill>
          <a:ln/>
        </p:spPr>
        <p:txBody>
          <a:bodyPr/>
          <a:lstStyle/>
          <a:p>
            <a:endParaRPr lang="es-MX"/>
          </a:p>
        </p:txBody>
      </p:sp>
      <p:sp>
        <p:nvSpPr>
          <p:cNvPr id="18" name="s20-forma-17"/>
          <p:cNvSpPr/>
          <p:nvPr/>
        </p:nvSpPr>
        <p:spPr>
          <a:xfrm>
            <a:off x="1342572" y="2370836"/>
            <a:ext cx="3042032" cy="332429"/>
          </a:xfrm>
          <a:prstGeom prst="rect">
            <a:avLst/>
          </a:prstGeom>
          <a:ln/>
        </p:spPr>
        <p:txBody>
          <a:bodyPr/>
          <a:lstStyle/>
          <a:p>
            <a:endParaRPr lang="es-MX"/>
          </a:p>
        </p:txBody>
      </p:sp>
      <p:sp>
        <p:nvSpPr>
          <p:cNvPr id="19" name="s20-forma-18"/>
          <p:cNvSpPr/>
          <p:nvPr/>
        </p:nvSpPr>
        <p:spPr>
          <a:xfrm>
            <a:off x="1342572" y="2697552"/>
            <a:ext cx="3042032" cy="5713"/>
          </a:xfrm>
          <a:prstGeom prst="rect">
            <a:avLst/>
          </a:prstGeom>
          <a:solidFill>
            <a:srgbClr val="DBD4C4"/>
          </a:solidFill>
          <a:ln/>
        </p:spPr>
        <p:txBody>
          <a:bodyPr/>
          <a:lstStyle/>
          <a:p>
            <a:endParaRPr lang="es-MX"/>
          </a:p>
        </p:txBody>
      </p:sp>
      <p:sp>
        <p:nvSpPr>
          <p:cNvPr id="20" name="s20-texto-19"/>
          <p:cNvSpPr txBox="1"/>
          <p:nvPr/>
        </p:nvSpPr>
        <p:spPr>
          <a:xfrm>
            <a:off x="1454512" y="2445641"/>
            <a:ext cx="2987202"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La app cumple la historia</a:t>
            </a:r>
            <a:endParaRPr lang="en-US" sz="1260" dirty="0"/>
          </a:p>
        </p:txBody>
      </p:sp>
      <p:sp>
        <p:nvSpPr>
          <p:cNvPr id="21" name="s20-forma-20"/>
          <p:cNvSpPr/>
          <p:nvPr/>
        </p:nvSpPr>
        <p:spPr>
          <a:xfrm>
            <a:off x="4384604" y="2370836"/>
            <a:ext cx="950602" cy="332429"/>
          </a:xfrm>
          <a:prstGeom prst="rect">
            <a:avLst/>
          </a:prstGeom>
          <a:ln/>
        </p:spPr>
        <p:txBody>
          <a:bodyPr/>
          <a:lstStyle/>
          <a:p>
            <a:endParaRPr lang="es-MX"/>
          </a:p>
        </p:txBody>
      </p:sp>
      <p:sp>
        <p:nvSpPr>
          <p:cNvPr id="22" name="s20-forma-21"/>
          <p:cNvSpPr/>
          <p:nvPr/>
        </p:nvSpPr>
        <p:spPr>
          <a:xfrm>
            <a:off x="4384604" y="2697552"/>
            <a:ext cx="950602" cy="5713"/>
          </a:xfrm>
          <a:prstGeom prst="rect">
            <a:avLst/>
          </a:prstGeom>
          <a:solidFill>
            <a:srgbClr val="DBD4C4"/>
          </a:solidFill>
          <a:ln/>
        </p:spPr>
        <p:txBody>
          <a:bodyPr/>
          <a:lstStyle/>
          <a:p>
            <a:endParaRPr lang="es-MX"/>
          </a:p>
        </p:txBody>
      </p:sp>
      <p:sp>
        <p:nvSpPr>
          <p:cNvPr id="23" name="s20-texto-22"/>
          <p:cNvSpPr txBox="1"/>
          <p:nvPr/>
        </p:nvSpPr>
        <p:spPr>
          <a:xfrm>
            <a:off x="4450876" y="2445641"/>
            <a:ext cx="772354" cy="177105"/>
          </a:xfrm>
          <a:prstGeom prst="rect">
            <a:avLst/>
          </a:prstGeom>
          <a:noFill/>
          <a:ln/>
        </p:spPr>
        <p:txBody>
          <a:bodyPr wrap="none" lIns="0" tIns="0" rIns="0" bIns="0" rtlCol="0" anchor="t"/>
          <a:lstStyle/>
          <a:p>
            <a:pPr marL="0" indent="0" algn="r">
              <a:lnSpc>
                <a:spcPts val="1512"/>
              </a:lnSpc>
              <a:buNone/>
            </a:pPr>
            <a:r>
              <a:rPr lang="en-US" sz="1260" dirty="0">
                <a:solidFill>
                  <a:srgbClr val="16181D"/>
                </a:solidFill>
                <a:latin typeface="Arial" pitchFamily="34" charset="0"/>
                <a:ea typeface="Arial" pitchFamily="34" charset="-122"/>
                <a:cs typeface="Arial" pitchFamily="34" charset="-120"/>
              </a:rPr>
              <a:t>40%</a:t>
            </a:r>
            <a:endParaRPr lang="en-US" sz="1260" dirty="0"/>
          </a:p>
        </p:txBody>
      </p:sp>
      <p:sp>
        <p:nvSpPr>
          <p:cNvPr id="24" name="s20-forma-23"/>
          <p:cNvSpPr/>
          <p:nvPr/>
        </p:nvSpPr>
        <p:spPr>
          <a:xfrm>
            <a:off x="5335206" y="2370836"/>
            <a:ext cx="5513918" cy="332429"/>
          </a:xfrm>
          <a:prstGeom prst="rect">
            <a:avLst/>
          </a:prstGeom>
          <a:ln/>
        </p:spPr>
        <p:txBody>
          <a:bodyPr/>
          <a:lstStyle/>
          <a:p>
            <a:endParaRPr lang="es-MX"/>
          </a:p>
        </p:txBody>
      </p:sp>
      <p:sp>
        <p:nvSpPr>
          <p:cNvPr id="25" name="s20-forma-24"/>
          <p:cNvSpPr/>
          <p:nvPr/>
        </p:nvSpPr>
        <p:spPr>
          <a:xfrm>
            <a:off x="5335206" y="2697552"/>
            <a:ext cx="5513918" cy="5713"/>
          </a:xfrm>
          <a:prstGeom prst="rect">
            <a:avLst/>
          </a:prstGeom>
          <a:solidFill>
            <a:srgbClr val="DBD4C4"/>
          </a:solidFill>
          <a:ln/>
        </p:spPr>
        <p:txBody>
          <a:bodyPr/>
          <a:lstStyle/>
          <a:p>
            <a:endParaRPr lang="es-MX"/>
          </a:p>
        </p:txBody>
      </p:sp>
      <p:sp>
        <p:nvSpPr>
          <p:cNvPr id="26" name="s20-texto-25"/>
          <p:cNvSpPr txBox="1"/>
          <p:nvPr/>
        </p:nvSpPr>
        <p:spPr>
          <a:xfrm>
            <a:off x="5447146" y="2445641"/>
            <a:ext cx="5607401"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Proporción de las pruebas ocultas que pasan contra tu app desplegada</a:t>
            </a:r>
            <a:endParaRPr lang="en-US" sz="1260" dirty="0"/>
          </a:p>
        </p:txBody>
      </p:sp>
      <p:sp>
        <p:nvSpPr>
          <p:cNvPr id="27" name="s20-forma-26"/>
          <p:cNvSpPr/>
          <p:nvPr/>
        </p:nvSpPr>
        <p:spPr>
          <a:xfrm>
            <a:off x="1342572" y="2703265"/>
            <a:ext cx="3042032" cy="332429"/>
          </a:xfrm>
          <a:prstGeom prst="rect">
            <a:avLst/>
          </a:prstGeom>
          <a:ln/>
        </p:spPr>
        <p:txBody>
          <a:bodyPr/>
          <a:lstStyle/>
          <a:p>
            <a:endParaRPr lang="es-MX"/>
          </a:p>
        </p:txBody>
      </p:sp>
      <p:sp>
        <p:nvSpPr>
          <p:cNvPr id="28" name="s20-forma-27"/>
          <p:cNvSpPr/>
          <p:nvPr/>
        </p:nvSpPr>
        <p:spPr>
          <a:xfrm>
            <a:off x="1342572" y="3029981"/>
            <a:ext cx="3042032" cy="5713"/>
          </a:xfrm>
          <a:prstGeom prst="rect">
            <a:avLst/>
          </a:prstGeom>
          <a:solidFill>
            <a:srgbClr val="DBD4C4"/>
          </a:solidFill>
          <a:ln/>
        </p:spPr>
        <p:txBody>
          <a:bodyPr/>
          <a:lstStyle/>
          <a:p>
            <a:endParaRPr lang="es-MX"/>
          </a:p>
        </p:txBody>
      </p:sp>
      <p:sp>
        <p:nvSpPr>
          <p:cNvPr id="29" name="s20-texto-28"/>
          <p:cNvSpPr txBox="1"/>
          <p:nvPr/>
        </p:nvSpPr>
        <p:spPr>
          <a:xfrm>
            <a:off x="1454512" y="2778070"/>
            <a:ext cx="2987202"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Recorrido completo de la fábrica</a:t>
            </a:r>
            <a:endParaRPr lang="en-US" sz="1260" dirty="0"/>
          </a:p>
        </p:txBody>
      </p:sp>
      <p:sp>
        <p:nvSpPr>
          <p:cNvPr id="30" name="s20-forma-29"/>
          <p:cNvSpPr/>
          <p:nvPr/>
        </p:nvSpPr>
        <p:spPr>
          <a:xfrm>
            <a:off x="4384604" y="2703265"/>
            <a:ext cx="950602" cy="332429"/>
          </a:xfrm>
          <a:prstGeom prst="rect">
            <a:avLst/>
          </a:prstGeom>
          <a:ln/>
        </p:spPr>
        <p:txBody>
          <a:bodyPr/>
          <a:lstStyle/>
          <a:p>
            <a:endParaRPr lang="es-MX"/>
          </a:p>
        </p:txBody>
      </p:sp>
      <p:sp>
        <p:nvSpPr>
          <p:cNvPr id="31" name="s20-forma-30"/>
          <p:cNvSpPr/>
          <p:nvPr/>
        </p:nvSpPr>
        <p:spPr>
          <a:xfrm>
            <a:off x="4384604" y="3029981"/>
            <a:ext cx="950602" cy="5713"/>
          </a:xfrm>
          <a:prstGeom prst="rect">
            <a:avLst/>
          </a:prstGeom>
          <a:solidFill>
            <a:srgbClr val="DBD4C4"/>
          </a:solidFill>
          <a:ln/>
        </p:spPr>
        <p:txBody>
          <a:bodyPr/>
          <a:lstStyle/>
          <a:p>
            <a:endParaRPr lang="es-MX"/>
          </a:p>
        </p:txBody>
      </p:sp>
      <p:sp>
        <p:nvSpPr>
          <p:cNvPr id="32" name="s20-texto-31"/>
          <p:cNvSpPr txBox="1"/>
          <p:nvPr/>
        </p:nvSpPr>
        <p:spPr>
          <a:xfrm>
            <a:off x="4450876" y="2778070"/>
            <a:ext cx="772354" cy="177105"/>
          </a:xfrm>
          <a:prstGeom prst="rect">
            <a:avLst/>
          </a:prstGeom>
          <a:noFill/>
          <a:ln/>
        </p:spPr>
        <p:txBody>
          <a:bodyPr wrap="none" lIns="0" tIns="0" rIns="0" bIns="0" rtlCol="0" anchor="t"/>
          <a:lstStyle/>
          <a:p>
            <a:pPr marL="0" indent="0" algn="r">
              <a:lnSpc>
                <a:spcPts val="1512"/>
              </a:lnSpc>
              <a:buNone/>
            </a:pPr>
            <a:r>
              <a:rPr lang="en-US" sz="1260" dirty="0">
                <a:solidFill>
                  <a:srgbClr val="16181D"/>
                </a:solidFill>
                <a:latin typeface="Arial" pitchFamily="34" charset="0"/>
                <a:ea typeface="Arial" pitchFamily="34" charset="-122"/>
                <a:cs typeface="Arial" pitchFamily="34" charset="-120"/>
              </a:rPr>
              <a:t>35%</a:t>
            </a:r>
            <a:endParaRPr lang="en-US" sz="1260" dirty="0"/>
          </a:p>
        </p:txBody>
      </p:sp>
      <p:sp>
        <p:nvSpPr>
          <p:cNvPr id="33" name="s20-forma-32"/>
          <p:cNvSpPr/>
          <p:nvPr/>
        </p:nvSpPr>
        <p:spPr>
          <a:xfrm>
            <a:off x="5335206" y="2703265"/>
            <a:ext cx="5513918" cy="332429"/>
          </a:xfrm>
          <a:prstGeom prst="rect">
            <a:avLst/>
          </a:prstGeom>
          <a:ln/>
        </p:spPr>
        <p:txBody>
          <a:bodyPr/>
          <a:lstStyle/>
          <a:p>
            <a:endParaRPr lang="es-MX"/>
          </a:p>
        </p:txBody>
      </p:sp>
      <p:sp>
        <p:nvSpPr>
          <p:cNvPr id="34" name="s20-forma-33"/>
          <p:cNvSpPr/>
          <p:nvPr/>
        </p:nvSpPr>
        <p:spPr>
          <a:xfrm>
            <a:off x="5335206" y="3029981"/>
            <a:ext cx="5513918" cy="5713"/>
          </a:xfrm>
          <a:prstGeom prst="rect">
            <a:avLst/>
          </a:prstGeom>
          <a:solidFill>
            <a:srgbClr val="DBD4C4"/>
          </a:solidFill>
          <a:ln/>
        </p:spPr>
        <p:txBody>
          <a:bodyPr/>
          <a:lstStyle/>
          <a:p>
            <a:endParaRPr lang="es-MX"/>
          </a:p>
        </p:txBody>
      </p:sp>
      <p:sp>
        <p:nvSpPr>
          <p:cNvPr id="35" name="s20-texto-34"/>
          <p:cNvSpPr txBox="1"/>
          <p:nvPr/>
        </p:nvSpPr>
        <p:spPr>
          <a:xfrm>
            <a:off x="5447146" y="2778070"/>
            <a:ext cx="5607401"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Evidencia de las seis etapas, en orden, con validaciones y plan aprobado</a:t>
            </a:r>
            <a:endParaRPr lang="en-US" sz="1260" dirty="0"/>
          </a:p>
        </p:txBody>
      </p:sp>
      <p:sp>
        <p:nvSpPr>
          <p:cNvPr id="36" name="s20-forma-35"/>
          <p:cNvSpPr/>
          <p:nvPr/>
        </p:nvSpPr>
        <p:spPr>
          <a:xfrm>
            <a:off x="1342572" y="3035694"/>
            <a:ext cx="3042032" cy="332429"/>
          </a:xfrm>
          <a:prstGeom prst="rect">
            <a:avLst/>
          </a:prstGeom>
          <a:ln/>
        </p:spPr>
        <p:txBody>
          <a:bodyPr/>
          <a:lstStyle/>
          <a:p>
            <a:endParaRPr lang="es-MX"/>
          </a:p>
        </p:txBody>
      </p:sp>
      <p:sp>
        <p:nvSpPr>
          <p:cNvPr id="37" name="s20-forma-36"/>
          <p:cNvSpPr/>
          <p:nvPr/>
        </p:nvSpPr>
        <p:spPr>
          <a:xfrm>
            <a:off x="1342572" y="3362411"/>
            <a:ext cx="3042032" cy="5713"/>
          </a:xfrm>
          <a:prstGeom prst="rect">
            <a:avLst/>
          </a:prstGeom>
          <a:solidFill>
            <a:srgbClr val="DBD4C4"/>
          </a:solidFill>
          <a:ln/>
        </p:spPr>
        <p:txBody>
          <a:bodyPr/>
          <a:lstStyle/>
          <a:p>
            <a:endParaRPr lang="es-MX"/>
          </a:p>
        </p:txBody>
      </p:sp>
      <p:sp>
        <p:nvSpPr>
          <p:cNvPr id="38" name="s20-texto-37"/>
          <p:cNvSpPr txBox="1"/>
          <p:nvPr/>
        </p:nvSpPr>
        <p:spPr>
          <a:xfrm>
            <a:off x="1454512" y="3110500"/>
            <a:ext cx="2987202"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Integridad y seguridad</a:t>
            </a:r>
            <a:endParaRPr lang="en-US" sz="1260" dirty="0"/>
          </a:p>
        </p:txBody>
      </p:sp>
      <p:sp>
        <p:nvSpPr>
          <p:cNvPr id="39" name="s20-forma-38"/>
          <p:cNvSpPr/>
          <p:nvPr/>
        </p:nvSpPr>
        <p:spPr>
          <a:xfrm>
            <a:off x="4384604" y="3035694"/>
            <a:ext cx="950602" cy="332429"/>
          </a:xfrm>
          <a:prstGeom prst="rect">
            <a:avLst/>
          </a:prstGeom>
          <a:ln/>
        </p:spPr>
        <p:txBody>
          <a:bodyPr/>
          <a:lstStyle/>
          <a:p>
            <a:endParaRPr lang="es-MX"/>
          </a:p>
        </p:txBody>
      </p:sp>
      <p:sp>
        <p:nvSpPr>
          <p:cNvPr id="40" name="s20-forma-39"/>
          <p:cNvSpPr/>
          <p:nvPr/>
        </p:nvSpPr>
        <p:spPr>
          <a:xfrm>
            <a:off x="4384604" y="3362411"/>
            <a:ext cx="950602" cy="5713"/>
          </a:xfrm>
          <a:prstGeom prst="rect">
            <a:avLst/>
          </a:prstGeom>
          <a:solidFill>
            <a:srgbClr val="DBD4C4"/>
          </a:solidFill>
          <a:ln/>
        </p:spPr>
        <p:txBody>
          <a:bodyPr/>
          <a:lstStyle/>
          <a:p>
            <a:endParaRPr lang="es-MX"/>
          </a:p>
        </p:txBody>
      </p:sp>
      <p:sp>
        <p:nvSpPr>
          <p:cNvPr id="41" name="s20-texto-40"/>
          <p:cNvSpPr txBox="1"/>
          <p:nvPr/>
        </p:nvSpPr>
        <p:spPr>
          <a:xfrm>
            <a:off x="4450876" y="3110500"/>
            <a:ext cx="772354" cy="177105"/>
          </a:xfrm>
          <a:prstGeom prst="rect">
            <a:avLst/>
          </a:prstGeom>
          <a:noFill/>
          <a:ln/>
        </p:spPr>
        <p:txBody>
          <a:bodyPr wrap="none" lIns="0" tIns="0" rIns="0" bIns="0" rtlCol="0" anchor="t"/>
          <a:lstStyle/>
          <a:p>
            <a:pPr marL="0" indent="0" algn="r">
              <a:lnSpc>
                <a:spcPts val="1512"/>
              </a:lnSpc>
              <a:buNone/>
            </a:pPr>
            <a:r>
              <a:rPr lang="en-US" sz="1260" dirty="0">
                <a:solidFill>
                  <a:srgbClr val="16181D"/>
                </a:solidFill>
                <a:latin typeface="Arial" pitchFamily="34" charset="0"/>
                <a:ea typeface="Arial" pitchFamily="34" charset="-122"/>
                <a:cs typeface="Arial" pitchFamily="34" charset="-120"/>
              </a:rPr>
              <a:t>10%</a:t>
            </a:r>
            <a:endParaRPr lang="en-US" sz="1260" dirty="0"/>
          </a:p>
        </p:txBody>
      </p:sp>
      <p:sp>
        <p:nvSpPr>
          <p:cNvPr id="42" name="s20-forma-41"/>
          <p:cNvSpPr/>
          <p:nvPr/>
        </p:nvSpPr>
        <p:spPr>
          <a:xfrm>
            <a:off x="5335206" y="3035694"/>
            <a:ext cx="5513918" cy="332429"/>
          </a:xfrm>
          <a:prstGeom prst="rect">
            <a:avLst/>
          </a:prstGeom>
          <a:ln/>
        </p:spPr>
        <p:txBody>
          <a:bodyPr/>
          <a:lstStyle/>
          <a:p>
            <a:endParaRPr lang="es-MX"/>
          </a:p>
        </p:txBody>
      </p:sp>
      <p:sp>
        <p:nvSpPr>
          <p:cNvPr id="43" name="s20-forma-42"/>
          <p:cNvSpPr/>
          <p:nvPr/>
        </p:nvSpPr>
        <p:spPr>
          <a:xfrm>
            <a:off x="5335206" y="3362411"/>
            <a:ext cx="5513918" cy="5713"/>
          </a:xfrm>
          <a:prstGeom prst="rect">
            <a:avLst/>
          </a:prstGeom>
          <a:solidFill>
            <a:srgbClr val="DBD4C4"/>
          </a:solidFill>
          <a:ln/>
        </p:spPr>
        <p:txBody>
          <a:bodyPr/>
          <a:lstStyle/>
          <a:p>
            <a:endParaRPr lang="es-MX"/>
          </a:p>
        </p:txBody>
      </p:sp>
      <p:sp>
        <p:nvSpPr>
          <p:cNvPr id="44" name="s20-texto-43"/>
          <p:cNvSpPr txBox="1"/>
          <p:nvPr/>
        </p:nvSpPr>
        <p:spPr>
          <a:xfrm>
            <a:off x="5447146" y="3110500"/>
            <a:ext cx="5607401"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Hooks intactos; nada editado a mano; salida/seguridad.md completo</a:t>
            </a:r>
            <a:endParaRPr lang="en-US" sz="1260" dirty="0"/>
          </a:p>
        </p:txBody>
      </p:sp>
      <p:sp>
        <p:nvSpPr>
          <p:cNvPr id="45" name="s20-texto-44"/>
          <p:cNvSpPr txBox="1"/>
          <p:nvPr/>
        </p:nvSpPr>
        <p:spPr>
          <a:xfrm>
            <a:off x="1454512" y="3442929"/>
            <a:ext cx="2987202" cy="177105"/>
          </a:xfrm>
          <a:prstGeom prst="rect">
            <a:avLst/>
          </a:prstGeom>
          <a:noFill/>
          <a:ln/>
        </p:spPr>
        <p:txBody>
          <a:bodyPr wrap="none" lIns="0" tIns="0" rIns="0" bIns="0" rtlCol="0" anchor="t"/>
          <a:lstStyle/>
          <a:p>
            <a:pPr marL="0" indent="0" algn="l">
              <a:lnSpc>
                <a:spcPts val="1512"/>
              </a:lnSpc>
              <a:buNone/>
            </a:pPr>
            <a:r>
              <a:rPr lang="en-US" sz="1260" b="1" dirty="0">
                <a:solidFill>
                  <a:srgbClr val="0033A0"/>
                </a:solidFill>
                <a:latin typeface="Arial" pitchFamily="34" charset="0"/>
                <a:ea typeface="Arial" pitchFamily="34" charset="-122"/>
                <a:cs typeface="Arial" pitchFamily="34" charset="-120"/>
              </a:rPr>
              <a:t>Decisiones</a:t>
            </a:r>
            <a:endParaRPr lang="en-US" sz="1260" dirty="0"/>
          </a:p>
        </p:txBody>
      </p:sp>
      <p:sp>
        <p:nvSpPr>
          <p:cNvPr id="46" name="s20-texto-45"/>
          <p:cNvSpPr txBox="1"/>
          <p:nvPr/>
        </p:nvSpPr>
        <p:spPr>
          <a:xfrm>
            <a:off x="4450876" y="3442929"/>
            <a:ext cx="772354" cy="177105"/>
          </a:xfrm>
          <a:prstGeom prst="rect">
            <a:avLst/>
          </a:prstGeom>
          <a:noFill/>
          <a:ln/>
        </p:spPr>
        <p:txBody>
          <a:bodyPr wrap="none" lIns="0" tIns="0" rIns="0" bIns="0" rtlCol="0" anchor="t"/>
          <a:lstStyle/>
          <a:p>
            <a:pPr marL="0" indent="0" algn="r">
              <a:lnSpc>
                <a:spcPts val="1512"/>
              </a:lnSpc>
              <a:buNone/>
            </a:pPr>
            <a:r>
              <a:rPr lang="en-US" sz="1260" dirty="0">
                <a:solidFill>
                  <a:srgbClr val="16181D"/>
                </a:solidFill>
                <a:latin typeface="Arial" pitchFamily="34" charset="0"/>
                <a:ea typeface="Arial" pitchFamily="34" charset="-122"/>
                <a:cs typeface="Arial" pitchFamily="34" charset="-120"/>
              </a:rPr>
              <a:t>15%</a:t>
            </a:r>
            <a:endParaRPr lang="en-US" sz="1260" dirty="0"/>
          </a:p>
        </p:txBody>
      </p:sp>
      <p:sp>
        <p:nvSpPr>
          <p:cNvPr id="47" name="s20-texto-46"/>
          <p:cNvSpPr txBox="1"/>
          <p:nvPr/>
        </p:nvSpPr>
        <p:spPr>
          <a:xfrm>
            <a:off x="5447146" y="3442929"/>
            <a:ext cx="5607401" cy="177105"/>
          </a:xfrm>
          <a:prstGeom prst="rect">
            <a:avLst/>
          </a:prstGeom>
          <a:noFill/>
          <a:ln/>
        </p:spPr>
        <p:txBody>
          <a:bodyPr wrap="none" lIns="0" tIns="0" rIns="0" bIns="0" rtlCol="0" anchor="t"/>
          <a:lstStyle/>
          <a:p>
            <a:pPr marL="0" indent="0" algn="l">
              <a:lnSpc>
                <a:spcPts val="1512"/>
              </a:lnSpc>
              <a:buNone/>
            </a:pPr>
            <a:r>
              <a:rPr lang="en-US" sz="1260" dirty="0">
                <a:solidFill>
                  <a:srgbClr val="16181D"/>
                </a:solidFill>
                <a:latin typeface="Arial" pitchFamily="34" charset="0"/>
                <a:ea typeface="Arial" pitchFamily="34" charset="-122"/>
                <a:cs typeface="Arial" pitchFamily="34" charset="-120"/>
              </a:rPr>
              <a:t>Respuestas específicas a tu ejecución, con los conceptos del módulo</a:t>
            </a:r>
            <a:endParaRPr lang="en-US" sz="1260" dirty="0"/>
          </a:p>
        </p:txBody>
      </p:sp>
      <p:sp>
        <p:nvSpPr>
          <p:cNvPr id="48" name="s20-texto-47"/>
          <p:cNvSpPr txBox="1"/>
          <p:nvPr/>
        </p:nvSpPr>
        <p:spPr>
          <a:xfrm>
            <a:off x="1342572" y="3994776"/>
            <a:ext cx="10076945" cy="177105"/>
          </a:xfrm>
          <a:prstGeom prst="rect">
            <a:avLst/>
          </a:prstGeom>
          <a:noFill/>
          <a:ln/>
        </p:spPr>
        <p:txBody>
          <a:bodyPr wrap="none" lIns="0" tIns="0" rIns="0" bIns="0" rtlCol="0" anchor="t"/>
          <a:lstStyle/>
          <a:p>
            <a:pPr marL="0" indent="0" algn="l">
              <a:lnSpc>
                <a:spcPts val="1763"/>
              </a:lnSpc>
              <a:buNone/>
            </a:pPr>
            <a:r>
              <a:rPr lang="en-US" sz="1260" dirty="0">
                <a:solidFill>
                  <a:srgbClr val="16181D"/>
                </a:solidFill>
                <a:latin typeface="Arial" pitchFamily="34" charset="0"/>
                <a:ea typeface="Arial" pitchFamily="34" charset="-122"/>
                <a:cs typeface="Arial" pitchFamily="34" charset="-120"/>
              </a:rPr>
              <a:t>Los mensajes y códigos de error deben ser </a:t>
            </a:r>
            <a:r>
              <a:rPr lang="en-US" sz="1260" b="1" dirty="0">
                <a:solidFill>
                  <a:srgbClr val="0033A0"/>
                </a:solidFill>
                <a:latin typeface="Arial" pitchFamily="34" charset="0"/>
                <a:ea typeface="Arial" pitchFamily="34" charset="-122"/>
                <a:cs typeface="Arial" pitchFamily="34" charset="-120"/>
              </a:rPr>
              <a:t>exactamente</a:t>
            </a:r>
            <a:r>
              <a:rPr lang="en-US" sz="1260" dirty="0">
                <a:solidFill>
                  <a:srgbClr val="16181D"/>
                </a:solidFill>
                <a:latin typeface="Arial" pitchFamily="34" charset="0"/>
                <a:ea typeface="Arial" pitchFamily="34" charset="-122"/>
                <a:cs typeface="Arial" pitchFamily="34" charset="-120"/>
              </a:rPr>
              <a:t> los de las reglas: así los verifican las pruebas.</a:t>
            </a:r>
            <a:endParaRPr lang="en-US" sz="1260" dirty="0"/>
          </a:p>
        </p:txBody>
      </p:sp>
      <p:sp>
        <p:nvSpPr>
          <p:cNvPr id="49" name="s20-texto-48"/>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Las pruebas ocultas y la clave del examen viven en el paquete del docente</a:t>
            </a:r>
            <a:endParaRPr lang="en-US" sz="1080" dirty="0"/>
          </a:p>
        </p:txBody>
      </p:sp>
      <p:sp>
        <p:nvSpPr>
          <p:cNvPr id="50" name="s20-forma-49"/>
          <p:cNvSpPr/>
          <p:nvPr/>
        </p:nvSpPr>
        <p:spPr>
          <a:xfrm>
            <a:off x="853390" y="6411138"/>
            <a:ext cx="10484915" cy="5713"/>
          </a:xfrm>
          <a:prstGeom prst="rect">
            <a:avLst/>
          </a:prstGeom>
          <a:solidFill>
            <a:srgbClr val="DBD4C4"/>
          </a:solidFill>
          <a:ln/>
        </p:spPr>
        <p:txBody>
          <a:bodyPr/>
          <a:lstStyle/>
          <a:p>
            <a:endParaRPr lang="es-MX"/>
          </a:p>
        </p:txBody>
      </p:sp>
      <p:pic>
        <p:nvPicPr>
          <p:cNvPr id="51" name="s20-logo-50" descr="preencoded.png"/>
          <p:cNvPicPr>
            <a:picLocks noChangeAspect="1"/>
          </p:cNvPicPr>
          <p:nvPr/>
        </p:nvPicPr>
        <p:blipFill>
          <a:blip r:embed="rId3"/>
          <a:stretch>
            <a:fillRect/>
          </a:stretch>
        </p:blipFill>
        <p:spPr>
          <a:xfrm>
            <a:off x="853390" y="6465055"/>
            <a:ext cx="687800" cy="212455"/>
          </a:xfrm>
          <a:prstGeom prst="rect">
            <a:avLst/>
          </a:prstGeom>
        </p:spPr>
      </p:pic>
      <p:sp>
        <p:nvSpPr>
          <p:cNvPr id="52" name="s20-forma-51"/>
          <p:cNvSpPr/>
          <p:nvPr/>
        </p:nvSpPr>
        <p:spPr>
          <a:xfrm>
            <a:off x="1659380" y="6519865"/>
            <a:ext cx="3578704" cy="102835"/>
          </a:xfrm>
          <a:prstGeom prst="rect">
            <a:avLst/>
          </a:prstGeom>
          <a:ln/>
        </p:spPr>
        <p:txBody>
          <a:bodyPr/>
          <a:lstStyle/>
          <a:p>
            <a:endParaRPr lang="es-MX"/>
          </a:p>
        </p:txBody>
      </p:sp>
      <p:sp>
        <p:nvSpPr>
          <p:cNvPr id="53" name="s20-forma-52"/>
          <p:cNvSpPr/>
          <p:nvPr/>
        </p:nvSpPr>
        <p:spPr>
          <a:xfrm>
            <a:off x="1659380" y="6519865"/>
            <a:ext cx="5713" cy="102835"/>
          </a:xfrm>
          <a:prstGeom prst="rect">
            <a:avLst/>
          </a:prstGeom>
          <a:solidFill>
            <a:srgbClr val="C6BFAE"/>
          </a:solidFill>
          <a:ln/>
        </p:spPr>
        <p:txBody>
          <a:bodyPr/>
          <a:lstStyle/>
          <a:p>
            <a:endParaRPr lang="es-MX"/>
          </a:p>
        </p:txBody>
      </p:sp>
      <p:sp>
        <p:nvSpPr>
          <p:cNvPr id="54" name="s20-texto-53"/>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55" name="s20-texto-54"/>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20 / 22</a:t>
            </a:r>
            <a:endParaRPr lang="en-US" sz="745" dirty="0"/>
          </a:p>
        </p:txBody>
      </p:sp>
      <p:sp>
        <p:nvSpPr>
          <p:cNvPr id="56" name="s20-forma-55"/>
          <p:cNvSpPr/>
          <p:nvPr/>
        </p:nvSpPr>
        <p:spPr>
          <a:xfrm>
            <a:off x="0" y="0"/>
            <a:ext cx="11083359" cy="17139"/>
          </a:xfrm>
          <a:prstGeom prst="rect">
            <a:avLst/>
          </a:prstGeom>
          <a:solidFill>
            <a:srgbClr val="0033A0"/>
          </a:solidFill>
          <a:ln/>
        </p:spPr>
        <p:txBody>
          <a:bodyPr/>
          <a:lstStyle/>
          <a:p>
            <a:endParaRPr lang="es-MX"/>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E8DC"/>
        </a:solidFill>
        <a:effectLst/>
      </p:bgPr>
    </p:bg>
    <p:spTree>
      <p:nvGrpSpPr>
        <p:cNvPr id="1" name=""/>
        <p:cNvGrpSpPr/>
        <p:nvPr/>
      </p:nvGrpSpPr>
      <p:grpSpPr>
        <a:xfrm>
          <a:off x="0" y="0"/>
          <a:ext cx="0" cy="0"/>
          <a:chOff x="0" y="0"/>
          <a:chExt cx="0" cy="0"/>
        </a:xfrm>
      </p:grpSpPr>
      <p:sp>
        <p:nvSpPr>
          <p:cNvPr id="2" name="s21-forma-1"/>
          <p:cNvSpPr/>
          <p:nvPr/>
        </p:nvSpPr>
        <p:spPr>
          <a:xfrm>
            <a:off x="853390" y="331715"/>
            <a:ext cx="81411" cy="81411"/>
          </a:xfrm>
          <a:prstGeom prst="ellipse">
            <a:avLst/>
          </a:prstGeom>
          <a:solidFill>
            <a:srgbClr val="7C560C"/>
          </a:solidFill>
          <a:ln/>
        </p:spPr>
        <p:txBody>
          <a:bodyPr/>
          <a:lstStyle/>
          <a:p>
            <a:endParaRPr lang="es-MX"/>
          </a:p>
        </p:txBody>
      </p:sp>
      <p:sp>
        <p:nvSpPr>
          <p:cNvPr id="3" name="s21-texto-2"/>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4" name="s21-texto-3"/>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1:45 · 15 min</a:t>
            </a:r>
            <a:endParaRPr lang="en-US" sz="807" dirty="0"/>
          </a:p>
        </p:txBody>
      </p:sp>
      <p:sp>
        <p:nvSpPr>
          <p:cNvPr id="5" name="s21-texto-4"/>
          <p:cNvSpPr txBox="1"/>
          <p:nvPr/>
        </p:nvSpPr>
        <p:spPr>
          <a:xfrm>
            <a:off x="853390" y="2388957"/>
            <a:ext cx="11114010" cy="125688"/>
          </a:xfrm>
          <a:prstGeom prst="rect">
            <a:avLst/>
          </a:prstGeom>
          <a:noFill/>
          <a:ln/>
        </p:spPr>
        <p:txBody>
          <a:bodyPr wrap="none" lIns="0" tIns="0" rIns="0" bIns="0" rtlCol="0" anchor="t"/>
          <a:lstStyle/>
          <a:p>
            <a:pPr marL="0" indent="0" algn="l">
              <a:lnSpc>
                <a:spcPts val="1043"/>
              </a:lnSpc>
              <a:buNone/>
            </a:pPr>
            <a:r>
              <a:rPr lang="en-US" sz="869" b="1" kern="0" spc="209" dirty="0">
                <a:solidFill>
                  <a:srgbClr val="0033A0"/>
                </a:solidFill>
                <a:latin typeface="Courier New" pitchFamily="34" charset="0"/>
                <a:ea typeface="Courier New" pitchFamily="34" charset="-122"/>
                <a:cs typeface="Courier New" pitchFamily="34" charset="-120"/>
              </a:rPr>
              <a:t>CIERRE DEL MÓDULO</a:t>
            </a:r>
            <a:endParaRPr lang="en-US" sz="869" dirty="0"/>
          </a:p>
        </p:txBody>
      </p:sp>
      <p:sp>
        <p:nvSpPr>
          <p:cNvPr id="6" name="s21-forma-5"/>
          <p:cNvSpPr/>
          <p:nvPr/>
        </p:nvSpPr>
        <p:spPr>
          <a:xfrm>
            <a:off x="853390" y="4059138"/>
            <a:ext cx="722704" cy="22852"/>
          </a:xfrm>
          <a:prstGeom prst="rect">
            <a:avLst/>
          </a:prstGeom>
          <a:solidFill>
            <a:srgbClr val="0033A0"/>
          </a:solidFill>
          <a:ln/>
        </p:spPr>
        <p:txBody>
          <a:bodyPr/>
          <a:lstStyle/>
          <a:p>
            <a:endParaRPr lang="es-MX"/>
          </a:p>
        </p:txBody>
      </p:sp>
      <p:sp>
        <p:nvSpPr>
          <p:cNvPr id="7" name="s21-texto-6"/>
          <p:cNvSpPr txBox="1"/>
          <p:nvPr/>
        </p:nvSpPr>
        <p:spPr>
          <a:xfrm>
            <a:off x="853390" y="2669968"/>
            <a:ext cx="7149222" cy="1215902"/>
          </a:xfrm>
          <a:prstGeom prst="rect">
            <a:avLst/>
          </a:prstGeom>
          <a:noFill/>
          <a:ln/>
        </p:spPr>
        <p:txBody>
          <a:bodyPr wrap="square" lIns="0" tIns="0" rIns="0" bIns="0" rtlCol="0" anchor="t"/>
          <a:lstStyle/>
          <a:p>
            <a:pPr marL="0" indent="0" algn="l">
              <a:lnSpc>
                <a:spcPts val="4582"/>
              </a:lnSpc>
              <a:buNone/>
            </a:pPr>
            <a:r>
              <a:rPr lang="en-US" sz="4242" b="1" kern="0" spc="-64" dirty="0">
                <a:solidFill>
                  <a:srgbClr val="16181D"/>
                </a:solidFill>
                <a:latin typeface="Georgia" pitchFamily="34" charset="0"/>
                <a:ea typeface="Georgia" pitchFamily="34" charset="-122"/>
                <a:cs typeface="Georgia" pitchFamily="34" charset="-120"/>
              </a:rPr>
              <a:t>Demostraciones y retrospectiva</a:t>
            </a:r>
            <a:endParaRPr lang="en-US" sz="4242" dirty="0"/>
          </a:p>
        </p:txBody>
      </p:sp>
      <p:sp>
        <p:nvSpPr>
          <p:cNvPr id="8" name="s21-texto-7"/>
          <p:cNvSpPr txBox="1"/>
          <p:nvPr/>
        </p:nvSpPr>
        <p:spPr>
          <a:xfrm>
            <a:off x="853390" y="4260791"/>
            <a:ext cx="7778274" cy="239949"/>
          </a:xfrm>
          <a:prstGeom prst="rect">
            <a:avLst/>
          </a:prstGeom>
          <a:noFill/>
          <a:ln/>
        </p:spPr>
        <p:txBody>
          <a:bodyPr wrap="none" lIns="0" tIns="0" rIns="0" bIns="0" rtlCol="0" anchor="t"/>
          <a:lstStyle/>
          <a:p>
            <a:pPr marL="0" indent="0" algn="l">
              <a:lnSpc>
                <a:spcPts val="2430"/>
              </a:lnSpc>
              <a:buNone/>
            </a:pPr>
            <a:r>
              <a:rPr lang="en-US" sz="1676" dirty="0">
                <a:solidFill>
                  <a:srgbClr val="585E6F"/>
                </a:solidFill>
                <a:latin typeface="Arial" pitchFamily="34" charset="0"/>
                <a:ea typeface="Arial" pitchFamily="34" charset="-122"/>
                <a:cs typeface="Arial" pitchFamily="34" charset="-120"/>
              </a:rPr>
              <a:t>Una o dos fábricas completas y el checklist de producción.</a:t>
            </a:r>
            <a:endParaRPr lang="en-US" sz="1676" dirty="0"/>
          </a:p>
        </p:txBody>
      </p:sp>
      <p:pic>
        <p:nvPicPr>
          <p:cNvPr id="9" name="s21-logo-8" descr="preencoded.png"/>
          <p:cNvPicPr>
            <a:picLocks noChangeAspect="1"/>
          </p:cNvPicPr>
          <p:nvPr/>
        </p:nvPicPr>
        <p:blipFill>
          <a:blip r:embed="rId3"/>
          <a:stretch>
            <a:fillRect/>
          </a:stretch>
        </p:blipFill>
        <p:spPr>
          <a:xfrm>
            <a:off x="853390" y="6465055"/>
            <a:ext cx="687800" cy="212455"/>
          </a:xfrm>
          <a:prstGeom prst="rect">
            <a:avLst/>
          </a:prstGeom>
        </p:spPr>
      </p:pic>
      <p:sp>
        <p:nvSpPr>
          <p:cNvPr id="10" name="s21-forma-9"/>
          <p:cNvSpPr/>
          <p:nvPr/>
        </p:nvSpPr>
        <p:spPr>
          <a:xfrm>
            <a:off x="1659380" y="6519865"/>
            <a:ext cx="3578704" cy="102835"/>
          </a:xfrm>
          <a:prstGeom prst="rect">
            <a:avLst/>
          </a:prstGeom>
          <a:ln/>
        </p:spPr>
        <p:txBody>
          <a:bodyPr/>
          <a:lstStyle/>
          <a:p>
            <a:endParaRPr lang="es-MX"/>
          </a:p>
        </p:txBody>
      </p:sp>
      <p:sp>
        <p:nvSpPr>
          <p:cNvPr id="11" name="s21-forma-10"/>
          <p:cNvSpPr/>
          <p:nvPr/>
        </p:nvSpPr>
        <p:spPr>
          <a:xfrm>
            <a:off x="1659380" y="6519865"/>
            <a:ext cx="5713" cy="102835"/>
          </a:xfrm>
          <a:prstGeom prst="rect">
            <a:avLst/>
          </a:prstGeom>
          <a:solidFill>
            <a:srgbClr val="C6BFAE"/>
          </a:solidFill>
          <a:ln/>
        </p:spPr>
        <p:txBody>
          <a:bodyPr/>
          <a:lstStyle/>
          <a:p>
            <a:endParaRPr lang="es-MX"/>
          </a:p>
        </p:txBody>
      </p:sp>
      <p:sp>
        <p:nvSpPr>
          <p:cNvPr id="12" name="s21-texto-11"/>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13" name="s21-texto-12"/>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21 / 22</a:t>
            </a:r>
            <a:endParaRPr lang="en-US" sz="745" dirty="0"/>
          </a:p>
        </p:txBody>
      </p:sp>
      <p:sp>
        <p:nvSpPr>
          <p:cNvPr id="14" name="s21-forma-13"/>
          <p:cNvSpPr/>
          <p:nvPr/>
        </p:nvSpPr>
        <p:spPr>
          <a:xfrm>
            <a:off x="0" y="0"/>
            <a:ext cx="11637527" cy="17139"/>
          </a:xfrm>
          <a:prstGeom prst="rect">
            <a:avLst/>
          </a:prstGeom>
          <a:solidFill>
            <a:srgbClr val="0033A0"/>
          </a:solidFill>
          <a:ln/>
        </p:spPr>
        <p:txBody>
          <a:bodyPr/>
          <a:lstStyle/>
          <a:p>
            <a:endParaRPr lang="es-MX"/>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DE8DC"/>
        </a:solidFill>
        <a:effectLst/>
      </p:bgPr>
    </p:bg>
    <p:spTree>
      <p:nvGrpSpPr>
        <p:cNvPr id="1" name=""/>
        <p:cNvGrpSpPr/>
        <p:nvPr/>
      </p:nvGrpSpPr>
      <p:grpSpPr>
        <a:xfrm>
          <a:off x="0" y="0"/>
          <a:ext cx="0" cy="0"/>
          <a:chOff x="0" y="0"/>
          <a:chExt cx="0" cy="0"/>
        </a:xfrm>
      </p:grpSpPr>
      <p:sp>
        <p:nvSpPr>
          <p:cNvPr id="2" name="s22-forma-1"/>
          <p:cNvSpPr/>
          <p:nvPr/>
        </p:nvSpPr>
        <p:spPr>
          <a:xfrm>
            <a:off x="853390" y="520961"/>
            <a:ext cx="10484915" cy="5713"/>
          </a:xfrm>
          <a:prstGeom prst="rect">
            <a:avLst/>
          </a:prstGeom>
          <a:solidFill>
            <a:srgbClr val="C6BFAE"/>
          </a:solidFill>
          <a:ln/>
        </p:spPr>
        <p:txBody>
          <a:bodyPr/>
          <a:lstStyle/>
          <a:p>
            <a:endParaRPr lang="es-MX"/>
          </a:p>
        </p:txBody>
      </p:sp>
      <p:sp>
        <p:nvSpPr>
          <p:cNvPr id="3" name="s22-forma-2"/>
          <p:cNvSpPr/>
          <p:nvPr/>
        </p:nvSpPr>
        <p:spPr>
          <a:xfrm>
            <a:off x="853390" y="331715"/>
            <a:ext cx="81411" cy="81411"/>
          </a:xfrm>
          <a:prstGeom prst="ellipse">
            <a:avLst/>
          </a:prstGeom>
          <a:solidFill>
            <a:srgbClr val="7C560C"/>
          </a:solidFill>
          <a:ln/>
        </p:spPr>
        <p:txBody>
          <a:bodyPr/>
          <a:lstStyle/>
          <a:p>
            <a:endParaRPr lang="es-MX"/>
          </a:p>
        </p:txBody>
      </p:sp>
      <p:sp>
        <p:nvSpPr>
          <p:cNvPr id="4" name="s22-texto-3"/>
          <p:cNvSpPr txBox="1"/>
          <p:nvPr/>
        </p:nvSpPr>
        <p:spPr>
          <a:xfrm>
            <a:off x="1007018" y="315290"/>
            <a:ext cx="612548" cy="114261"/>
          </a:xfrm>
          <a:prstGeom prst="rect">
            <a:avLst/>
          </a:prstGeom>
          <a:noFill/>
          <a:ln/>
        </p:spPr>
        <p:txBody>
          <a:bodyPr wrap="none" lIns="0" tIns="0" rIns="0" bIns="0" rtlCol="0" anchor="t"/>
          <a:lstStyle/>
          <a:p>
            <a:pPr marL="0" indent="0" algn="l">
              <a:lnSpc>
                <a:spcPts val="968"/>
              </a:lnSpc>
              <a:buNone/>
            </a:pPr>
            <a:r>
              <a:rPr lang="en-US" sz="807" b="1" kern="0" spc="153" dirty="0">
                <a:solidFill>
                  <a:srgbClr val="7C560C"/>
                </a:solidFill>
                <a:latin typeface="Courier New" pitchFamily="34" charset="0"/>
                <a:ea typeface="Courier New" pitchFamily="34" charset="-122"/>
                <a:cs typeface="Courier New" pitchFamily="34" charset="-120"/>
              </a:rPr>
              <a:t>INTEGRA</a:t>
            </a:r>
            <a:endParaRPr lang="en-US" sz="807" dirty="0"/>
          </a:p>
        </p:txBody>
      </p:sp>
      <p:sp>
        <p:nvSpPr>
          <p:cNvPr id="5" name="s22-texto-4"/>
          <p:cNvSpPr txBox="1"/>
          <p:nvPr/>
        </p:nvSpPr>
        <p:spPr>
          <a:xfrm>
            <a:off x="10405557" y="315290"/>
            <a:ext cx="988713" cy="114261"/>
          </a:xfrm>
          <a:prstGeom prst="rect">
            <a:avLst/>
          </a:prstGeom>
          <a:noFill/>
          <a:ln/>
        </p:spPr>
        <p:txBody>
          <a:bodyPr wrap="none" lIns="0" tIns="0" rIns="0" bIns="0" rtlCol="0" anchor="t"/>
          <a:lstStyle/>
          <a:p>
            <a:pPr marL="0" indent="0" algn="l">
              <a:lnSpc>
                <a:spcPts val="968"/>
              </a:lnSpc>
              <a:buNone/>
            </a:pPr>
            <a:r>
              <a:rPr lang="en-US" sz="807" kern="0" spc="81" dirty="0">
                <a:solidFill>
                  <a:srgbClr val="585E6F"/>
                </a:solidFill>
                <a:latin typeface="Courier New" pitchFamily="34" charset="0"/>
                <a:ea typeface="Courier New" pitchFamily="34" charset="-122"/>
                <a:cs typeface="Courier New" pitchFamily="34" charset="-120"/>
              </a:rPr>
              <a:t>1:45 · 15 min</a:t>
            </a:r>
            <a:endParaRPr lang="en-US" sz="807" dirty="0"/>
          </a:p>
        </p:txBody>
      </p:sp>
      <p:sp>
        <p:nvSpPr>
          <p:cNvPr id="6" name="s22-texto-5"/>
          <p:cNvSpPr txBox="1"/>
          <p:nvPr/>
        </p:nvSpPr>
        <p:spPr>
          <a:xfrm>
            <a:off x="1342572" y="1245450"/>
            <a:ext cx="10076945" cy="131401"/>
          </a:xfrm>
          <a:prstGeom prst="rect">
            <a:avLst/>
          </a:prstGeom>
          <a:noFill/>
          <a:ln/>
        </p:spPr>
        <p:txBody>
          <a:bodyPr wrap="none" lIns="0" tIns="0" rIns="0" bIns="0" rtlCol="0" anchor="t"/>
          <a:lstStyle/>
          <a:p>
            <a:pPr marL="0" indent="0" algn="l">
              <a:lnSpc>
                <a:spcPts val="1080"/>
              </a:lnSpc>
              <a:buNone/>
            </a:pPr>
            <a:r>
              <a:rPr lang="en-US" sz="900" b="1" kern="0" spc="135" dirty="0">
                <a:solidFill>
                  <a:srgbClr val="0033A0"/>
                </a:solidFill>
                <a:latin typeface="Courier New" pitchFamily="34" charset="0"/>
                <a:ea typeface="Courier New" pitchFamily="34" charset="-122"/>
                <a:cs typeface="Courier New" pitchFamily="34" charset="-120"/>
              </a:rPr>
              <a:t>PARA LLEVAR</a:t>
            </a:r>
            <a:endParaRPr lang="en-US" sz="900" dirty="0"/>
          </a:p>
        </p:txBody>
      </p:sp>
      <p:sp>
        <p:nvSpPr>
          <p:cNvPr id="7" name="s22-texto-6"/>
          <p:cNvSpPr txBox="1"/>
          <p:nvPr/>
        </p:nvSpPr>
        <p:spPr>
          <a:xfrm>
            <a:off x="1342572" y="1451120"/>
            <a:ext cx="10076945" cy="428480"/>
          </a:xfrm>
          <a:prstGeom prst="rect">
            <a:avLst/>
          </a:prstGeom>
          <a:noFill/>
          <a:ln/>
        </p:spPr>
        <p:txBody>
          <a:bodyPr wrap="none" lIns="0" tIns="0" rIns="0" bIns="0" rtlCol="0" anchor="t"/>
          <a:lstStyle/>
          <a:p>
            <a:pPr marL="0" indent="0" algn="l">
              <a:lnSpc>
                <a:spcPts val="3167"/>
              </a:lnSpc>
              <a:buNone/>
            </a:pPr>
            <a:r>
              <a:rPr lang="en-US" sz="2879" b="1" kern="0" spc="-29" dirty="0">
                <a:solidFill>
                  <a:srgbClr val="16181D"/>
                </a:solidFill>
                <a:latin typeface="Georgia" pitchFamily="34" charset="0"/>
                <a:ea typeface="Georgia" pitchFamily="34" charset="-122"/>
                <a:cs typeface="Georgia" pitchFamily="34" charset="-120"/>
              </a:rPr>
              <a:t>Checklist de salida a producción</a:t>
            </a:r>
            <a:endParaRPr lang="en-US" sz="2879" dirty="0"/>
          </a:p>
        </p:txBody>
      </p:sp>
      <p:pic>
        <p:nvPicPr>
          <p:cNvPr id="8" name="s22-icono-7" descr="preencoded.png"/>
          <p:cNvPicPr>
            <a:picLocks noChangeAspect="1"/>
          </p:cNvPicPr>
          <p:nvPr/>
        </p:nvPicPr>
        <p:blipFill>
          <a:blip r:embed="rId3"/>
          <a:stretch>
            <a:fillRect/>
          </a:stretch>
        </p:blipFill>
        <p:spPr>
          <a:xfrm>
            <a:off x="1342572" y="2150347"/>
            <a:ext cx="228523" cy="228523"/>
          </a:xfrm>
          <a:prstGeom prst="rect">
            <a:avLst/>
          </a:prstGeom>
        </p:spPr>
      </p:pic>
      <p:sp>
        <p:nvSpPr>
          <p:cNvPr id="9" name="s22-texto-8"/>
          <p:cNvSpPr txBox="1"/>
          <p:nvPr/>
        </p:nvSpPr>
        <p:spPr>
          <a:xfrm>
            <a:off x="1708208" y="2167486"/>
            <a:ext cx="5412989" cy="188531"/>
          </a:xfrm>
          <a:prstGeom prst="rect">
            <a:avLst/>
          </a:prstGeom>
          <a:noFill/>
          <a:ln/>
        </p:spPr>
        <p:txBody>
          <a:bodyPr wrap="none" lIns="0" tIns="0" rIns="0" bIns="0" rtlCol="0" anchor="t"/>
          <a:lstStyle/>
          <a:p>
            <a:pPr marL="0" indent="0" algn="l">
              <a:lnSpc>
                <a:spcPts val="1889"/>
              </a:lnSpc>
              <a:buNone/>
            </a:pPr>
            <a:r>
              <a:rPr lang="en-US" sz="1350" dirty="0">
                <a:solidFill>
                  <a:srgbClr val="16181D"/>
                </a:solidFill>
                <a:latin typeface="Arial" pitchFamily="34" charset="0"/>
                <a:ea typeface="Arial" pitchFamily="34" charset="-122"/>
                <a:cs typeface="Arial" pitchFamily="34" charset="-120"/>
              </a:rPr>
              <a:t>Cada agente tiene una lista justificada de herramientas y permisos.</a:t>
            </a:r>
            <a:endParaRPr lang="en-US" sz="1350" dirty="0"/>
          </a:p>
        </p:txBody>
      </p:sp>
      <p:pic>
        <p:nvPicPr>
          <p:cNvPr id="10" name="s22-icono-9" descr="preencoded.png"/>
          <p:cNvPicPr>
            <a:picLocks noChangeAspect="1"/>
          </p:cNvPicPr>
          <p:nvPr/>
        </p:nvPicPr>
        <p:blipFill>
          <a:blip r:embed="rId3"/>
          <a:stretch>
            <a:fillRect/>
          </a:stretch>
        </p:blipFill>
        <p:spPr>
          <a:xfrm>
            <a:off x="1342572" y="2515983"/>
            <a:ext cx="228523" cy="228523"/>
          </a:xfrm>
          <a:prstGeom prst="rect">
            <a:avLst/>
          </a:prstGeom>
        </p:spPr>
      </p:pic>
      <p:sp>
        <p:nvSpPr>
          <p:cNvPr id="11" name="s22-texto-10"/>
          <p:cNvSpPr txBox="1"/>
          <p:nvPr/>
        </p:nvSpPr>
        <p:spPr>
          <a:xfrm>
            <a:off x="1708208" y="2533122"/>
            <a:ext cx="5352052" cy="188531"/>
          </a:xfrm>
          <a:prstGeom prst="rect">
            <a:avLst/>
          </a:prstGeom>
          <a:noFill/>
          <a:ln/>
        </p:spPr>
        <p:txBody>
          <a:bodyPr wrap="none" lIns="0" tIns="0" rIns="0" bIns="0" rtlCol="0" anchor="t"/>
          <a:lstStyle/>
          <a:p>
            <a:pPr marL="0" indent="0" algn="l">
              <a:lnSpc>
                <a:spcPts val="1889"/>
              </a:lnSpc>
              <a:buNone/>
            </a:pPr>
            <a:r>
              <a:rPr lang="en-US" sz="1350" dirty="0">
                <a:solidFill>
                  <a:srgbClr val="16181D"/>
                </a:solidFill>
                <a:latin typeface="Arial" pitchFamily="34" charset="0"/>
                <a:ea typeface="Arial" pitchFamily="34" charset="-122"/>
                <a:cs typeface="Arial" pitchFamily="34" charset="-120"/>
              </a:rPr>
              <a:t>Nada irreversible o externo ocurre sin aprobación o lista permitida.</a:t>
            </a:r>
            <a:endParaRPr lang="en-US" sz="1350" dirty="0"/>
          </a:p>
        </p:txBody>
      </p:sp>
      <p:pic>
        <p:nvPicPr>
          <p:cNvPr id="12" name="s22-icono-11" descr="preencoded.png"/>
          <p:cNvPicPr>
            <a:picLocks noChangeAspect="1"/>
          </p:cNvPicPr>
          <p:nvPr/>
        </p:nvPicPr>
        <p:blipFill>
          <a:blip r:embed="rId3"/>
          <a:stretch>
            <a:fillRect/>
          </a:stretch>
        </p:blipFill>
        <p:spPr>
          <a:xfrm>
            <a:off x="1342572" y="2881620"/>
            <a:ext cx="228523" cy="228523"/>
          </a:xfrm>
          <a:prstGeom prst="rect">
            <a:avLst/>
          </a:prstGeom>
        </p:spPr>
      </p:pic>
      <p:sp>
        <p:nvSpPr>
          <p:cNvPr id="13" name="s22-texto-12"/>
          <p:cNvSpPr txBox="1"/>
          <p:nvPr/>
        </p:nvSpPr>
        <p:spPr>
          <a:xfrm>
            <a:off x="1708208" y="2898759"/>
            <a:ext cx="5574510" cy="188531"/>
          </a:xfrm>
          <a:prstGeom prst="rect">
            <a:avLst/>
          </a:prstGeom>
          <a:noFill/>
          <a:ln/>
        </p:spPr>
        <p:txBody>
          <a:bodyPr wrap="none" lIns="0" tIns="0" rIns="0" bIns="0" rtlCol="0" anchor="t"/>
          <a:lstStyle/>
          <a:p>
            <a:pPr marL="0" indent="0" algn="l">
              <a:lnSpc>
                <a:spcPts val="1889"/>
              </a:lnSpc>
              <a:buNone/>
            </a:pPr>
            <a:r>
              <a:rPr lang="en-US" sz="1350" dirty="0">
                <a:solidFill>
                  <a:srgbClr val="16181D"/>
                </a:solidFill>
                <a:latin typeface="Arial" pitchFamily="34" charset="0"/>
                <a:ea typeface="Arial" pitchFamily="34" charset="-122"/>
                <a:cs typeface="Arial" pitchFamily="34" charset="-120"/>
              </a:rPr>
              <a:t>El contenido externo se marca como no confiable y pasa por un filtro.</a:t>
            </a:r>
            <a:endParaRPr lang="en-US" sz="1350" dirty="0"/>
          </a:p>
        </p:txBody>
      </p:sp>
      <p:pic>
        <p:nvPicPr>
          <p:cNvPr id="14" name="s22-icono-13" descr="preencoded.png"/>
          <p:cNvPicPr>
            <a:picLocks noChangeAspect="1"/>
          </p:cNvPicPr>
          <p:nvPr/>
        </p:nvPicPr>
        <p:blipFill>
          <a:blip r:embed="rId3"/>
          <a:stretch>
            <a:fillRect/>
          </a:stretch>
        </p:blipFill>
        <p:spPr>
          <a:xfrm>
            <a:off x="1342572" y="3247256"/>
            <a:ext cx="228523" cy="228523"/>
          </a:xfrm>
          <a:prstGeom prst="rect">
            <a:avLst/>
          </a:prstGeom>
        </p:spPr>
      </p:pic>
      <p:sp>
        <p:nvSpPr>
          <p:cNvPr id="15" name="s22-texto-14"/>
          <p:cNvSpPr txBox="1"/>
          <p:nvPr/>
        </p:nvSpPr>
        <p:spPr>
          <a:xfrm>
            <a:off x="1708208" y="3264396"/>
            <a:ext cx="4241181" cy="188531"/>
          </a:xfrm>
          <a:prstGeom prst="rect">
            <a:avLst/>
          </a:prstGeom>
          <a:noFill/>
          <a:ln/>
        </p:spPr>
        <p:txBody>
          <a:bodyPr wrap="none" lIns="0" tIns="0" rIns="0" bIns="0" rtlCol="0" anchor="t"/>
          <a:lstStyle/>
          <a:p>
            <a:pPr marL="0" indent="0" algn="l">
              <a:lnSpc>
                <a:spcPts val="1889"/>
              </a:lnSpc>
              <a:buNone/>
            </a:pPr>
            <a:r>
              <a:rPr lang="en-US" sz="1350" dirty="0">
                <a:solidFill>
                  <a:srgbClr val="16181D"/>
                </a:solidFill>
                <a:latin typeface="Arial" pitchFamily="34" charset="0"/>
                <a:ea typeface="Arial" pitchFamily="34" charset="-122"/>
                <a:cs typeface="Arial" pitchFamily="34" charset="-120"/>
              </a:rPr>
              <a:t>Hay límites de pasos, tiempo y tokens por ejecución.</a:t>
            </a:r>
            <a:endParaRPr lang="en-US" sz="1350" dirty="0"/>
          </a:p>
        </p:txBody>
      </p:sp>
      <p:pic>
        <p:nvPicPr>
          <p:cNvPr id="16" name="s22-icono-15" descr="preencoded.png"/>
          <p:cNvPicPr>
            <a:picLocks noChangeAspect="1"/>
          </p:cNvPicPr>
          <p:nvPr/>
        </p:nvPicPr>
        <p:blipFill>
          <a:blip r:embed="rId3"/>
          <a:stretch>
            <a:fillRect/>
          </a:stretch>
        </p:blipFill>
        <p:spPr>
          <a:xfrm>
            <a:off x="1342572" y="3612893"/>
            <a:ext cx="228523" cy="228523"/>
          </a:xfrm>
          <a:prstGeom prst="rect">
            <a:avLst/>
          </a:prstGeom>
        </p:spPr>
      </p:pic>
      <p:sp>
        <p:nvSpPr>
          <p:cNvPr id="17" name="s22-texto-16"/>
          <p:cNvSpPr txBox="1"/>
          <p:nvPr/>
        </p:nvSpPr>
        <p:spPr>
          <a:xfrm>
            <a:off x="1708208" y="3630032"/>
            <a:ext cx="3646193" cy="188531"/>
          </a:xfrm>
          <a:prstGeom prst="rect">
            <a:avLst/>
          </a:prstGeom>
          <a:noFill/>
          <a:ln/>
        </p:spPr>
        <p:txBody>
          <a:bodyPr wrap="none" lIns="0" tIns="0" rIns="0" bIns="0" rtlCol="0" anchor="t"/>
          <a:lstStyle/>
          <a:p>
            <a:pPr marL="0" indent="0" algn="l">
              <a:lnSpc>
                <a:spcPts val="1889"/>
              </a:lnSpc>
              <a:buNone/>
            </a:pPr>
            <a:r>
              <a:rPr lang="en-US" sz="1350" dirty="0">
                <a:solidFill>
                  <a:srgbClr val="16181D"/>
                </a:solidFill>
                <a:latin typeface="Arial" pitchFamily="34" charset="0"/>
                <a:ea typeface="Arial" pitchFamily="34" charset="-122"/>
                <a:cs typeface="Arial" pitchFamily="34" charset="-120"/>
              </a:rPr>
              <a:t>Cada llamada a herramienta queda auditada.</a:t>
            </a:r>
            <a:endParaRPr lang="en-US" sz="1350" dirty="0"/>
          </a:p>
        </p:txBody>
      </p:sp>
      <p:pic>
        <p:nvPicPr>
          <p:cNvPr id="18" name="s22-icono-17" descr="preencoded.png"/>
          <p:cNvPicPr>
            <a:picLocks noChangeAspect="1"/>
          </p:cNvPicPr>
          <p:nvPr/>
        </p:nvPicPr>
        <p:blipFill>
          <a:blip r:embed="rId3"/>
          <a:stretch>
            <a:fillRect/>
          </a:stretch>
        </p:blipFill>
        <p:spPr>
          <a:xfrm>
            <a:off x="1342572" y="3978530"/>
            <a:ext cx="228523" cy="228523"/>
          </a:xfrm>
          <a:prstGeom prst="rect">
            <a:avLst/>
          </a:prstGeom>
        </p:spPr>
      </p:pic>
      <p:sp>
        <p:nvSpPr>
          <p:cNvPr id="19" name="s22-texto-18"/>
          <p:cNvSpPr txBox="1"/>
          <p:nvPr/>
        </p:nvSpPr>
        <p:spPr>
          <a:xfrm>
            <a:off x="1708208" y="3995669"/>
            <a:ext cx="4999109" cy="188531"/>
          </a:xfrm>
          <a:prstGeom prst="rect">
            <a:avLst/>
          </a:prstGeom>
          <a:noFill/>
          <a:ln/>
        </p:spPr>
        <p:txBody>
          <a:bodyPr wrap="none" lIns="0" tIns="0" rIns="0" bIns="0" rtlCol="0" anchor="t"/>
          <a:lstStyle/>
          <a:p>
            <a:pPr marL="0" indent="0" algn="l">
              <a:lnSpc>
                <a:spcPts val="1889"/>
              </a:lnSpc>
              <a:buNone/>
            </a:pPr>
            <a:r>
              <a:rPr lang="en-US" sz="1350" dirty="0">
                <a:solidFill>
                  <a:srgbClr val="16181D"/>
                </a:solidFill>
                <a:latin typeface="Arial" pitchFamily="34" charset="0"/>
                <a:ea typeface="Arial" pitchFamily="34" charset="-122"/>
                <a:cs typeface="Arial" pitchFamily="34" charset="-120"/>
              </a:rPr>
              <a:t>La suite de evaluación incluye al menos 3 casos de inyección.</a:t>
            </a:r>
            <a:endParaRPr lang="en-US" sz="1350" dirty="0"/>
          </a:p>
        </p:txBody>
      </p:sp>
      <p:sp>
        <p:nvSpPr>
          <p:cNvPr id="20" name="s22-texto-19"/>
          <p:cNvSpPr txBox="1"/>
          <p:nvPr/>
        </p:nvSpPr>
        <p:spPr>
          <a:xfrm>
            <a:off x="1342572" y="6158691"/>
            <a:ext cx="10076945" cy="154253"/>
          </a:xfrm>
          <a:prstGeom prst="rect">
            <a:avLst/>
          </a:prstGeom>
          <a:noFill/>
          <a:ln/>
        </p:spPr>
        <p:txBody>
          <a:bodyPr wrap="none" lIns="0" tIns="0" rIns="0" bIns="0" rtlCol="0" anchor="t"/>
          <a:lstStyle/>
          <a:p>
            <a:pPr marL="0" indent="0" algn="l">
              <a:lnSpc>
                <a:spcPts val="1296"/>
              </a:lnSpc>
              <a:buNone/>
            </a:pPr>
            <a:r>
              <a:rPr lang="en-US" sz="1080" dirty="0">
                <a:solidFill>
                  <a:srgbClr val="585E6F"/>
                </a:solidFill>
                <a:latin typeface="Arial" pitchFamily="34" charset="0"/>
                <a:ea typeface="Arial" pitchFamily="34" charset="-122"/>
                <a:cs typeface="Arial" pitchFamily="34" charset="-120"/>
              </a:rPr>
              <a:t>Módulo 3 · Construcción de Sistemas Agénticos · Gracias</a:t>
            </a:r>
            <a:endParaRPr lang="en-US" sz="1080" dirty="0"/>
          </a:p>
        </p:txBody>
      </p:sp>
      <p:sp>
        <p:nvSpPr>
          <p:cNvPr id="21" name="s22-forma-20"/>
          <p:cNvSpPr/>
          <p:nvPr/>
        </p:nvSpPr>
        <p:spPr>
          <a:xfrm>
            <a:off x="853390" y="6411138"/>
            <a:ext cx="10484915" cy="5713"/>
          </a:xfrm>
          <a:prstGeom prst="rect">
            <a:avLst/>
          </a:prstGeom>
          <a:solidFill>
            <a:srgbClr val="DBD4C4"/>
          </a:solidFill>
          <a:ln/>
        </p:spPr>
        <p:txBody>
          <a:bodyPr/>
          <a:lstStyle/>
          <a:p>
            <a:endParaRPr lang="es-MX"/>
          </a:p>
        </p:txBody>
      </p:sp>
      <p:pic>
        <p:nvPicPr>
          <p:cNvPr id="22" name="s22-logo-21" descr="preencoded.png"/>
          <p:cNvPicPr>
            <a:picLocks noChangeAspect="1"/>
          </p:cNvPicPr>
          <p:nvPr/>
        </p:nvPicPr>
        <p:blipFill>
          <a:blip r:embed="rId4"/>
          <a:stretch>
            <a:fillRect/>
          </a:stretch>
        </p:blipFill>
        <p:spPr>
          <a:xfrm>
            <a:off x="853390" y="6465055"/>
            <a:ext cx="687800" cy="212455"/>
          </a:xfrm>
          <a:prstGeom prst="rect">
            <a:avLst/>
          </a:prstGeom>
        </p:spPr>
      </p:pic>
      <p:sp>
        <p:nvSpPr>
          <p:cNvPr id="23" name="s22-forma-22"/>
          <p:cNvSpPr/>
          <p:nvPr/>
        </p:nvSpPr>
        <p:spPr>
          <a:xfrm>
            <a:off x="1659380" y="6519865"/>
            <a:ext cx="3578704" cy="102835"/>
          </a:xfrm>
          <a:prstGeom prst="rect">
            <a:avLst/>
          </a:prstGeom>
          <a:ln/>
        </p:spPr>
        <p:txBody>
          <a:bodyPr/>
          <a:lstStyle/>
          <a:p>
            <a:endParaRPr lang="es-MX"/>
          </a:p>
        </p:txBody>
      </p:sp>
      <p:sp>
        <p:nvSpPr>
          <p:cNvPr id="24" name="s22-forma-23"/>
          <p:cNvSpPr/>
          <p:nvPr/>
        </p:nvSpPr>
        <p:spPr>
          <a:xfrm>
            <a:off x="1659380" y="6519865"/>
            <a:ext cx="5713" cy="102835"/>
          </a:xfrm>
          <a:prstGeom prst="rect">
            <a:avLst/>
          </a:prstGeom>
          <a:solidFill>
            <a:srgbClr val="C6BFAE"/>
          </a:solidFill>
          <a:ln/>
        </p:spPr>
        <p:txBody>
          <a:bodyPr/>
          <a:lstStyle/>
          <a:p>
            <a:endParaRPr lang="es-MX"/>
          </a:p>
        </p:txBody>
      </p:sp>
      <p:sp>
        <p:nvSpPr>
          <p:cNvPr id="25" name="s22-texto-24"/>
          <p:cNvSpPr txBox="1"/>
          <p:nvPr/>
        </p:nvSpPr>
        <p:spPr>
          <a:xfrm>
            <a:off x="1783282" y="6519865"/>
            <a:ext cx="3662090" cy="102835"/>
          </a:xfrm>
          <a:prstGeom prst="rect">
            <a:avLst/>
          </a:prstGeom>
          <a:noFill/>
          <a:ln/>
        </p:spPr>
        <p:txBody>
          <a:bodyPr wrap="none" lIns="0" tIns="0" rIns="0" bIns="0" rtlCol="0" anchor="t"/>
          <a:lstStyle/>
          <a:p>
            <a:pPr marL="0" indent="0" algn="l">
              <a:lnSpc>
                <a:spcPts val="844"/>
              </a:lnSpc>
              <a:buNone/>
            </a:pPr>
            <a:r>
              <a:rPr lang="en-US" sz="704" kern="0" spc="91" dirty="0">
                <a:solidFill>
                  <a:srgbClr val="585E6F"/>
                </a:solidFill>
                <a:latin typeface="Courier New" pitchFamily="34" charset="0"/>
                <a:ea typeface="Courier New" pitchFamily="34" charset="-122"/>
                <a:cs typeface="Courier New" pitchFamily="34" charset="-120"/>
              </a:rPr>
              <a:t>MÓDULO 3 · SESIÓN 4 — SEGURIDAD EN SISTEMAS AGÉNTICOS</a:t>
            </a:r>
            <a:endParaRPr lang="en-US" sz="704" dirty="0"/>
          </a:p>
        </p:txBody>
      </p:sp>
      <p:sp>
        <p:nvSpPr>
          <p:cNvPr id="26" name="s22-texto-25"/>
          <p:cNvSpPr txBox="1"/>
          <p:nvPr/>
        </p:nvSpPr>
        <p:spPr>
          <a:xfrm>
            <a:off x="10874921" y="6517008"/>
            <a:ext cx="509088" cy="108548"/>
          </a:xfrm>
          <a:prstGeom prst="rect">
            <a:avLst/>
          </a:prstGeom>
          <a:noFill/>
          <a:ln/>
        </p:spPr>
        <p:txBody>
          <a:bodyPr wrap="none" lIns="0" tIns="0" rIns="0" bIns="0" rtlCol="0" anchor="t"/>
          <a:lstStyle/>
          <a:p>
            <a:pPr marL="0" indent="0" algn="l">
              <a:lnSpc>
                <a:spcPts val="894"/>
              </a:lnSpc>
              <a:buNone/>
            </a:pPr>
            <a:r>
              <a:rPr lang="en-US" sz="745" kern="0" spc="74" dirty="0">
                <a:solidFill>
                  <a:srgbClr val="585E6F"/>
                </a:solidFill>
                <a:latin typeface="Courier New" pitchFamily="34" charset="0"/>
                <a:ea typeface="Courier New" pitchFamily="34" charset="-122"/>
                <a:cs typeface="Courier New" pitchFamily="34" charset="-120"/>
              </a:rPr>
              <a:t>22 / 22</a:t>
            </a:r>
            <a:endParaRPr lang="en-US" sz="745" dirty="0"/>
          </a:p>
        </p:txBody>
      </p:sp>
      <p:sp>
        <p:nvSpPr>
          <p:cNvPr id="27" name="s22-forma-26"/>
          <p:cNvSpPr/>
          <p:nvPr/>
        </p:nvSpPr>
        <p:spPr>
          <a:xfrm>
            <a:off x="0" y="0"/>
            <a:ext cx="12191695" cy="17139"/>
          </a:xfrm>
          <a:prstGeom prst="rect">
            <a:avLst/>
          </a:prstGeom>
          <a:solidFill>
            <a:srgbClr val="0033A0"/>
          </a:solidFill>
          <a:ln/>
        </p:spPr>
        <p:txBody>
          <a:bodyPr/>
          <a:lstStyle/>
          <a:p>
            <a:endParaRPr lang="es-MX"/>
          </a:p>
        </p:txBody>
      </p:sp>
    </p:spTree>
  </p:cSld>
  <p:clrMapOvr>
    <a:masterClrMapping/>
  </p:clrMapOvr>
</p:sld>
</file>

<file path=ppt/theme/theme1.xml><?xml version="1.0" encoding="utf-8"?>
<a:theme xmlns:a="http://schemas.openxmlformats.org/drawingml/2006/main" name="Tec Editorial · INSPIRA">
  <a:themeElements>
    <a:clrScheme name="Tec Editorial · INSPIRA">
      <a:dk1>
        <a:srgbClr val="16181D"/>
      </a:dk1>
      <a:lt1>
        <a:srgbClr val="EDE8DC"/>
      </a:lt1>
      <a:dk2>
        <a:srgbClr val="585E6F"/>
      </a:dk2>
      <a:lt2>
        <a:srgbClr val="E3DCCB"/>
      </a:lt2>
      <a:accent1>
        <a:srgbClr val="0033A0"/>
      </a:accent1>
      <a:accent2>
        <a:srgbClr val="AC321E"/>
      </a:accent2>
      <a:accent3>
        <a:srgbClr val="6B3FA0"/>
      </a:accent3>
      <a:accent4>
        <a:srgbClr val="1B6A43"/>
      </a:accent4>
      <a:accent5>
        <a:srgbClr val="7C560C"/>
      </a:accent5>
      <a:accent6>
        <a:srgbClr val="0E6871"/>
      </a:accent6>
      <a:hlink>
        <a:srgbClr val="0033A0"/>
      </a:hlink>
      <a:folHlink>
        <a:srgbClr val="984514"/>
      </a:folHlink>
    </a:clrScheme>
    <a:fontScheme name="Tec Editorial · INSPIR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3622</Words>
  <Application>Microsoft Macintosh PowerPoint</Application>
  <PresentationFormat>Panorámica</PresentationFormat>
  <Paragraphs>358</Paragraphs>
  <Slides>22</Slides>
  <Notes>22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Arial</vt:lpstr>
      <vt:lpstr>Courier New</vt:lpstr>
      <vt:lpstr>Georgia</vt:lpstr>
      <vt:lpstr>Tec Editorial · INSPIRA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m3-sesion4-seguridad</dc:title>
  <dc:subject>PptxGenJS Presentation</dc:subject>
  <dc:creator>Tecnológico de Monterrey · Next-Gen Coding</dc:creator>
  <cp:lastModifiedBy>Ricardo Carlos Ivison Mata</cp:lastModifiedBy>
  <cp:revision>3</cp:revision>
  <dcterms:created xsi:type="dcterms:W3CDTF">2026-10-24T21:00:57Z</dcterms:created>
  <dcterms:modified xsi:type="dcterms:W3CDTF">2026-10-24T23:23:20Z</dcterms:modified>
</cp:coreProperties>
</file>